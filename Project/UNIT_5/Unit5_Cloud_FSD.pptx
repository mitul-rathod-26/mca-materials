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73" r:id="rId9"/>
    <p:sldId id="263" r:id="rId10"/>
    <p:sldId id="264" r:id="rId11"/>
    <p:sldId id="265" r:id="rId12"/>
    <p:sldId id="274" r:id="rId13"/>
    <p:sldId id="275" r:id="rId14"/>
    <p:sldId id="266" r:id="rId15"/>
    <p:sldId id="277" r:id="rId16"/>
    <p:sldId id="280" r:id="rId17"/>
    <p:sldId id="281" r:id="rId18"/>
    <p:sldId id="276" r:id="rId19"/>
    <p:sldId id="279" r:id="rId20"/>
    <p:sldId id="267" r:id="rId21"/>
    <p:sldId id="268" r:id="rId22"/>
    <p:sldId id="269" r:id="rId23"/>
    <p:sldId id="270" r:id="rId24"/>
    <p:sldId id="271"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115" d="100"/>
          <a:sy n="115" d="100"/>
        </p:scale>
        <p:origin x="51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3605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solidFill>
                  <a:srgbClr val="0277BD"/>
                </a:solidFill>
                <a:latin typeface="Calibri" pitchFamily="34" charset="0"/>
                <a:ea typeface="Calibri" pitchFamily="34" charset="-122"/>
                <a:cs typeface="Calibri" pitchFamily="34" charset="-120"/>
              </a:rPr>
              <a:t>📦  Analogy: Think of Docker like a Tiffin Box (lunch box). Your mom packs dal, rice, and sabzi in separate compartments so nothing mixes. Docker packages your app + all its requirements into one tidy box — ready to open anywhere!</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032A5-0E68-2711-F1FE-AFDC944DC8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1FCCD9-892A-CF7E-DB2D-D9C0A66C9F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9A6045-AD72-2CDE-4C94-057BBF1A00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0B9033-C03C-079C-78AC-9EC9C698D21B}"/>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0788414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C826E-DB13-283A-7DA6-D6C09AB747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DD545E-D480-C678-710D-B8F56DC49F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6D333C-2C11-228B-7B4C-2251E06066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D880DB-D9A5-16AB-01E8-E972B70D142B}"/>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246910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2D113-DF26-8FB3-5C97-BFEF2FA075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2B7CB0-34ED-9B93-EB33-60BC2AAF80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5A9832-42E5-4296-95AC-657820B440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CE51AE-F3DB-0732-0550-429698E63BB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8364595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74F38-C87E-9EB8-20B5-FDAD422AA0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CA0DFA-BAFE-EC44-523B-1132B2397E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D707CD-FB1E-EC43-9384-29749894C8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BB6161-7E8C-ADD6-8E10-55A7F2FC1AFA}"/>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713680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www.geeksforgeeks.org/devops/what-is-docker-image/"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https://www.geeksforgeeks.org/devops/docker-containers-shells/"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9B6F6"/>
          </a:solidFill>
          <a:ln w="12700">
            <a:solidFill>
              <a:srgbClr val="29B6F6"/>
            </a:solidFill>
            <a:prstDash val="solid"/>
          </a:ln>
        </p:spPr>
      </p:sp>
      <p:sp>
        <p:nvSpPr>
          <p:cNvPr id="3" name="Shape 1"/>
          <p:cNvSpPr/>
          <p:nvPr/>
        </p:nvSpPr>
        <p:spPr>
          <a:xfrm>
            <a:off x="6858000" y="-457200"/>
            <a:ext cx="3200400" cy="3200400"/>
          </a:xfrm>
          <a:prstGeom prst="ellipse">
            <a:avLst/>
          </a:prstGeom>
          <a:solidFill>
            <a:srgbClr val="1565C0">
              <a:alpha val="30000"/>
            </a:srgbClr>
          </a:solidFill>
          <a:ln w="12700">
            <a:solidFill>
              <a:srgbClr val="1565C0">
                <a:alpha val="30000"/>
              </a:srgbClr>
            </a:solidFill>
            <a:prstDash val="solid"/>
          </a:ln>
        </p:spPr>
      </p:sp>
      <p:sp>
        <p:nvSpPr>
          <p:cNvPr id="4" name="Shape 2"/>
          <p:cNvSpPr/>
          <p:nvPr/>
        </p:nvSpPr>
        <p:spPr>
          <a:xfrm>
            <a:off x="7498080" y="2926080"/>
            <a:ext cx="2011680" cy="2011680"/>
          </a:xfrm>
          <a:prstGeom prst="ellipse">
            <a:avLst/>
          </a:prstGeom>
          <a:solidFill>
            <a:srgbClr val="00897B">
              <a:alpha val="25000"/>
            </a:srgbClr>
          </a:solidFill>
          <a:ln w="12700">
            <a:solidFill>
              <a:srgbClr val="00897B">
                <a:alpha val="25000"/>
              </a:srgbClr>
            </a:solidFill>
            <a:prstDash val="solid"/>
          </a:ln>
        </p:spPr>
      </p:sp>
      <p:sp>
        <p:nvSpPr>
          <p:cNvPr id="5" name="Shape 3"/>
          <p:cNvSpPr/>
          <p:nvPr/>
        </p:nvSpPr>
        <p:spPr>
          <a:xfrm>
            <a:off x="-731520" y="3474720"/>
            <a:ext cx="2286000" cy="2286000"/>
          </a:xfrm>
          <a:prstGeom prst="ellipse">
            <a:avLst/>
          </a:prstGeom>
          <a:solidFill>
            <a:srgbClr val="29B6F6">
              <a:alpha val="20000"/>
            </a:srgbClr>
          </a:solidFill>
          <a:ln w="12700">
            <a:solidFill>
              <a:srgbClr val="29B6F6">
                <a:alpha val="20000"/>
              </a:srgbClr>
            </a:solidFill>
            <a:prstDash val="solid"/>
          </a:ln>
        </p:spPr>
      </p:sp>
      <p:sp>
        <p:nvSpPr>
          <p:cNvPr id="6" name="Shape 4"/>
          <p:cNvSpPr/>
          <p:nvPr/>
        </p:nvSpPr>
        <p:spPr>
          <a:xfrm>
            <a:off x="548640" y="777240"/>
            <a:ext cx="1371600" cy="347472"/>
          </a:xfrm>
          <a:prstGeom prst="roundRect">
            <a:avLst>
              <a:gd name="adj" fmla="val 13158"/>
            </a:avLst>
          </a:prstGeom>
          <a:solidFill>
            <a:srgbClr val="29B6F6"/>
          </a:solidFill>
          <a:ln w="12700">
            <a:solidFill>
              <a:srgbClr val="29B6F6"/>
            </a:solidFill>
            <a:prstDash val="solid"/>
          </a:ln>
        </p:spPr>
      </p:sp>
      <p:sp>
        <p:nvSpPr>
          <p:cNvPr id="7" name="Text 5"/>
          <p:cNvSpPr/>
          <p:nvPr/>
        </p:nvSpPr>
        <p:spPr>
          <a:xfrm>
            <a:off x="548640" y="777240"/>
            <a:ext cx="1371600" cy="347472"/>
          </a:xfrm>
          <a:prstGeom prst="rect">
            <a:avLst/>
          </a:prstGeom>
          <a:noFill/>
          <a:ln/>
        </p:spPr>
        <p:txBody>
          <a:bodyPr wrap="square" lIns="0" tIns="0" rIns="0" bIns="0" rtlCol="0" anchor="ctr"/>
          <a:lstStyle/>
          <a:p>
            <a:pPr marL="0" indent="0" algn="ctr">
              <a:buNone/>
            </a:pPr>
            <a:r>
              <a:rPr lang="en-US" sz="1200" b="1" dirty="0">
                <a:solidFill>
                  <a:srgbClr val="0A1628"/>
                </a:solidFill>
              </a:rPr>
              <a:t>UNIT 5</a:t>
            </a:r>
            <a:endParaRPr lang="en-US" sz="1200" dirty="0"/>
          </a:p>
        </p:txBody>
      </p:sp>
      <p:sp>
        <p:nvSpPr>
          <p:cNvPr id="8" name="Text 6"/>
          <p:cNvSpPr/>
          <p:nvPr/>
        </p:nvSpPr>
        <p:spPr>
          <a:xfrm>
            <a:off x="548640" y="1234440"/>
            <a:ext cx="7315200" cy="173736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App Implementation</a:t>
            </a:r>
            <a:endParaRPr lang="en-US" sz="4400" dirty="0"/>
          </a:p>
          <a:p>
            <a:pPr marL="0" indent="0">
              <a:buNone/>
            </a:pPr>
            <a:r>
              <a:rPr lang="en-US" sz="4400" b="1" dirty="0">
                <a:solidFill>
                  <a:srgbClr val="FFFFFF"/>
                </a:solidFill>
                <a:latin typeface="Calibri" pitchFamily="34" charset="0"/>
                <a:ea typeface="Calibri" pitchFamily="34" charset="-122"/>
                <a:cs typeface="Calibri" pitchFamily="34" charset="-120"/>
              </a:rPr>
              <a:t>in the Cloud</a:t>
            </a:r>
            <a:endParaRPr lang="en-US" sz="4400" dirty="0"/>
          </a:p>
        </p:txBody>
      </p:sp>
      <p:sp>
        <p:nvSpPr>
          <p:cNvPr id="9" name="Text 7"/>
          <p:cNvSpPr/>
          <p:nvPr/>
        </p:nvSpPr>
        <p:spPr>
          <a:xfrm>
            <a:off x="548640" y="3017520"/>
            <a:ext cx="7772400" cy="411480"/>
          </a:xfrm>
          <a:prstGeom prst="rect">
            <a:avLst/>
          </a:prstGeom>
          <a:noFill/>
          <a:ln/>
        </p:spPr>
        <p:txBody>
          <a:bodyPr wrap="square" rtlCol="0" anchor="ctr"/>
          <a:lstStyle/>
          <a:p>
            <a:pPr marL="0" indent="0">
              <a:buNone/>
            </a:pPr>
            <a:r>
              <a:rPr lang="en-US" sz="1500" i="1" dirty="0">
                <a:solidFill>
                  <a:srgbClr val="29B6F6"/>
                </a:solidFill>
                <a:latin typeface="Calibri" pitchFamily="34" charset="0"/>
                <a:ea typeface="Calibri" pitchFamily="34" charset="-122"/>
                <a:cs typeface="Calibri" pitchFamily="34" charset="-120"/>
              </a:rPr>
              <a:t>Cloud Computing • Virtual Machines • Docker • Kubernetes</a:t>
            </a:r>
            <a:endParaRPr lang="en-US" sz="1500" dirty="0"/>
          </a:p>
        </p:txBody>
      </p:sp>
      <p:sp>
        <p:nvSpPr>
          <p:cNvPr id="10" name="Text 8"/>
          <p:cNvSpPr/>
          <p:nvPr/>
        </p:nvSpPr>
        <p:spPr>
          <a:xfrm>
            <a:off x="548640" y="4480560"/>
            <a:ext cx="8229600" cy="320040"/>
          </a:xfrm>
          <a:prstGeom prst="rect">
            <a:avLst/>
          </a:prstGeom>
          <a:noFill/>
          <a:ln/>
        </p:spPr>
        <p:txBody>
          <a:bodyPr wrap="square" rtlCol="0" anchor="ctr"/>
          <a:lstStyle/>
          <a:p>
            <a:pPr marL="0" indent="0">
              <a:buNone/>
            </a:pPr>
            <a:r>
              <a:rPr lang="en-US" sz="1100" dirty="0">
                <a:solidFill>
                  <a:srgbClr val="90CAF9"/>
                </a:solidFill>
                <a:latin typeface="Calibri" pitchFamily="34" charset="0"/>
                <a:ea typeface="Calibri" pitchFamily="34" charset="-122"/>
                <a:cs typeface="Calibri" pitchFamily="34" charset="-120"/>
              </a:rPr>
              <a:t>Full Stack Development</a:t>
            </a:r>
            <a:endParaRPr lang="en-US" sz="1100" dirty="0"/>
          </a:p>
        </p:txBody>
      </p:sp>
      <p:sp>
        <p:nvSpPr>
          <p:cNvPr id="11" name="Shape 9"/>
          <p:cNvSpPr/>
          <p:nvPr/>
        </p:nvSpPr>
        <p:spPr>
          <a:xfrm>
            <a:off x="0" y="4956048"/>
            <a:ext cx="9144000" cy="73152"/>
          </a:xfrm>
          <a:prstGeom prst="rect">
            <a:avLst/>
          </a:prstGeom>
          <a:solidFill>
            <a:srgbClr val="00897B"/>
          </a:solidFill>
          <a:ln w="12700">
            <a:solidFill>
              <a:srgbClr val="00897B"/>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1628"/>
          </a:solidFill>
          <a:ln w="12700">
            <a:solidFill>
              <a:srgbClr val="0A1628"/>
            </a:solidFill>
            <a:prstDash val="solid"/>
          </a:ln>
        </p:spPr>
      </p:sp>
      <p:sp>
        <p:nvSpPr>
          <p:cNvPr id="3" name="Text 1"/>
          <p:cNvSpPr/>
          <p:nvPr/>
        </p:nvSpPr>
        <p:spPr>
          <a:xfrm>
            <a:off x="365760" y="0"/>
            <a:ext cx="841248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What You Will Learn in Unit 5</a:t>
            </a:r>
            <a:endParaRPr lang="en-US" sz="2200" dirty="0"/>
          </a:p>
        </p:txBody>
      </p:sp>
      <p:sp>
        <p:nvSpPr>
          <p:cNvPr id="4" name="Text 2"/>
          <p:cNvSpPr/>
          <p:nvPr/>
        </p:nvSpPr>
        <p:spPr>
          <a:xfrm>
            <a:off x="365760" y="731520"/>
            <a:ext cx="8229600" cy="347472"/>
          </a:xfrm>
          <a:prstGeom prst="rect">
            <a:avLst/>
          </a:prstGeom>
          <a:noFill/>
          <a:ln/>
        </p:spPr>
        <p:txBody>
          <a:bodyPr wrap="square" rtlCol="0" anchor="ctr"/>
          <a:lstStyle/>
          <a:p>
            <a:pPr marL="0" indent="0">
              <a:buNone/>
            </a:pPr>
            <a:r>
              <a:rPr lang="en-US" sz="1400" i="1" dirty="0">
                <a:solidFill>
                  <a:srgbClr val="37474F"/>
                </a:solidFill>
                <a:latin typeface="Calibri" pitchFamily="34" charset="0"/>
                <a:ea typeface="Calibri" pitchFamily="34" charset="-122"/>
                <a:cs typeface="Calibri" pitchFamily="34" charset="-120"/>
              </a:rPr>
              <a:t>By the end of this unit, you will be able to:</a:t>
            </a:r>
            <a:endParaRPr lang="en-US" sz="1400" dirty="0"/>
          </a:p>
        </p:txBody>
      </p:sp>
      <p:sp>
        <p:nvSpPr>
          <p:cNvPr id="5" name="Shape 3"/>
          <p:cNvSpPr/>
          <p:nvPr/>
        </p:nvSpPr>
        <p:spPr>
          <a:xfrm>
            <a:off x="320040" y="1234440"/>
            <a:ext cx="4114800" cy="1078992"/>
          </a:xfrm>
          <a:prstGeom prst="rect">
            <a:avLst/>
          </a:prstGeom>
          <a:solidFill>
            <a:srgbClr val="FFFFFF"/>
          </a:solidFill>
          <a:ln w="12700">
            <a:solidFill>
              <a:srgbClr val="DDEEFF"/>
            </a:solidFill>
            <a:prstDash val="solid"/>
          </a:ln>
          <a:effectLst>
            <a:outerShdw blurRad="50800" dist="25400" dir="8100000" algn="bl" rotWithShape="0">
              <a:srgbClr val="000000">
                <a:alpha val="8000"/>
              </a:srgbClr>
            </a:outerShdw>
          </a:effectLst>
        </p:spPr>
      </p:sp>
      <p:pic>
        <p:nvPicPr>
          <p:cNvPr id="6" name="Image 0" descr="preencoded.png"/>
          <p:cNvPicPr>
            <a:picLocks noChangeAspect="1"/>
          </p:cNvPicPr>
          <p:nvPr/>
        </p:nvPicPr>
        <p:blipFill>
          <a:blip r:embed="rId3"/>
          <a:stretch>
            <a:fillRect/>
          </a:stretch>
        </p:blipFill>
        <p:spPr>
          <a:xfrm>
            <a:off x="484632" y="1527048"/>
            <a:ext cx="411480" cy="411480"/>
          </a:xfrm>
          <a:prstGeom prst="rect">
            <a:avLst/>
          </a:prstGeom>
        </p:spPr>
      </p:pic>
      <p:sp>
        <p:nvSpPr>
          <p:cNvPr id="7" name="Text 4"/>
          <p:cNvSpPr/>
          <p:nvPr/>
        </p:nvSpPr>
        <p:spPr>
          <a:xfrm>
            <a:off x="1005840" y="1316736"/>
            <a:ext cx="3291840" cy="292608"/>
          </a:xfrm>
          <a:prstGeom prst="rect">
            <a:avLst/>
          </a:prstGeom>
          <a:noFill/>
          <a:ln/>
        </p:spPr>
        <p:txBody>
          <a:bodyPr wrap="square"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Cloud Basics</a:t>
            </a:r>
            <a:endParaRPr lang="en-US" sz="1300" dirty="0"/>
          </a:p>
        </p:txBody>
      </p:sp>
      <p:sp>
        <p:nvSpPr>
          <p:cNvPr id="8" name="Text 5"/>
          <p:cNvSpPr/>
          <p:nvPr/>
        </p:nvSpPr>
        <p:spPr>
          <a:xfrm>
            <a:off x="1005840" y="1609344"/>
            <a:ext cx="3291840" cy="64008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Understand what cloud computing is and how it helps developers host websites and apps online.</a:t>
            </a:r>
            <a:endParaRPr lang="en-US" sz="1050" dirty="0"/>
          </a:p>
        </p:txBody>
      </p:sp>
      <p:sp>
        <p:nvSpPr>
          <p:cNvPr id="9" name="Shape 6"/>
          <p:cNvSpPr/>
          <p:nvPr/>
        </p:nvSpPr>
        <p:spPr>
          <a:xfrm>
            <a:off x="320040" y="2496312"/>
            <a:ext cx="4114800" cy="1078992"/>
          </a:xfrm>
          <a:prstGeom prst="rect">
            <a:avLst/>
          </a:prstGeom>
          <a:solidFill>
            <a:srgbClr val="FFFFFF"/>
          </a:solidFill>
          <a:ln w="12700">
            <a:solidFill>
              <a:srgbClr val="DDEEFF"/>
            </a:solidFill>
            <a:prstDash val="solid"/>
          </a:ln>
          <a:effectLst>
            <a:outerShdw blurRad="50800" dist="25400" dir="8100000" algn="bl" rotWithShape="0">
              <a:srgbClr val="000000">
                <a:alpha val="8000"/>
              </a:srgbClr>
            </a:outerShdw>
          </a:effectLst>
        </p:spPr>
      </p:sp>
      <p:pic>
        <p:nvPicPr>
          <p:cNvPr id="10" name="Image 1" descr="preencoded.png"/>
          <p:cNvPicPr>
            <a:picLocks noChangeAspect="1"/>
          </p:cNvPicPr>
          <p:nvPr/>
        </p:nvPicPr>
        <p:blipFill>
          <a:blip r:embed="rId4"/>
          <a:stretch>
            <a:fillRect/>
          </a:stretch>
        </p:blipFill>
        <p:spPr>
          <a:xfrm>
            <a:off x="484632" y="2788920"/>
            <a:ext cx="411480" cy="411480"/>
          </a:xfrm>
          <a:prstGeom prst="rect">
            <a:avLst/>
          </a:prstGeom>
        </p:spPr>
      </p:pic>
      <p:sp>
        <p:nvSpPr>
          <p:cNvPr id="11" name="Text 7"/>
          <p:cNvSpPr/>
          <p:nvPr/>
        </p:nvSpPr>
        <p:spPr>
          <a:xfrm>
            <a:off x="1005840" y="2578608"/>
            <a:ext cx="3291840" cy="292608"/>
          </a:xfrm>
          <a:prstGeom prst="rect">
            <a:avLst/>
          </a:prstGeom>
          <a:noFill/>
          <a:ln/>
        </p:spPr>
        <p:txBody>
          <a:bodyPr wrap="square" rtlCol="0" anchor="ctr"/>
          <a:lstStyle/>
          <a:p>
            <a:pPr marL="0" indent="0">
              <a:buNone/>
            </a:pPr>
            <a:r>
              <a:rPr lang="en-US" sz="1300" b="1" dirty="0">
                <a:solidFill>
                  <a:srgbClr val="00897B"/>
                </a:solidFill>
                <a:latin typeface="Calibri" pitchFamily="34" charset="0"/>
                <a:ea typeface="Calibri" pitchFamily="34" charset="-122"/>
                <a:cs typeface="Calibri" pitchFamily="34" charset="-120"/>
              </a:rPr>
              <a:t>Virtual Machines</a:t>
            </a:r>
            <a:endParaRPr lang="en-US" sz="1300" dirty="0"/>
          </a:p>
        </p:txBody>
      </p:sp>
      <p:sp>
        <p:nvSpPr>
          <p:cNvPr id="12" name="Text 8"/>
          <p:cNvSpPr/>
          <p:nvPr/>
        </p:nvSpPr>
        <p:spPr>
          <a:xfrm>
            <a:off x="1005840" y="2871216"/>
            <a:ext cx="3291840" cy="64008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Learn what virtual machines and virtual networks are, and how they work like a computer inside a computer.</a:t>
            </a:r>
            <a:endParaRPr lang="en-US" sz="1050" dirty="0"/>
          </a:p>
        </p:txBody>
      </p:sp>
      <p:sp>
        <p:nvSpPr>
          <p:cNvPr id="13" name="Shape 9"/>
          <p:cNvSpPr/>
          <p:nvPr/>
        </p:nvSpPr>
        <p:spPr>
          <a:xfrm>
            <a:off x="320040" y="3758184"/>
            <a:ext cx="4114800" cy="1078992"/>
          </a:xfrm>
          <a:prstGeom prst="rect">
            <a:avLst/>
          </a:prstGeom>
          <a:solidFill>
            <a:srgbClr val="FFFFFF"/>
          </a:solidFill>
          <a:ln w="12700">
            <a:solidFill>
              <a:srgbClr val="DDEEFF"/>
            </a:solidFill>
            <a:prstDash val="solid"/>
          </a:ln>
          <a:effectLst>
            <a:outerShdw blurRad="50800" dist="25400" dir="8100000" algn="bl" rotWithShape="0">
              <a:srgbClr val="000000">
                <a:alpha val="8000"/>
              </a:srgbClr>
            </a:outerShdw>
          </a:effectLst>
        </p:spPr>
      </p:sp>
      <p:pic>
        <p:nvPicPr>
          <p:cNvPr id="14" name="Image 2" descr="preencoded.png"/>
          <p:cNvPicPr>
            <a:picLocks noChangeAspect="1"/>
          </p:cNvPicPr>
          <p:nvPr/>
        </p:nvPicPr>
        <p:blipFill>
          <a:blip r:embed="rId5"/>
          <a:stretch>
            <a:fillRect/>
          </a:stretch>
        </p:blipFill>
        <p:spPr>
          <a:xfrm>
            <a:off x="484632" y="4050792"/>
            <a:ext cx="411480" cy="411480"/>
          </a:xfrm>
          <a:prstGeom prst="rect">
            <a:avLst/>
          </a:prstGeom>
        </p:spPr>
      </p:pic>
      <p:sp>
        <p:nvSpPr>
          <p:cNvPr id="15" name="Text 10"/>
          <p:cNvSpPr/>
          <p:nvPr/>
        </p:nvSpPr>
        <p:spPr>
          <a:xfrm>
            <a:off x="1005840" y="3840480"/>
            <a:ext cx="3291840" cy="292608"/>
          </a:xfrm>
          <a:prstGeom prst="rect">
            <a:avLst/>
          </a:prstGeom>
          <a:noFill/>
          <a:ln/>
        </p:spPr>
        <p:txBody>
          <a:bodyPr wrap="square" rtlCol="0" anchor="ctr"/>
          <a:lstStyle/>
          <a:p>
            <a:pPr marL="0" indent="0">
              <a:buNone/>
            </a:pPr>
            <a:r>
              <a:rPr lang="en-US" sz="1300" b="1" dirty="0">
                <a:solidFill>
                  <a:srgbClr val="F4511E"/>
                </a:solidFill>
                <a:latin typeface="Calibri" pitchFamily="34" charset="0"/>
                <a:ea typeface="Calibri" pitchFamily="34" charset="-122"/>
                <a:cs typeface="Calibri" pitchFamily="34" charset="-120"/>
              </a:rPr>
              <a:t>Docker</a:t>
            </a:r>
            <a:endParaRPr lang="en-US" sz="1300" dirty="0"/>
          </a:p>
        </p:txBody>
      </p:sp>
      <p:sp>
        <p:nvSpPr>
          <p:cNvPr id="16" name="Text 11"/>
          <p:cNvSpPr/>
          <p:nvPr/>
        </p:nvSpPr>
        <p:spPr>
          <a:xfrm>
            <a:off x="1005840" y="4133088"/>
            <a:ext cx="3291840" cy="64008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Use Docker to package your app into containers so it runs the same on every computer.</a:t>
            </a:r>
            <a:endParaRPr lang="en-US" sz="1050" dirty="0"/>
          </a:p>
        </p:txBody>
      </p:sp>
      <p:sp>
        <p:nvSpPr>
          <p:cNvPr id="17" name="Shape 12"/>
          <p:cNvSpPr/>
          <p:nvPr/>
        </p:nvSpPr>
        <p:spPr>
          <a:xfrm>
            <a:off x="4754880" y="1234440"/>
            <a:ext cx="4114800" cy="1078992"/>
          </a:xfrm>
          <a:prstGeom prst="rect">
            <a:avLst/>
          </a:prstGeom>
          <a:solidFill>
            <a:srgbClr val="FFFFFF"/>
          </a:solidFill>
          <a:ln w="12700">
            <a:solidFill>
              <a:srgbClr val="DDEEFF"/>
            </a:solidFill>
            <a:prstDash val="solid"/>
          </a:ln>
          <a:effectLst>
            <a:outerShdw blurRad="50800" dist="25400" dir="8100000" algn="bl" rotWithShape="0">
              <a:srgbClr val="000000">
                <a:alpha val="8000"/>
              </a:srgbClr>
            </a:outerShdw>
          </a:effectLst>
        </p:spPr>
      </p:sp>
      <p:pic>
        <p:nvPicPr>
          <p:cNvPr id="18" name="Image 3" descr="preencoded.png"/>
          <p:cNvPicPr>
            <a:picLocks noChangeAspect="1"/>
          </p:cNvPicPr>
          <p:nvPr/>
        </p:nvPicPr>
        <p:blipFill>
          <a:blip r:embed="rId6"/>
          <a:stretch>
            <a:fillRect/>
          </a:stretch>
        </p:blipFill>
        <p:spPr>
          <a:xfrm>
            <a:off x="4919472" y="1527048"/>
            <a:ext cx="411480" cy="411480"/>
          </a:xfrm>
          <a:prstGeom prst="rect">
            <a:avLst/>
          </a:prstGeom>
        </p:spPr>
      </p:pic>
      <p:sp>
        <p:nvSpPr>
          <p:cNvPr id="19" name="Text 13"/>
          <p:cNvSpPr/>
          <p:nvPr/>
        </p:nvSpPr>
        <p:spPr>
          <a:xfrm>
            <a:off x="5440680" y="1316736"/>
            <a:ext cx="3291840" cy="292608"/>
          </a:xfrm>
          <a:prstGeom prst="rect">
            <a:avLst/>
          </a:prstGeom>
          <a:noFill/>
          <a:ln/>
        </p:spPr>
        <p:txBody>
          <a:bodyPr wrap="square" rtlCol="0" anchor="ctr"/>
          <a:lstStyle/>
          <a:p>
            <a:pPr marL="0" indent="0">
              <a:buNone/>
            </a:pPr>
            <a:r>
              <a:rPr lang="en-US" sz="1300" b="1" dirty="0">
                <a:solidFill>
                  <a:srgbClr val="7B1FA2"/>
                </a:solidFill>
                <a:latin typeface="Calibri" pitchFamily="34" charset="0"/>
                <a:ea typeface="Calibri" pitchFamily="34" charset="-122"/>
                <a:cs typeface="Calibri" pitchFamily="34" charset="-120"/>
              </a:rPr>
              <a:t>Kubernetes</a:t>
            </a:r>
            <a:endParaRPr lang="en-US" sz="1300" dirty="0"/>
          </a:p>
        </p:txBody>
      </p:sp>
      <p:sp>
        <p:nvSpPr>
          <p:cNvPr id="20" name="Text 14"/>
          <p:cNvSpPr/>
          <p:nvPr/>
        </p:nvSpPr>
        <p:spPr>
          <a:xfrm>
            <a:off x="5440680" y="1609344"/>
            <a:ext cx="3291840" cy="64008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Understand how Kubernetes automatically manages and scales many Docker containers.</a:t>
            </a:r>
            <a:endParaRPr lang="en-US" sz="1050" dirty="0"/>
          </a:p>
        </p:txBody>
      </p:sp>
      <p:sp>
        <p:nvSpPr>
          <p:cNvPr id="21" name="Shape 15"/>
          <p:cNvSpPr/>
          <p:nvPr/>
        </p:nvSpPr>
        <p:spPr>
          <a:xfrm>
            <a:off x="4754880" y="2496312"/>
            <a:ext cx="4114800" cy="1078992"/>
          </a:xfrm>
          <a:prstGeom prst="rect">
            <a:avLst/>
          </a:prstGeom>
          <a:solidFill>
            <a:srgbClr val="FFFFFF"/>
          </a:solidFill>
          <a:ln w="12700">
            <a:solidFill>
              <a:srgbClr val="DDEEFF"/>
            </a:solidFill>
            <a:prstDash val="solid"/>
          </a:ln>
          <a:effectLst>
            <a:outerShdw blurRad="50800" dist="25400" dir="8100000" algn="bl" rotWithShape="0">
              <a:srgbClr val="000000">
                <a:alpha val="8000"/>
              </a:srgbClr>
            </a:outerShdw>
          </a:effectLst>
        </p:spPr>
      </p:sp>
      <p:pic>
        <p:nvPicPr>
          <p:cNvPr id="22" name="Image 4" descr="preencoded.png"/>
          <p:cNvPicPr>
            <a:picLocks noChangeAspect="1"/>
          </p:cNvPicPr>
          <p:nvPr/>
        </p:nvPicPr>
        <p:blipFill>
          <a:blip r:embed="rId7"/>
          <a:stretch>
            <a:fillRect/>
          </a:stretch>
        </p:blipFill>
        <p:spPr>
          <a:xfrm>
            <a:off x="4919472" y="2788920"/>
            <a:ext cx="411480" cy="411480"/>
          </a:xfrm>
          <a:prstGeom prst="rect">
            <a:avLst/>
          </a:prstGeom>
        </p:spPr>
      </p:pic>
      <p:sp>
        <p:nvSpPr>
          <p:cNvPr id="23" name="Text 16"/>
          <p:cNvSpPr/>
          <p:nvPr/>
        </p:nvSpPr>
        <p:spPr>
          <a:xfrm>
            <a:off x="5440680" y="2578608"/>
            <a:ext cx="3291840" cy="292608"/>
          </a:xfrm>
          <a:prstGeom prst="rect">
            <a:avLst/>
          </a:prstGeom>
          <a:noFill/>
          <a:ln/>
        </p:spPr>
        <p:txBody>
          <a:bodyPr wrap="square" rtlCol="0" anchor="ctr"/>
          <a:lstStyle/>
          <a:p>
            <a:pPr marL="0" indent="0">
              <a:buNone/>
            </a:pPr>
            <a:r>
              <a:rPr lang="en-US" sz="1300" b="1" dirty="0">
                <a:solidFill>
                  <a:srgbClr val="FFB300"/>
                </a:solidFill>
                <a:latin typeface="Calibri" pitchFamily="34" charset="0"/>
                <a:ea typeface="Calibri" pitchFamily="34" charset="-122"/>
                <a:cs typeface="Calibri" pitchFamily="34" charset="-120"/>
              </a:rPr>
              <a:t>Scaling</a:t>
            </a:r>
            <a:endParaRPr lang="en-US" sz="1300" dirty="0"/>
          </a:p>
        </p:txBody>
      </p:sp>
      <p:sp>
        <p:nvSpPr>
          <p:cNvPr id="24" name="Text 17"/>
          <p:cNvSpPr/>
          <p:nvPr/>
        </p:nvSpPr>
        <p:spPr>
          <a:xfrm>
            <a:off x="5440680" y="2871216"/>
            <a:ext cx="3291840" cy="64008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Learn horizontal and vertical scaling to handle more users without breaking your application.</a:t>
            </a:r>
            <a:endParaRPr lang="en-US" sz="1050" dirty="0"/>
          </a:p>
        </p:txBody>
      </p:sp>
      <p:sp>
        <p:nvSpPr>
          <p:cNvPr id="25" name="Shape 18"/>
          <p:cNvSpPr/>
          <p:nvPr/>
        </p:nvSpPr>
        <p:spPr>
          <a:xfrm>
            <a:off x="4754880" y="3758184"/>
            <a:ext cx="4114800" cy="1078992"/>
          </a:xfrm>
          <a:prstGeom prst="rect">
            <a:avLst/>
          </a:prstGeom>
          <a:solidFill>
            <a:srgbClr val="FFFFFF"/>
          </a:solidFill>
          <a:ln w="12700">
            <a:solidFill>
              <a:srgbClr val="DDEEFF"/>
            </a:solidFill>
            <a:prstDash val="solid"/>
          </a:ln>
          <a:effectLst>
            <a:outerShdw blurRad="50800" dist="25400" dir="8100000" algn="bl" rotWithShape="0">
              <a:srgbClr val="000000">
                <a:alpha val="8000"/>
              </a:srgbClr>
            </a:outerShdw>
          </a:effectLst>
        </p:spPr>
      </p:sp>
      <p:pic>
        <p:nvPicPr>
          <p:cNvPr id="26" name="Image 5" descr="preencoded.png"/>
          <p:cNvPicPr>
            <a:picLocks noChangeAspect="1"/>
          </p:cNvPicPr>
          <p:nvPr/>
        </p:nvPicPr>
        <p:blipFill>
          <a:blip r:embed="rId8"/>
          <a:stretch>
            <a:fillRect/>
          </a:stretch>
        </p:blipFill>
        <p:spPr>
          <a:xfrm>
            <a:off x="4919472" y="4050792"/>
            <a:ext cx="411480" cy="411480"/>
          </a:xfrm>
          <a:prstGeom prst="rect">
            <a:avLst/>
          </a:prstGeom>
        </p:spPr>
      </p:pic>
      <p:sp>
        <p:nvSpPr>
          <p:cNvPr id="27" name="Text 19"/>
          <p:cNvSpPr/>
          <p:nvPr/>
        </p:nvSpPr>
        <p:spPr>
          <a:xfrm>
            <a:off x="5440680" y="3840480"/>
            <a:ext cx="3291840" cy="292608"/>
          </a:xfrm>
          <a:prstGeom prst="rect">
            <a:avLst/>
          </a:prstGeom>
          <a:noFill/>
          <a:ln/>
        </p:spPr>
        <p:txBody>
          <a:bodyPr wrap="square" rtlCol="0" anchor="ctr"/>
          <a:lstStyle/>
          <a:p>
            <a:pPr marL="0" indent="0">
              <a:buNone/>
            </a:pPr>
            <a:r>
              <a:rPr lang="en-US" sz="1300" b="1" dirty="0">
                <a:solidFill>
                  <a:srgbClr val="00897B"/>
                </a:solidFill>
                <a:latin typeface="Calibri" pitchFamily="34" charset="0"/>
                <a:ea typeface="Calibri" pitchFamily="34" charset="-122"/>
                <a:cs typeface="Calibri" pitchFamily="34" charset="-120"/>
              </a:rPr>
              <a:t>Deploy to Cloud</a:t>
            </a:r>
            <a:endParaRPr lang="en-US" sz="1300" dirty="0"/>
          </a:p>
        </p:txBody>
      </p:sp>
      <p:sp>
        <p:nvSpPr>
          <p:cNvPr id="28" name="Text 20"/>
          <p:cNvSpPr/>
          <p:nvPr/>
        </p:nvSpPr>
        <p:spPr>
          <a:xfrm>
            <a:off x="5440680" y="4133088"/>
            <a:ext cx="3291840" cy="64008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Deploy a full-stack app to the cloud and understand how real websites go live on the internet.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565C0"/>
          </a:solidFill>
          <a:ln w="12700">
            <a:solidFill>
              <a:srgbClr val="1565C0"/>
            </a:solidFill>
            <a:prstDash val="solid"/>
          </a:ln>
        </p:spPr>
      </p:sp>
      <p:sp>
        <p:nvSpPr>
          <p:cNvPr id="3" name="Text 1"/>
          <p:cNvSpPr/>
          <p:nvPr/>
        </p:nvSpPr>
        <p:spPr>
          <a:xfrm>
            <a:off x="365760" y="0"/>
            <a:ext cx="841248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What is Cloud Computing?</a:t>
            </a:r>
            <a:endParaRPr lang="en-US" sz="2200" dirty="0"/>
          </a:p>
        </p:txBody>
      </p:sp>
      <p:sp>
        <p:nvSpPr>
          <p:cNvPr id="4" name="Shape 2"/>
          <p:cNvSpPr/>
          <p:nvPr/>
        </p:nvSpPr>
        <p:spPr>
          <a:xfrm>
            <a:off x="320040" y="749808"/>
            <a:ext cx="8503920" cy="685800"/>
          </a:xfrm>
          <a:prstGeom prst="rect">
            <a:avLst/>
          </a:prstGeom>
          <a:solidFill>
            <a:srgbClr val="E3F2FD"/>
          </a:solidFill>
          <a:ln w="12700">
            <a:solidFill>
              <a:srgbClr val="90CAF9"/>
            </a:solidFill>
            <a:prstDash val="solid"/>
          </a:ln>
        </p:spPr>
      </p:sp>
      <p:sp>
        <p:nvSpPr>
          <p:cNvPr id="5" name="Text 3"/>
          <p:cNvSpPr/>
          <p:nvPr/>
        </p:nvSpPr>
        <p:spPr>
          <a:xfrm>
            <a:off x="502920" y="804672"/>
            <a:ext cx="8229600" cy="548640"/>
          </a:xfrm>
          <a:prstGeom prst="rect">
            <a:avLst/>
          </a:prstGeom>
          <a:noFill/>
          <a:ln/>
        </p:spPr>
        <p:txBody>
          <a:bodyPr wrap="square" rtlCol="0" anchor="ctr"/>
          <a:lstStyle/>
          <a:p>
            <a:pPr marL="0" indent="0">
              <a:buNone/>
            </a:pPr>
            <a:r>
              <a:rPr lang="en-US" sz="1250" i="1" dirty="0">
                <a:solidFill>
                  <a:srgbClr val="1565C0"/>
                </a:solidFill>
                <a:latin typeface="Calibri" pitchFamily="34" charset="0"/>
                <a:ea typeface="Calibri" pitchFamily="34" charset="-122"/>
                <a:cs typeface="Calibri" pitchFamily="34" charset="-120"/>
              </a:rPr>
              <a:t>💡  Analogy: Think of cloud computing like electricity from the power grid. You don't build your own power plant — you just plug in and pay for what you use. Similarly, the cloud lets you use someone else's powerful computers over the internet!</a:t>
            </a:r>
            <a:endParaRPr lang="en-US" sz="1250" dirty="0"/>
          </a:p>
        </p:txBody>
      </p:sp>
      <p:sp>
        <p:nvSpPr>
          <p:cNvPr id="6" name="Text 4"/>
          <p:cNvSpPr/>
          <p:nvPr/>
        </p:nvSpPr>
        <p:spPr>
          <a:xfrm>
            <a:off x="320040" y="1554480"/>
            <a:ext cx="5303520" cy="1371600"/>
          </a:xfrm>
          <a:prstGeom prst="rect">
            <a:avLst/>
          </a:prstGeom>
          <a:noFill/>
          <a:ln/>
        </p:spPr>
        <p:txBody>
          <a:bodyPr wrap="square" rtlCol="0" anchor="ctr"/>
          <a:lstStyle/>
          <a:p>
            <a:pPr marL="0" indent="0">
              <a:buNone/>
            </a:pPr>
            <a:r>
              <a:rPr lang="en-US" sz="1200" dirty="0">
                <a:solidFill>
                  <a:srgbClr val="37474F"/>
                </a:solidFill>
                <a:latin typeface="Calibri" pitchFamily="34" charset="0"/>
                <a:ea typeface="Calibri" pitchFamily="34" charset="-122"/>
                <a:cs typeface="Calibri" pitchFamily="34" charset="-120"/>
              </a:rPr>
              <a:t>Imagine you are writing an important file and you save it on Google Drive — not on your own computer. You can open that file from your phone, laptop, or a friend's computer. This is the basic idea of cloud computing. Instead of keeping everything on your personal machine, you store and run things on powerful computers owned by big companies — accessible through the internet.</a:t>
            </a:r>
            <a:endParaRPr lang="en-US" sz="1200" dirty="0"/>
          </a:p>
        </p:txBody>
      </p:sp>
      <p:sp>
        <p:nvSpPr>
          <p:cNvPr id="7" name="Shape 5"/>
          <p:cNvSpPr/>
          <p:nvPr/>
        </p:nvSpPr>
        <p:spPr>
          <a:xfrm>
            <a:off x="320040" y="3017520"/>
            <a:ext cx="5303520" cy="1691640"/>
          </a:xfrm>
          <a:prstGeom prst="rect">
            <a:avLst/>
          </a:prstGeom>
          <a:solidFill>
            <a:srgbClr val="FFFFFF"/>
          </a:solidFill>
          <a:ln w="12700">
            <a:solidFill>
              <a:srgbClr val="DDEEFF"/>
            </a:solidFill>
            <a:prstDash val="solid"/>
          </a:ln>
          <a:effectLst>
            <a:outerShdw blurRad="50800" dist="25400" dir="8100000" algn="bl" rotWithShape="0">
              <a:srgbClr val="000000">
                <a:alpha val="8000"/>
              </a:srgbClr>
            </a:outerShdw>
          </a:effectLst>
        </p:spPr>
      </p:sp>
      <p:sp>
        <p:nvSpPr>
          <p:cNvPr id="8" name="Text 6"/>
          <p:cNvSpPr/>
          <p:nvPr/>
        </p:nvSpPr>
        <p:spPr>
          <a:xfrm>
            <a:off x="457200" y="3090672"/>
            <a:ext cx="5029200" cy="320040"/>
          </a:xfrm>
          <a:prstGeom prst="rect">
            <a:avLst/>
          </a:prstGeom>
          <a:noFill/>
          <a:ln/>
        </p:spPr>
        <p:txBody>
          <a:bodyPr wrap="square"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  Real-Life Cloud Examples</a:t>
            </a:r>
            <a:endParaRPr lang="en-US" sz="1300" dirty="0"/>
          </a:p>
        </p:txBody>
      </p:sp>
      <p:sp>
        <p:nvSpPr>
          <p:cNvPr id="9" name="Text 7"/>
          <p:cNvSpPr/>
          <p:nvPr/>
        </p:nvSpPr>
        <p:spPr>
          <a:xfrm>
            <a:off x="502920" y="3474720"/>
            <a:ext cx="5029200" cy="256032"/>
          </a:xfrm>
          <a:prstGeom prst="rect">
            <a:avLst/>
          </a:prstGeom>
          <a:noFill/>
          <a:ln/>
        </p:spPr>
        <p:txBody>
          <a:bodyPr wrap="square" rtlCol="0" anchor="ctr"/>
          <a:lstStyle/>
          <a:p>
            <a:pPr marL="0" indent="0">
              <a:buNone/>
            </a:pPr>
            <a:r>
              <a:rPr lang="en-US" sz="1100" dirty="0">
                <a:solidFill>
                  <a:srgbClr val="37474F"/>
                </a:solidFill>
                <a:latin typeface="Calibri" pitchFamily="34" charset="0"/>
                <a:ea typeface="Calibri" pitchFamily="34" charset="-122"/>
                <a:cs typeface="Calibri" pitchFamily="34" charset="-120"/>
              </a:rPr>
              <a:t>📧  Gmail – Your emails are stored in Google's cloud servers</a:t>
            </a:r>
            <a:endParaRPr lang="en-US" sz="1100" dirty="0"/>
          </a:p>
        </p:txBody>
      </p:sp>
      <p:sp>
        <p:nvSpPr>
          <p:cNvPr id="10" name="Text 8"/>
          <p:cNvSpPr/>
          <p:nvPr/>
        </p:nvSpPr>
        <p:spPr>
          <a:xfrm>
            <a:off x="502920" y="3758184"/>
            <a:ext cx="5029200" cy="256032"/>
          </a:xfrm>
          <a:prstGeom prst="rect">
            <a:avLst/>
          </a:prstGeom>
          <a:noFill/>
          <a:ln/>
        </p:spPr>
        <p:txBody>
          <a:bodyPr wrap="square" rtlCol="0" anchor="ctr"/>
          <a:lstStyle/>
          <a:p>
            <a:pPr marL="0" indent="0">
              <a:buNone/>
            </a:pPr>
            <a:r>
              <a:rPr lang="en-US" sz="1100" dirty="0">
                <a:solidFill>
                  <a:srgbClr val="37474F"/>
                </a:solidFill>
                <a:latin typeface="Calibri" pitchFamily="34" charset="0"/>
                <a:ea typeface="Calibri" pitchFamily="34" charset="-122"/>
                <a:cs typeface="Calibri" pitchFamily="34" charset="-120"/>
              </a:rPr>
              <a:t>🎵  Spotify / YouTube – Music and videos streamed from the cloud</a:t>
            </a:r>
            <a:endParaRPr lang="en-US" sz="1100" dirty="0"/>
          </a:p>
        </p:txBody>
      </p:sp>
      <p:sp>
        <p:nvSpPr>
          <p:cNvPr id="11" name="Text 9"/>
          <p:cNvSpPr/>
          <p:nvPr/>
        </p:nvSpPr>
        <p:spPr>
          <a:xfrm>
            <a:off x="502920" y="4041648"/>
            <a:ext cx="5029200" cy="256032"/>
          </a:xfrm>
          <a:prstGeom prst="rect">
            <a:avLst/>
          </a:prstGeom>
          <a:noFill/>
          <a:ln/>
        </p:spPr>
        <p:txBody>
          <a:bodyPr wrap="square" rtlCol="0" anchor="ctr"/>
          <a:lstStyle/>
          <a:p>
            <a:pPr marL="0" indent="0">
              <a:buNone/>
            </a:pPr>
            <a:r>
              <a:rPr lang="en-US" sz="1100" dirty="0">
                <a:solidFill>
                  <a:srgbClr val="37474F"/>
                </a:solidFill>
                <a:latin typeface="Calibri" pitchFamily="34" charset="0"/>
                <a:ea typeface="Calibri" pitchFamily="34" charset="-122"/>
                <a:cs typeface="Calibri" pitchFamily="34" charset="-120"/>
              </a:rPr>
              <a:t>📁  Google Drive / Dropbox – Files saved and shared online</a:t>
            </a:r>
            <a:endParaRPr lang="en-US" sz="1100" dirty="0"/>
          </a:p>
        </p:txBody>
      </p:sp>
      <p:sp>
        <p:nvSpPr>
          <p:cNvPr id="12" name="Text 10"/>
          <p:cNvSpPr/>
          <p:nvPr/>
        </p:nvSpPr>
        <p:spPr>
          <a:xfrm>
            <a:off x="502920" y="4325112"/>
            <a:ext cx="5029200" cy="256032"/>
          </a:xfrm>
          <a:prstGeom prst="rect">
            <a:avLst/>
          </a:prstGeom>
          <a:noFill/>
          <a:ln/>
        </p:spPr>
        <p:txBody>
          <a:bodyPr wrap="square" rtlCol="0" anchor="ctr"/>
          <a:lstStyle/>
          <a:p>
            <a:pPr marL="0" indent="0">
              <a:buNone/>
            </a:pPr>
            <a:r>
              <a:rPr lang="en-US" sz="1100" dirty="0">
                <a:solidFill>
                  <a:srgbClr val="37474F"/>
                </a:solidFill>
                <a:latin typeface="Calibri" pitchFamily="34" charset="0"/>
                <a:ea typeface="Calibri" pitchFamily="34" charset="-122"/>
                <a:cs typeface="Calibri" pitchFamily="34" charset="-120"/>
              </a:rPr>
              <a:t>🛒  Amazon / Flipkart – Websites hosted on cloud (AWS / Azure)</a:t>
            </a:r>
            <a:endParaRPr lang="en-US" sz="1100" dirty="0"/>
          </a:p>
        </p:txBody>
      </p:sp>
      <p:sp>
        <p:nvSpPr>
          <p:cNvPr id="13" name="Shape 11"/>
          <p:cNvSpPr/>
          <p:nvPr/>
        </p:nvSpPr>
        <p:spPr>
          <a:xfrm>
            <a:off x="5806440" y="1490472"/>
            <a:ext cx="3017520" cy="3218688"/>
          </a:xfrm>
          <a:prstGeom prst="rect">
            <a:avLst/>
          </a:prstGeom>
          <a:solidFill>
            <a:srgbClr val="0A1628"/>
          </a:solidFill>
          <a:ln w="12700">
            <a:solidFill>
              <a:srgbClr val="0A1628"/>
            </a:solidFill>
            <a:prstDash val="solid"/>
          </a:ln>
        </p:spPr>
      </p:sp>
      <p:pic>
        <p:nvPicPr>
          <p:cNvPr id="14" name="Image 0" descr="preencoded.png"/>
          <p:cNvPicPr>
            <a:picLocks noChangeAspect="1"/>
          </p:cNvPicPr>
          <p:nvPr/>
        </p:nvPicPr>
        <p:blipFill>
          <a:blip r:embed="rId3"/>
          <a:stretch>
            <a:fillRect/>
          </a:stretch>
        </p:blipFill>
        <p:spPr>
          <a:xfrm>
            <a:off x="6446520" y="1554480"/>
            <a:ext cx="1737360" cy="758952"/>
          </a:xfrm>
          <a:prstGeom prst="rect">
            <a:avLst/>
          </a:prstGeom>
        </p:spPr>
      </p:pic>
      <p:sp>
        <p:nvSpPr>
          <p:cNvPr id="15" name="Text 12"/>
          <p:cNvSpPr/>
          <p:nvPr/>
        </p:nvSpPr>
        <p:spPr>
          <a:xfrm>
            <a:off x="5852160" y="2286000"/>
            <a:ext cx="2926080" cy="365760"/>
          </a:xfrm>
          <a:prstGeom prst="rect">
            <a:avLst/>
          </a:prstGeom>
          <a:noFill/>
          <a:ln/>
        </p:spPr>
        <p:txBody>
          <a:bodyPr wrap="square" rtlCol="0" anchor="ctr"/>
          <a:lstStyle/>
          <a:p>
            <a:pPr marL="0" indent="0" algn="ctr">
              <a:buNone/>
            </a:pPr>
            <a:r>
              <a:rPr lang="en-US" sz="1200" b="1" dirty="0">
                <a:solidFill>
                  <a:srgbClr val="29B6F6"/>
                </a:solidFill>
                <a:latin typeface="Calibri" pitchFamily="34" charset="0"/>
                <a:ea typeface="Calibri" pitchFamily="34" charset="-122"/>
                <a:cs typeface="Calibri" pitchFamily="34" charset="-120"/>
              </a:rPr>
              <a:t>☁  Cloud = Internet Servers</a:t>
            </a:r>
            <a:endParaRPr lang="en-US" sz="1200" dirty="0"/>
          </a:p>
        </p:txBody>
      </p:sp>
      <p:sp>
        <p:nvSpPr>
          <p:cNvPr id="16" name="Text 13"/>
          <p:cNvSpPr/>
          <p:nvPr/>
        </p:nvSpPr>
        <p:spPr>
          <a:xfrm>
            <a:off x="5897880" y="2788920"/>
            <a:ext cx="2834640" cy="320040"/>
          </a:xfrm>
          <a:prstGeom prst="rect">
            <a:avLst/>
          </a:prstGeom>
          <a:noFill/>
          <a:ln/>
        </p:spPr>
        <p:txBody>
          <a:bodyPr wrap="square" rtlCol="0" anchor="ctr"/>
          <a:lstStyle/>
          <a:p>
            <a:pPr marL="0" indent="0">
              <a:buNone/>
            </a:pPr>
            <a:r>
              <a:rPr lang="en-US" sz="1100" dirty="0">
                <a:solidFill>
                  <a:srgbClr val="B3E5FC"/>
                </a:solidFill>
                <a:latin typeface="Calibri" pitchFamily="34" charset="0"/>
                <a:ea typeface="Calibri" pitchFamily="34" charset="-122"/>
                <a:cs typeface="Calibri" pitchFamily="34" charset="-120"/>
              </a:rPr>
              <a:t>🖥  AWS (Amazon)</a:t>
            </a:r>
            <a:endParaRPr lang="en-US" sz="1100" dirty="0"/>
          </a:p>
        </p:txBody>
      </p:sp>
      <p:sp>
        <p:nvSpPr>
          <p:cNvPr id="17" name="Text 14"/>
          <p:cNvSpPr/>
          <p:nvPr/>
        </p:nvSpPr>
        <p:spPr>
          <a:xfrm>
            <a:off x="5897880" y="3154680"/>
            <a:ext cx="2834640" cy="320040"/>
          </a:xfrm>
          <a:prstGeom prst="rect">
            <a:avLst/>
          </a:prstGeom>
          <a:noFill/>
          <a:ln/>
        </p:spPr>
        <p:txBody>
          <a:bodyPr wrap="square" rtlCol="0" anchor="ctr"/>
          <a:lstStyle/>
          <a:p>
            <a:pPr marL="0" indent="0">
              <a:buNone/>
            </a:pPr>
            <a:r>
              <a:rPr lang="en-US" sz="1100" dirty="0">
                <a:solidFill>
                  <a:srgbClr val="B3E5FC"/>
                </a:solidFill>
                <a:latin typeface="Calibri" pitchFamily="34" charset="0"/>
                <a:ea typeface="Calibri" pitchFamily="34" charset="-122"/>
                <a:cs typeface="Calibri" pitchFamily="34" charset="-120"/>
              </a:rPr>
              <a:t>🔷  Microsoft Azure</a:t>
            </a:r>
            <a:endParaRPr lang="en-US" sz="1100" dirty="0"/>
          </a:p>
        </p:txBody>
      </p:sp>
      <p:sp>
        <p:nvSpPr>
          <p:cNvPr id="18" name="Text 15"/>
          <p:cNvSpPr/>
          <p:nvPr/>
        </p:nvSpPr>
        <p:spPr>
          <a:xfrm>
            <a:off x="5897880" y="3520440"/>
            <a:ext cx="2834640" cy="320040"/>
          </a:xfrm>
          <a:prstGeom prst="rect">
            <a:avLst/>
          </a:prstGeom>
          <a:noFill/>
          <a:ln/>
        </p:spPr>
        <p:txBody>
          <a:bodyPr wrap="square" rtlCol="0" anchor="ctr"/>
          <a:lstStyle/>
          <a:p>
            <a:pPr marL="0" indent="0">
              <a:buNone/>
            </a:pPr>
            <a:r>
              <a:rPr lang="en-US" sz="1100" dirty="0">
                <a:solidFill>
                  <a:srgbClr val="B3E5FC"/>
                </a:solidFill>
                <a:latin typeface="Calibri" pitchFamily="34" charset="0"/>
                <a:ea typeface="Calibri" pitchFamily="34" charset="-122"/>
                <a:cs typeface="Calibri" pitchFamily="34" charset="-120"/>
              </a:rPr>
              <a:t>🌐  Google Cloud (GCP)</a:t>
            </a:r>
            <a:endParaRPr lang="en-US" sz="1100" dirty="0"/>
          </a:p>
        </p:txBody>
      </p:sp>
      <p:sp>
        <p:nvSpPr>
          <p:cNvPr id="19" name="Text 16"/>
          <p:cNvSpPr/>
          <p:nvPr/>
        </p:nvSpPr>
        <p:spPr>
          <a:xfrm>
            <a:off x="5897880" y="3886200"/>
            <a:ext cx="2834640" cy="320040"/>
          </a:xfrm>
          <a:prstGeom prst="rect">
            <a:avLst/>
          </a:prstGeom>
          <a:noFill/>
          <a:ln/>
        </p:spPr>
        <p:txBody>
          <a:bodyPr wrap="square" rtlCol="0" anchor="ctr"/>
          <a:lstStyle/>
          <a:p>
            <a:pPr marL="0" indent="0">
              <a:buNone/>
            </a:pPr>
            <a:r>
              <a:rPr lang="en-US" sz="1100" dirty="0">
                <a:solidFill>
                  <a:srgbClr val="B3E5FC"/>
                </a:solidFill>
                <a:latin typeface="Calibri" pitchFamily="34" charset="0"/>
                <a:ea typeface="Calibri" pitchFamily="34" charset="-122"/>
                <a:cs typeface="Calibri" pitchFamily="34" charset="-120"/>
              </a:rPr>
              <a:t>🔸  IBM Cloud</a:t>
            </a:r>
            <a:endParaRPr lang="en-US" sz="1100" dirty="0"/>
          </a:p>
        </p:txBody>
      </p:sp>
      <p:sp>
        <p:nvSpPr>
          <p:cNvPr id="20" name="Text 17"/>
          <p:cNvSpPr/>
          <p:nvPr/>
        </p:nvSpPr>
        <p:spPr>
          <a:xfrm>
            <a:off x="5897880" y="4251960"/>
            <a:ext cx="2834640" cy="320040"/>
          </a:xfrm>
          <a:prstGeom prst="rect">
            <a:avLst/>
          </a:prstGeom>
          <a:noFill/>
          <a:ln/>
        </p:spPr>
        <p:txBody>
          <a:bodyPr wrap="square" rtlCol="0" anchor="ctr"/>
          <a:lstStyle/>
          <a:p>
            <a:pPr marL="0" indent="0">
              <a:buNone/>
            </a:pPr>
            <a:r>
              <a:rPr lang="en-US" sz="1100" dirty="0">
                <a:solidFill>
                  <a:srgbClr val="B3E5FC"/>
                </a:solidFill>
                <a:latin typeface="Calibri" pitchFamily="34" charset="0"/>
                <a:ea typeface="Calibri" pitchFamily="34" charset="-122"/>
                <a:cs typeface="Calibri" pitchFamily="34" charset="-120"/>
              </a:rPr>
              <a:t>📦  DigitalOcean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897B"/>
          </a:solidFill>
          <a:ln w="12700">
            <a:solidFill>
              <a:srgbClr val="00897B"/>
            </a:solidFill>
            <a:prstDash val="solid"/>
          </a:ln>
        </p:spPr>
      </p:sp>
      <p:sp>
        <p:nvSpPr>
          <p:cNvPr id="3" name="Text 1"/>
          <p:cNvSpPr/>
          <p:nvPr/>
        </p:nvSpPr>
        <p:spPr>
          <a:xfrm>
            <a:off x="365760" y="0"/>
            <a:ext cx="841248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Types of Cloud</a:t>
            </a:r>
            <a:endParaRPr lang="en-US" sz="2200" dirty="0"/>
          </a:p>
        </p:txBody>
      </p:sp>
      <p:sp>
        <p:nvSpPr>
          <p:cNvPr id="4" name="Shape 2"/>
          <p:cNvSpPr/>
          <p:nvPr/>
        </p:nvSpPr>
        <p:spPr>
          <a:xfrm>
            <a:off x="274320" y="749808"/>
            <a:ext cx="2743200" cy="4160520"/>
          </a:xfrm>
          <a:prstGeom prst="rect">
            <a:avLst/>
          </a:prstGeom>
          <a:solidFill>
            <a:srgbClr val="FFFFFF"/>
          </a:solidFill>
          <a:ln w="25400">
            <a:solidFill>
              <a:srgbClr val="1565C0"/>
            </a:solidFill>
            <a:prstDash val="solid"/>
          </a:ln>
          <a:effectLst>
            <a:outerShdw blurRad="63500" dist="25400" dir="8100000" algn="bl" rotWithShape="0">
              <a:srgbClr val="000000">
                <a:alpha val="10000"/>
              </a:srgbClr>
            </a:outerShdw>
          </a:effectLst>
        </p:spPr>
      </p:sp>
      <p:sp>
        <p:nvSpPr>
          <p:cNvPr id="5" name="Shape 3"/>
          <p:cNvSpPr/>
          <p:nvPr/>
        </p:nvSpPr>
        <p:spPr>
          <a:xfrm>
            <a:off x="274320" y="749808"/>
            <a:ext cx="2743200" cy="530352"/>
          </a:xfrm>
          <a:prstGeom prst="rect">
            <a:avLst/>
          </a:prstGeom>
          <a:solidFill>
            <a:srgbClr val="1565C0"/>
          </a:solidFill>
          <a:ln w="12700">
            <a:solidFill>
              <a:srgbClr val="1565C0"/>
            </a:solidFill>
            <a:prstDash val="solid"/>
          </a:ln>
        </p:spPr>
      </p:sp>
      <p:sp>
        <p:nvSpPr>
          <p:cNvPr id="6" name="Text 4"/>
          <p:cNvSpPr/>
          <p:nvPr/>
        </p:nvSpPr>
        <p:spPr>
          <a:xfrm>
            <a:off x="365760" y="749808"/>
            <a:ext cx="2560320" cy="53035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Public Cloud</a:t>
            </a:r>
            <a:endParaRPr lang="en-US" sz="1400" dirty="0"/>
          </a:p>
        </p:txBody>
      </p:sp>
      <p:sp>
        <p:nvSpPr>
          <p:cNvPr id="7" name="Text 5"/>
          <p:cNvSpPr/>
          <p:nvPr/>
        </p:nvSpPr>
        <p:spPr>
          <a:xfrm>
            <a:off x="365760" y="1371600"/>
            <a:ext cx="2560320" cy="256032"/>
          </a:xfrm>
          <a:prstGeom prst="rect">
            <a:avLst/>
          </a:prstGeom>
          <a:noFill/>
          <a:ln/>
        </p:spPr>
        <p:txBody>
          <a:bodyPr wrap="square" rtlCol="0" anchor="ctr"/>
          <a:lstStyle/>
          <a:p>
            <a:pPr marL="0" indent="0">
              <a:buNone/>
            </a:pPr>
            <a:r>
              <a:rPr lang="en-US" sz="1100" b="1" i="1" dirty="0">
                <a:solidFill>
                  <a:srgbClr val="1565C0"/>
                </a:solidFill>
                <a:latin typeface="Calibri" pitchFamily="34" charset="0"/>
                <a:ea typeface="Calibri" pitchFamily="34" charset="-122"/>
                <a:cs typeface="Calibri" pitchFamily="34" charset="-120"/>
              </a:rPr>
              <a:t>e.g. AWS, Google Cloud</a:t>
            </a:r>
            <a:endParaRPr lang="en-US" sz="1100" dirty="0"/>
          </a:p>
        </p:txBody>
      </p:sp>
      <p:sp>
        <p:nvSpPr>
          <p:cNvPr id="8" name="Text 6"/>
          <p:cNvSpPr/>
          <p:nvPr/>
        </p:nvSpPr>
        <p:spPr>
          <a:xfrm>
            <a:off x="365760" y="1664208"/>
            <a:ext cx="2560320" cy="169164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A public cloud is like a shared apartment building — many people live there, but each person has their own private space. Big companies (AWS, Google, Microsoft) own the servers and you rent them. It is cheap, easy to use, and great for most apps.</a:t>
            </a:r>
            <a:endParaRPr lang="en-US" sz="1050" dirty="0"/>
          </a:p>
        </p:txBody>
      </p:sp>
      <p:sp>
        <p:nvSpPr>
          <p:cNvPr id="9" name="Shape 7"/>
          <p:cNvSpPr/>
          <p:nvPr/>
        </p:nvSpPr>
        <p:spPr>
          <a:xfrm>
            <a:off x="365760" y="3429000"/>
            <a:ext cx="2560320" cy="18288"/>
          </a:xfrm>
          <a:prstGeom prst="rect">
            <a:avLst/>
          </a:prstGeom>
          <a:solidFill>
            <a:srgbClr val="DDEEFF"/>
          </a:solidFill>
          <a:ln w="12700">
            <a:solidFill>
              <a:srgbClr val="DDEEFF"/>
            </a:solidFill>
            <a:prstDash val="solid"/>
          </a:ln>
        </p:spPr>
      </p:sp>
      <p:sp>
        <p:nvSpPr>
          <p:cNvPr id="10" name="Text 8"/>
          <p:cNvSpPr/>
          <p:nvPr/>
        </p:nvSpPr>
        <p:spPr>
          <a:xfrm>
            <a:off x="365760" y="3493008"/>
            <a:ext cx="2560320" cy="1280160"/>
          </a:xfrm>
          <a:prstGeom prst="rect">
            <a:avLst/>
          </a:prstGeom>
          <a:noFill/>
          <a:ln/>
        </p:spPr>
        <p:txBody>
          <a:bodyPr wrap="square" rtlCol="0" anchor="ctr"/>
          <a:lstStyle/>
          <a:p>
            <a:pPr marL="0" indent="0">
              <a:buNone/>
            </a:pPr>
            <a:r>
              <a:rPr lang="en-US" sz="1000" i="1" dirty="0">
                <a:solidFill>
                  <a:srgbClr val="1565C0"/>
                </a:solidFill>
                <a:latin typeface="Calibri" pitchFamily="34" charset="0"/>
                <a:ea typeface="Calibri" pitchFamily="34" charset="-122"/>
                <a:cs typeface="Calibri" pitchFamily="34" charset="-120"/>
              </a:rPr>
              <a:t>Example: Netflix runs on AWS — you stream videos, but Netflix doesn't own the physical servers!</a:t>
            </a:r>
            <a:endParaRPr lang="en-US" sz="1000" dirty="0"/>
          </a:p>
        </p:txBody>
      </p:sp>
      <p:sp>
        <p:nvSpPr>
          <p:cNvPr id="11" name="Shape 9"/>
          <p:cNvSpPr/>
          <p:nvPr/>
        </p:nvSpPr>
        <p:spPr>
          <a:xfrm>
            <a:off x="3200400" y="749808"/>
            <a:ext cx="2743200" cy="4160520"/>
          </a:xfrm>
          <a:prstGeom prst="rect">
            <a:avLst/>
          </a:prstGeom>
          <a:solidFill>
            <a:srgbClr val="FFFFFF"/>
          </a:solidFill>
          <a:ln w="25400">
            <a:solidFill>
              <a:srgbClr val="F4511E"/>
            </a:solidFill>
            <a:prstDash val="solid"/>
          </a:ln>
          <a:effectLst>
            <a:outerShdw blurRad="63500" dist="25400" dir="8100000" algn="bl" rotWithShape="0">
              <a:srgbClr val="000000">
                <a:alpha val="10000"/>
              </a:srgbClr>
            </a:outerShdw>
          </a:effectLst>
        </p:spPr>
      </p:sp>
      <p:sp>
        <p:nvSpPr>
          <p:cNvPr id="12" name="Shape 10"/>
          <p:cNvSpPr/>
          <p:nvPr/>
        </p:nvSpPr>
        <p:spPr>
          <a:xfrm>
            <a:off x="3200400" y="749808"/>
            <a:ext cx="2743200" cy="530352"/>
          </a:xfrm>
          <a:prstGeom prst="rect">
            <a:avLst/>
          </a:prstGeom>
          <a:solidFill>
            <a:srgbClr val="F4511E"/>
          </a:solidFill>
          <a:ln w="12700">
            <a:solidFill>
              <a:srgbClr val="F4511E"/>
            </a:solidFill>
            <a:prstDash val="solid"/>
          </a:ln>
        </p:spPr>
      </p:sp>
      <p:sp>
        <p:nvSpPr>
          <p:cNvPr id="13" name="Text 11"/>
          <p:cNvSpPr/>
          <p:nvPr/>
        </p:nvSpPr>
        <p:spPr>
          <a:xfrm>
            <a:off x="3291840" y="749808"/>
            <a:ext cx="2560320" cy="53035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Private Cloud</a:t>
            </a:r>
            <a:endParaRPr lang="en-US" sz="1400" dirty="0"/>
          </a:p>
        </p:txBody>
      </p:sp>
      <p:sp>
        <p:nvSpPr>
          <p:cNvPr id="14" name="Text 12"/>
          <p:cNvSpPr/>
          <p:nvPr/>
        </p:nvSpPr>
        <p:spPr>
          <a:xfrm>
            <a:off x="3291840" y="1371600"/>
            <a:ext cx="2560320" cy="256032"/>
          </a:xfrm>
          <a:prstGeom prst="rect">
            <a:avLst/>
          </a:prstGeom>
          <a:noFill/>
          <a:ln/>
        </p:spPr>
        <p:txBody>
          <a:bodyPr wrap="square" rtlCol="0" anchor="ctr"/>
          <a:lstStyle/>
          <a:p>
            <a:pPr marL="0" indent="0">
              <a:buNone/>
            </a:pPr>
            <a:r>
              <a:rPr lang="en-US" sz="1100" b="1" i="1" dirty="0">
                <a:solidFill>
                  <a:srgbClr val="F4511E"/>
                </a:solidFill>
                <a:latin typeface="Calibri" pitchFamily="34" charset="0"/>
                <a:ea typeface="Calibri" pitchFamily="34" charset="-122"/>
                <a:cs typeface="Calibri" pitchFamily="34" charset="-120"/>
              </a:rPr>
              <a:t>e.g. Company Datacenters</a:t>
            </a:r>
            <a:endParaRPr lang="en-US" sz="1100" dirty="0"/>
          </a:p>
        </p:txBody>
      </p:sp>
      <p:sp>
        <p:nvSpPr>
          <p:cNvPr id="15" name="Text 13"/>
          <p:cNvSpPr/>
          <p:nvPr/>
        </p:nvSpPr>
        <p:spPr>
          <a:xfrm>
            <a:off x="3291840" y="1664208"/>
            <a:ext cx="2560320" cy="169164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A private cloud is like owning your own house. The company builds and manages its own cloud servers. Only that company uses those servers. This is very secure but very expensive. Banks and hospitals often use private clouds to protect sensitive data.</a:t>
            </a:r>
            <a:endParaRPr lang="en-US" sz="1050" dirty="0"/>
          </a:p>
        </p:txBody>
      </p:sp>
      <p:sp>
        <p:nvSpPr>
          <p:cNvPr id="16" name="Shape 14"/>
          <p:cNvSpPr/>
          <p:nvPr/>
        </p:nvSpPr>
        <p:spPr>
          <a:xfrm>
            <a:off x="3291840" y="3429000"/>
            <a:ext cx="2560320" cy="18288"/>
          </a:xfrm>
          <a:prstGeom prst="rect">
            <a:avLst/>
          </a:prstGeom>
          <a:solidFill>
            <a:srgbClr val="DDEEFF"/>
          </a:solidFill>
          <a:ln w="12700">
            <a:solidFill>
              <a:srgbClr val="DDEEFF"/>
            </a:solidFill>
            <a:prstDash val="solid"/>
          </a:ln>
        </p:spPr>
      </p:sp>
      <p:sp>
        <p:nvSpPr>
          <p:cNvPr id="17" name="Text 15"/>
          <p:cNvSpPr/>
          <p:nvPr/>
        </p:nvSpPr>
        <p:spPr>
          <a:xfrm>
            <a:off x="3291840" y="3493008"/>
            <a:ext cx="2560320" cy="1280160"/>
          </a:xfrm>
          <a:prstGeom prst="rect">
            <a:avLst/>
          </a:prstGeom>
          <a:noFill/>
          <a:ln/>
        </p:spPr>
        <p:txBody>
          <a:bodyPr wrap="square" rtlCol="0" anchor="ctr"/>
          <a:lstStyle/>
          <a:p>
            <a:pPr marL="0" indent="0">
              <a:buNone/>
            </a:pPr>
            <a:r>
              <a:rPr lang="en-US" sz="1000" i="1" dirty="0">
                <a:solidFill>
                  <a:srgbClr val="F4511E"/>
                </a:solidFill>
                <a:latin typeface="Calibri" pitchFamily="34" charset="0"/>
                <a:ea typeface="Calibri" pitchFamily="34" charset="-122"/>
                <a:cs typeface="Calibri" pitchFamily="34" charset="-120"/>
              </a:rPr>
              <a:t>Example: A hospital stores patient records on its own private cloud so nobody else can access it.</a:t>
            </a:r>
            <a:endParaRPr lang="en-US" sz="1000" dirty="0"/>
          </a:p>
        </p:txBody>
      </p:sp>
      <p:sp>
        <p:nvSpPr>
          <p:cNvPr id="18" name="Shape 16"/>
          <p:cNvSpPr/>
          <p:nvPr/>
        </p:nvSpPr>
        <p:spPr>
          <a:xfrm>
            <a:off x="6126480" y="749808"/>
            <a:ext cx="2743200" cy="4160520"/>
          </a:xfrm>
          <a:prstGeom prst="rect">
            <a:avLst/>
          </a:prstGeom>
          <a:solidFill>
            <a:srgbClr val="FFFFFF"/>
          </a:solidFill>
          <a:ln w="25400">
            <a:solidFill>
              <a:srgbClr val="7B1FA2"/>
            </a:solidFill>
            <a:prstDash val="solid"/>
          </a:ln>
          <a:effectLst>
            <a:outerShdw blurRad="63500" dist="25400" dir="8100000" algn="bl" rotWithShape="0">
              <a:srgbClr val="000000">
                <a:alpha val="10000"/>
              </a:srgbClr>
            </a:outerShdw>
          </a:effectLst>
        </p:spPr>
      </p:sp>
      <p:sp>
        <p:nvSpPr>
          <p:cNvPr id="19" name="Shape 17"/>
          <p:cNvSpPr/>
          <p:nvPr/>
        </p:nvSpPr>
        <p:spPr>
          <a:xfrm>
            <a:off x="6126480" y="749808"/>
            <a:ext cx="2743200" cy="530352"/>
          </a:xfrm>
          <a:prstGeom prst="rect">
            <a:avLst/>
          </a:prstGeom>
          <a:solidFill>
            <a:srgbClr val="7B1FA2"/>
          </a:solidFill>
          <a:ln w="12700">
            <a:solidFill>
              <a:srgbClr val="7B1FA2"/>
            </a:solidFill>
            <a:prstDash val="solid"/>
          </a:ln>
        </p:spPr>
      </p:sp>
      <p:sp>
        <p:nvSpPr>
          <p:cNvPr id="20" name="Text 18"/>
          <p:cNvSpPr/>
          <p:nvPr/>
        </p:nvSpPr>
        <p:spPr>
          <a:xfrm>
            <a:off x="6217920" y="749808"/>
            <a:ext cx="2560320" cy="53035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Hybrid Cloud</a:t>
            </a:r>
            <a:endParaRPr lang="en-US" sz="1400" dirty="0"/>
          </a:p>
        </p:txBody>
      </p:sp>
      <p:sp>
        <p:nvSpPr>
          <p:cNvPr id="21" name="Text 19"/>
          <p:cNvSpPr/>
          <p:nvPr/>
        </p:nvSpPr>
        <p:spPr>
          <a:xfrm>
            <a:off x="6217920" y="1371600"/>
            <a:ext cx="2560320" cy="256032"/>
          </a:xfrm>
          <a:prstGeom prst="rect">
            <a:avLst/>
          </a:prstGeom>
          <a:noFill/>
          <a:ln/>
        </p:spPr>
        <p:txBody>
          <a:bodyPr wrap="square" rtlCol="0" anchor="ctr"/>
          <a:lstStyle/>
          <a:p>
            <a:pPr marL="0" indent="0">
              <a:buNone/>
            </a:pPr>
            <a:r>
              <a:rPr lang="en-US" sz="1100" b="1" i="1" dirty="0">
                <a:solidFill>
                  <a:srgbClr val="7B1FA2"/>
                </a:solidFill>
                <a:latin typeface="Calibri" pitchFamily="34" charset="0"/>
                <a:ea typeface="Calibri" pitchFamily="34" charset="-122"/>
                <a:cs typeface="Calibri" pitchFamily="34" charset="-120"/>
              </a:rPr>
              <a:t>e.g. Mix of both</a:t>
            </a:r>
            <a:endParaRPr lang="en-US" sz="1100" dirty="0"/>
          </a:p>
        </p:txBody>
      </p:sp>
      <p:sp>
        <p:nvSpPr>
          <p:cNvPr id="22" name="Text 20"/>
          <p:cNvSpPr/>
          <p:nvPr/>
        </p:nvSpPr>
        <p:spPr>
          <a:xfrm>
            <a:off x="6217920" y="1664208"/>
            <a:ext cx="2560320" cy="169164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A hybrid cloud is like living in your own house but also renting a hotel room when guests come. You use your private cloud for important/secure data, and the public cloud for extra capacity. This gives you the best of both worlds.</a:t>
            </a:r>
            <a:endParaRPr lang="en-US" sz="1050" dirty="0"/>
          </a:p>
        </p:txBody>
      </p:sp>
      <p:sp>
        <p:nvSpPr>
          <p:cNvPr id="23" name="Shape 21"/>
          <p:cNvSpPr/>
          <p:nvPr/>
        </p:nvSpPr>
        <p:spPr>
          <a:xfrm>
            <a:off x="6217920" y="3429000"/>
            <a:ext cx="2560320" cy="18288"/>
          </a:xfrm>
          <a:prstGeom prst="rect">
            <a:avLst/>
          </a:prstGeom>
          <a:solidFill>
            <a:srgbClr val="DDEEFF"/>
          </a:solidFill>
          <a:ln w="12700">
            <a:solidFill>
              <a:srgbClr val="DDEEFF"/>
            </a:solidFill>
            <a:prstDash val="solid"/>
          </a:ln>
        </p:spPr>
      </p:sp>
      <p:sp>
        <p:nvSpPr>
          <p:cNvPr id="24" name="Text 22"/>
          <p:cNvSpPr/>
          <p:nvPr/>
        </p:nvSpPr>
        <p:spPr>
          <a:xfrm>
            <a:off x="6217920" y="3493008"/>
            <a:ext cx="2560320" cy="1280160"/>
          </a:xfrm>
          <a:prstGeom prst="rect">
            <a:avLst/>
          </a:prstGeom>
          <a:noFill/>
          <a:ln/>
        </p:spPr>
        <p:txBody>
          <a:bodyPr wrap="square" rtlCol="0" anchor="ctr"/>
          <a:lstStyle/>
          <a:p>
            <a:pPr marL="0" indent="0">
              <a:buNone/>
            </a:pPr>
            <a:r>
              <a:rPr lang="en-US" sz="1000" i="1" dirty="0">
                <a:solidFill>
                  <a:srgbClr val="7B1FA2"/>
                </a:solidFill>
                <a:latin typeface="Calibri" pitchFamily="34" charset="0"/>
                <a:ea typeface="Calibri" pitchFamily="34" charset="-122"/>
                <a:cs typeface="Calibri" pitchFamily="34" charset="-120"/>
              </a:rPr>
              <a:t>Example: A company keeps employee salaries on a private cloud, but hosts its public website on AWS.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FFB300"/>
          </a:solidFill>
          <a:ln w="12700">
            <a:solidFill>
              <a:srgbClr val="FFB300"/>
            </a:solidFill>
            <a:prstDash val="solid"/>
          </a:ln>
        </p:spPr>
      </p:sp>
      <p:sp>
        <p:nvSpPr>
          <p:cNvPr id="3" name="Text 1"/>
          <p:cNvSpPr/>
          <p:nvPr/>
        </p:nvSpPr>
        <p:spPr>
          <a:xfrm>
            <a:off x="365760" y="0"/>
            <a:ext cx="8412480" cy="640080"/>
          </a:xfrm>
          <a:prstGeom prst="rect">
            <a:avLst/>
          </a:prstGeom>
          <a:noFill/>
          <a:ln/>
        </p:spPr>
        <p:txBody>
          <a:bodyPr wrap="square" rtlCol="0" anchor="ctr"/>
          <a:lstStyle/>
          <a:p>
            <a:pPr marL="0" indent="0">
              <a:buNone/>
            </a:pPr>
            <a:r>
              <a:rPr lang="en-US" sz="2200" b="1" dirty="0">
                <a:solidFill>
                  <a:srgbClr val="0A1628"/>
                </a:solidFill>
                <a:latin typeface="Calibri" pitchFamily="34" charset="0"/>
                <a:ea typeface="Calibri" pitchFamily="34" charset="-122"/>
                <a:cs typeface="Calibri" pitchFamily="34" charset="-120"/>
              </a:rPr>
              <a:t>🌟  Advantages of Cloud Computing</a:t>
            </a:r>
            <a:endParaRPr lang="en-US" sz="2200" dirty="0"/>
          </a:p>
        </p:txBody>
      </p:sp>
      <p:sp>
        <p:nvSpPr>
          <p:cNvPr id="4" name="Shape 2"/>
          <p:cNvSpPr/>
          <p:nvPr/>
        </p:nvSpPr>
        <p:spPr>
          <a:xfrm>
            <a:off x="320040" y="777240"/>
            <a:ext cx="4114800" cy="1261872"/>
          </a:xfrm>
          <a:prstGeom prst="rect">
            <a:avLst/>
          </a:prstGeom>
          <a:solidFill>
            <a:srgbClr val="0D1F3C"/>
          </a:solidFill>
          <a:ln w="12700">
            <a:solidFill>
              <a:srgbClr val="43A047"/>
            </a:solidFill>
            <a:prstDash val="solid"/>
          </a:ln>
        </p:spPr>
      </p:sp>
      <p:pic>
        <p:nvPicPr>
          <p:cNvPr id="5" name="Image 0" descr="preencoded.png"/>
          <p:cNvPicPr>
            <a:picLocks noChangeAspect="1"/>
          </p:cNvPicPr>
          <p:nvPr/>
        </p:nvPicPr>
        <p:blipFill>
          <a:blip r:embed="rId3"/>
          <a:stretch>
            <a:fillRect/>
          </a:stretch>
        </p:blipFill>
        <p:spPr>
          <a:xfrm>
            <a:off x="457200" y="1161288"/>
            <a:ext cx="411480" cy="411480"/>
          </a:xfrm>
          <a:prstGeom prst="rect">
            <a:avLst/>
          </a:prstGeom>
        </p:spPr>
      </p:pic>
      <p:sp>
        <p:nvSpPr>
          <p:cNvPr id="6" name="Text 3"/>
          <p:cNvSpPr/>
          <p:nvPr/>
        </p:nvSpPr>
        <p:spPr>
          <a:xfrm>
            <a:off x="978408" y="868680"/>
            <a:ext cx="3291840" cy="310896"/>
          </a:xfrm>
          <a:prstGeom prst="rect">
            <a:avLst/>
          </a:prstGeom>
          <a:noFill/>
          <a:ln/>
        </p:spPr>
        <p:txBody>
          <a:bodyPr wrap="square" rtlCol="0" anchor="ctr"/>
          <a:lstStyle/>
          <a:p>
            <a:pPr marL="0" indent="0">
              <a:buNone/>
            </a:pPr>
            <a:r>
              <a:rPr lang="en-US" sz="1300" b="1" dirty="0">
                <a:solidFill>
                  <a:srgbClr val="43A047"/>
                </a:solidFill>
                <a:latin typeface="Calibri" pitchFamily="34" charset="0"/>
                <a:ea typeface="Calibri" pitchFamily="34" charset="-122"/>
                <a:cs typeface="Calibri" pitchFamily="34" charset="-120"/>
              </a:rPr>
              <a:t>Cost Saving 💰</a:t>
            </a:r>
            <a:endParaRPr lang="en-US" sz="1300" dirty="0"/>
          </a:p>
        </p:txBody>
      </p:sp>
      <p:sp>
        <p:nvSpPr>
          <p:cNvPr id="7" name="Text 4"/>
          <p:cNvSpPr/>
          <p:nvPr/>
        </p:nvSpPr>
        <p:spPr>
          <a:xfrm>
            <a:off x="978408" y="1188720"/>
            <a:ext cx="3310128" cy="77724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You don't need to buy expensive servers or hardware. You only pay for what you actually use — like paying your electricity bill only for the power you consume. This is very helpful for small businesses and students.</a:t>
            </a:r>
            <a:endParaRPr lang="en-US" sz="1000" dirty="0"/>
          </a:p>
        </p:txBody>
      </p:sp>
      <p:sp>
        <p:nvSpPr>
          <p:cNvPr id="8" name="Shape 5"/>
          <p:cNvSpPr/>
          <p:nvPr/>
        </p:nvSpPr>
        <p:spPr>
          <a:xfrm>
            <a:off x="320040" y="2194560"/>
            <a:ext cx="4114800" cy="1261872"/>
          </a:xfrm>
          <a:prstGeom prst="rect">
            <a:avLst/>
          </a:prstGeom>
          <a:solidFill>
            <a:srgbClr val="0D1F3C"/>
          </a:solidFill>
          <a:ln w="12700">
            <a:solidFill>
              <a:srgbClr val="29B6F6"/>
            </a:solidFill>
            <a:prstDash val="solid"/>
          </a:ln>
        </p:spPr>
      </p:sp>
      <p:pic>
        <p:nvPicPr>
          <p:cNvPr id="9" name="Image 1" descr="preencoded.png"/>
          <p:cNvPicPr>
            <a:picLocks noChangeAspect="1"/>
          </p:cNvPicPr>
          <p:nvPr/>
        </p:nvPicPr>
        <p:blipFill>
          <a:blip r:embed="rId4"/>
          <a:stretch>
            <a:fillRect/>
          </a:stretch>
        </p:blipFill>
        <p:spPr>
          <a:xfrm>
            <a:off x="457200" y="2578608"/>
            <a:ext cx="411480" cy="411480"/>
          </a:xfrm>
          <a:prstGeom prst="rect">
            <a:avLst/>
          </a:prstGeom>
        </p:spPr>
      </p:pic>
      <p:sp>
        <p:nvSpPr>
          <p:cNvPr id="10" name="Text 6"/>
          <p:cNvSpPr/>
          <p:nvPr/>
        </p:nvSpPr>
        <p:spPr>
          <a:xfrm>
            <a:off x="978408" y="2286000"/>
            <a:ext cx="3291840" cy="310896"/>
          </a:xfrm>
          <a:prstGeom prst="rect">
            <a:avLst/>
          </a:prstGeom>
          <a:noFill/>
          <a:ln/>
        </p:spPr>
        <p:txBody>
          <a:bodyPr wrap="square" rtlCol="0" anchor="ctr"/>
          <a:lstStyle/>
          <a:p>
            <a:pPr marL="0" indent="0">
              <a:buNone/>
            </a:pPr>
            <a:r>
              <a:rPr lang="en-US" sz="1300" b="1" dirty="0">
                <a:solidFill>
                  <a:srgbClr val="29B6F6"/>
                </a:solidFill>
                <a:latin typeface="Calibri" pitchFamily="34" charset="0"/>
                <a:ea typeface="Calibri" pitchFamily="34" charset="-122"/>
                <a:cs typeface="Calibri" pitchFamily="34" charset="-120"/>
              </a:rPr>
              <a:t>Access from Anywhere 🌍</a:t>
            </a:r>
            <a:endParaRPr lang="en-US" sz="1300" dirty="0"/>
          </a:p>
        </p:txBody>
      </p:sp>
      <p:sp>
        <p:nvSpPr>
          <p:cNvPr id="11" name="Text 7"/>
          <p:cNvSpPr/>
          <p:nvPr/>
        </p:nvSpPr>
        <p:spPr>
          <a:xfrm>
            <a:off x="978408" y="2606040"/>
            <a:ext cx="3310128" cy="77724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Your app or data is available 24/7 from any device with internet. A student in Surat can access their project hosted on a cloud server in the USA without any problem!</a:t>
            </a:r>
            <a:endParaRPr lang="en-US" sz="1000" dirty="0"/>
          </a:p>
        </p:txBody>
      </p:sp>
      <p:sp>
        <p:nvSpPr>
          <p:cNvPr id="12" name="Shape 8"/>
          <p:cNvSpPr/>
          <p:nvPr/>
        </p:nvSpPr>
        <p:spPr>
          <a:xfrm>
            <a:off x="320040" y="3611880"/>
            <a:ext cx="4114800" cy="1261872"/>
          </a:xfrm>
          <a:prstGeom prst="rect">
            <a:avLst/>
          </a:prstGeom>
          <a:solidFill>
            <a:srgbClr val="0D1F3C"/>
          </a:solidFill>
          <a:ln w="12700">
            <a:solidFill>
              <a:srgbClr val="FFB300"/>
            </a:solidFill>
            <a:prstDash val="solid"/>
          </a:ln>
        </p:spPr>
      </p:sp>
      <p:pic>
        <p:nvPicPr>
          <p:cNvPr id="13" name="Image 2" descr="preencoded.png"/>
          <p:cNvPicPr>
            <a:picLocks noChangeAspect="1"/>
          </p:cNvPicPr>
          <p:nvPr/>
        </p:nvPicPr>
        <p:blipFill>
          <a:blip r:embed="rId5"/>
          <a:stretch>
            <a:fillRect/>
          </a:stretch>
        </p:blipFill>
        <p:spPr>
          <a:xfrm>
            <a:off x="457200" y="3995928"/>
            <a:ext cx="411480" cy="411480"/>
          </a:xfrm>
          <a:prstGeom prst="rect">
            <a:avLst/>
          </a:prstGeom>
        </p:spPr>
      </p:pic>
      <p:sp>
        <p:nvSpPr>
          <p:cNvPr id="14" name="Text 9"/>
          <p:cNvSpPr/>
          <p:nvPr/>
        </p:nvSpPr>
        <p:spPr>
          <a:xfrm>
            <a:off x="978408" y="3703320"/>
            <a:ext cx="3291840" cy="310896"/>
          </a:xfrm>
          <a:prstGeom prst="rect">
            <a:avLst/>
          </a:prstGeom>
          <a:noFill/>
          <a:ln/>
        </p:spPr>
        <p:txBody>
          <a:bodyPr wrap="square" rtlCol="0" anchor="ctr"/>
          <a:lstStyle/>
          <a:p>
            <a:pPr marL="0" indent="0">
              <a:buNone/>
            </a:pPr>
            <a:r>
              <a:rPr lang="en-US" sz="1300" b="1" dirty="0">
                <a:solidFill>
                  <a:srgbClr val="FFB300"/>
                </a:solidFill>
                <a:latin typeface="Calibri" pitchFamily="34" charset="0"/>
                <a:ea typeface="Calibri" pitchFamily="34" charset="-122"/>
                <a:cs typeface="Calibri" pitchFamily="34" charset="-120"/>
              </a:rPr>
              <a:t>Easy Scaling 📈</a:t>
            </a:r>
            <a:endParaRPr lang="en-US" sz="1300" dirty="0"/>
          </a:p>
        </p:txBody>
      </p:sp>
      <p:sp>
        <p:nvSpPr>
          <p:cNvPr id="15" name="Text 10"/>
          <p:cNvSpPr/>
          <p:nvPr/>
        </p:nvSpPr>
        <p:spPr>
          <a:xfrm>
            <a:off x="978408" y="4023360"/>
            <a:ext cx="3310128" cy="77724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If 10 people visit your website, you need less power. If 10,000 people visit, you need more. Cloud lets you scale up or down instantly — no need to buy new hardware.</a:t>
            </a:r>
            <a:endParaRPr lang="en-US" sz="1000" dirty="0"/>
          </a:p>
        </p:txBody>
      </p:sp>
      <p:sp>
        <p:nvSpPr>
          <p:cNvPr id="16" name="Shape 11"/>
          <p:cNvSpPr/>
          <p:nvPr/>
        </p:nvSpPr>
        <p:spPr>
          <a:xfrm>
            <a:off x="4754880" y="777240"/>
            <a:ext cx="4114800" cy="1261872"/>
          </a:xfrm>
          <a:prstGeom prst="rect">
            <a:avLst/>
          </a:prstGeom>
          <a:solidFill>
            <a:srgbClr val="0D1F3C"/>
          </a:solidFill>
          <a:ln w="12700">
            <a:solidFill>
              <a:srgbClr val="F4511E"/>
            </a:solidFill>
            <a:prstDash val="solid"/>
          </a:ln>
        </p:spPr>
      </p:sp>
      <p:pic>
        <p:nvPicPr>
          <p:cNvPr id="17" name="Image 3" descr="preencoded.png"/>
          <p:cNvPicPr>
            <a:picLocks noChangeAspect="1"/>
          </p:cNvPicPr>
          <p:nvPr/>
        </p:nvPicPr>
        <p:blipFill>
          <a:blip r:embed="rId6"/>
          <a:stretch>
            <a:fillRect/>
          </a:stretch>
        </p:blipFill>
        <p:spPr>
          <a:xfrm>
            <a:off x="4892040" y="1161288"/>
            <a:ext cx="411480" cy="411480"/>
          </a:xfrm>
          <a:prstGeom prst="rect">
            <a:avLst/>
          </a:prstGeom>
        </p:spPr>
      </p:pic>
      <p:sp>
        <p:nvSpPr>
          <p:cNvPr id="18" name="Text 12"/>
          <p:cNvSpPr/>
          <p:nvPr/>
        </p:nvSpPr>
        <p:spPr>
          <a:xfrm>
            <a:off x="5413248" y="868680"/>
            <a:ext cx="3291840" cy="310896"/>
          </a:xfrm>
          <a:prstGeom prst="rect">
            <a:avLst/>
          </a:prstGeom>
          <a:noFill/>
          <a:ln/>
        </p:spPr>
        <p:txBody>
          <a:bodyPr wrap="square" rtlCol="0" anchor="ctr"/>
          <a:lstStyle/>
          <a:p>
            <a:pPr marL="0" indent="0">
              <a:buNone/>
            </a:pPr>
            <a:r>
              <a:rPr lang="en-US" sz="1300" b="1" dirty="0">
                <a:solidFill>
                  <a:srgbClr val="F4511E"/>
                </a:solidFill>
                <a:latin typeface="Calibri" pitchFamily="34" charset="0"/>
                <a:ea typeface="Calibri" pitchFamily="34" charset="-122"/>
                <a:cs typeface="Calibri" pitchFamily="34" charset="-120"/>
              </a:rPr>
              <a:t>Security &amp; Backup 🔒</a:t>
            </a:r>
            <a:endParaRPr lang="en-US" sz="1300" dirty="0"/>
          </a:p>
        </p:txBody>
      </p:sp>
      <p:sp>
        <p:nvSpPr>
          <p:cNvPr id="19" name="Text 13"/>
          <p:cNvSpPr/>
          <p:nvPr/>
        </p:nvSpPr>
        <p:spPr>
          <a:xfrm>
            <a:off x="5413248" y="1188720"/>
            <a:ext cx="3310128" cy="77724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Cloud providers keep your data safe with multiple backups. Even if one server fails, your data is safe on another server. They have teams of experts protecting your data around the clock.</a:t>
            </a:r>
            <a:endParaRPr lang="en-US" sz="1000" dirty="0"/>
          </a:p>
        </p:txBody>
      </p:sp>
      <p:sp>
        <p:nvSpPr>
          <p:cNvPr id="20" name="Shape 14"/>
          <p:cNvSpPr/>
          <p:nvPr/>
        </p:nvSpPr>
        <p:spPr>
          <a:xfrm>
            <a:off x="4754880" y="2194560"/>
            <a:ext cx="4114800" cy="1261872"/>
          </a:xfrm>
          <a:prstGeom prst="rect">
            <a:avLst/>
          </a:prstGeom>
          <a:solidFill>
            <a:srgbClr val="0D1F3C"/>
          </a:solidFill>
          <a:ln w="12700">
            <a:solidFill>
              <a:srgbClr val="AB47BC"/>
            </a:solidFill>
            <a:prstDash val="solid"/>
          </a:ln>
        </p:spPr>
      </p:sp>
      <p:pic>
        <p:nvPicPr>
          <p:cNvPr id="21" name="Image 4" descr="preencoded.png"/>
          <p:cNvPicPr>
            <a:picLocks noChangeAspect="1"/>
          </p:cNvPicPr>
          <p:nvPr/>
        </p:nvPicPr>
        <p:blipFill>
          <a:blip r:embed="rId7"/>
          <a:stretch>
            <a:fillRect/>
          </a:stretch>
        </p:blipFill>
        <p:spPr>
          <a:xfrm>
            <a:off x="4892040" y="2578608"/>
            <a:ext cx="411480" cy="411480"/>
          </a:xfrm>
          <a:prstGeom prst="rect">
            <a:avLst/>
          </a:prstGeom>
        </p:spPr>
      </p:pic>
      <p:sp>
        <p:nvSpPr>
          <p:cNvPr id="22" name="Text 15"/>
          <p:cNvSpPr/>
          <p:nvPr/>
        </p:nvSpPr>
        <p:spPr>
          <a:xfrm>
            <a:off x="5413248" y="2286000"/>
            <a:ext cx="3291840" cy="310896"/>
          </a:xfrm>
          <a:prstGeom prst="rect">
            <a:avLst/>
          </a:prstGeom>
          <a:noFill/>
          <a:ln/>
        </p:spPr>
        <p:txBody>
          <a:bodyPr wrap="square" rtlCol="0" anchor="ctr"/>
          <a:lstStyle/>
          <a:p>
            <a:pPr marL="0" indent="0">
              <a:buNone/>
            </a:pPr>
            <a:r>
              <a:rPr lang="en-US" sz="1300" b="1" dirty="0">
                <a:solidFill>
                  <a:srgbClr val="AB47BC"/>
                </a:solidFill>
                <a:latin typeface="Calibri" pitchFamily="34" charset="0"/>
                <a:ea typeface="Calibri" pitchFamily="34" charset="-122"/>
                <a:cs typeface="Calibri" pitchFamily="34" charset="-120"/>
              </a:rPr>
              <a:t>Automatic Updates ♻</a:t>
            </a:r>
            <a:endParaRPr lang="en-US" sz="1300" dirty="0"/>
          </a:p>
        </p:txBody>
      </p:sp>
      <p:sp>
        <p:nvSpPr>
          <p:cNvPr id="23" name="Text 16"/>
          <p:cNvSpPr/>
          <p:nvPr/>
        </p:nvSpPr>
        <p:spPr>
          <a:xfrm>
            <a:off x="5413248" y="2606040"/>
            <a:ext cx="3310128" cy="77724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The cloud provider handles all software updates and maintenance. You don't need to worry about upgrading servers or fixing hardware. This saves a lot of time for developers.</a:t>
            </a:r>
            <a:endParaRPr lang="en-US" sz="1000" dirty="0"/>
          </a:p>
        </p:txBody>
      </p:sp>
      <p:sp>
        <p:nvSpPr>
          <p:cNvPr id="24" name="Shape 17"/>
          <p:cNvSpPr/>
          <p:nvPr/>
        </p:nvSpPr>
        <p:spPr>
          <a:xfrm>
            <a:off x="4754880" y="3611880"/>
            <a:ext cx="4114800" cy="1261872"/>
          </a:xfrm>
          <a:prstGeom prst="rect">
            <a:avLst/>
          </a:prstGeom>
          <a:solidFill>
            <a:srgbClr val="0D1F3C"/>
          </a:solidFill>
          <a:ln w="12700">
            <a:solidFill>
              <a:srgbClr val="00897B"/>
            </a:solidFill>
            <a:prstDash val="solid"/>
          </a:ln>
        </p:spPr>
      </p:sp>
      <p:pic>
        <p:nvPicPr>
          <p:cNvPr id="25" name="Image 5" descr="preencoded.png"/>
          <p:cNvPicPr>
            <a:picLocks noChangeAspect="1"/>
          </p:cNvPicPr>
          <p:nvPr/>
        </p:nvPicPr>
        <p:blipFill>
          <a:blip r:embed="rId8"/>
          <a:stretch>
            <a:fillRect/>
          </a:stretch>
        </p:blipFill>
        <p:spPr>
          <a:xfrm>
            <a:off x="4892040" y="3995928"/>
            <a:ext cx="411480" cy="411480"/>
          </a:xfrm>
          <a:prstGeom prst="rect">
            <a:avLst/>
          </a:prstGeom>
        </p:spPr>
      </p:pic>
      <p:sp>
        <p:nvSpPr>
          <p:cNvPr id="26" name="Text 18"/>
          <p:cNvSpPr/>
          <p:nvPr/>
        </p:nvSpPr>
        <p:spPr>
          <a:xfrm>
            <a:off x="5413248" y="3703320"/>
            <a:ext cx="3291840" cy="310896"/>
          </a:xfrm>
          <a:prstGeom prst="rect">
            <a:avLst/>
          </a:prstGeom>
          <a:noFill/>
          <a:ln/>
        </p:spPr>
        <p:txBody>
          <a:bodyPr wrap="square" rtlCol="0" anchor="ctr"/>
          <a:lstStyle/>
          <a:p>
            <a:pPr marL="0" indent="0">
              <a:buNone/>
            </a:pPr>
            <a:r>
              <a:rPr lang="en-US" sz="1300" b="1" dirty="0">
                <a:solidFill>
                  <a:srgbClr val="00897B"/>
                </a:solidFill>
                <a:latin typeface="Calibri" pitchFamily="34" charset="0"/>
                <a:ea typeface="Calibri" pitchFamily="34" charset="-122"/>
                <a:cs typeface="Calibri" pitchFamily="34" charset="-120"/>
              </a:rPr>
              <a:t>Flexible Storage 📦</a:t>
            </a:r>
            <a:endParaRPr lang="en-US" sz="1300" dirty="0"/>
          </a:p>
        </p:txBody>
      </p:sp>
      <p:sp>
        <p:nvSpPr>
          <p:cNvPr id="27" name="Text 19"/>
          <p:cNvSpPr/>
          <p:nvPr/>
        </p:nvSpPr>
        <p:spPr>
          <a:xfrm>
            <a:off x="5413248" y="4023360"/>
            <a:ext cx="3310128" cy="77724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You can store any amount of data — from a few files to terabytes of data. You can increase storage in seconds with just a few clicks — no need to buy a new hard drive.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7474F"/>
          </a:solidFill>
          <a:ln w="12700">
            <a:solidFill>
              <a:srgbClr val="37474F"/>
            </a:solidFill>
            <a:prstDash val="solid"/>
          </a:ln>
        </p:spPr>
      </p:sp>
      <p:sp>
        <p:nvSpPr>
          <p:cNvPr id="3" name="Text 1"/>
          <p:cNvSpPr/>
          <p:nvPr/>
        </p:nvSpPr>
        <p:spPr>
          <a:xfrm>
            <a:off x="365760" y="0"/>
            <a:ext cx="841248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Virtual Machines, Ethernet &amp; Switches</a:t>
            </a:r>
            <a:endParaRPr lang="en-US" sz="2200" dirty="0"/>
          </a:p>
        </p:txBody>
      </p:sp>
      <p:sp>
        <p:nvSpPr>
          <p:cNvPr id="4" name="Shape 2"/>
          <p:cNvSpPr/>
          <p:nvPr/>
        </p:nvSpPr>
        <p:spPr>
          <a:xfrm>
            <a:off x="320040" y="749808"/>
            <a:ext cx="5303520" cy="1508760"/>
          </a:xfrm>
          <a:prstGeom prst="rect">
            <a:avLst/>
          </a:prstGeom>
          <a:solidFill>
            <a:srgbClr val="FFFFFF"/>
          </a:solidFill>
          <a:ln w="12700">
            <a:solidFill>
              <a:srgbClr val="DDEEFF"/>
            </a:solidFill>
            <a:prstDash val="solid"/>
          </a:ln>
          <a:effectLst>
            <a:outerShdw blurRad="50800" dist="25400" dir="8100000" algn="bl" rotWithShape="0">
              <a:srgbClr val="000000">
                <a:alpha val="8000"/>
              </a:srgbClr>
            </a:outerShdw>
          </a:effectLst>
        </p:spPr>
      </p:sp>
      <p:sp>
        <p:nvSpPr>
          <p:cNvPr id="5" name="Text 3"/>
          <p:cNvSpPr/>
          <p:nvPr/>
        </p:nvSpPr>
        <p:spPr>
          <a:xfrm>
            <a:off x="457200" y="822960"/>
            <a:ext cx="5029200" cy="320040"/>
          </a:xfrm>
          <a:prstGeom prst="rect">
            <a:avLst/>
          </a:prstGeom>
          <a:noFill/>
          <a:ln/>
        </p:spPr>
        <p:txBody>
          <a:bodyPr wrap="square" rtlCol="0" anchor="ctr"/>
          <a:lstStyle/>
          <a:p>
            <a:pPr marL="0" indent="0">
              <a:buNone/>
            </a:pPr>
            <a:r>
              <a:rPr lang="en-US" sz="1400" b="1" dirty="0">
                <a:solidFill>
                  <a:srgbClr val="1565C0"/>
                </a:solidFill>
                <a:latin typeface="Calibri" pitchFamily="34" charset="0"/>
                <a:ea typeface="Calibri" pitchFamily="34" charset="-122"/>
                <a:cs typeface="Calibri" pitchFamily="34" charset="-120"/>
              </a:rPr>
              <a:t>🖥  What is a Virtual Machine (VM)?</a:t>
            </a:r>
            <a:endParaRPr lang="en-US" sz="1400" dirty="0"/>
          </a:p>
        </p:txBody>
      </p:sp>
      <p:sp>
        <p:nvSpPr>
          <p:cNvPr id="6" name="Text 4"/>
          <p:cNvSpPr/>
          <p:nvPr/>
        </p:nvSpPr>
        <p:spPr>
          <a:xfrm>
            <a:off x="457200" y="1170432"/>
            <a:ext cx="5029200" cy="1005840"/>
          </a:xfrm>
          <a:prstGeom prst="rect">
            <a:avLst/>
          </a:prstGeom>
          <a:noFill/>
          <a:ln/>
        </p:spPr>
        <p:txBody>
          <a:bodyPr wrap="square" rtlCol="0" anchor="ctr"/>
          <a:lstStyle/>
          <a:p>
            <a:pPr marL="0" indent="0">
              <a:buNone/>
            </a:pPr>
            <a:r>
              <a:rPr lang="en-US" sz="1150" dirty="0">
                <a:solidFill>
                  <a:srgbClr val="37474F"/>
                </a:solidFill>
                <a:latin typeface="Calibri" pitchFamily="34" charset="0"/>
                <a:ea typeface="Calibri" pitchFamily="34" charset="-122"/>
                <a:cs typeface="Calibri" pitchFamily="34" charset="-120"/>
              </a:rPr>
              <a:t>A Virtual Machine is like having a computer inside your computer. Imagine one powerful physical server running 5 separate fake computers inside it — each running its own operating system and apps, completely isolated from each other. This is called virtualization.</a:t>
            </a:r>
            <a:endParaRPr lang="en-US" sz="1150" dirty="0"/>
          </a:p>
        </p:txBody>
      </p:sp>
      <p:sp>
        <p:nvSpPr>
          <p:cNvPr id="7" name="Shape 5"/>
          <p:cNvSpPr/>
          <p:nvPr/>
        </p:nvSpPr>
        <p:spPr>
          <a:xfrm>
            <a:off x="320040" y="2359152"/>
            <a:ext cx="5303520" cy="2423160"/>
          </a:xfrm>
          <a:prstGeom prst="rect">
            <a:avLst/>
          </a:prstGeom>
          <a:solidFill>
            <a:srgbClr val="FFFFFF"/>
          </a:solidFill>
          <a:ln w="12700">
            <a:solidFill>
              <a:srgbClr val="DDEEFF"/>
            </a:solidFill>
            <a:prstDash val="solid"/>
          </a:ln>
          <a:effectLst>
            <a:outerShdw blurRad="50800" dist="25400" dir="8100000" algn="bl" rotWithShape="0">
              <a:srgbClr val="000000">
                <a:alpha val="8000"/>
              </a:srgbClr>
            </a:outerShdw>
          </a:effectLst>
        </p:spPr>
      </p:sp>
      <p:sp>
        <p:nvSpPr>
          <p:cNvPr id="8" name="Text 6"/>
          <p:cNvSpPr/>
          <p:nvPr/>
        </p:nvSpPr>
        <p:spPr>
          <a:xfrm>
            <a:off x="457200" y="2423160"/>
            <a:ext cx="2743200" cy="274320"/>
          </a:xfrm>
          <a:prstGeom prst="rect">
            <a:avLst/>
          </a:prstGeom>
          <a:noFill/>
          <a:ln/>
        </p:spPr>
        <p:txBody>
          <a:bodyPr wrap="square"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VM Architecture</a:t>
            </a:r>
            <a:endParaRPr lang="en-US" sz="1200" dirty="0"/>
          </a:p>
        </p:txBody>
      </p:sp>
      <p:sp>
        <p:nvSpPr>
          <p:cNvPr id="9" name="Shape 7"/>
          <p:cNvSpPr/>
          <p:nvPr/>
        </p:nvSpPr>
        <p:spPr>
          <a:xfrm>
            <a:off x="502920" y="2743200"/>
            <a:ext cx="4937760" cy="347472"/>
          </a:xfrm>
          <a:prstGeom prst="rect">
            <a:avLst/>
          </a:prstGeom>
          <a:solidFill>
            <a:srgbClr val="37474F"/>
          </a:solidFill>
          <a:ln w="12700">
            <a:solidFill>
              <a:srgbClr val="37474F"/>
            </a:solidFill>
            <a:prstDash val="solid"/>
          </a:ln>
        </p:spPr>
      </p:sp>
      <p:sp>
        <p:nvSpPr>
          <p:cNvPr id="10" name="Text 8"/>
          <p:cNvSpPr/>
          <p:nvPr/>
        </p:nvSpPr>
        <p:spPr>
          <a:xfrm>
            <a:off x="502920" y="2743200"/>
            <a:ext cx="49377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Physical Server Hardware (Real Computer)</a:t>
            </a:r>
            <a:endParaRPr lang="en-US" sz="1100" dirty="0"/>
          </a:p>
        </p:txBody>
      </p:sp>
      <p:sp>
        <p:nvSpPr>
          <p:cNvPr id="11" name="Shape 9"/>
          <p:cNvSpPr/>
          <p:nvPr/>
        </p:nvSpPr>
        <p:spPr>
          <a:xfrm>
            <a:off x="502920" y="3136392"/>
            <a:ext cx="4937760" cy="292608"/>
          </a:xfrm>
          <a:prstGeom prst="rect">
            <a:avLst/>
          </a:prstGeom>
          <a:solidFill>
            <a:srgbClr val="1565C0"/>
          </a:solidFill>
          <a:ln w="12700">
            <a:solidFill>
              <a:srgbClr val="1565C0"/>
            </a:solidFill>
            <a:prstDash val="solid"/>
          </a:ln>
        </p:spPr>
      </p:sp>
      <p:sp>
        <p:nvSpPr>
          <p:cNvPr id="12" name="Text 10"/>
          <p:cNvSpPr/>
          <p:nvPr/>
        </p:nvSpPr>
        <p:spPr>
          <a:xfrm>
            <a:off x="502920" y="3136392"/>
            <a:ext cx="4937760" cy="29260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Hypervisor (Virtual Machine Manager)</a:t>
            </a:r>
            <a:endParaRPr lang="en-US" sz="1100" dirty="0"/>
          </a:p>
        </p:txBody>
      </p:sp>
      <p:sp>
        <p:nvSpPr>
          <p:cNvPr id="13" name="Shape 11"/>
          <p:cNvSpPr/>
          <p:nvPr/>
        </p:nvSpPr>
        <p:spPr>
          <a:xfrm>
            <a:off x="548640" y="3474720"/>
            <a:ext cx="1508760" cy="1051560"/>
          </a:xfrm>
          <a:prstGeom prst="rect">
            <a:avLst/>
          </a:prstGeom>
          <a:solidFill>
            <a:srgbClr val="1565C0"/>
          </a:solidFill>
          <a:ln w="12700">
            <a:solidFill>
              <a:srgbClr val="1565C0"/>
            </a:solidFill>
            <a:prstDash val="solid"/>
          </a:ln>
        </p:spPr>
      </p:sp>
      <p:sp>
        <p:nvSpPr>
          <p:cNvPr id="14" name="Text 12"/>
          <p:cNvSpPr/>
          <p:nvPr/>
        </p:nvSpPr>
        <p:spPr>
          <a:xfrm>
            <a:off x="548640" y="3474720"/>
            <a:ext cx="1508760" cy="10515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VM 1</a:t>
            </a:r>
            <a:endParaRPr lang="en-US" sz="1200" dirty="0"/>
          </a:p>
          <a:p>
            <a:pPr marL="0" indent="0" algn="ctr">
              <a:buNone/>
            </a:pP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OS + App</a:t>
            </a:r>
            <a:endParaRPr lang="en-US" sz="1200" dirty="0"/>
          </a:p>
        </p:txBody>
      </p:sp>
      <p:sp>
        <p:nvSpPr>
          <p:cNvPr id="15" name="Shape 13"/>
          <p:cNvSpPr/>
          <p:nvPr/>
        </p:nvSpPr>
        <p:spPr>
          <a:xfrm>
            <a:off x="2194560" y="3474720"/>
            <a:ext cx="1508760" cy="1051560"/>
          </a:xfrm>
          <a:prstGeom prst="rect">
            <a:avLst/>
          </a:prstGeom>
          <a:solidFill>
            <a:srgbClr val="00897B"/>
          </a:solidFill>
          <a:ln w="12700">
            <a:solidFill>
              <a:srgbClr val="00897B"/>
            </a:solidFill>
            <a:prstDash val="solid"/>
          </a:ln>
        </p:spPr>
      </p:sp>
      <p:sp>
        <p:nvSpPr>
          <p:cNvPr id="16" name="Text 14"/>
          <p:cNvSpPr/>
          <p:nvPr/>
        </p:nvSpPr>
        <p:spPr>
          <a:xfrm>
            <a:off x="2194560" y="3474720"/>
            <a:ext cx="1508760" cy="10515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VM 2</a:t>
            </a:r>
            <a:endParaRPr lang="en-US" sz="1200" dirty="0"/>
          </a:p>
          <a:p>
            <a:pPr marL="0" indent="0" algn="ctr">
              <a:buNone/>
            </a:pP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OS + App</a:t>
            </a:r>
            <a:endParaRPr lang="en-US" sz="1200" dirty="0"/>
          </a:p>
        </p:txBody>
      </p:sp>
      <p:sp>
        <p:nvSpPr>
          <p:cNvPr id="17" name="Shape 15"/>
          <p:cNvSpPr/>
          <p:nvPr/>
        </p:nvSpPr>
        <p:spPr>
          <a:xfrm>
            <a:off x="3840480" y="3474720"/>
            <a:ext cx="1508760" cy="1051560"/>
          </a:xfrm>
          <a:prstGeom prst="rect">
            <a:avLst/>
          </a:prstGeom>
          <a:solidFill>
            <a:srgbClr val="F4511E"/>
          </a:solidFill>
          <a:ln w="12700">
            <a:solidFill>
              <a:srgbClr val="F4511E"/>
            </a:solidFill>
            <a:prstDash val="solid"/>
          </a:ln>
        </p:spPr>
      </p:sp>
      <p:sp>
        <p:nvSpPr>
          <p:cNvPr id="18" name="Text 16"/>
          <p:cNvSpPr/>
          <p:nvPr/>
        </p:nvSpPr>
        <p:spPr>
          <a:xfrm>
            <a:off x="3840480" y="3474720"/>
            <a:ext cx="1508760" cy="10515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VM 3</a:t>
            </a:r>
            <a:endParaRPr lang="en-US" sz="1200" dirty="0"/>
          </a:p>
          <a:p>
            <a:pPr marL="0" indent="0" algn="ctr">
              <a:buNone/>
            </a:pP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OS + App</a:t>
            </a:r>
            <a:endParaRPr lang="en-US" sz="1200" dirty="0"/>
          </a:p>
        </p:txBody>
      </p:sp>
      <p:sp>
        <p:nvSpPr>
          <p:cNvPr id="19" name="Shape 17"/>
          <p:cNvSpPr/>
          <p:nvPr/>
        </p:nvSpPr>
        <p:spPr>
          <a:xfrm>
            <a:off x="5806440" y="749808"/>
            <a:ext cx="3017520" cy="4032504"/>
          </a:xfrm>
          <a:prstGeom prst="rect">
            <a:avLst/>
          </a:prstGeom>
          <a:solidFill>
            <a:srgbClr val="FFFFFF"/>
          </a:solidFill>
          <a:ln w="12700">
            <a:solidFill>
              <a:srgbClr val="DDEEFF"/>
            </a:solidFill>
            <a:prstDash val="solid"/>
          </a:ln>
          <a:effectLst>
            <a:outerShdw blurRad="50800" dist="25400" dir="8100000" algn="bl" rotWithShape="0">
              <a:srgbClr val="000000">
                <a:alpha val="8000"/>
              </a:srgbClr>
            </a:outerShdw>
          </a:effectLst>
        </p:spPr>
      </p:sp>
      <p:sp>
        <p:nvSpPr>
          <p:cNvPr id="20" name="Text 18"/>
          <p:cNvSpPr/>
          <p:nvPr/>
        </p:nvSpPr>
        <p:spPr>
          <a:xfrm>
            <a:off x="5897880" y="822960"/>
            <a:ext cx="2834640" cy="548640"/>
          </a:xfrm>
          <a:prstGeom prst="rect">
            <a:avLst/>
          </a:prstGeom>
          <a:noFill/>
          <a:ln/>
        </p:spPr>
        <p:txBody>
          <a:bodyPr wrap="square" rtlCol="0" anchor="ctr"/>
          <a:lstStyle/>
          <a:p>
            <a:pPr marL="0" indent="0">
              <a:buNone/>
            </a:pPr>
            <a:r>
              <a:rPr lang="en-US" sz="1300" b="1" dirty="0">
                <a:solidFill>
                  <a:srgbClr val="00897B"/>
                </a:solidFill>
                <a:latin typeface="Calibri" pitchFamily="34" charset="0"/>
                <a:ea typeface="Calibri" pitchFamily="34" charset="-122"/>
                <a:cs typeface="Calibri" pitchFamily="34" charset="-120"/>
              </a:rPr>
              <a:t>🌐  Virtual Private Cloud (VPC)</a:t>
            </a:r>
            <a:endParaRPr lang="en-US" sz="1300" dirty="0"/>
          </a:p>
          <a:p>
            <a:pPr marL="0" indent="0">
              <a:buNone/>
            </a:pPr>
            <a:r>
              <a:rPr lang="en-US" sz="1300" b="1" dirty="0">
                <a:solidFill>
                  <a:srgbClr val="00897B"/>
                </a:solidFill>
                <a:latin typeface="Calibri" pitchFamily="34" charset="0"/>
                <a:ea typeface="Calibri" pitchFamily="34" charset="-122"/>
                <a:cs typeface="Calibri" pitchFamily="34" charset="-120"/>
              </a:rPr>
              <a:t>&amp; Ethernet</a:t>
            </a:r>
            <a:endParaRPr lang="en-US" sz="1300" dirty="0"/>
          </a:p>
        </p:txBody>
      </p:sp>
      <p:sp>
        <p:nvSpPr>
          <p:cNvPr id="21" name="Text 19"/>
          <p:cNvSpPr/>
          <p:nvPr/>
        </p:nvSpPr>
        <p:spPr>
          <a:xfrm>
            <a:off x="5897880" y="1417320"/>
            <a:ext cx="2834640" cy="3246120"/>
          </a:xfrm>
          <a:prstGeom prst="rect">
            <a:avLst/>
          </a:prstGeom>
          <a:noFill/>
          <a:ln/>
        </p:spPr>
        <p:txBody>
          <a:bodyPr wrap="square" rtlCol="0" anchor="ctr"/>
          <a:lstStyle/>
          <a:p>
            <a:pPr marL="0" indent="0">
              <a:buNone/>
            </a:pPr>
            <a:r>
              <a:rPr lang="en-US" sz="1100" dirty="0">
                <a:solidFill>
                  <a:srgbClr val="37474F"/>
                </a:solidFill>
                <a:latin typeface="Calibri" pitchFamily="34" charset="0"/>
                <a:ea typeface="Calibri" pitchFamily="34" charset="-122"/>
                <a:cs typeface="Calibri" pitchFamily="34" charset="-120"/>
              </a:rPr>
              <a:t>Ethernet connects computers in a local network — like the cables in your college lab. In the cloud, virtual Ethernet does the same thing digitally.</a:t>
            </a:r>
            <a:endParaRPr lang="en-US" sz="1100" dirty="0"/>
          </a:p>
          <a:p>
            <a:pPr marL="0" indent="0">
              <a:buNone/>
            </a:pPr>
            <a:endParaRPr lang="en-US" sz="1100" dirty="0"/>
          </a:p>
          <a:p>
            <a:pPr marL="0" indent="0">
              <a:buNone/>
            </a:pPr>
            <a:r>
              <a:rPr lang="en-US" sz="1100" dirty="0">
                <a:solidFill>
                  <a:srgbClr val="37474F"/>
                </a:solidFill>
                <a:latin typeface="Calibri" pitchFamily="34" charset="0"/>
                <a:ea typeface="Calibri" pitchFamily="34" charset="-122"/>
                <a:cs typeface="Calibri" pitchFamily="34" charset="-120"/>
              </a:rPr>
              <a:t>A Virtual Private Cloud (VPC) is your own private section inside a public cloud. It's like renting a private room in a big hotel — you share the building, but your room is yours only.</a:t>
            </a:r>
            <a:endParaRPr lang="en-US" sz="1100" dirty="0"/>
          </a:p>
          <a:p>
            <a:pPr marL="0" indent="0">
              <a:buNone/>
            </a:pPr>
            <a:endParaRPr lang="en-US" sz="1100" dirty="0"/>
          </a:p>
          <a:p>
            <a:pPr marL="0" indent="0">
              <a:buNone/>
            </a:pPr>
            <a:r>
              <a:rPr lang="en-US" sz="1100" dirty="0">
                <a:solidFill>
                  <a:srgbClr val="37474F"/>
                </a:solidFill>
                <a:latin typeface="Calibri" pitchFamily="34" charset="0"/>
                <a:ea typeface="Calibri" pitchFamily="34" charset="-122"/>
                <a:cs typeface="Calibri" pitchFamily="34" charset="-120"/>
              </a:rPr>
              <a:t>Switches manage and direct traffic between computers in a network — like a traffic signal for data packets.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43A047"/>
          </a:solidFill>
          <a:ln w="12700">
            <a:solidFill>
              <a:srgbClr val="43A047"/>
            </a:solidFill>
            <a:prstDash val="solid"/>
          </a:ln>
        </p:spPr>
      </p:sp>
      <p:sp>
        <p:nvSpPr>
          <p:cNvPr id="3" name="Text 1"/>
          <p:cNvSpPr/>
          <p:nvPr/>
        </p:nvSpPr>
        <p:spPr>
          <a:xfrm>
            <a:off x="365760" y="0"/>
            <a:ext cx="841248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Scaling: Horizontal &amp; Vertical</a:t>
            </a:r>
            <a:endParaRPr lang="en-US" sz="2200" dirty="0"/>
          </a:p>
        </p:txBody>
      </p:sp>
      <p:sp>
        <p:nvSpPr>
          <p:cNvPr id="4" name="Text 2"/>
          <p:cNvSpPr/>
          <p:nvPr/>
        </p:nvSpPr>
        <p:spPr>
          <a:xfrm>
            <a:off x="320040" y="749808"/>
            <a:ext cx="8503920" cy="685800"/>
          </a:xfrm>
          <a:prstGeom prst="rect">
            <a:avLst/>
          </a:prstGeom>
          <a:noFill/>
          <a:ln/>
        </p:spPr>
        <p:txBody>
          <a:bodyPr wrap="square" rtlCol="0" anchor="ctr"/>
          <a:lstStyle/>
          <a:p>
            <a:pPr marL="0" indent="0">
              <a:buNone/>
            </a:pPr>
            <a:r>
              <a:rPr lang="en-US" sz="1300" dirty="0">
                <a:solidFill>
                  <a:srgbClr val="37474F"/>
                </a:solidFill>
                <a:latin typeface="Calibri" pitchFamily="34" charset="0"/>
                <a:ea typeface="Calibri" pitchFamily="34" charset="-122"/>
                <a:cs typeface="Calibri" pitchFamily="34" charset="-120"/>
              </a:rPr>
              <a:t>Scaling means increasing the power of your system when more users visit your website. Imagine your app is a shop — when more customers come, you either make the shop bigger (vertical) or open more branches (horizontal).</a:t>
            </a:r>
            <a:endParaRPr lang="en-US" sz="1300" dirty="0"/>
          </a:p>
        </p:txBody>
      </p:sp>
      <p:sp>
        <p:nvSpPr>
          <p:cNvPr id="5" name="Shape 3"/>
          <p:cNvSpPr/>
          <p:nvPr/>
        </p:nvSpPr>
        <p:spPr>
          <a:xfrm>
            <a:off x="320040" y="1508760"/>
            <a:ext cx="4114800" cy="3291840"/>
          </a:xfrm>
          <a:prstGeom prst="rect">
            <a:avLst/>
          </a:prstGeom>
          <a:solidFill>
            <a:srgbClr val="FFFFFF"/>
          </a:solidFill>
          <a:ln w="25400">
            <a:solidFill>
              <a:srgbClr val="1565C0"/>
            </a:solidFill>
            <a:prstDash val="solid"/>
          </a:ln>
          <a:effectLst>
            <a:outerShdw blurRad="63500" dist="25400" dir="8100000" algn="bl" rotWithShape="0">
              <a:srgbClr val="000000">
                <a:alpha val="10000"/>
              </a:srgbClr>
            </a:outerShdw>
          </a:effectLst>
        </p:spPr>
      </p:sp>
      <p:sp>
        <p:nvSpPr>
          <p:cNvPr id="6" name="Shape 4"/>
          <p:cNvSpPr/>
          <p:nvPr/>
        </p:nvSpPr>
        <p:spPr>
          <a:xfrm>
            <a:off x="320040" y="1508760"/>
            <a:ext cx="4114800" cy="457200"/>
          </a:xfrm>
          <a:prstGeom prst="rect">
            <a:avLst/>
          </a:prstGeom>
          <a:solidFill>
            <a:srgbClr val="1565C0"/>
          </a:solidFill>
          <a:ln w="12700">
            <a:solidFill>
              <a:srgbClr val="1565C0"/>
            </a:solidFill>
            <a:prstDash val="solid"/>
          </a:ln>
        </p:spPr>
      </p:sp>
      <p:sp>
        <p:nvSpPr>
          <p:cNvPr id="7" name="Text 5"/>
          <p:cNvSpPr/>
          <p:nvPr/>
        </p:nvSpPr>
        <p:spPr>
          <a:xfrm>
            <a:off x="411480" y="1508760"/>
            <a:ext cx="3931920"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Vertical Scaling (Scale Up)</a:t>
            </a:r>
            <a:endParaRPr lang="en-US" sz="1400" dirty="0"/>
          </a:p>
        </p:txBody>
      </p:sp>
      <p:sp>
        <p:nvSpPr>
          <p:cNvPr id="8" name="Shape 6"/>
          <p:cNvSpPr/>
          <p:nvPr/>
        </p:nvSpPr>
        <p:spPr>
          <a:xfrm>
            <a:off x="640080" y="2057400"/>
            <a:ext cx="868680" cy="1280160"/>
          </a:xfrm>
          <a:prstGeom prst="rect">
            <a:avLst/>
          </a:prstGeom>
          <a:solidFill>
            <a:srgbClr val="BBDEFB"/>
          </a:solidFill>
          <a:ln w="12700">
            <a:solidFill>
              <a:srgbClr val="1565C0"/>
            </a:solidFill>
            <a:prstDash val="solid"/>
          </a:ln>
        </p:spPr>
      </p:sp>
      <p:sp>
        <p:nvSpPr>
          <p:cNvPr id="9" name="Text 7"/>
          <p:cNvSpPr/>
          <p:nvPr/>
        </p:nvSpPr>
        <p:spPr>
          <a:xfrm>
            <a:off x="640080" y="2057400"/>
            <a:ext cx="868680" cy="1280160"/>
          </a:xfrm>
          <a:prstGeom prst="rect">
            <a:avLst/>
          </a:prstGeom>
          <a:noFill/>
          <a:ln/>
        </p:spPr>
        <p:txBody>
          <a:bodyPr wrap="square" rtlCol="0" anchor="ctr"/>
          <a:lstStyle/>
          <a:p>
            <a:pPr marL="0" indent="0" algn="ctr">
              <a:buNone/>
            </a:pPr>
            <a:r>
              <a:rPr lang="en-US" sz="1000" b="1" dirty="0">
                <a:solidFill>
                  <a:srgbClr val="1565C0"/>
                </a:solidFill>
                <a:latin typeface="Calibri" pitchFamily="34" charset="0"/>
                <a:ea typeface="Calibri" pitchFamily="34" charset="-122"/>
                <a:cs typeface="Calibri" pitchFamily="34" charset="-120"/>
              </a:rPr>
              <a:t>Small</a:t>
            </a:r>
            <a:endParaRPr lang="en-US" sz="1000" dirty="0"/>
          </a:p>
          <a:p>
            <a:pPr marL="0" indent="0" algn="ctr">
              <a:buNone/>
            </a:pPr>
            <a:r>
              <a:rPr lang="en-US" sz="1000" b="1" dirty="0">
                <a:solidFill>
                  <a:srgbClr val="1565C0"/>
                </a:solidFill>
                <a:latin typeface="Calibri" pitchFamily="34" charset="0"/>
                <a:ea typeface="Calibri" pitchFamily="34" charset="-122"/>
                <a:cs typeface="Calibri" pitchFamily="34" charset="-120"/>
              </a:rPr>
              <a:t>Server</a:t>
            </a:r>
            <a:endParaRPr lang="en-US" sz="1000" dirty="0"/>
          </a:p>
          <a:p>
            <a:pPr marL="0" indent="0" algn="ctr">
              <a:buNone/>
            </a:pPr>
            <a:r>
              <a:rPr lang="en-US" sz="1000" b="1" dirty="0">
                <a:solidFill>
                  <a:srgbClr val="1565C0"/>
                </a:solidFill>
                <a:latin typeface="Calibri" pitchFamily="34" charset="0"/>
                <a:ea typeface="Calibri" pitchFamily="34" charset="-122"/>
                <a:cs typeface="Calibri" pitchFamily="34" charset="-120"/>
              </a:rPr>
              <a:t>2 CPU</a:t>
            </a:r>
            <a:endParaRPr lang="en-US" sz="1000" dirty="0"/>
          </a:p>
          <a:p>
            <a:pPr marL="0" indent="0" algn="ctr">
              <a:buNone/>
            </a:pPr>
            <a:r>
              <a:rPr lang="en-US" sz="1000" b="1" dirty="0">
                <a:solidFill>
                  <a:srgbClr val="1565C0"/>
                </a:solidFill>
                <a:latin typeface="Calibri" pitchFamily="34" charset="0"/>
                <a:ea typeface="Calibri" pitchFamily="34" charset="-122"/>
                <a:cs typeface="Calibri" pitchFamily="34" charset="-120"/>
              </a:rPr>
              <a:t>4 GB</a:t>
            </a:r>
            <a:endParaRPr lang="en-US" sz="1000" dirty="0"/>
          </a:p>
        </p:txBody>
      </p:sp>
      <p:sp>
        <p:nvSpPr>
          <p:cNvPr id="10" name="Text 8"/>
          <p:cNvSpPr/>
          <p:nvPr/>
        </p:nvSpPr>
        <p:spPr>
          <a:xfrm>
            <a:off x="1554480" y="2468880"/>
            <a:ext cx="548640" cy="502920"/>
          </a:xfrm>
          <a:prstGeom prst="rect">
            <a:avLst/>
          </a:prstGeom>
          <a:noFill/>
          <a:ln/>
        </p:spPr>
        <p:txBody>
          <a:bodyPr wrap="square" rtlCol="0" anchor="ctr"/>
          <a:lstStyle/>
          <a:p>
            <a:pPr marL="0" indent="0" algn="ctr">
              <a:buNone/>
            </a:pPr>
            <a:r>
              <a:rPr lang="en-US" sz="2000" dirty="0">
                <a:solidFill>
                  <a:srgbClr val="1565C0"/>
                </a:solidFill>
              </a:rPr>
              <a:t>➡</a:t>
            </a:r>
            <a:endParaRPr lang="en-US" sz="2000" dirty="0"/>
          </a:p>
        </p:txBody>
      </p:sp>
      <p:sp>
        <p:nvSpPr>
          <p:cNvPr id="11" name="Shape 9"/>
          <p:cNvSpPr/>
          <p:nvPr/>
        </p:nvSpPr>
        <p:spPr>
          <a:xfrm>
            <a:off x="2194560" y="1828800"/>
            <a:ext cx="1188720" cy="1691640"/>
          </a:xfrm>
          <a:prstGeom prst="rect">
            <a:avLst/>
          </a:prstGeom>
          <a:solidFill>
            <a:srgbClr val="1565C0"/>
          </a:solidFill>
          <a:ln w="12700">
            <a:solidFill>
              <a:srgbClr val="1565C0"/>
            </a:solidFill>
            <a:prstDash val="solid"/>
          </a:ln>
        </p:spPr>
      </p:sp>
      <p:sp>
        <p:nvSpPr>
          <p:cNvPr id="12" name="Text 10"/>
          <p:cNvSpPr/>
          <p:nvPr/>
        </p:nvSpPr>
        <p:spPr>
          <a:xfrm>
            <a:off x="2194560" y="1828800"/>
            <a:ext cx="1188720" cy="16916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Big</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Server</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16 CPU</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64 GB</a:t>
            </a:r>
            <a:endParaRPr lang="en-US" sz="1100" dirty="0"/>
          </a:p>
        </p:txBody>
      </p:sp>
      <p:sp>
        <p:nvSpPr>
          <p:cNvPr id="13" name="Text 11"/>
          <p:cNvSpPr/>
          <p:nvPr/>
        </p:nvSpPr>
        <p:spPr>
          <a:xfrm>
            <a:off x="457200" y="3520440"/>
            <a:ext cx="3840480" cy="1188720"/>
          </a:xfrm>
          <a:prstGeom prst="rect">
            <a:avLst/>
          </a:prstGeom>
          <a:noFill/>
          <a:ln/>
        </p:spPr>
        <p:txBody>
          <a:bodyPr wrap="square" rtlCol="0" anchor="ctr"/>
          <a:lstStyle/>
          <a:p>
            <a:pPr marL="0" indent="0">
              <a:buNone/>
            </a:pPr>
            <a:r>
              <a:rPr lang="en-US" sz="1100" dirty="0">
                <a:solidFill>
                  <a:srgbClr val="37474F"/>
                </a:solidFill>
                <a:latin typeface="Calibri" pitchFamily="34" charset="0"/>
                <a:ea typeface="Calibri" pitchFamily="34" charset="-122"/>
                <a:cs typeface="Calibri" pitchFamily="34" charset="-120"/>
              </a:rPr>
              <a:t>You upgrade the same server — add more RAM, CPU, or storage to make it faster.</a:t>
            </a:r>
            <a:endParaRPr lang="en-US" sz="1100" dirty="0"/>
          </a:p>
          <a:p>
            <a:pPr marL="0" indent="0">
              <a:buNone/>
            </a:pPr>
            <a:endParaRPr lang="en-US" sz="1100" dirty="0"/>
          </a:p>
          <a:p>
            <a:pPr marL="0" indent="0">
              <a:buNone/>
            </a:pPr>
            <a:r>
              <a:rPr lang="en-US" sz="1100" dirty="0">
                <a:solidFill>
                  <a:srgbClr val="37474F"/>
                </a:solidFill>
                <a:latin typeface="Calibri" pitchFamily="34" charset="0"/>
                <a:ea typeface="Calibri" pitchFamily="34" charset="-122"/>
                <a:cs typeface="Calibri" pitchFamily="34" charset="-120"/>
              </a:rPr>
              <a:t>✅ Simple to do</a:t>
            </a:r>
            <a:endParaRPr lang="en-US" sz="1100" dirty="0"/>
          </a:p>
          <a:p>
            <a:pPr marL="0" indent="0">
              <a:buNone/>
            </a:pPr>
            <a:r>
              <a:rPr lang="en-US" sz="1100" dirty="0">
                <a:solidFill>
                  <a:srgbClr val="37474F"/>
                </a:solidFill>
                <a:latin typeface="Calibri" pitchFamily="34" charset="0"/>
                <a:ea typeface="Calibri" pitchFamily="34" charset="-122"/>
                <a:cs typeface="Calibri" pitchFamily="34" charset="-120"/>
              </a:rPr>
              <a:t>✅ No code changes needed</a:t>
            </a:r>
            <a:endParaRPr lang="en-US" sz="1100" dirty="0"/>
          </a:p>
          <a:p>
            <a:pPr marL="0" indent="0">
              <a:buNone/>
            </a:pPr>
            <a:r>
              <a:rPr lang="en-US" sz="1100" dirty="0">
                <a:solidFill>
                  <a:srgbClr val="37474F"/>
                </a:solidFill>
                <a:latin typeface="Calibri" pitchFamily="34" charset="0"/>
                <a:ea typeface="Calibri" pitchFamily="34" charset="-122"/>
                <a:cs typeface="Calibri" pitchFamily="34" charset="-120"/>
              </a:rPr>
              <a:t>❌ Has a limit — you can't upgrade forever</a:t>
            </a:r>
            <a:endParaRPr lang="en-US" sz="1100" dirty="0"/>
          </a:p>
          <a:p>
            <a:pPr marL="0" indent="0">
              <a:buNone/>
            </a:pPr>
            <a:r>
              <a:rPr lang="en-US" sz="1100" dirty="0">
                <a:solidFill>
                  <a:srgbClr val="37474F"/>
                </a:solidFill>
                <a:latin typeface="Calibri" pitchFamily="34" charset="0"/>
                <a:ea typeface="Calibri" pitchFamily="34" charset="-122"/>
                <a:cs typeface="Calibri" pitchFamily="34" charset="-120"/>
              </a:rPr>
              <a:t>❌ More expensive at high levels</a:t>
            </a:r>
            <a:endParaRPr lang="en-US" sz="1100" dirty="0"/>
          </a:p>
        </p:txBody>
      </p:sp>
      <p:sp>
        <p:nvSpPr>
          <p:cNvPr id="14" name="Shape 12"/>
          <p:cNvSpPr/>
          <p:nvPr/>
        </p:nvSpPr>
        <p:spPr>
          <a:xfrm>
            <a:off x="4709160" y="1508760"/>
            <a:ext cx="4114800" cy="3291840"/>
          </a:xfrm>
          <a:prstGeom prst="rect">
            <a:avLst/>
          </a:prstGeom>
          <a:solidFill>
            <a:srgbClr val="FFFFFF"/>
          </a:solidFill>
          <a:ln w="25400">
            <a:solidFill>
              <a:srgbClr val="F4511E"/>
            </a:solidFill>
            <a:prstDash val="solid"/>
          </a:ln>
          <a:effectLst>
            <a:outerShdw blurRad="63500" dist="25400" dir="8100000" algn="bl" rotWithShape="0">
              <a:srgbClr val="000000">
                <a:alpha val="10000"/>
              </a:srgbClr>
            </a:outerShdw>
          </a:effectLst>
        </p:spPr>
      </p:sp>
      <p:sp>
        <p:nvSpPr>
          <p:cNvPr id="15" name="Shape 13"/>
          <p:cNvSpPr/>
          <p:nvPr/>
        </p:nvSpPr>
        <p:spPr>
          <a:xfrm>
            <a:off x="4709160" y="1508760"/>
            <a:ext cx="4114800" cy="457200"/>
          </a:xfrm>
          <a:prstGeom prst="rect">
            <a:avLst/>
          </a:prstGeom>
          <a:solidFill>
            <a:srgbClr val="F4511E"/>
          </a:solidFill>
          <a:ln w="12700">
            <a:solidFill>
              <a:srgbClr val="F4511E"/>
            </a:solidFill>
            <a:prstDash val="solid"/>
          </a:ln>
        </p:spPr>
      </p:sp>
      <p:sp>
        <p:nvSpPr>
          <p:cNvPr id="16" name="Text 14"/>
          <p:cNvSpPr/>
          <p:nvPr/>
        </p:nvSpPr>
        <p:spPr>
          <a:xfrm>
            <a:off x="4800600" y="1508760"/>
            <a:ext cx="3931920"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Horizontal Scaling (Scale Out)</a:t>
            </a:r>
            <a:endParaRPr lang="en-US" sz="1400" dirty="0"/>
          </a:p>
        </p:txBody>
      </p:sp>
      <p:sp>
        <p:nvSpPr>
          <p:cNvPr id="17" name="Shape 15"/>
          <p:cNvSpPr/>
          <p:nvPr/>
        </p:nvSpPr>
        <p:spPr>
          <a:xfrm>
            <a:off x="4892040" y="2057400"/>
            <a:ext cx="960120" cy="1097280"/>
          </a:xfrm>
          <a:prstGeom prst="rect">
            <a:avLst/>
          </a:prstGeom>
          <a:solidFill>
            <a:srgbClr val="FFE0B2"/>
          </a:solidFill>
          <a:ln w="12700">
            <a:solidFill>
              <a:srgbClr val="F4511E"/>
            </a:solidFill>
            <a:prstDash val="solid"/>
          </a:ln>
        </p:spPr>
      </p:sp>
      <p:sp>
        <p:nvSpPr>
          <p:cNvPr id="18" name="Text 16"/>
          <p:cNvSpPr/>
          <p:nvPr/>
        </p:nvSpPr>
        <p:spPr>
          <a:xfrm>
            <a:off x="4892040" y="2057400"/>
            <a:ext cx="960120" cy="1097280"/>
          </a:xfrm>
          <a:prstGeom prst="rect">
            <a:avLst/>
          </a:prstGeom>
          <a:noFill/>
          <a:ln/>
        </p:spPr>
        <p:txBody>
          <a:bodyPr wrap="square" rtlCol="0" anchor="ctr"/>
          <a:lstStyle/>
          <a:p>
            <a:pPr marL="0" indent="0" algn="ctr">
              <a:buNone/>
            </a:pPr>
            <a:r>
              <a:rPr lang="en-US" sz="1000" b="1" dirty="0">
                <a:solidFill>
                  <a:srgbClr val="F4511E"/>
                </a:solidFill>
                <a:latin typeface="Calibri" pitchFamily="34" charset="0"/>
                <a:ea typeface="Calibri" pitchFamily="34" charset="-122"/>
                <a:cs typeface="Calibri" pitchFamily="34" charset="-120"/>
              </a:rPr>
              <a:t>Server 1</a:t>
            </a:r>
            <a:endParaRPr lang="en-US" sz="1000" dirty="0"/>
          </a:p>
        </p:txBody>
      </p:sp>
      <p:sp>
        <p:nvSpPr>
          <p:cNvPr id="19" name="Shape 17"/>
          <p:cNvSpPr/>
          <p:nvPr/>
        </p:nvSpPr>
        <p:spPr>
          <a:xfrm>
            <a:off x="6126480" y="2057400"/>
            <a:ext cx="960120" cy="1097280"/>
          </a:xfrm>
          <a:prstGeom prst="rect">
            <a:avLst/>
          </a:prstGeom>
          <a:solidFill>
            <a:srgbClr val="FFE0B2"/>
          </a:solidFill>
          <a:ln w="12700">
            <a:solidFill>
              <a:srgbClr val="F4511E"/>
            </a:solidFill>
            <a:prstDash val="solid"/>
          </a:ln>
        </p:spPr>
      </p:sp>
      <p:sp>
        <p:nvSpPr>
          <p:cNvPr id="20" name="Text 18"/>
          <p:cNvSpPr/>
          <p:nvPr/>
        </p:nvSpPr>
        <p:spPr>
          <a:xfrm>
            <a:off x="6126480" y="2057400"/>
            <a:ext cx="960120" cy="1097280"/>
          </a:xfrm>
          <a:prstGeom prst="rect">
            <a:avLst/>
          </a:prstGeom>
          <a:noFill/>
          <a:ln/>
        </p:spPr>
        <p:txBody>
          <a:bodyPr wrap="square" rtlCol="0" anchor="ctr"/>
          <a:lstStyle/>
          <a:p>
            <a:pPr marL="0" indent="0" algn="ctr">
              <a:buNone/>
            </a:pPr>
            <a:r>
              <a:rPr lang="en-US" sz="1000" b="1" dirty="0">
                <a:solidFill>
                  <a:srgbClr val="F4511E"/>
                </a:solidFill>
                <a:latin typeface="Calibri" pitchFamily="34" charset="0"/>
                <a:ea typeface="Calibri" pitchFamily="34" charset="-122"/>
                <a:cs typeface="Calibri" pitchFamily="34" charset="-120"/>
              </a:rPr>
              <a:t>Server 2</a:t>
            </a:r>
            <a:endParaRPr lang="en-US" sz="1000" dirty="0"/>
          </a:p>
        </p:txBody>
      </p:sp>
      <p:sp>
        <p:nvSpPr>
          <p:cNvPr id="21" name="Shape 19"/>
          <p:cNvSpPr/>
          <p:nvPr/>
        </p:nvSpPr>
        <p:spPr>
          <a:xfrm>
            <a:off x="7360920" y="2057400"/>
            <a:ext cx="960120" cy="1097280"/>
          </a:xfrm>
          <a:prstGeom prst="rect">
            <a:avLst/>
          </a:prstGeom>
          <a:solidFill>
            <a:srgbClr val="FFE0B2"/>
          </a:solidFill>
          <a:ln w="12700">
            <a:solidFill>
              <a:srgbClr val="F4511E"/>
            </a:solidFill>
            <a:prstDash val="solid"/>
          </a:ln>
        </p:spPr>
      </p:sp>
      <p:sp>
        <p:nvSpPr>
          <p:cNvPr id="22" name="Text 20"/>
          <p:cNvSpPr/>
          <p:nvPr/>
        </p:nvSpPr>
        <p:spPr>
          <a:xfrm>
            <a:off x="7360920" y="2057400"/>
            <a:ext cx="960120" cy="1097280"/>
          </a:xfrm>
          <a:prstGeom prst="rect">
            <a:avLst/>
          </a:prstGeom>
          <a:noFill/>
          <a:ln/>
        </p:spPr>
        <p:txBody>
          <a:bodyPr wrap="square" rtlCol="0" anchor="ctr"/>
          <a:lstStyle/>
          <a:p>
            <a:pPr marL="0" indent="0" algn="ctr">
              <a:buNone/>
            </a:pPr>
            <a:r>
              <a:rPr lang="en-US" sz="1000" b="1" dirty="0">
                <a:solidFill>
                  <a:srgbClr val="F4511E"/>
                </a:solidFill>
                <a:latin typeface="Calibri" pitchFamily="34" charset="0"/>
                <a:ea typeface="Calibri" pitchFamily="34" charset="-122"/>
                <a:cs typeface="Calibri" pitchFamily="34" charset="-120"/>
              </a:rPr>
              <a:t>Server 3</a:t>
            </a:r>
            <a:endParaRPr lang="en-US" sz="1000" dirty="0"/>
          </a:p>
        </p:txBody>
      </p:sp>
      <p:sp>
        <p:nvSpPr>
          <p:cNvPr id="23" name="Text 21"/>
          <p:cNvSpPr/>
          <p:nvPr/>
        </p:nvSpPr>
        <p:spPr>
          <a:xfrm>
            <a:off x="4937760" y="3246120"/>
            <a:ext cx="3474720" cy="274320"/>
          </a:xfrm>
          <a:prstGeom prst="rect">
            <a:avLst/>
          </a:prstGeom>
          <a:noFill/>
          <a:ln/>
        </p:spPr>
        <p:txBody>
          <a:bodyPr wrap="square" rtlCol="0" anchor="ctr"/>
          <a:lstStyle/>
          <a:p>
            <a:pPr marL="0" indent="0" algn="ctr">
              <a:buNone/>
            </a:pPr>
            <a:r>
              <a:rPr lang="en-US" sz="1200" b="1" dirty="0">
                <a:solidFill>
                  <a:srgbClr val="F4511E"/>
                </a:solidFill>
                <a:latin typeface="Calibri" pitchFamily="34" charset="0"/>
                <a:ea typeface="Calibri" pitchFamily="34" charset="-122"/>
                <a:cs typeface="Calibri" pitchFamily="34" charset="-120"/>
              </a:rPr>
              <a:t>➕ Add More</a:t>
            </a:r>
            <a:endParaRPr lang="en-US" sz="1200" dirty="0"/>
          </a:p>
        </p:txBody>
      </p:sp>
      <p:sp>
        <p:nvSpPr>
          <p:cNvPr id="24" name="Text 22"/>
          <p:cNvSpPr/>
          <p:nvPr/>
        </p:nvSpPr>
        <p:spPr>
          <a:xfrm>
            <a:off x="4846320" y="3520440"/>
            <a:ext cx="3840480" cy="1188720"/>
          </a:xfrm>
          <a:prstGeom prst="rect">
            <a:avLst/>
          </a:prstGeom>
          <a:noFill/>
          <a:ln/>
        </p:spPr>
        <p:txBody>
          <a:bodyPr wrap="square" rtlCol="0" anchor="ctr"/>
          <a:lstStyle/>
          <a:p>
            <a:pPr marL="0" indent="0">
              <a:buNone/>
            </a:pPr>
            <a:r>
              <a:rPr lang="en-US" sz="1100" dirty="0">
                <a:solidFill>
                  <a:srgbClr val="37474F"/>
                </a:solidFill>
                <a:latin typeface="Calibri" pitchFamily="34" charset="0"/>
                <a:ea typeface="Calibri" pitchFamily="34" charset="-122"/>
                <a:cs typeface="Calibri" pitchFamily="34" charset="-120"/>
              </a:rPr>
              <a:t>You add more servers (clones of the same server) to handle more requests. A load balancer divides work equally.</a:t>
            </a:r>
            <a:endParaRPr lang="en-US" sz="1100" dirty="0"/>
          </a:p>
          <a:p>
            <a:pPr marL="0" indent="0">
              <a:buNone/>
            </a:pPr>
            <a:endParaRPr lang="en-US" sz="1100" dirty="0"/>
          </a:p>
          <a:p>
            <a:pPr marL="0" indent="0">
              <a:buNone/>
            </a:pPr>
            <a:r>
              <a:rPr lang="en-US" sz="1100" dirty="0">
                <a:solidFill>
                  <a:srgbClr val="37474F"/>
                </a:solidFill>
                <a:latin typeface="Calibri" pitchFamily="34" charset="0"/>
                <a:ea typeface="Calibri" pitchFamily="34" charset="-122"/>
                <a:cs typeface="Calibri" pitchFamily="34" charset="-120"/>
              </a:rPr>
              <a:t>✅ Can scale to millions of users</a:t>
            </a:r>
            <a:endParaRPr lang="en-US" sz="1100" dirty="0"/>
          </a:p>
          <a:p>
            <a:pPr marL="0" indent="0">
              <a:buNone/>
            </a:pPr>
            <a:r>
              <a:rPr lang="en-US" sz="1100" dirty="0">
                <a:solidFill>
                  <a:srgbClr val="37474F"/>
                </a:solidFill>
                <a:latin typeface="Calibri" pitchFamily="34" charset="0"/>
                <a:ea typeface="Calibri" pitchFamily="34" charset="-122"/>
                <a:cs typeface="Calibri" pitchFamily="34" charset="-120"/>
              </a:rPr>
              <a:t>✅ If one server fails, others continue</a:t>
            </a:r>
            <a:endParaRPr lang="en-US" sz="1100" dirty="0"/>
          </a:p>
          <a:p>
            <a:pPr marL="0" indent="0">
              <a:buNone/>
            </a:pPr>
            <a:r>
              <a:rPr lang="en-US" sz="1100" dirty="0">
                <a:solidFill>
                  <a:srgbClr val="37474F"/>
                </a:solidFill>
                <a:latin typeface="Calibri" pitchFamily="34" charset="0"/>
                <a:ea typeface="Calibri" pitchFamily="34" charset="-122"/>
                <a:cs typeface="Calibri" pitchFamily="34" charset="-120"/>
              </a:rPr>
              <a:t>❌ More complex to set up</a:t>
            </a:r>
            <a:endParaRPr lang="en-US" sz="1100" dirty="0"/>
          </a:p>
          <a:p>
            <a:pPr marL="0" indent="0">
              <a:buNone/>
            </a:pPr>
            <a:r>
              <a:rPr lang="en-US" sz="1100" dirty="0">
                <a:solidFill>
                  <a:srgbClr val="37474F"/>
                </a:solidFill>
                <a:latin typeface="Calibri" pitchFamily="34" charset="0"/>
                <a:ea typeface="Calibri" pitchFamily="34" charset="-122"/>
                <a:cs typeface="Calibri" pitchFamily="34" charset="-120"/>
              </a:rPr>
              <a:t>❌ Code must be written to support this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B4086C-632D-A493-8F60-A1FCD778351D}"/>
              </a:ext>
            </a:extLst>
          </p:cNvPr>
          <p:cNvSpPr txBox="1"/>
          <p:nvPr/>
        </p:nvSpPr>
        <p:spPr>
          <a:xfrm>
            <a:off x="3563795" y="2187029"/>
            <a:ext cx="2016410" cy="769441"/>
          </a:xfrm>
          <a:prstGeom prst="rect">
            <a:avLst/>
          </a:prstGeom>
          <a:noFill/>
        </p:spPr>
        <p:txBody>
          <a:bodyPr wrap="square">
            <a:spAutoFit/>
          </a:bodyPr>
          <a:lstStyle/>
          <a:p>
            <a:r>
              <a:rPr lang="en-US" sz="4400" b="1" dirty="0">
                <a:latin typeface="Calibri" pitchFamily="34" charset="0"/>
                <a:ea typeface="Calibri" pitchFamily="34" charset="-122"/>
                <a:cs typeface="Calibri" pitchFamily="34" charset="-120"/>
              </a:rPr>
              <a:t>Docker</a:t>
            </a:r>
            <a:endParaRPr lang="en-IN" sz="4000" dirty="0"/>
          </a:p>
        </p:txBody>
      </p:sp>
    </p:spTree>
    <p:extLst>
      <p:ext uri="{BB962C8B-B14F-4D97-AF65-F5344CB8AC3E}">
        <p14:creationId xmlns:p14="http://schemas.microsoft.com/office/powerpoint/2010/main" val="1430957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8F6"/>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C62828"/>
          </a:solidFill>
          <a:ln w="12700">
            <a:solidFill>
              <a:srgbClr val="C62828"/>
            </a:solidFill>
            <a:prstDash val="solid"/>
          </a:ln>
        </p:spPr>
      </p:sp>
      <p:sp>
        <p:nvSpPr>
          <p:cNvPr id="3" name="Text 1"/>
          <p:cNvSpPr/>
          <p:nvPr/>
        </p:nvSpPr>
        <p:spPr>
          <a:xfrm>
            <a:off x="365760" y="0"/>
            <a:ext cx="841248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Problems Without Docker</a:t>
            </a:r>
            <a:endParaRPr lang="en-US" sz="2200" dirty="0"/>
          </a:p>
        </p:txBody>
      </p:sp>
      <p:sp>
        <p:nvSpPr>
          <p:cNvPr id="4" name="Shape 2"/>
          <p:cNvSpPr/>
          <p:nvPr/>
        </p:nvSpPr>
        <p:spPr>
          <a:xfrm>
            <a:off x="320040" y="749808"/>
            <a:ext cx="8503920" cy="594360"/>
          </a:xfrm>
          <a:prstGeom prst="rect">
            <a:avLst/>
          </a:prstGeom>
          <a:solidFill>
            <a:srgbClr val="FFEBEE"/>
          </a:solidFill>
          <a:ln w="12700">
            <a:solidFill>
              <a:srgbClr val="EF9A9A"/>
            </a:solidFill>
            <a:prstDash val="solid"/>
          </a:ln>
        </p:spPr>
      </p:sp>
      <p:sp>
        <p:nvSpPr>
          <p:cNvPr id="5" name="Text 3"/>
          <p:cNvSpPr/>
          <p:nvPr/>
        </p:nvSpPr>
        <p:spPr>
          <a:xfrm>
            <a:off x="457200" y="822960"/>
            <a:ext cx="8229600" cy="457200"/>
          </a:xfrm>
          <a:prstGeom prst="rect">
            <a:avLst/>
          </a:prstGeom>
          <a:noFill/>
          <a:ln/>
        </p:spPr>
        <p:txBody>
          <a:bodyPr wrap="square" rtlCol="0" anchor="ctr"/>
          <a:lstStyle/>
          <a:p>
            <a:pPr marL="0" indent="0">
              <a:buNone/>
            </a:pPr>
            <a:r>
              <a:rPr lang="en-US" sz="1300" b="1" i="1" dirty="0">
                <a:solidFill>
                  <a:srgbClr val="C62828"/>
                </a:solidFill>
                <a:latin typeface="Calibri" pitchFamily="34" charset="0"/>
                <a:ea typeface="Calibri" pitchFamily="34" charset="-122"/>
                <a:cs typeface="Calibri" pitchFamily="34" charset="-120"/>
              </a:rPr>
              <a:t>The most famous developer problem:  "It works on my machine!"  — but breaks on the server. Sound familiar?</a:t>
            </a:r>
            <a:endParaRPr lang="en-US" sz="1300" dirty="0"/>
          </a:p>
        </p:txBody>
      </p:sp>
      <p:sp>
        <p:nvSpPr>
          <p:cNvPr id="6" name="Shape 4"/>
          <p:cNvSpPr/>
          <p:nvPr/>
        </p:nvSpPr>
        <p:spPr>
          <a:xfrm>
            <a:off x="320040" y="1463040"/>
            <a:ext cx="4114800" cy="1536192"/>
          </a:xfrm>
          <a:prstGeom prst="rect">
            <a:avLst/>
          </a:prstGeom>
          <a:solidFill>
            <a:srgbClr val="FFFFFF"/>
          </a:solidFill>
          <a:ln w="12700">
            <a:solidFill>
              <a:srgbClr val="FFCDD2"/>
            </a:solidFill>
            <a:prstDash val="solid"/>
          </a:ln>
          <a:effectLst>
            <a:outerShdw blurRad="50800" dist="25400" dir="8100000" algn="bl" rotWithShape="0">
              <a:srgbClr val="000000">
                <a:alpha val="7000"/>
              </a:srgbClr>
            </a:outerShdw>
          </a:effectLst>
        </p:spPr>
      </p:sp>
      <p:sp>
        <p:nvSpPr>
          <p:cNvPr id="7" name="Text 5"/>
          <p:cNvSpPr/>
          <p:nvPr/>
        </p:nvSpPr>
        <p:spPr>
          <a:xfrm>
            <a:off x="457200" y="1554480"/>
            <a:ext cx="3840480" cy="320040"/>
          </a:xfrm>
          <a:prstGeom prst="rect">
            <a:avLst/>
          </a:prstGeom>
          <a:noFill/>
          <a:ln/>
        </p:spPr>
        <p:txBody>
          <a:bodyPr wrap="square" rtlCol="0" anchor="ctr"/>
          <a:lstStyle/>
          <a:p>
            <a:pPr marL="0" indent="0">
              <a:buNone/>
            </a:pPr>
            <a:r>
              <a:rPr lang="en-US" sz="1300" b="1" dirty="0">
                <a:solidFill>
                  <a:srgbClr val="C62828"/>
                </a:solidFill>
                <a:latin typeface="Calibri" pitchFamily="34" charset="0"/>
                <a:ea typeface="Calibri" pitchFamily="34" charset="-122"/>
                <a:cs typeface="Calibri" pitchFamily="34" charset="-120"/>
              </a:rPr>
              <a:t>💻  Different Operating Systems</a:t>
            </a:r>
            <a:endParaRPr lang="en-US" sz="1300" dirty="0"/>
          </a:p>
        </p:txBody>
      </p:sp>
      <p:sp>
        <p:nvSpPr>
          <p:cNvPr id="8" name="Text 6"/>
          <p:cNvSpPr/>
          <p:nvPr/>
        </p:nvSpPr>
        <p:spPr>
          <a:xfrm>
            <a:off x="457200" y="1901952"/>
            <a:ext cx="3840480" cy="1024128"/>
          </a:xfrm>
          <a:prstGeom prst="rect">
            <a:avLst/>
          </a:prstGeom>
          <a:noFill/>
          <a:ln/>
        </p:spPr>
        <p:txBody>
          <a:bodyPr wrap="square" rtlCol="0" anchor="ctr"/>
          <a:lstStyle/>
          <a:p>
            <a:pPr marL="0" indent="0">
              <a:buNone/>
            </a:pPr>
            <a:r>
              <a:rPr lang="en-US" sz="1100" dirty="0">
                <a:solidFill>
                  <a:srgbClr val="37474F"/>
                </a:solidFill>
                <a:latin typeface="Calibri" pitchFamily="34" charset="0"/>
                <a:ea typeface="Calibri" pitchFamily="34" charset="-122"/>
                <a:cs typeface="Calibri" pitchFamily="34" charset="-120"/>
              </a:rPr>
              <a:t>A developer uses Windows, but the server runs Linux. The same code may behave differently or crash completely. There's no easy way to make sure the environment is the same.</a:t>
            </a:r>
            <a:endParaRPr lang="en-US" sz="1100" dirty="0"/>
          </a:p>
        </p:txBody>
      </p:sp>
      <p:sp>
        <p:nvSpPr>
          <p:cNvPr id="9" name="Shape 7"/>
          <p:cNvSpPr/>
          <p:nvPr/>
        </p:nvSpPr>
        <p:spPr>
          <a:xfrm>
            <a:off x="320040" y="3154680"/>
            <a:ext cx="4114800" cy="1536192"/>
          </a:xfrm>
          <a:prstGeom prst="rect">
            <a:avLst/>
          </a:prstGeom>
          <a:solidFill>
            <a:srgbClr val="FFFFFF"/>
          </a:solidFill>
          <a:ln w="12700">
            <a:solidFill>
              <a:srgbClr val="FFCDD2"/>
            </a:solidFill>
            <a:prstDash val="solid"/>
          </a:ln>
          <a:effectLst>
            <a:outerShdw blurRad="50800" dist="25400" dir="8100000" algn="bl" rotWithShape="0">
              <a:srgbClr val="000000">
                <a:alpha val="7000"/>
              </a:srgbClr>
            </a:outerShdw>
          </a:effectLst>
        </p:spPr>
      </p:sp>
      <p:sp>
        <p:nvSpPr>
          <p:cNvPr id="10" name="Text 8"/>
          <p:cNvSpPr/>
          <p:nvPr/>
        </p:nvSpPr>
        <p:spPr>
          <a:xfrm>
            <a:off x="457200" y="3246120"/>
            <a:ext cx="3840480" cy="320040"/>
          </a:xfrm>
          <a:prstGeom prst="rect">
            <a:avLst/>
          </a:prstGeom>
          <a:noFill/>
          <a:ln/>
        </p:spPr>
        <p:txBody>
          <a:bodyPr wrap="square" rtlCol="0" anchor="ctr"/>
          <a:lstStyle/>
          <a:p>
            <a:pPr marL="0" indent="0">
              <a:buNone/>
            </a:pPr>
            <a:r>
              <a:rPr lang="en-US" sz="1300" b="1" dirty="0">
                <a:solidFill>
                  <a:srgbClr val="C62828"/>
                </a:solidFill>
                <a:latin typeface="Calibri" pitchFamily="34" charset="0"/>
                <a:ea typeface="Calibri" pitchFamily="34" charset="-122"/>
                <a:cs typeface="Calibri" pitchFamily="34" charset="-120"/>
              </a:rPr>
              <a:t>📦  Missing Dependencies</a:t>
            </a:r>
            <a:endParaRPr lang="en-US" sz="1300" dirty="0"/>
          </a:p>
        </p:txBody>
      </p:sp>
      <p:sp>
        <p:nvSpPr>
          <p:cNvPr id="11" name="Text 9"/>
          <p:cNvSpPr/>
          <p:nvPr/>
        </p:nvSpPr>
        <p:spPr>
          <a:xfrm>
            <a:off x="457200" y="3593592"/>
            <a:ext cx="3840480" cy="1024128"/>
          </a:xfrm>
          <a:prstGeom prst="rect">
            <a:avLst/>
          </a:prstGeom>
          <a:noFill/>
          <a:ln/>
        </p:spPr>
        <p:txBody>
          <a:bodyPr wrap="square" rtlCol="0" anchor="ctr"/>
          <a:lstStyle/>
          <a:p>
            <a:pPr marL="0" indent="0">
              <a:buNone/>
            </a:pPr>
            <a:r>
              <a:rPr lang="en-US" sz="1100" dirty="0">
                <a:solidFill>
                  <a:srgbClr val="37474F"/>
                </a:solidFill>
                <a:latin typeface="Calibri" pitchFamily="34" charset="0"/>
                <a:ea typeface="Calibri" pitchFamily="34" charset="-122"/>
                <a:cs typeface="Calibri" pitchFamily="34" charset="-120"/>
              </a:rPr>
              <a:t>Your app needs a specific library (e.g., Node.js 18). But the server has Node.js 14. Installing the right version takes time and can break other apps already running on that server.</a:t>
            </a:r>
            <a:endParaRPr lang="en-US" sz="1100" dirty="0"/>
          </a:p>
        </p:txBody>
      </p:sp>
      <p:sp>
        <p:nvSpPr>
          <p:cNvPr id="12" name="Shape 10"/>
          <p:cNvSpPr/>
          <p:nvPr/>
        </p:nvSpPr>
        <p:spPr>
          <a:xfrm>
            <a:off x="4754880" y="1463040"/>
            <a:ext cx="4114800" cy="1536192"/>
          </a:xfrm>
          <a:prstGeom prst="rect">
            <a:avLst/>
          </a:prstGeom>
          <a:solidFill>
            <a:srgbClr val="FFFFFF"/>
          </a:solidFill>
          <a:ln w="12700">
            <a:solidFill>
              <a:srgbClr val="FFCDD2"/>
            </a:solidFill>
            <a:prstDash val="solid"/>
          </a:ln>
          <a:effectLst>
            <a:outerShdw blurRad="50800" dist="25400" dir="8100000" algn="bl" rotWithShape="0">
              <a:srgbClr val="000000">
                <a:alpha val="7000"/>
              </a:srgbClr>
            </a:outerShdw>
          </a:effectLst>
        </p:spPr>
      </p:sp>
      <p:sp>
        <p:nvSpPr>
          <p:cNvPr id="13" name="Text 11"/>
          <p:cNvSpPr/>
          <p:nvPr/>
        </p:nvSpPr>
        <p:spPr>
          <a:xfrm>
            <a:off x="4892040" y="1554480"/>
            <a:ext cx="3840480" cy="320040"/>
          </a:xfrm>
          <a:prstGeom prst="rect">
            <a:avLst/>
          </a:prstGeom>
          <a:noFill/>
          <a:ln/>
        </p:spPr>
        <p:txBody>
          <a:bodyPr wrap="square" rtlCol="0" anchor="ctr"/>
          <a:lstStyle/>
          <a:p>
            <a:pPr marL="0" indent="0">
              <a:buNone/>
            </a:pPr>
            <a:r>
              <a:rPr lang="en-US" sz="1300" b="1" dirty="0">
                <a:solidFill>
                  <a:srgbClr val="C62828"/>
                </a:solidFill>
                <a:latin typeface="Calibri" pitchFamily="34" charset="0"/>
                <a:ea typeface="Calibri" pitchFamily="34" charset="-122"/>
                <a:cs typeface="Calibri" pitchFamily="34" charset="-120"/>
              </a:rPr>
              <a:t>🔧  Manual Setup is Error-Prone</a:t>
            </a:r>
            <a:endParaRPr lang="en-US" sz="1300" dirty="0"/>
          </a:p>
        </p:txBody>
      </p:sp>
      <p:sp>
        <p:nvSpPr>
          <p:cNvPr id="14" name="Text 12"/>
          <p:cNvSpPr/>
          <p:nvPr/>
        </p:nvSpPr>
        <p:spPr>
          <a:xfrm>
            <a:off x="4892040" y="1901952"/>
            <a:ext cx="3840480" cy="1024128"/>
          </a:xfrm>
          <a:prstGeom prst="rect">
            <a:avLst/>
          </a:prstGeom>
          <a:noFill/>
          <a:ln/>
        </p:spPr>
        <p:txBody>
          <a:bodyPr wrap="square" rtlCol="0" anchor="ctr"/>
          <a:lstStyle/>
          <a:p>
            <a:pPr marL="0" indent="0">
              <a:buNone/>
            </a:pPr>
            <a:r>
              <a:rPr lang="en-US" sz="1100" dirty="0">
                <a:solidFill>
                  <a:srgbClr val="37474F"/>
                </a:solidFill>
                <a:latin typeface="Calibri" pitchFamily="34" charset="0"/>
                <a:ea typeface="Calibri" pitchFamily="34" charset="-122"/>
                <a:cs typeface="Calibri" pitchFamily="34" charset="-120"/>
              </a:rPr>
              <a:t>Setting up a new server requires installing many tools one by one. Even a small mistake (wrong version, wrong config) can break everything. This is frustrating and time-consuming.</a:t>
            </a:r>
            <a:endParaRPr lang="en-US" sz="1100" dirty="0"/>
          </a:p>
        </p:txBody>
      </p:sp>
      <p:sp>
        <p:nvSpPr>
          <p:cNvPr id="15" name="Shape 13"/>
          <p:cNvSpPr/>
          <p:nvPr/>
        </p:nvSpPr>
        <p:spPr>
          <a:xfrm>
            <a:off x="4754880" y="3154680"/>
            <a:ext cx="4114800" cy="1536192"/>
          </a:xfrm>
          <a:prstGeom prst="rect">
            <a:avLst/>
          </a:prstGeom>
          <a:solidFill>
            <a:srgbClr val="FFFFFF"/>
          </a:solidFill>
          <a:ln w="12700">
            <a:solidFill>
              <a:srgbClr val="FFCDD2"/>
            </a:solidFill>
            <a:prstDash val="solid"/>
          </a:ln>
          <a:effectLst>
            <a:outerShdw blurRad="50800" dist="25400" dir="8100000" algn="bl" rotWithShape="0">
              <a:srgbClr val="000000">
                <a:alpha val="7000"/>
              </a:srgbClr>
            </a:outerShdw>
          </a:effectLst>
        </p:spPr>
      </p:sp>
      <p:sp>
        <p:nvSpPr>
          <p:cNvPr id="16" name="Text 14"/>
          <p:cNvSpPr/>
          <p:nvPr/>
        </p:nvSpPr>
        <p:spPr>
          <a:xfrm>
            <a:off x="4892040" y="3246120"/>
            <a:ext cx="3840480" cy="320040"/>
          </a:xfrm>
          <a:prstGeom prst="rect">
            <a:avLst/>
          </a:prstGeom>
          <a:noFill/>
          <a:ln/>
        </p:spPr>
        <p:txBody>
          <a:bodyPr wrap="square" rtlCol="0" anchor="ctr"/>
          <a:lstStyle/>
          <a:p>
            <a:pPr marL="0" indent="0">
              <a:buNone/>
            </a:pPr>
            <a:r>
              <a:rPr lang="en-US" sz="1300" b="1" dirty="0">
                <a:solidFill>
                  <a:srgbClr val="C62828"/>
                </a:solidFill>
                <a:latin typeface="Calibri" pitchFamily="34" charset="0"/>
                <a:ea typeface="Calibri" pitchFamily="34" charset="-122"/>
                <a:cs typeface="Calibri" pitchFamily="34" charset="-120"/>
              </a:rPr>
              <a:t>👥  Team Conflicts</a:t>
            </a:r>
            <a:endParaRPr lang="en-US" sz="1300" dirty="0"/>
          </a:p>
        </p:txBody>
      </p:sp>
      <p:sp>
        <p:nvSpPr>
          <p:cNvPr id="17" name="Text 15"/>
          <p:cNvSpPr/>
          <p:nvPr/>
        </p:nvSpPr>
        <p:spPr>
          <a:xfrm>
            <a:off x="4892040" y="3593592"/>
            <a:ext cx="3840480" cy="1024128"/>
          </a:xfrm>
          <a:prstGeom prst="rect">
            <a:avLst/>
          </a:prstGeom>
          <a:noFill/>
          <a:ln/>
        </p:spPr>
        <p:txBody>
          <a:bodyPr wrap="square" rtlCol="0" anchor="ctr"/>
          <a:lstStyle/>
          <a:p>
            <a:pPr marL="0" indent="0">
              <a:buNone/>
            </a:pPr>
            <a:r>
              <a:rPr lang="en-US" sz="1100" dirty="0">
                <a:solidFill>
                  <a:srgbClr val="37474F"/>
                </a:solidFill>
                <a:latin typeface="Calibri" pitchFamily="34" charset="0"/>
                <a:ea typeface="Calibri" pitchFamily="34" charset="-122"/>
                <a:cs typeface="Calibri" pitchFamily="34" charset="-120"/>
              </a:rPr>
              <a:t>Three developers on the same team may have different versions of Python, different OS settings, different databases. Code that works for one person may fail for another — causing confusion.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B7ED"/>
          </a:solidFill>
          <a:ln w="12700">
            <a:solidFill>
              <a:srgbClr val="0DB7ED"/>
            </a:solidFill>
            <a:prstDash val="solid"/>
          </a:ln>
        </p:spPr>
      </p:sp>
      <p:sp>
        <p:nvSpPr>
          <p:cNvPr id="3" name="Text 1"/>
          <p:cNvSpPr/>
          <p:nvPr/>
        </p:nvSpPr>
        <p:spPr>
          <a:xfrm>
            <a:off x="365760" y="0"/>
            <a:ext cx="841248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What is Docker?</a:t>
            </a:r>
            <a:endParaRPr lang="en-US" sz="2200" dirty="0"/>
          </a:p>
        </p:txBody>
      </p:sp>
      <p:sp>
        <p:nvSpPr>
          <p:cNvPr id="5" name="Text 3"/>
          <p:cNvSpPr/>
          <p:nvPr/>
        </p:nvSpPr>
        <p:spPr>
          <a:xfrm>
            <a:off x="457200" y="804672"/>
            <a:ext cx="5120640" cy="594360"/>
          </a:xfrm>
          <a:prstGeom prst="rect">
            <a:avLst/>
          </a:prstGeom>
          <a:noFill/>
          <a:ln/>
        </p:spPr>
        <p:txBody>
          <a:bodyPr wrap="square" rtlCol="0" anchor="ctr"/>
          <a:lstStyle/>
          <a:p>
            <a:pPr marL="0" indent="0">
              <a:buNone/>
            </a:pPr>
            <a:endParaRPr lang="en-US" sz="1200" dirty="0"/>
          </a:p>
        </p:txBody>
      </p:sp>
      <p:sp>
        <p:nvSpPr>
          <p:cNvPr id="6" name="Text 4"/>
          <p:cNvSpPr/>
          <p:nvPr/>
        </p:nvSpPr>
        <p:spPr>
          <a:xfrm>
            <a:off x="320040" y="1106424"/>
            <a:ext cx="5303520" cy="1188720"/>
          </a:xfrm>
          <a:prstGeom prst="rect">
            <a:avLst/>
          </a:prstGeom>
          <a:noFill/>
          <a:ln/>
        </p:spPr>
        <p:txBody>
          <a:bodyPr wrap="square" rtlCol="0" anchor="ctr"/>
          <a:lstStyle/>
          <a:p>
            <a:pPr marL="0" indent="0">
              <a:buNone/>
            </a:pPr>
            <a:r>
              <a:rPr lang="en-US" sz="1200" dirty="0">
                <a:solidFill>
                  <a:srgbClr val="37474F"/>
                </a:solidFill>
                <a:latin typeface="Calibri" pitchFamily="34" charset="0"/>
                <a:ea typeface="Calibri" pitchFamily="34" charset="-122"/>
                <a:cs typeface="Calibri" pitchFamily="34" charset="-120"/>
              </a:rPr>
              <a:t>Docker is a tool that packages your application along with everything it needs — the code, libraries, settings, and even the operating system — into a single unit called a Container. This container runs the same on every computer, whether it's your laptop, your teammate's laptop, or a cloud server. Docker solves the "it works on my machine" problem!</a:t>
            </a:r>
            <a:endParaRPr lang="en-US" sz="1200" dirty="0"/>
          </a:p>
        </p:txBody>
      </p:sp>
      <p:sp>
        <p:nvSpPr>
          <p:cNvPr id="7" name="Shape 5"/>
          <p:cNvSpPr/>
          <p:nvPr/>
        </p:nvSpPr>
        <p:spPr>
          <a:xfrm>
            <a:off x="320040" y="2503468"/>
            <a:ext cx="5303520" cy="822960"/>
          </a:xfrm>
          <a:prstGeom prst="rect">
            <a:avLst/>
          </a:prstGeom>
          <a:solidFill>
            <a:srgbClr val="FFFFFF"/>
          </a:solidFill>
          <a:ln w="12700">
            <a:solidFill>
              <a:srgbClr val="B3E5FC"/>
            </a:solidFill>
            <a:prstDash val="solid"/>
          </a:ln>
          <a:effectLst>
            <a:outerShdw blurRad="38100" dist="12700" dir="8100000" algn="bl" rotWithShape="0">
              <a:srgbClr val="000000">
                <a:alpha val="7000"/>
              </a:srgbClr>
            </a:outerShdw>
          </a:effectLst>
        </p:spPr>
      </p:sp>
      <p:sp>
        <p:nvSpPr>
          <p:cNvPr id="8" name="Text 6"/>
          <p:cNvSpPr/>
          <p:nvPr/>
        </p:nvSpPr>
        <p:spPr>
          <a:xfrm>
            <a:off x="457200" y="2576620"/>
            <a:ext cx="5029200" cy="274320"/>
          </a:xfrm>
          <a:prstGeom prst="rect">
            <a:avLst/>
          </a:prstGeom>
          <a:noFill/>
          <a:ln/>
        </p:spPr>
        <p:txBody>
          <a:bodyPr wrap="square" rtlCol="0" anchor="ctr"/>
          <a:lstStyle/>
          <a:p>
            <a:pPr marL="0" indent="0">
              <a:buNone/>
            </a:pPr>
            <a:r>
              <a:rPr lang="en-US" sz="1300" b="1" dirty="0">
                <a:solidFill>
                  <a:srgbClr val="0DB7ED"/>
                </a:solidFill>
                <a:latin typeface="Calibri" pitchFamily="34" charset="0"/>
                <a:ea typeface="Calibri" pitchFamily="34" charset="-122"/>
                <a:cs typeface="Calibri" pitchFamily="34" charset="-120"/>
              </a:rPr>
              <a:t>🐳  Key Facts About Docker</a:t>
            </a:r>
            <a:endParaRPr lang="en-US" sz="1300" dirty="0"/>
          </a:p>
        </p:txBody>
      </p:sp>
      <p:sp>
        <p:nvSpPr>
          <p:cNvPr id="9" name="Text 7"/>
          <p:cNvSpPr/>
          <p:nvPr/>
        </p:nvSpPr>
        <p:spPr>
          <a:xfrm>
            <a:off x="457200" y="2869228"/>
            <a:ext cx="5029200" cy="365760"/>
          </a:xfrm>
          <a:prstGeom prst="rect">
            <a:avLst/>
          </a:prstGeom>
          <a:noFill/>
          <a:ln/>
        </p:spPr>
        <p:txBody>
          <a:bodyPr wrap="square" rtlCol="0" anchor="ctr"/>
          <a:lstStyle/>
          <a:p>
            <a:pPr marL="0" indent="0">
              <a:buNone/>
            </a:pPr>
            <a:r>
              <a:rPr lang="en-US" sz="1150" i="1" dirty="0">
                <a:solidFill>
                  <a:srgbClr val="546E7A"/>
                </a:solidFill>
                <a:latin typeface="Calibri" pitchFamily="34" charset="0"/>
                <a:ea typeface="Calibri" pitchFamily="34" charset="-122"/>
                <a:cs typeface="Calibri" pitchFamily="34" charset="-120"/>
              </a:rPr>
              <a:t>Created in 2013  •  Written in Go language  •  Used by companies like Google, Netflix, Uber</a:t>
            </a:r>
            <a:endParaRPr lang="en-US" sz="1150" dirty="0"/>
          </a:p>
        </p:txBody>
      </p:sp>
      <p:sp>
        <p:nvSpPr>
          <p:cNvPr id="10" name="Shape 8"/>
          <p:cNvSpPr/>
          <p:nvPr/>
        </p:nvSpPr>
        <p:spPr>
          <a:xfrm>
            <a:off x="320040" y="3749040"/>
            <a:ext cx="5303520" cy="1141012"/>
          </a:xfrm>
          <a:prstGeom prst="rect">
            <a:avLst/>
          </a:prstGeom>
          <a:solidFill>
            <a:srgbClr val="FFFFFF"/>
          </a:solidFill>
          <a:ln w="12700">
            <a:solidFill>
              <a:srgbClr val="B3E5FC"/>
            </a:solidFill>
            <a:prstDash val="solid"/>
          </a:ln>
          <a:effectLst>
            <a:outerShdw blurRad="38100" dist="12700" dir="8100000" algn="bl" rotWithShape="0">
              <a:srgbClr val="000000">
                <a:alpha val="7000"/>
              </a:srgbClr>
            </a:outerShdw>
          </a:effectLst>
        </p:spPr>
      </p:sp>
      <p:sp>
        <p:nvSpPr>
          <p:cNvPr id="11" name="Text 9"/>
          <p:cNvSpPr/>
          <p:nvPr/>
        </p:nvSpPr>
        <p:spPr>
          <a:xfrm>
            <a:off x="457200" y="3822192"/>
            <a:ext cx="5029200" cy="274320"/>
          </a:xfrm>
          <a:prstGeom prst="rect">
            <a:avLst/>
          </a:prstGeom>
          <a:noFill/>
          <a:ln/>
        </p:spPr>
        <p:txBody>
          <a:bodyPr wrap="square" rtlCol="0" anchor="ctr"/>
          <a:lstStyle/>
          <a:p>
            <a:pPr marL="0" indent="0">
              <a:buNone/>
            </a:pPr>
            <a:r>
              <a:rPr lang="en-US" sz="1300" b="1" dirty="0">
                <a:solidFill>
                  <a:srgbClr val="0DB7ED"/>
                </a:solidFill>
                <a:latin typeface="Calibri" pitchFamily="34" charset="0"/>
                <a:ea typeface="Calibri" pitchFamily="34" charset="-122"/>
                <a:cs typeface="Calibri" pitchFamily="34" charset="-120"/>
              </a:rPr>
              <a:t>🎯  Why Docker?</a:t>
            </a:r>
            <a:endParaRPr lang="en-US" sz="1300" dirty="0"/>
          </a:p>
        </p:txBody>
      </p:sp>
      <p:sp>
        <p:nvSpPr>
          <p:cNvPr id="12" name="Text 10"/>
          <p:cNvSpPr/>
          <p:nvPr/>
        </p:nvSpPr>
        <p:spPr>
          <a:xfrm>
            <a:off x="457200" y="4133088"/>
            <a:ext cx="5029200" cy="201168"/>
          </a:xfrm>
          <a:prstGeom prst="rect">
            <a:avLst/>
          </a:prstGeom>
          <a:noFill/>
          <a:ln/>
        </p:spPr>
        <p:txBody>
          <a:bodyPr wrap="square" rtlCol="0" anchor="ctr"/>
          <a:lstStyle/>
          <a:p>
            <a:pPr marL="0" indent="0">
              <a:buNone/>
            </a:pPr>
            <a:r>
              <a:rPr lang="en-US" sz="1100" dirty="0">
                <a:solidFill>
                  <a:srgbClr val="37474F"/>
                </a:solidFill>
                <a:latin typeface="Calibri" pitchFamily="34" charset="0"/>
                <a:ea typeface="Calibri" pitchFamily="34" charset="-122"/>
                <a:cs typeface="Calibri" pitchFamily="34" charset="-120"/>
              </a:rPr>
              <a:t>✅  Runs the same everywhere — no environment issues</a:t>
            </a:r>
            <a:endParaRPr lang="en-US" sz="1100" dirty="0"/>
          </a:p>
        </p:txBody>
      </p:sp>
      <p:sp>
        <p:nvSpPr>
          <p:cNvPr id="13" name="Text 11"/>
          <p:cNvSpPr/>
          <p:nvPr/>
        </p:nvSpPr>
        <p:spPr>
          <a:xfrm>
            <a:off x="457200" y="4352544"/>
            <a:ext cx="5029200" cy="201168"/>
          </a:xfrm>
          <a:prstGeom prst="rect">
            <a:avLst/>
          </a:prstGeom>
          <a:noFill/>
          <a:ln/>
        </p:spPr>
        <p:txBody>
          <a:bodyPr wrap="square" rtlCol="0" anchor="ctr"/>
          <a:lstStyle/>
          <a:p>
            <a:pPr marL="0" indent="0">
              <a:buNone/>
            </a:pPr>
            <a:r>
              <a:rPr lang="en-US" sz="1100" dirty="0">
                <a:solidFill>
                  <a:srgbClr val="37474F"/>
                </a:solidFill>
                <a:latin typeface="Calibri" pitchFamily="34" charset="0"/>
                <a:ea typeface="Calibri" pitchFamily="34" charset="-122"/>
                <a:cs typeface="Calibri" pitchFamily="34" charset="-120"/>
              </a:rPr>
              <a:t>✅  Start a full app (code + database) with one command</a:t>
            </a:r>
            <a:endParaRPr lang="en-US" sz="1100" dirty="0"/>
          </a:p>
        </p:txBody>
      </p:sp>
      <p:sp>
        <p:nvSpPr>
          <p:cNvPr id="14" name="Text 12"/>
          <p:cNvSpPr/>
          <p:nvPr/>
        </p:nvSpPr>
        <p:spPr>
          <a:xfrm>
            <a:off x="457200" y="4572000"/>
            <a:ext cx="5029200" cy="201168"/>
          </a:xfrm>
          <a:prstGeom prst="rect">
            <a:avLst/>
          </a:prstGeom>
          <a:noFill/>
          <a:ln/>
        </p:spPr>
        <p:txBody>
          <a:bodyPr wrap="square" rtlCol="0" anchor="ctr"/>
          <a:lstStyle/>
          <a:p>
            <a:pPr marL="0" indent="0">
              <a:buNone/>
            </a:pPr>
            <a:r>
              <a:rPr lang="en-US" sz="1100" dirty="0">
                <a:solidFill>
                  <a:srgbClr val="37474F"/>
                </a:solidFill>
                <a:latin typeface="Calibri" pitchFamily="34" charset="0"/>
                <a:ea typeface="Calibri" pitchFamily="34" charset="-122"/>
                <a:cs typeface="Calibri" pitchFamily="34" charset="-120"/>
              </a:rPr>
              <a:t>✅  Lightweight — containers start in seconds, not minutes</a:t>
            </a:r>
            <a:endParaRPr lang="en-US" sz="1100" dirty="0"/>
          </a:p>
        </p:txBody>
      </p:sp>
      <p:sp>
        <p:nvSpPr>
          <p:cNvPr id="15" name="Shape 13"/>
          <p:cNvSpPr/>
          <p:nvPr/>
        </p:nvSpPr>
        <p:spPr>
          <a:xfrm>
            <a:off x="5806440" y="749808"/>
            <a:ext cx="3017520" cy="4023360"/>
          </a:xfrm>
          <a:prstGeom prst="rect">
            <a:avLst/>
          </a:prstGeom>
          <a:solidFill>
            <a:srgbClr val="0277BD"/>
          </a:solidFill>
          <a:ln w="12700">
            <a:solidFill>
              <a:srgbClr val="0277BD"/>
            </a:solidFill>
            <a:prstDash val="solid"/>
          </a:ln>
        </p:spPr>
      </p:sp>
      <p:pic>
        <p:nvPicPr>
          <p:cNvPr id="16" name="Image 0" descr="preencoded.png"/>
          <p:cNvPicPr>
            <a:picLocks noChangeAspect="1"/>
          </p:cNvPicPr>
          <p:nvPr/>
        </p:nvPicPr>
        <p:blipFill>
          <a:blip r:embed="rId3"/>
          <a:stretch>
            <a:fillRect/>
          </a:stretch>
        </p:blipFill>
        <p:spPr>
          <a:xfrm>
            <a:off x="6492240" y="914400"/>
            <a:ext cx="1691640" cy="1280160"/>
          </a:xfrm>
          <a:prstGeom prst="rect">
            <a:avLst/>
          </a:prstGeom>
        </p:spPr>
      </p:pic>
      <p:sp>
        <p:nvSpPr>
          <p:cNvPr id="17" name="Text 14"/>
          <p:cNvSpPr/>
          <p:nvPr/>
        </p:nvSpPr>
        <p:spPr>
          <a:xfrm>
            <a:off x="5852160" y="2286000"/>
            <a:ext cx="2926080" cy="4114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Docker</a:t>
            </a:r>
            <a:endParaRPr lang="en-US" sz="2200" dirty="0"/>
          </a:p>
        </p:txBody>
      </p:sp>
      <p:sp>
        <p:nvSpPr>
          <p:cNvPr id="18" name="Text 15"/>
          <p:cNvSpPr/>
          <p:nvPr/>
        </p:nvSpPr>
        <p:spPr>
          <a:xfrm>
            <a:off x="5897880" y="2834640"/>
            <a:ext cx="2834640" cy="347472"/>
          </a:xfrm>
          <a:prstGeom prst="rect">
            <a:avLst/>
          </a:prstGeom>
          <a:noFill/>
          <a:ln/>
        </p:spPr>
        <p:txBody>
          <a:bodyPr wrap="square" rtlCol="0" anchor="ctr"/>
          <a:lstStyle/>
          <a:p>
            <a:pPr marL="0" indent="0">
              <a:buNone/>
            </a:pPr>
            <a:r>
              <a:rPr lang="en-US" sz="1200" dirty="0">
                <a:solidFill>
                  <a:srgbClr val="B3E5FC"/>
                </a:solidFill>
                <a:latin typeface="Calibri" pitchFamily="34" charset="0"/>
                <a:ea typeface="Calibri" pitchFamily="34" charset="-122"/>
                <a:cs typeface="Calibri" pitchFamily="34" charset="-120"/>
              </a:rPr>
              <a:t>📦  Container</a:t>
            </a:r>
            <a:endParaRPr lang="en-US" sz="1200" dirty="0"/>
          </a:p>
        </p:txBody>
      </p:sp>
      <p:sp>
        <p:nvSpPr>
          <p:cNvPr id="19" name="Text 16"/>
          <p:cNvSpPr/>
          <p:nvPr/>
        </p:nvSpPr>
        <p:spPr>
          <a:xfrm>
            <a:off x="5897880" y="3218688"/>
            <a:ext cx="2834640" cy="347472"/>
          </a:xfrm>
          <a:prstGeom prst="rect">
            <a:avLst/>
          </a:prstGeom>
          <a:noFill/>
          <a:ln/>
        </p:spPr>
        <p:txBody>
          <a:bodyPr wrap="square" rtlCol="0" anchor="ctr"/>
          <a:lstStyle/>
          <a:p>
            <a:pPr marL="0" indent="0">
              <a:buNone/>
            </a:pPr>
            <a:r>
              <a:rPr lang="en-US" sz="1200" dirty="0">
                <a:solidFill>
                  <a:srgbClr val="B3E5FC"/>
                </a:solidFill>
                <a:latin typeface="Calibri" pitchFamily="34" charset="0"/>
                <a:ea typeface="Calibri" pitchFamily="34" charset="-122"/>
                <a:cs typeface="Calibri" pitchFamily="34" charset="-120"/>
              </a:rPr>
              <a:t>🖼  Image</a:t>
            </a:r>
            <a:endParaRPr lang="en-US" sz="1200" dirty="0"/>
          </a:p>
        </p:txBody>
      </p:sp>
      <p:sp>
        <p:nvSpPr>
          <p:cNvPr id="20" name="Text 17"/>
          <p:cNvSpPr/>
          <p:nvPr/>
        </p:nvSpPr>
        <p:spPr>
          <a:xfrm>
            <a:off x="5897880" y="3602736"/>
            <a:ext cx="2834640" cy="347472"/>
          </a:xfrm>
          <a:prstGeom prst="rect">
            <a:avLst/>
          </a:prstGeom>
          <a:noFill/>
          <a:ln/>
        </p:spPr>
        <p:txBody>
          <a:bodyPr wrap="square" rtlCol="0" anchor="ctr"/>
          <a:lstStyle/>
          <a:p>
            <a:pPr marL="0" indent="0">
              <a:buNone/>
            </a:pPr>
            <a:r>
              <a:rPr lang="en-US" sz="1200" dirty="0">
                <a:solidFill>
                  <a:srgbClr val="B3E5FC"/>
                </a:solidFill>
                <a:latin typeface="Calibri" pitchFamily="34" charset="0"/>
                <a:ea typeface="Calibri" pitchFamily="34" charset="-122"/>
                <a:cs typeface="Calibri" pitchFamily="34" charset="-120"/>
              </a:rPr>
              <a:t>📋  Dockerfile</a:t>
            </a:r>
            <a:endParaRPr lang="en-US" sz="1200" dirty="0"/>
          </a:p>
        </p:txBody>
      </p:sp>
      <p:sp>
        <p:nvSpPr>
          <p:cNvPr id="21" name="Text 18"/>
          <p:cNvSpPr/>
          <p:nvPr/>
        </p:nvSpPr>
        <p:spPr>
          <a:xfrm>
            <a:off x="5897880" y="3986784"/>
            <a:ext cx="2834640" cy="347472"/>
          </a:xfrm>
          <a:prstGeom prst="rect">
            <a:avLst/>
          </a:prstGeom>
          <a:noFill/>
          <a:ln/>
        </p:spPr>
        <p:txBody>
          <a:bodyPr wrap="square" rtlCol="0" anchor="ctr"/>
          <a:lstStyle/>
          <a:p>
            <a:pPr marL="0" indent="0">
              <a:buNone/>
            </a:pPr>
            <a:r>
              <a:rPr lang="en-US" sz="1200" dirty="0">
                <a:solidFill>
                  <a:srgbClr val="B3E5FC"/>
                </a:solidFill>
                <a:latin typeface="Calibri" pitchFamily="34" charset="0"/>
                <a:ea typeface="Calibri" pitchFamily="34" charset="-122"/>
                <a:cs typeface="Calibri" pitchFamily="34" charset="-120"/>
              </a:rPr>
              <a:t>🛒  Docker Hub (Registry)</a:t>
            </a:r>
            <a:endParaRPr lang="en-US" sz="1200" dirty="0"/>
          </a:p>
        </p:txBody>
      </p:sp>
      <p:sp>
        <p:nvSpPr>
          <p:cNvPr id="22" name="Text 19"/>
          <p:cNvSpPr/>
          <p:nvPr/>
        </p:nvSpPr>
        <p:spPr>
          <a:xfrm>
            <a:off x="5897880" y="4370832"/>
            <a:ext cx="2834640" cy="347472"/>
          </a:xfrm>
          <a:prstGeom prst="rect">
            <a:avLst/>
          </a:prstGeom>
          <a:noFill/>
          <a:ln/>
        </p:spPr>
        <p:txBody>
          <a:bodyPr wrap="square" rtlCol="0" anchor="ctr"/>
          <a:lstStyle/>
          <a:p>
            <a:pPr marL="0" indent="0">
              <a:buNone/>
            </a:pPr>
            <a:r>
              <a:rPr lang="en-US" sz="1200" dirty="0">
                <a:solidFill>
                  <a:srgbClr val="B3E5FC"/>
                </a:solidFill>
                <a:latin typeface="Calibri" pitchFamily="34" charset="0"/>
                <a:ea typeface="Calibri" pitchFamily="34" charset="-122"/>
                <a:cs typeface="Calibri" pitchFamily="34" charset="-120"/>
              </a:rPr>
              <a:t>🐙  Docker Compose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B7ED"/>
          </a:solidFill>
          <a:ln w="12700">
            <a:solidFill>
              <a:srgbClr val="0DB7ED"/>
            </a:solidFill>
            <a:prstDash val="solid"/>
          </a:ln>
        </p:spPr>
      </p:sp>
      <p:sp>
        <p:nvSpPr>
          <p:cNvPr id="3" name="Text 1"/>
          <p:cNvSpPr/>
          <p:nvPr/>
        </p:nvSpPr>
        <p:spPr>
          <a:xfrm>
            <a:off x="365760" y="0"/>
            <a:ext cx="841248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Docker Concepts: Image vs Container</a:t>
            </a:r>
            <a:endParaRPr lang="en-US" sz="2200" dirty="0"/>
          </a:p>
        </p:txBody>
      </p:sp>
      <p:sp>
        <p:nvSpPr>
          <p:cNvPr id="4" name="Shape 2"/>
          <p:cNvSpPr/>
          <p:nvPr/>
        </p:nvSpPr>
        <p:spPr>
          <a:xfrm>
            <a:off x="320040" y="749807"/>
            <a:ext cx="4114800" cy="4173375"/>
          </a:xfrm>
          <a:prstGeom prst="rect">
            <a:avLst/>
          </a:prstGeom>
          <a:solidFill>
            <a:srgbClr val="FFFFFF"/>
          </a:solidFill>
          <a:ln w="25400">
            <a:solidFill>
              <a:srgbClr val="0DB7ED"/>
            </a:solidFill>
            <a:prstDash val="solid"/>
          </a:ln>
          <a:effectLst>
            <a:outerShdw blurRad="63500" dist="25400" dir="8100000" algn="bl" rotWithShape="0">
              <a:srgbClr val="000000">
                <a:alpha val="10000"/>
              </a:srgbClr>
            </a:outerShdw>
          </a:effectLst>
        </p:spPr>
      </p:sp>
      <p:sp>
        <p:nvSpPr>
          <p:cNvPr id="5" name="Shape 3"/>
          <p:cNvSpPr/>
          <p:nvPr/>
        </p:nvSpPr>
        <p:spPr>
          <a:xfrm>
            <a:off x="320040" y="749808"/>
            <a:ext cx="4114800" cy="475488"/>
          </a:xfrm>
          <a:prstGeom prst="rect">
            <a:avLst/>
          </a:prstGeom>
          <a:solidFill>
            <a:srgbClr val="0DB7ED"/>
          </a:solidFill>
          <a:ln w="12700">
            <a:solidFill>
              <a:srgbClr val="0DB7ED"/>
            </a:solidFill>
            <a:prstDash val="solid"/>
          </a:ln>
        </p:spPr>
      </p:sp>
      <p:sp>
        <p:nvSpPr>
          <p:cNvPr id="6" name="Text 4"/>
          <p:cNvSpPr/>
          <p:nvPr/>
        </p:nvSpPr>
        <p:spPr>
          <a:xfrm>
            <a:off x="411480" y="749808"/>
            <a:ext cx="3931920" cy="475488"/>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  Docker IMAGE</a:t>
            </a:r>
            <a:endParaRPr lang="en-US" sz="1500" dirty="0"/>
          </a:p>
        </p:txBody>
      </p:sp>
      <p:sp>
        <p:nvSpPr>
          <p:cNvPr id="7" name="Text 5"/>
          <p:cNvSpPr/>
          <p:nvPr/>
        </p:nvSpPr>
        <p:spPr>
          <a:xfrm>
            <a:off x="457200" y="1392869"/>
            <a:ext cx="3840480" cy="3337560"/>
          </a:xfrm>
          <a:prstGeom prst="rect">
            <a:avLst/>
          </a:prstGeom>
          <a:noFill/>
          <a:ln/>
        </p:spPr>
        <p:txBody>
          <a:bodyPr wrap="square" rtlCol="0" anchor="ctr"/>
          <a:lstStyle/>
          <a:p>
            <a:pPr algn="just"/>
            <a:r>
              <a:rPr lang="en-US" sz="1150" dirty="0">
                <a:solidFill>
                  <a:srgbClr val="37474F"/>
                </a:solidFill>
                <a:latin typeface="Calibri" pitchFamily="34" charset="0"/>
                <a:ea typeface="Calibri" pitchFamily="34" charset="-122"/>
                <a:cs typeface="Calibri" pitchFamily="34" charset="-120"/>
              </a:rPr>
              <a:t>A </a:t>
            </a:r>
            <a:r>
              <a:rPr lang="en-US" sz="1150" dirty="0">
                <a:solidFill>
                  <a:srgbClr val="37474F"/>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Docker Image </a:t>
            </a:r>
            <a:r>
              <a:rPr lang="en-US" sz="1150" dirty="0">
                <a:solidFill>
                  <a:srgbClr val="37474F"/>
                </a:solidFill>
                <a:latin typeface="Calibri" pitchFamily="34" charset="0"/>
                <a:ea typeface="Calibri" pitchFamily="34" charset="-122"/>
                <a:cs typeface="Calibri" pitchFamily="34" charset="-120"/>
              </a:rPr>
              <a:t>is a file made up of multiple layers that contains the instructions to build and run a Docker container. It acts as an executable package that includes everything needed to run an application code, runtime, libraries, environment variables, and configurations.</a:t>
            </a:r>
          </a:p>
          <a:p>
            <a:pPr algn="just"/>
            <a:endParaRPr lang="en-US" sz="1150" dirty="0">
              <a:solidFill>
                <a:srgbClr val="37474F"/>
              </a:solidFill>
              <a:latin typeface="Calibri" pitchFamily="34" charset="0"/>
              <a:ea typeface="Calibri" pitchFamily="34" charset="-122"/>
              <a:cs typeface="Calibri" pitchFamily="34" charset="-120"/>
            </a:endParaRPr>
          </a:p>
          <a:p>
            <a:pPr marL="0" indent="0" algn="just">
              <a:buNone/>
            </a:pPr>
            <a:r>
              <a:rPr lang="en-US" sz="1150" dirty="0">
                <a:solidFill>
                  <a:srgbClr val="37474F"/>
                </a:solidFill>
                <a:latin typeface="Calibri" pitchFamily="34" charset="0"/>
                <a:ea typeface="Calibri" pitchFamily="34" charset="-122"/>
                <a:cs typeface="Calibri" pitchFamily="34" charset="-120"/>
              </a:rPr>
              <a:t>An Image is like a BLUEPRINT. It contains all the instructions needed to create a container — which OS to use, which libraries to install, which code to include.</a:t>
            </a:r>
            <a:endParaRPr lang="en-US" sz="1150" dirty="0"/>
          </a:p>
          <a:p>
            <a:pPr marL="0" indent="0" algn="just">
              <a:buNone/>
            </a:pPr>
            <a:endParaRPr lang="en-US" sz="1150" dirty="0"/>
          </a:p>
          <a:p>
            <a:pPr marL="0" indent="0" algn="just">
              <a:buNone/>
            </a:pPr>
            <a:r>
              <a:rPr lang="en-US" sz="1150" dirty="0">
                <a:solidFill>
                  <a:srgbClr val="37474F"/>
                </a:solidFill>
                <a:latin typeface="Calibri" pitchFamily="34" charset="0"/>
                <a:ea typeface="Calibri" pitchFamily="34" charset="-122"/>
                <a:cs typeface="Calibri" pitchFamily="34" charset="-120"/>
              </a:rPr>
              <a:t>Images are read-only — you cannot change them directly. You can only use them to create containers.</a:t>
            </a:r>
            <a:endParaRPr lang="en-US" sz="1150" dirty="0"/>
          </a:p>
          <a:p>
            <a:pPr marL="0" indent="0" algn="just">
              <a:buNone/>
            </a:pPr>
            <a:endParaRPr lang="en-US" sz="1150" dirty="0"/>
          </a:p>
          <a:p>
            <a:pPr marL="0" indent="0" algn="just">
              <a:buNone/>
            </a:pPr>
            <a:r>
              <a:rPr lang="en-US" sz="1150" dirty="0">
                <a:solidFill>
                  <a:srgbClr val="37474F"/>
                </a:solidFill>
                <a:latin typeface="Calibri" pitchFamily="34" charset="0"/>
                <a:ea typeface="Calibri" pitchFamily="34" charset="-122"/>
                <a:cs typeface="Calibri" pitchFamily="34" charset="-120"/>
              </a:rPr>
              <a:t>You can share images on Docker Hub (like GitHub for Docker images). Anyone can download your image and run it instantly.</a:t>
            </a:r>
          </a:p>
          <a:p>
            <a:pPr marL="0" indent="0" algn="just">
              <a:buNone/>
            </a:pPr>
            <a:endParaRPr lang="en-US" sz="1150" dirty="0">
              <a:solidFill>
                <a:srgbClr val="37474F"/>
              </a:solidFill>
              <a:latin typeface="Calibri" pitchFamily="34" charset="0"/>
              <a:ea typeface="Calibri" pitchFamily="34" charset="-122"/>
              <a:cs typeface="Calibri" pitchFamily="34" charset="-120"/>
            </a:endParaRPr>
          </a:p>
          <a:p>
            <a:pPr algn="just"/>
            <a:r>
              <a:rPr lang="en-US" sz="1150" b="1" dirty="0">
                <a:solidFill>
                  <a:srgbClr val="37474F"/>
                </a:solidFill>
                <a:latin typeface="Calibri" pitchFamily="34" charset="0"/>
                <a:ea typeface="Calibri" pitchFamily="34" charset="-122"/>
                <a:cs typeface="Calibri" pitchFamily="34" charset="-120"/>
              </a:rPr>
              <a:t>Docker Image = </a:t>
            </a:r>
            <a:r>
              <a:rPr lang="en-US" sz="1150" dirty="0">
                <a:solidFill>
                  <a:srgbClr val="37474F"/>
                </a:solidFill>
                <a:latin typeface="Calibri" pitchFamily="34" charset="0"/>
                <a:ea typeface="Calibri" pitchFamily="34" charset="-122"/>
                <a:cs typeface="Calibri" pitchFamily="34" charset="-120"/>
              </a:rPr>
              <a:t>Blueprint (static, read only).</a:t>
            </a:r>
          </a:p>
          <a:p>
            <a:pPr marL="0" indent="0" algn="just">
              <a:buNone/>
            </a:pPr>
            <a:endParaRPr lang="en-US" sz="1150" dirty="0"/>
          </a:p>
          <a:p>
            <a:pPr marL="0" indent="0" algn="just">
              <a:buNone/>
            </a:pPr>
            <a:endParaRPr lang="en-US" sz="1150" dirty="0"/>
          </a:p>
        </p:txBody>
      </p:sp>
      <p:sp>
        <p:nvSpPr>
          <p:cNvPr id="8" name="Shape 6"/>
          <p:cNvSpPr/>
          <p:nvPr/>
        </p:nvSpPr>
        <p:spPr>
          <a:xfrm>
            <a:off x="4709160" y="749808"/>
            <a:ext cx="4114800" cy="4173374"/>
          </a:xfrm>
          <a:prstGeom prst="rect">
            <a:avLst/>
          </a:prstGeom>
          <a:solidFill>
            <a:srgbClr val="FFFFFF"/>
          </a:solidFill>
          <a:ln w="25400">
            <a:solidFill>
              <a:srgbClr val="F4511E"/>
            </a:solidFill>
            <a:prstDash val="solid"/>
          </a:ln>
          <a:effectLst>
            <a:outerShdw blurRad="63500" dist="25400" dir="8100000" algn="bl" rotWithShape="0">
              <a:srgbClr val="000000">
                <a:alpha val="10000"/>
              </a:srgbClr>
            </a:outerShdw>
          </a:effectLst>
        </p:spPr>
      </p:sp>
      <p:sp>
        <p:nvSpPr>
          <p:cNvPr id="9" name="Shape 7"/>
          <p:cNvSpPr/>
          <p:nvPr/>
        </p:nvSpPr>
        <p:spPr>
          <a:xfrm>
            <a:off x="4709160" y="749808"/>
            <a:ext cx="4114800" cy="475488"/>
          </a:xfrm>
          <a:prstGeom prst="rect">
            <a:avLst/>
          </a:prstGeom>
          <a:solidFill>
            <a:srgbClr val="F4511E"/>
          </a:solidFill>
          <a:ln w="12700">
            <a:solidFill>
              <a:srgbClr val="F4511E"/>
            </a:solidFill>
            <a:prstDash val="solid"/>
          </a:ln>
        </p:spPr>
      </p:sp>
      <p:sp>
        <p:nvSpPr>
          <p:cNvPr id="10" name="Text 8"/>
          <p:cNvSpPr/>
          <p:nvPr/>
        </p:nvSpPr>
        <p:spPr>
          <a:xfrm>
            <a:off x="4800600" y="749808"/>
            <a:ext cx="3931920" cy="475488"/>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  Docker CONTAINER</a:t>
            </a:r>
            <a:endParaRPr lang="en-US" sz="1500" dirty="0"/>
          </a:p>
        </p:txBody>
      </p:sp>
      <p:sp>
        <p:nvSpPr>
          <p:cNvPr id="11" name="Text 9"/>
          <p:cNvSpPr/>
          <p:nvPr/>
        </p:nvSpPr>
        <p:spPr>
          <a:xfrm>
            <a:off x="4846320" y="1325880"/>
            <a:ext cx="3840480" cy="3337560"/>
          </a:xfrm>
          <a:prstGeom prst="rect">
            <a:avLst/>
          </a:prstGeom>
          <a:noFill/>
          <a:ln/>
        </p:spPr>
        <p:txBody>
          <a:bodyPr wrap="square" rtlCol="0" anchor="ctr"/>
          <a:lstStyle/>
          <a:p>
            <a:pPr algn="just"/>
            <a:r>
              <a:rPr lang="en-US" sz="1150" dirty="0">
                <a:solidFill>
                  <a:srgbClr val="37474F"/>
                </a:solidFill>
                <a:latin typeface="Calibri" pitchFamily="34" charset="0"/>
                <a:ea typeface="Calibri" pitchFamily="34" charset="-122"/>
                <a:cs typeface="Calibri" pitchFamily="34" charset="-120"/>
              </a:rPr>
              <a:t>A </a:t>
            </a:r>
            <a:r>
              <a:rPr lang="en-US" sz="1150" dirty="0">
                <a:solidFill>
                  <a:srgbClr val="37474F"/>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Docker Container </a:t>
            </a:r>
            <a:r>
              <a:rPr lang="en-US" sz="1150" dirty="0">
                <a:solidFill>
                  <a:srgbClr val="37474F"/>
                </a:solidFill>
                <a:latin typeface="Calibri" pitchFamily="34" charset="0"/>
                <a:ea typeface="Calibri" pitchFamily="34" charset="-122"/>
                <a:cs typeface="Calibri" pitchFamily="34" charset="-120"/>
              </a:rPr>
              <a:t>is a lightweight, runnable instance of a Docker Image. It packages the application code together with all its dependencies and runs it in an isolated environment. Containers allow applications to run quickly and consistently across different environments — whether on a developer’s laptop, test servers, or production.</a:t>
            </a:r>
          </a:p>
          <a:p>
            <a:pPr algn="just"/>
            <a:endParaRPr lang="en-US" sz="1150" dirty="0">
              <a:solidFill>
                <a:srgbClr val="37474F"/>
              </a:solidFill>
              <a:latin typeface="Calibri" pitchFamily="34" charset="0"/>
              <a:ea typeface="Calibri" pitchFamily="34" charset="-122"/>
              <a:cs typeface="Calibri" pitchFamily="34" charset="-120"/>
            </a:endParaRPr>
          </a:p>
          <a:p>
            <a:pPr marL="0" indent="0" algn="just">
              <a:buNone/>
            </a:pPr>
            <a:r>
              <a:rPr lang="en-US" sz="1150" dirty="0">
                <a:solidFill>
                  <a:srgbClr val="37474F"/>
                </a:solidFill>
                <a:latin typeface="Calibri" pitchFamily="34" charset="0"/>
                <a:ea typeface="Calibri" pitchFamily="34" charset="-122"/>
                <a:cs typeface="Calibri" pitchFamily="34" charset="-120"/>
              </a:rPr>
              <a:t>Containers share the host OS instead of having their own, making them start much faster than VMs.</a:t>
            </a:r>
            <a:endParaRPr lang="en-US" sz="1150" dirty="0"/>
          </a:p>
          <a:p>
            <a:pPr marL="0" indent="0" algn="just">
              <a:buNone/>
            </a:pPr>
            <a:endParaRPr lang="en-US" sz="1150" dirty="0"/>
          </a:p>
          <a:p>
            <a:pPr marL="0" indent="0" algn="just">
              <a:buNone/>
            </a:pPr>
            <a:r>
              <a:rPr lang="en-US" sz="1150" dirty="0">
                <a:solidFill>
                  <a:srgbClr val="37474F"/>
                </a:solidFill>
                <a:latin typeface="Calibri" pitchFamily="34" charset="0"/>
                <a:ea typeface="Calibri" pitchFamily="34" charset="-122"/>
                <a:cs typeface="Calibri" pitchFamily="34" charset="-120"/>
              </a:rPr>
              <a:t>You can run multiple containers from the same image simultaneously — like baking multiple cakes from one recipe.</a:t>
            </a:r>
            <a:endParaRPr lang="en-US" sz="1150" dirty="0"/>
          </a:p>
          <a:p>
            <a:pPr marL="0" indent="0" algn="just">
              <a:buNone/>
            </a:pPr>
            <a:endParaRPr lang="en-US" sz="1150" dirty="0"/>
          </a:p>
          <a:p>
            <a:pPr algn="just"/>
            <a:r>
              <a:rPr lang="en-US" sz="1150" b="1" dirty="0">
                <a:solidFill>
                  <a:srgbClr val="37474F"/>
                </a:solidFill>
                <a:latin typeface="Calibri" pitchFamily="34" charset="0"/>
                <a:ea typeface="Calibri" pitchFamily="34" charset="-122"/>
                <a:cs typeface="Calibri" pitchFamily="34" charset="-120"/>
              </a:rPr>
              <a:t>Docker Container = </a:t>
            </a:r>
            <a:r>
              <a:rPr lang="en-US" sz="1150" dirty="0">
                <a:solidFill>
                  <a:srgbClr val="37474F"/>
                </a:solidFill>
                <a:latin typeface="Calibri" pitchFamily="34" charset="0"/>
                <a:ea typeface="Calibri" pitchFamily="34" charset="-122"/>
                <a:cs typeface="Calibri" pitchFamily="34" charset="-120"/>
              </a:rPr>
              <a:t>Live instance of that blueprint (dynamic, executable)</a:t>
            </a:r>
          </a:p>
          <a:p>
            <a:pPr marL="0" indent="0" algn="just">
              <a:buNone/>
            </a:pP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E7FAEE-F506-69F2-BF9B-7EFCF07825D4}"/>
              </a:ext>
            </a:extLst>
          </p:cNvPr>
          <p:cNvPicPr>
            <a:picLocks noChangeAspect="1"/>
          </p:cNvPicPr>
          <p:nvPr/>
        </p:nvPicPr>
        <p:blipFill>
          <a:blip r:embed="rId2"/>
          <a:stretch>
            <a:fillRect/>
          </a:stretch>
        </p:blipFill>
        <p:spPr>
          <a:xfrm>
            <a:off x="0" y="226919"/>
            <a:ext cx="9144000" cy="4689662"/>
          </a:xfrm>
          <a:prstGeom prst="rect">
            <a:avLst/>
          </a:prstGeom>
        </p:spPr>
      </p:pic>
    </p:spTree>
    <p:extLst>
      <p:ext uri="{BB962C8B-B14F-4D97-AF65-F5344CB8AC3E}">
        <p14:creationId xmlns:p14="http://schemas.microsoft.com/office/powerpoint/2010/main" val="30436691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60F53C-1619-9097-4D28-7BA5C9E373B9}"/>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782795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B7ED"/>
          </a:solidFill>
          <a:ln w="12700">
            <a:solidFill>
              <a:srgbClr val="0DB7ED"/>
            </a:solidFill>
            <a:prstDash val="solid"/>
          </a:ln>
        </p:spPr>
      </p:sp>
      <p:sp>
        <p:nvSpPr>
          <p:cNvPr id="3" name="Text 1"/>
          <p:cNvSpPr/>
          <p:nvPr/>
        </p:nvSpPr>
        <p:spPr>
          <a:xfrm>
            <a:off x="365760" y="0"/>
            <a:ext cx="841248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Basic Docker Workflow: Build → Run → Share</a:t>
            </a:r>
            <a:endParaRPr lang="en-US" sz="2200" dirty="0"/>
          </a:p>
        </p:txBody>
      </p:sp>
      <p:sp>
        <p:nvSpPr>
          <p:cNvPr id="4" name="Shape 2"/>
          <p:cNvSpPr/>
          <p:nvPr/>
        </p:nvSpPr>
        <p:spPr>
          <a:xfrm>
            <a:off x="274320" y="749808"/>
            <a:ext cx="2029968" cy="4023360"/>
          </a:xfrm>
          <a:prstGeom prst="rect">
            <a:avLst/>
          </a:prstGeom>
          <a:solidFill>
            <a:srgbClr val="0D1F3C"/>
          </a:solidFill>
          <a:ln w="12700">
            <a:solidFill>
              <a:srgbClr val="0DB7ED"/>
            </a:solidFill>
            <a:prstDash val="solid"/>
          </a:ln>
        </p:spPr>
      </p:sp>
      <p:sp>
        <p:nvSpPr>
          <p:cNvPr id="5" name="Shape 3"/>
          <p:cNvSpPr/>
          <p:nvPr/>
        </p:nvSpPr>
        <p:spPr>
          <a:xfrm>
            <a:off x="987552" y="804672"/>
            <a:ext cx="594360" cy="594360"/>
          </a:xfrm>
          <a:prstGeom prst="ellipse">
            <a:avLst/>
          </a:prstGeom>
          <a:solidFill>
            <a:srgbClr val="0DB7ED"/>
          </a:solidFill>
          <a:ln w="12700">
            <a:solidFill>
              <a:srgbClr val="0DB7ED"/>
            </a:solidFill>
            <a:prstDash val="solid"/>
          </a:ln>
        </p:spPr>
      </p:sp>
      <p:sp>
        <p:nvSpPr>
          <p:cNvPr id="6" name="Text 4"/>
          <p:cNvSpPr/>
          <p:nvPr/>
        </p:nvSpPr>
        <p:spPr>
          <a:xfrm>
            <a:off x="987552" y="804672"/>
            <a:ext cx="594360" cy="59436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365760" y="1463040"/>
            <a:ext cx="1874520" cy="365760"/>
          </a:xfrm>
          <a:prstGeom prst="rect">
            <a:avLst/>
          </a:prstGeom>
          <a:noFill/>
          <a:ln/>
        </p:spPr>
        <p:txBody>
          <a:bodyPr wrap="square" rtlCol="0" anchor="ctr"/>
          <a:lstStyle/>
          <a:p>
            <a:pPr marL="0" indent="0" algn="ctr">
              <a:buNone/>
            </a:pPr>
            <a:r>
              <a:rPr lang="en-US" sz="1200" b="1" dirty="0">
                <a:solidFill>
                  <a:srgbClr val="0DB7ED"/>
                </a:solidFill>
                <a:latin typeface="Calibri" pitchFamily="34" charset="0"/>
                <a:ea typeface="Calibri" pitchFamily="34" charset="-122"/>
                <a:cs typeface="Calibri" pitchFamily="34" charset="-120"/>
              </a:rPr>
              <a:t>Write Dockerfile</a:t>
            </a:r>
            <a:endParaRPr lang="en-US" sz="1200" dirty="0"/>
          </a:p>
        </p:txBody>
      </p:sp>
      <p:sp>
        <p:nvSpPr>
          <p:cNvPr id="8" name="Shape 6"/>
          <p:cNvSpPr/>
          <p:nvPr/>
        </p:nvSpPr>
        <p:spPr>
          <a:xfrm>
            <a:off x="365760" y="1901952"/>
            <a:ext cx="1874520" cy="1097280"/>
          </a:xfrm>
          <a:prstGeom prst="rect">
            <a:avLst/>
          </a:prstGeom>
          <a:solidFill>
            <a:srgbClr val="091428"/>
          </a:solidFill>
          <a:ln w="12700">
            <a:solidFill>
              <a:srgbClr val="0DB7ED"/>
            </a:solidFill>
            <a:prstDash val="solid"/>
          </a:ln>
        </p:spPr>
      </p:sp>
      <p:sp>
        <p:nvSpPr>
          <p:cNvPr id="9" name="Text 7"/>
          <p:cNvSpPr/>
          <p:nvPr/>
        </p:nvSpPr>
        <p:spPr>
          <a:xfrm>
            <a:off x="411480" y="1938528"/>
            <a:ext cx="1783080" cy="1024128"/>
          </a:xfrm>
          <a:prstGeom prst="rect">
            <a:avLst/>
          </a:prstGeom>
          <a:noFill/>
          <a:ln/>
        </p:spPr>
        <p:txBody>
          <a:bodyPr wrap="square" rtlCol="0" anchor="ctr"/>
          <a:lstStyle/>
          <a:p>
            <a:pPr marL="0" indent="0">
              <a:buNone/>
            </a:pPr>
            <a:r>
              <a:rPr lang="en-US" sz="900" dirty="0">
                <a:solidFill>
                  <a:srgbClr val="00FF88"/>
                </a:solidFill>
                <a:latin typeface="Consolas" pitchFamily="34" charset="0"/>
                <a:ea typeface="Consolas" pitchFamily="34" charset="-122"/>
                <a:cs typeface="Consolas" pitchFamily="34" charset="-120"/>
              </a:rPr>
              <a:t>FROM node:18</a:t>
            </a:r>
            <a:endParaRPr lang="en-US" sz="900" dirty="0"/>
          </a:p>
          <a:p>
            <a:pPr marL="0" indent="0">
              <a:buNone/>
            </a:pPr>
            <a:r>
              <a:rPr lang="en-US" sz="900" dirty="0">
                <a:solidFill>
                  <a:srgbClr val="00FF88"/>
                </a:solidFill>
                <a:latin typeface="Consolas" pitchFamily="34" charset="0"/>
                <a:ea typeface="Consolas" pitchFamily="34" charset="-122"/>
                <a:cs typeface="Consolas" pitchFamily="34" charset="-120"/>
              </a:rPr>
              <a:t>WORKDIR /app</a:t>
            </a:r>
            <a:endParaRPr lang="en-US" sz="900" dirty="0"/>
          </a:p>
          <a:p>
            <a:pPr marL="0" indent="0">
              <a:buNone/>
            </a:pPr>
            <a:r>
              <a:rPr lang="en-US" sz="900" dirty="0">
                <a:solidFill>
                  <a:srgbClr val="00FF88"/>
                </a:solidFill>
                <a:latin typeface="Consolas" pitchFamily="34" charset="0"/>
                <a:ea typeface="Consolas" pitchFamily="34" charset="-122"/>
                <a:cs typeface="Consolas" pitchFamily="34" charset="-120"/>
              </a:rPr>
              <a:t>COPY . .</a:t>
            </a:r>
            <a:endParaRPr lang="en-US" sz="900" dirty="0"/>
          </a:p>
          <a:p>
            <a:pPr marL="0" indent="0">
              <a:buNone/>
            </a:pPr>
            <a:r>
              <a:rPr lang="en-US" sz="900" dirty="0">
                <a:solidFill>
                  <a:srgbClr val="00FF88"/>
                </a:solidFill>
                <a:latin typeface="Consolas" pitchFamily="34" charset="0"/>
                <a:ea typeface="Consolas" pitchFamily="34" charset="-122"/>
                <a:cs typeface="Consolas" pitchFamily="34" charset="-120"/>
              </a:rPr>
              <a:t>RUN npm install</a:t>
            </a:r>
            <a:endParaRPr lang="en-US" sz="900" dirty="0"/>
          </a:p>
          <a:p>
            <a:pPr marL="0" indent="0">
              <a:buNone/>
            </a:pPr>
            <a:r>
              <a:rPr lang="en-US" sz="900" dirty="0">
                <a:solidFill>
                  <a:srgbClr val="00FF88"/>
                </a:solidFill>
                <a:latin typeface="Consolas" pitchFamily="34" charset="0"/>
                <a:ea typeface="Consolas" pitchFamily="34" charset="-122"/>
                <a:cs typeface="Consolas" pitchFamily="34" charset="-120"/>
              </a:rPr>
              <a:t>CMD ["node","index.js"]</a:t>
            </a:r>
            <a:endParaRPr lang="en-US" sz="900" dirty="0"/>
          </a:p>
        </p:txBody>
      </p:sp>
      <p:sp>
        <p:nvSpPr>
          <p:cNvPr id="10" name="Text 8"/>
          <p:cNvSpPr/>
          <p:nvPr/>
        </p:nvSpPr>
        <p:spPr>
          <a:xfrm>
            <a:off x="365760" y="3063240"/>
            <a:ext cx="1874520" cy="1645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The Dockerfile is a text file with instructions. It tells Docker: "Start with Node.js, copy my code, install packages, and run it.</a:t>
            </a:r>
            <a:endParaRPr lang="en-US" sz="1000" dirty="0"/>
          </a:p>
        </p:txBody>
      </p:sp>
      <p:sp>
        <p:nvSpPr>
          <p:cNvPr id="11" name="Shape 9"/>
          <p:cNvSpPr/>
          <p:nvPr/>
        </p:nvSpPr>
        <p:spPr>
          <a:xfrm>
            <a:off x="2450592" y="749808"/>
            <a:ext cx="2029968" cy="4023360"/>
          </a:xfrm>
          <a:prstGeom prst="rect">
            <a:avLst/>
          </a:prstGeom>
          <a:solidFill>
            <a:srgbClr val="0D1F3C"/>
          </a:solidFill>
          <a:ln w="12700">
            <a:solidFill>
              <a:srgbClr val="43A047"/>
            </a:solidFill>
            <a:prstDash val="solid"/>
          </a:ln>
        </p:spPr>
      </p:sp>
      <p:sp>
        <p:nvSpPr>
          <p:cNvPr id="12" name="Shape 10"/>
          <p:cNvSpPr/>
          <p:nvPr/>
        </p:nvSpPr>
        <p:spPr>
          <a:xfrm>
            <a:off x="3163824" y="804672"/>
            <a:ext cx="594360" cy="594360"/>
          </a:xfrm>
          <a:prstGeom prst="ellipse">
            <a:avLst/>
          </a:prstGeom>
          <a:solidFill>
            <a:srgbClr val="43A047"/>
          </a:solidFill>
          <a:ln w="12700">
            <a:solidFill>
              <a:srgbClr val="43A047"/>
            </a:solidFill>
            <a:prstDash val="solid"/>
          </a:ln>
        </p:spPr>
      </p:sp>
      <p:sp>
        <p:nvSpPr>
          <p:cNvPr id="13" name="Text 11"/>
          <p:cNvSpPr/>
          <p:nvPr/>
        </p:nvSpPr>
        <p:spPr>
          <a:xfrm>
            <a:off x="3163824" y="804672"/>
            <a:ext cx="594360" cy="59436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2542032" y="1463040"/>
            <a:ext cx="1874520" cy="365760"/>
          </a:xfrm>
          <a:prstGeom prst="rect">
            <a:avLst/>
          </a:prstGeom>
          <a:noFill/>
          <a:ln/>
        </p:spPr>
        <p:txBody>
          <a:bodyPr wrap="square" rtlCol="0" anchor="ctr"/>
          <a:lstStyle/>
          <a:p>
            <a:pPr marL="0" indent="0" algn="ctr">
              <a:buNone/>
            </a:pPr>
            <a:r>
              <a:rPr lang="en-US" sz="1200" b="1" dirty="0">
                <a:solidFill>
                  <a:srgbClr val="43A047"/>
                </a:solidFill>
                <a:latin typeface="Calibri" pitchFamily="34" charset="0"/>
                <a:ea typeface="Calibri" pitchFamily="34" charset="-122"/>
                <a:cs typeface="Calibri" pitchFamily="34" charset="-120"/>
              </a:rPr>
              <a:t>Build the Image</a:t>
            </a:r>
            <a:endParaRPr lang="en-US" sz="1200" dirty="0"/>
          </a:p>
        </p:txBody>
      </p:sp>
      <p:sp>
        <p:nvSpPr>
          <p:cNvPr id="15" name="Shape 13"/>
          <p:cNvSpPr/>
          <p:nvPr/>
        </p:nvSpPr>
        <p:spPr>
          <a:xfrm>
            <a:off x="2542032" y="1901952"/>
            <a:ext cx="1874520" cy="1097280"/>
          </a:xfrm>
          <a:prstGeom prst="rect">
            <a:avLst/>
          </a:prstGeom>
          <a:solidFill>
            <a:srgbClr val="091428"/>
          </a:solidFill>
          <a:ln w="12700">
            <a:solidFill>
              <a:srgbClr val="43A047"/>
            </a:solidFill>
            <a:prstDash val="solid"/>
          </a:ln>
        </p:spPr>
      </p:sp>
      <p:sp>
        <p:nvSpPr>
          <p:cNvPr id="16" name="Text 14"/>
          <p:cNvSpPr/>
          <p:nvPr/>
        </p:nvSpPr>
        <p:spPr>
          <a:xfrm>
            <a:off x="2587752" y="1938528"/>
            <a:ext cx="1783080" cy="1024128"/>
          </a:xfrm>
          <a:prstGeom prst="rect">
            <a:avLst/>
          </a:prstGeom>
          <a:noFill/>
          <a:ln/>
        </p:spPr>
        <p:txBody>
          <a:bodyPr wrap="square" rtlCol="0" anchor="ctr"/>
          <a:lstStyle/>
          <a:p>
            <a:pPr marL="0" indent="0">
              <a:buNone/>
            </a:pPr>
            <a:r>
              <a:rPr lang="en-US" sz="900" b="1" dirty="0">
                <a:solidFill>
                  <a:schemeClr val="accent2"/>
                </a:solidFill>
                <a:latin typeface="Consolas" pitchFamily="34" charset="0"/>
                <a:ea typeface="Consolas" pitchFamily="34" charset="-122"/>
                <a:cs typeface="Consolas" pitchFamily="34" charset="-120"/>
              </a:rPr>
              <a:t>docker build -t myapp .</a:t>
            </a:r>
            <a:endParaRPr lang="en-US" sz="900" b="1" dirty="0">
              <a:solidFill>
                <a:schemeClr val="accent2"/>
              </a:solidFill>
            </a:endParaRPr>
          </a:p>
          <a:p>
            <a:pPr marL="0" indent="0">
              <a:buNone/>
            </a:pPr>
            <a:endParaRPr lang="en-US" sz="900" dirty="0"/>
          </a:p>
          <a:p>
            <a:pPr marL="0" indent="0">
              <a:buNone/>
            </a:pPr>
            <a:r>
              <a:rPr lang="en-US" sz="900" dirty="0">
                <a:solidFill>
                  <a:srgbClr val="00FF88"/>
                </a:solidFill>
                <a:latin typeface="Consolas" pitchFamily="34" charset="0"/>
                <a:ea typeface="Consolas" pitchFamily="34" charset="-122"/>
                <a:cs typeface="Consolas" pitchFamily="34" charset="-120"/>
              </a:rPr>
              <a:t>Building 5/5 layers...</a:t>
            </a:r>
            <a:endParaRPr lang="en-US" sz="900" dirty="0"/>
          </a:p>
          <a:p>
            <a:pPr marL="0" indent="0">
              <a:buNone/>
            </a:pPr>
            <a:r>
              <a:rPr lang="en-US" sz="900" dirty="0">
                <a:solidFill>
                  <a:srgbClr val="00FF88"/>
                </a:solidFill>
                <a:latin typeface="Consolas" pitchFamily="34" charset="0"/>
                <a:ea typeface="Consolas" pitchFamily="34" charset="-122"/>
                <a:cs typeface="Consolas" pitchFamily="34" charset="-120"/>
              </a:rPr>
              <a:t>Successfully built abc123</a:t>
            </a:r>
            <a:endParaRPr lang="en-US" sz="900" dirty="0"/>
          </a:p>
        </p:txBody>
      </p:sp>
      <p:sp>
        <p:nvSpPr>
          <p:cNvPr id="17" name="Text 15"/>
          <p:cNvSpPr/>
          <p:nvPr/>
        </p:nvSpPr>
        <p:spPr>
          <a:xfrm>
            <a:off x="2542032" y="3063240"/>
            <a:ext cx="1874520" cy="1645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Run the build command and Docker reads your Dockerfile and creates an Image — a frozen, ready-to-use snapshot of your app with all its files and settings packed inside.</a:t>
            </a:r>
            <a:endParaRPr lang="en-US" sz="1000" dirty="0"/>
          </a:p>
        </p:txBody>
      </p:sp>
      <p:sp>
        <p:nvSpPr>
          <p:cNvPr id="18" name="Shape 16"/>
          <p:cNvSpPr/>
          <p:nvPr/>
        </p:nvSpPr>
        <p:spPr>
          <a:xfrm>
            <a:off x="4626864" y="749808"/>
            <a:ext cx="2029968" cy="4023360"/>
          </a:xfrm>
          <a:prstGeom prst="rect">
            <a:avLst/>
          </a:prstGeom>
          <a:solidFill>
            <a:srgbClr val="0D1F3C"/>
          </a:solidFill>
          <a:ln w="12700">
            <a:solidFill>
              <a:srgbClr val="FFB300"/>
            </a:solidFill>
            <a:prstDash val="solid"/>
          </a:ln>
        </p:spPr>
      </p:sp>
      <p:sp>
        <p:nvSpPr>
          <p:cNvPr id="19" name="Shape 17"/>
          <p:cNvSpPr/>
          <p:nvPr/>
        </p:nvSpPr>
        <p:spPr>
          <a:xfrm>
            <a:off x="5340096" y="804672"/>
            <a:ext cx="594360" cy="594360"/>
          </a:xfrm>
          <a:prstGeom prst="ellipse">
            <a:avLst/>
          </a:prstGeom>
          <a:solidFill>
            <a:srgbClr val="FFB300"/>
          </a:solidFill>
          <a:ln w="12700">
            <a:solidFill>
              <a:srgbClr val="FFB300"/>
            </a:solidFill>
            <a:prstDash val="solid"/>
          </a:ln>
        </p:spPr>
      </p:sp>
      <p:sp>
        <p:nvSpPr>
          <p:cNvPr id="20" name="Text 18"/>
          <p:cNvSpPr/>
          <p:nvPr/>
        </p:nvSpPr>
        <p:spPr>
          <a:xfrm>
            <a:off x="5340096" y="804672"/>
            <a:ext cx="594360" cy="59436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1" name="Text 19"/>
          <p:cNvSpPr/>
          <p:nvPr/>
        </p:nvSpPr>
        <p:spPr>
          <a:xfrm>
            <a:off x="4718304" y="1463040"/>
            <a:ext cx="1874520" cy="365760"/>
          </a:xfrm>
          <a:prstGeom prst="rect">
            <a:avLst/>
          </a:prstGeom>
          <a:noFill/>
          <a:ln/>
        </p:spPr>
        <p:txBody>
          <a:bodyPr wrap="square" rtlCol="0" anchor="ctr"/>
          <a:lstStyle/>
          <a:p>
            <a:pPr marL="0" indent="0" algn="ctr">
              <a:buNone/>
            </a:pPr>
            <a:r>
              <a:rPr lang="en-US" sz="1200" b="1" dirty="0">
                <a:solidFill>
                  <a:srgbClr val="FFB300"/>
                </a:solidFill>
                <a:latin typeface="Calibri" pitchFamily="34" charset="0"/>
                <a:ea typeface="Calibri" pitchFamily="34" charset="-122"/>
                <a:cs typeface="Calibri" pitchFamily="34" charset="-120"/>
              </a:rPr>
              <a:t>Run a Container</a:t>
            </a:r>
            <a:endParaRPr lang="en-US" sz="1200" dirty="0"/>
          </a:p>
        </p:txBody>
      </p:sp>
      <p:sp>
        <p:nvSpPr>
          <p:cNvPr id="22" name="Shape 20"/>
          <p:cNvSpPr/>
          <p:nvPr/>
        </p:nvSpPr>
        <p:spPr>
          <a:xfrm>
            <a:off x="4718304" y="1901952"/>
            <a:ext cx="1874520" cy="1097280"/>
          </a:xfrm>
          <a:prstGeom prst="rect">
            <a:avLst/>
          </a:prstGeom>
          <a:solidFill>
            <a:srgbClr val="091428"/>
          </a:solidFill>
          <a:ln w="12700">
            <a:solidFill>
              <a:srgbClr val="FFB300"/>
            </a:solidFill>
            <a:prstDash val="solid"/>
          </a:ln>
        </p:spPr>
      </p:sp>
      <p:sp>
        <p:nvSpPr>
          <p:cNvPr id="23" name="Text 21"/>
          <p:cNvSpPr/>
          <p:nvPr/>
        </p:nvSpPr>
        <p:spPr>
          <a:xfrm>
            <a:off x="4764024" y="1938528"/>
            <a:ext cx="1783080" cy="1024128"/>
          </a:xfrm>
          <a:prstGeom prst="rect">
            <a:avLst/>
          </a:prstGeom>
          <a:noFill/>
          <a:ln/>
        </p:spPr>
        <p:txBody>
          <a:bodyPr wrap="square" rtlCol="0" anchor="ctr"/>
          <a:lstStyle/>
          <a:p>
            <a:pPr marL="0" indent="0">
              <a:buNone/>
            </a:pPr>
            <a:r>
              <a:rPr lang="en-US" sz="900" dirty="0">
                <a:solidFill>
                  <a:schemeClr val="accent2"/>
                </a:solidFill>
                <a:latin typeface="Consolas" pitchFamily="34" charset="0"/>
                <a:ea typeface="Consolas" pitchFamily="34" charset="-122"/>
                <a:cs typeface="Consolas" pitchFamily="34" charset="-120"/>
              </a:rPr>
              <a:t>docker run -p 3000:3000 myapp</a:t>
            </a:r>
            <a:endParaRPr lang="en-US" sz="900" dirty="0">
              <a:solidFill>
                <a:schemeClr val="accent2"/>
              </a:solidFill>
            </a:endParaRPr>
          </a:p>
          <a:p>
            <a:pPr marL="0" indent="0">
              <a:buNone/>
            </a:pPr>
            <a:endParaRPr lang="en-US" sz="900" dirty="0"/>
          </a:p>
          <a:p>
            <a:pPr marL="0" indent="0">
              <a:buNone/>
            </a:pPr>
            <a:r>
              <a:rPr lang="en-US" sz="900" dirty="0">
                <a:solidFill>
                  <a:srgbClr val="00FF88"/>
                </a:solidFill>
                <a:latin typeface="Consolas" pitchFamily="34" charset="0"/>
                <a:ea typeface="Consolas" pitchFamily="34" charset="-122"/>
                <a:cs typeface="Consolas" pitchFamily="34" charset="-120"/>
              </a:rPr>
              <a:t>🚀 Server running on port 3000</a:t>
            </a:r>
            <a:endParaRPr lang="en-US" sz="900" dirty="0"/>
          </a:p>
        </p:txBody>
      </p:sp>
      <p:sp>
        <p:nvSpPr>
          <p:cNvPr id="24" name="Text 22"/>
          <p:cNvSpPr/>
          <p:nvPr/>
        </p:nvSpPr>
        <p:spPr>
          <a:xfrm>
            <a:off x="4718304" y="3063240"/>
            <a:ext cx="1874520" cy="1645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Docker creates a live Container from your Image and starts it. Your app is now running! The -p flag connects the container's port to your computer's port.</a:t>
            </a:r>
            <a:endParaRPr lang="en-US" sz="1000" dirty="0"/>
          </a:p>
        </p:txBody>
      </p:sp>
      <p:sp>
        <p:nvSpPr>
          <p:cNvPr id="25" name="Shape 23"/>
          <p:cNvSpPr/>
          <p:nvPr/>
        </p:nvSpPr>
        <p:spPr>
          <a:xfrm>
            <a:off x="6803136" y="749808"/>
            <a:ext cx="2029968" cy="4023360"/>
          </a:xfrm>
          <a:prstGeom prst="rect">
            <a:avLst/>
          </a:prstGeom>
          <a:solidFill>
            <a:srgbClr val="0D1F3C"/>
          </a:solidFill>
          <a:ln w="12700">
            <a:solidFill>
              <a:srgbClr val="F4511E"/>
            </a:solidFill>
            <a:prstDash val="solid"/>
          </a:ln>
        </p:spPr>
      </p:sp>
      <p:sp>
        <p:nvSpPr>
          <p:cNvPr id="26" name="Shape 24"/>
          <p:cNvSpPr/>
          <p:nvPr/>
        </p:nvSpPr>
        <p:spPr>
          <a:xfrm>
            <a:off x="7516368" y="804672"/>
            <a:ext cx="594360" cy="594360"/>
          </a:xfrm>
          <a:prstGeom prst="ellipse">
            <a:avLst/>
          </a:prstGeom>
          <a:solidFill>
            <a:srgbClr val="F4511E"/>
          </a:solidFill>
          <a:ln w="12700">
            <a:solidFill>
              <a:srgbClr val="F4511E"/>
            </a:solidFill>
            <a:prstDash val="solid"/>
          </a:ln>
        </p:spPr>
      </p:sp>
      <p:sp>
        <p:nvSpPr>
          <p:cNvPr id="27" name="Text 25"/>
          <p:cNvSpPr/>
          <p:nvPr/>
        </p:nvSpPr>
        <p:spPr>
          <a:xfrm>
            <a:off x="7516368" y="804672"/>
            <a:ext cx="594360" cy="59436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8" name="Text 26"/>
          <p:cNvSpPr/>
          <p:nvPr/>
        </p:nvSpPr>
        <p:spPr>
          <a:xfrm>
            <a:off x="6894576" y="1463040"/>
            <a:ext cx="1874520" cy="365760"/>
          </a:xfrm>
          <a:prstGeom prst="rect">
            <a:avLst/>
          </a:prstGeom>
          <a:noFill/>
          <a:ln/>
        </p:spPr>
        <p:txBody>
          <a:bodyPr wrap="square" rtlCol="0" anchor="ctr"/>
          <a:lstStyle/>
          <a:p>
            <a:pPr marL="0" indent="0" algn="ctr">
              <a:buNone/>
            </a:pPr>
            <a:r>
              <a:rPr lang="en-US" sz="1200" b="1" dirty="0">
                <a:solidFill>
                  <a:srgbClr val="F4511E"/>
                </a:solidFill>
                <a:latin typeface="Calibri" pitchFamily="34" charset="0"/>
                <a:ea typeface="Calibri" pitchFamily="34" charset="-122"/>
                <a:cs typeface="Calibri" pitchFamily="34" charset="-120"/>
              </a:rPr>
              <a:t>Share on Docker Hub</a:t>
            </a:r>
            <a:endParaRPr lang="en-US" sz="1200" dirty="0"/>
          </a:p>
        </p:txBody>
      </p:sp>
      <p:sp>
        <p:nvSpPr>
          <p:cNvPr id="29" name="Shape 27"/>
          <p:cNvSpPr/>
          <p:nvPr/>
        </p:nvSpPr>
        <p:spPr>
          <a:xfrm>
            <a:off x="6894576" y="1901952"/>
            <a:ext cx="1874520" cy="1097280"/>
          </a:xfrm>
          <a:prstGeom prst="rect">
            <a:avLst/>
          </a:prstGeom>
          <a:solidFill>
            <a:srgbClr val="091428"/>
          </a:solidFill>
          <a:ln w="12700">
            <a:solidFill>
              <a:srgbClr val="F4511E"/>
            </a:solidFill>
            <a:prstDash val="solid"/>
          </a:ln>
        </p:spPr>
      </p:sp>
      <p:sp>
        <p:nvSpPr>
          <p:cNvPr id="30" name="Text 28"/>
          <p:cNvSpPr/>
          <p:nvPr/>
        </p:nvSpPr>
        <p:spPr>
          <a:xfrm>
            <a:off x="6940296" y="1938528"/>
            <a:ext cx="1783080" cy="1024128"/>
          </a:xfrm>
          <a:prstGeom prst="rect">
            <a:avLst/>
          </a:prstGeom>
          <a:noFill/>
          <a:ln/>
        </p:spPr>
        <p:txBody>
          <a:bodyPr wrap="square" rtlCol="0" anchor="ctr"/>
          <a:lstStyle/>
          <a:p>
            <a:pPr marL="0" indent="0">
              <a:buNone/>
            </a:pPr>
            <a:r>
              <a:rPr lang="en-US" sz="900" dirty="0">
                <a:solidFill>
                  <a:schemeClr val="accent2"/>
                </a:solidFill>
                <a:latin typeface="Consolas" pitchFamily="34" charset="0"/>
                <a:ea typeface="Consolas" pitchFamily="34" charset="-122"/>
                <a:cs typeface="Consolas" pitchFamily="34" charset="-120"/>
              </a:rPr>
              <a:t>docker push </a:t>
            </a:r>
            <a:r>
              <a:rPr lang="en-US" sz="900" dirty="0" err="1">
                <a:solidFill>
                  <a:schemeClr val="accent2"/>
                </a:solidFill>
                <a:latin typeface="Consolas" pitchFamily="34" charset="0"/>
                <a:ea typeface="Consolas" pitchFamily="34" charset="-122"/>
                <a:cs typeface="Consolas" pitchFamily="34" charset="-120"/>
              </a:rPr>
              <a:t>myusername</a:t>
            </a:r>
            <a:r>
              <a:rPr lang="en-US" sz="900" dirty="0">
                <a:solidFill>
                  <a:schemeClr val="accent2"/>
                </a:solidFill>
                <a:latin typeface="Consolas" pitchFamily="34" charset="0"/>
                <a:ea typeface="Consolas" pitchFamily="34" charset="-122"/>
                <a:cs typeface="Consolas" pitchFamily="34" charset="-120"/>
              </a:rPr>
              <a:t>/myapp</a:t>
            </a:r>
            <a:endParaRPr lang="en-US" sz="900" dirty="0">
              <a:solidFill>
                <a:schemeClr val="accent2"/>
              </a:solidFill>
            </a:endParaRPr>
          </a:p>
          <a:p>
            <a:pPr marL="0" indent="0">
              <a:buNone/>
            </a:pPr>
            <a:endParaRPr lang="en-US" sz="900" dirty="0"/>
          </a:p>
          <a:p>
            <a:pPr marL="0" indent="0">
              <a:buNone/>
            </a:pPr>
            <a:r>
              <a:rPr lang="en-US" sz="900" dirty="0">
                <a:solidFill>
                  <a:srgbClr val="00FF88"/>
                </a:solidFill>
                <a:latin typeface="Consolas" pitchFamily="34" charset="0"/>
                <a:ea typeface="Consolas" pitchFamily="34" charset="-122"/>
                <a:cs typeface="Consolas" pitchFamily="34" charset="-120"/>
              </a:rPr>
              <a:t>Pushing image to Docker Hub...</a:t>
            </a:r>
            <a:endParaRPr lang="en-US" sz="900" dirty="0"/>
          </a:p>
          <a:p>
            <a:pPr marL="0" indent="0">
              <a:buNone/>
            </a:pPr>
            <a:r>
              <a:rPr lang="en-US" sz="900" dirty="0">
                <a:solidFill>
                  <a:srgbClr val="00FF88"/>
                </a:solidFill>
                <a:latin typeface="Consolas" pitchFamily="34" charset="0"/>
                <a:ea typeface="Consolas" pitchFamily="34" charset="-122"/>
                <a:cs typeface="Consolas" pitchFamily="34" charset="-120"/>
              </a:rPr>
              <a:t>✅ Done! Public image available</a:t>
            </a:r>
            <a:endParaRPr lang="en-US" sz="900" dirty="0"/>
          </a:p>
        </p:txBody>
      </p:sp>
      <p:sp>
        <p:nvSpPr>
          <p:cNvPr id="31" name="Text 29"/>
          <p:cNvSpPr/>
          <p:nvPr/>
        </p:nvSpPr>
        <p:spPr>
          <a:xfrm>
            <a:off x="6894576" y="3063240"/>
            <a:ext cx="1874520" cy="164592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Push your image to Docker Hub (a free registry). Now anyone in the world can download your image with one command and run your app in seconds!</a:t>
            </a:r>
            <a:endParaRPr lang="en-US" sz="1000" dirty="0"/>
          </a:p>
        </p:txBody>
      </p:sp>
      <p:sp>
        <p:nvSpPr>
          <p:cNvPr id="32" name="Text 30"/>
          <p:cNvSpPr/>
          <p:nvPr/>
        </p:nvSpPr>
        <p:spPr>
          <a:xfrm>
            <a:off x="2240280" y="2331720"/>
            <a:ext cx="228600" cy="320040"/>
          </a:xfrm>
          <a:prstGeom prst="rect">
            <a:avLst/>
          </a:prstGeom>
          <a:noFill/>
          <a:ln/>
        </p:spPr>
        <p:txBody>
          <a:bodyPr wrap="square" rtlCol="0" anchor="ctr"/>
          <a:lstStyle/>
          <a:p>
            <a:pPr marL="0" indent="0" algn="ctr">
              <a:buNone/>
            </a:pPr>
            <a:r>
              <a:rPr lang="en-US" sz="1800" b="1" dirty="0">
                <a:solidFill>
                  <a:srgbClr val="29B6F6"/>
                </a:solidFill>
                <a:latin typeface="Calibri" pitchFamily="34" charset="0"/>
                <a:ea typeface="Calibri" pitchFamily="34" charset="-122"/>
                <a:cs typeface="Calibri" pitchFamily="34" charset="-120"/>
              </a:rPr>
              <a:t>→</a:t>
            </a:r>
            <a:endParaRPr lang="en-US" sz="1800" dirty="0"/>
          </a:p>
        </p:txBody>
      </p:sp>
      <p:sp>
        <p:nvSpPr>
          <p:cNvPr id="33" name="Text 31"/>
          <p:cNvSpPr/>
          <p:nvPr/>
        </p:nvSpPr>
        <p:spPr>
          <a:xfrm>
            <a:off x="4416552" y="2331720"/>
            <a:ext cx="228600" cy="320040"/>
          </a:xfrm>
          <a:prstGeom prst="rect">
            <a:avLst/>
          </a:prstGeom>
          <a:noFill/>
          <a:ln/>
        </p:spPr>
        <p:txBody>
          <a:bodyPr wrap="square" rtlCol="0" anchor="ctr"/>
          <a:lstStyle/>
          <a:p>
            <a:pPr marL="0" indent="0" algn="ctr">
              <a:buNone/>
            </a:pPr>
            <a:r>
              <a:rPr lang="en-US" sz="1800" b="1" dirty="0">
                <a:solidFill>
                  <a:srgbClr val="29B6F6"/>
                </a:solidFill>
                <a:latin typeface="Calibri" pitchFamily="34" charset="0"/>
                <a:ea typeface="Calibri" pitchFamily="34" charset="-122"/>
                <a:cs typeface="Calibri" pitchFamily="34" charset="-120"/>
              </a:rPr>
              <a:t>→</a:t>
            </a:r>
            <a:endParaRPr lang="en-US" sz="1800" dirty="0"/>
          </a:p>
        </p:txBody>
      </p:sp>
      <p:sp>
        <p:nvSpPr>
          <p:cNvPr id="34" name="Text 32"/>
          <p:cNvSpPr/>
          <p:nvPr/>
        </p:nvSpPr>
        <p:spPr>
          <a:xfrm>
            <a:off x="6592824" y="2331720"/>
            <a:ext cx="228600" cy="320040"/>
          </a:xfrm>
          <a:prstGeom prst="rect">
            <a:avLst/>
          </a:prstGeom>
          <a:noFill/>
          <a:ln/>
        </p:spPr>
        <p:txBody>
          <a:bodyPr wrap="square" rtlCol="0" anchor="ctr"/>
          <a:lstStyle/>
          <a:p>
            <a:pPr marL="0" indent="0" algn="ctr">
              <a:buNone/>
            </a:pPr>
            <a:r>
              <a:rPr lang="en-US" sz="1800" b="1" dirty="0">
                <a:solidFill>
                  <a:srgbClr val="29B6F6"/>
                </a:solidFill>
                <a:latin typeface="Calibri" pitchFamily="34" charset="0"/>
                <a:ea typeface="Calibri" pitchFamily="34" charset="-122"/>
                <a:cs typeface="Calibri" pitchFamily="34" charset="-120"/>
              </a:rPr>
              <a:t>→</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a:extLst>
            <a:ext uri="{FF2B5EF4-FFF2-40B4-BE49-F238E27FC236}">
              <a16:creationId xmlns:a16="http://schemas.microsoft.com/office/drawing/2014/main" id="{A6DD9682-EA05-F6CB-355C-BA9835B3CCC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755F3E2-8EFB-7645-39C1-1C8CF04DED43}"/>
              </a:ext>
            </a:extLst>
          </p:cNvPr>
          <p:cNvSpPr/>
          <p:nvPr/>
        </p:nvSpPr>
        <p:spPr>
          <a:xfrm>
            <a:off x="0" y="0"/>
            <a:ext cx="9144000" cy="640080"/>
          </a:xfrm>
          <a:prstGeom prst="rect">
            <a:avLst/>
          </a:prstGeom>
          <a:solidFill>
            <a:srgbClr val="0DB7ED"/>
          </a:solidFill>
          <a:ln w="12700">
            <a:solidFill>
              <a:srgbClr val="0DB7ED"/>
            </a:solidFill>
            <a:prstDash val="solid"/>
          </a:ln>
        </p:spPr>
      </p:sp>
      <p:sp>
        <p:nvSpPr>
          <p:cNvPr id="3" name="Text 1">
            <a:extLst>
              <a:ext uri="{FF2B5EF4-FFF2-40B4-BE49-F238E27FC236}">
                <a16:creationId xmlns:a16="http://schemas.microsoft.com/office/drawing/2014/main" id="{09C8ABF2-4243-02DF-837E-6DEAD25BB39A}"/>
              </a:ext>
            </a:extLst>
          </p:cNvPr>
          <p:cNvSpPr/>
          <p:nvPr/>
        </p:nvSpPr>
        <p:spPr>
          <a:xfrm>
            <a:off x="365760" y="0"/>
            <a:ext cx="8412480" cy="640080"/>
          </a:xfrm>
          <a:prstGeom prst="rect">
            <a:avLst/>
          </a:prstGeom>
          <a:noFill/>
          <a:ln/>
        </p:spPr>
        <p:txBody>
          <a:bodyPr wrap="square" rtlCol="0" anchor="ctr"/>
          <a:lstStyle/>
          <a:p>
            <a:r>
              <a:rPr lang="en-US" sz="2200" b="1" dirty="0">
                <a:solidFill>
                  <a:srgbClr val="FFFFFF"/>
                </a:solidFill>
                <a:latin typeface="Calibri" pitchFamily="34" charset="0"/>
                <a:ea typeface="Calibri" pitchFamily="34" charset="-122"/>
                <a:cs typeface="Calibri" pitchFamily="34" charset="-120"/>
              </a:rPr>
              <a:t>🐳 Docker </a:t>
            </a:r>
            <a:r>
              <a:rPr lang="en-IN" sz="2200" b="1" dirty="0">
                <a:solidFill>
                  <a:srgbClr val="FFFFFF"/>
                </a:solidFill>
                <a:latin typeface="Calibri" pitchFamily="34" charset="0"/>
                <a:ea typeface="Calibri" pitchFamily="34" charset="-122"/>
                <a:cs typeface="Calibri" pitchFamily="34" charset="-120"/>
              </a:rPr>
              <a:t>Basic Commands</a:t>
            </a: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5" name="Text 3">
            <a:extLst>
              <a:ext uri="{FF2B5EF4-FFF2-40B4-BE49-F238E27FC236}">
                <a16:creationId xmlns:a16="http://schemas.microsoft.com/office/drawing/2014/main" id="{4BB57FDC-6C39-8ACB-4CB3-00EF0D4AF221}"/>
              </a:ext>
            </a:extLst>
          </p:cNvPr>
          <p:cNvSpPr/>
          <p:nvPr/>
        </p:nvSpPr>
        <p:spPr>
          <a:xfrm>
            <a:off x="457200" y="804672"/>
            <a:ext cx="5120640" cy="594360"/>
          </a:xfrm>
          <a:prstGeom prst="rect">
            <a:avLst/>
          </a:prstGeom>
          <a:noFill/>
          <a:ln/>
        </p:spPr>
        <p:txBody>
          <a:bodyPr wrap="square" rtlCol="0" anchor="ctr"/>
          <a:lstStyle/>
          <a:p>
            <a:pPr marL="0" indent="0">
              <a:buNone/>
            </a:pPr>
            <a:endParaRPr lang="en-US" sz="1200" dirty="0"/>
          </a:p>
        </p:txBody>
      </p:sp>
      <p:graphicFrame>
        <p:nvGraphicFramePr>
          <p:cNvPr id="23" name="Table 22">
            <a:extLst>
              <a:ext uri="{FF2B5EF4-FFF2-40B4-BE49-F238E27FC236}">
                <a16:creationId xmlns:a16="http://schemas.microsoft.com/office/drawing/2014/main" id="{5E56662B-9BC3-6CE8-DD33-71EB7AA259E8}"/>
              </a:ext>
            </a:extLst>
          </p:cNvPr>
          <p:cNvGraphicFramePr>
            <a:graphicFrameLocks noGrp="1"/>
          </p:cNvGraphicFramePr>
          <p:nvPr>
            <p:extLst>
              <p:ext uri="{D42A27DB-BD31-4B8C-83A1-F6EECF244321}">
                <p14:modId xmlns:p14="http://schemas.microsoft.com/office/powerpoint/2010/main" val="4175921704"/>
              </p:ext>
            </p:extLst>
          </p:nvPr>
        </p:nvGraphicFramePr>
        <p:xfrm>
          <a:off x="365760" y="804672"/>
          <a:ext cx="8016240" cy="3771392"/>
        </p:xfrm>
        <a:graphic>
          <a:graphicData uri="http://schemas.openxmlformats.org/drawingml/2006/table">
            <a:tbl>
              <a:tblPr firstRow="1" bandRow="1">
                <a:tableStyleId>{5C22544A-7EE6-4342-B048-85BDC9FD1C3A}</a:tableStyleId>
              </a:tblPr>
              <a:tblGrid>
                <a:gridCol w="4008120">
                  <a:extLst>
                    <a:ext uri="{9D8B030D-6E8A-4147-A177-3AD203B41FA5}">
                      <a16:colId xmlns:a16="http://schemas.microsoft.com/office/drawing/2014/main" val="429360505"/>
                    </a:ext>
                  </a:extLst>
                </a:gridCol>
                <a:gridCol w="4008120">
                  <a:extLst>
                    <a:ext uri="{9D8B030D-6E8A-4147-A177-3AD203B41FA5}">
                      <a16:colId xmlns:a16="http://schemas.microsoft.com/office/drawing/2014/main" val="640921409"/>
                    </a:ext>
                  </a:extLst>
                </a:gridCol>
              </a:tblGrid>
              <a:tr h="471424">
                <a:tc>
                  <a:txBody>
                    <a:bodyPr/>
                    <a:lstStyle/>
                    <a:p>
                      <a:r>
                        <a:rPr lang="en-US" dirty="0"/>
                        <a:t>Command</a:t>
                      </a:r>
                      <a:endParaRPr lang="en-IN" dirty="0"/>
                    </a:p>
                  </a:txBody>
                  <a:tcPr/>
                </a:tc>
                <a:tc>
                  <a:txBody>
                    <a:bodyPr/>
                    <a:lstStyle/>
                    <a:p>
                      <a:endParaRPr lang="en-IN" dirty="0"/>
                    </a:p>
                  </a:txBody>
                  <a:tcPr/>
                </a:tc>
                <a:extLst>
                  <a:ext uri="{0D108BD9-81ED-4DB2-BD59-A6C34878D82A}">
                    <a16:rowId xmlns:a16="http://schemas.microsoft.com/office/drawing/2014/main" val="798937771"/>
                  </a:ext>
                </a:extLst>
              </a:tr>
              <a:tr h="471424">
                <a:tc>
                  <a:txBody>
                    <a:bodyPr/>
                    <a:lstStyle/>
                    <a:p>
                      <a:r>
                        <a:rPr lang="en-IN" dirty="0"/>
                        <a:t>docker --version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Shows installed Docker version</a:t>
                      </a:r>
                    </a:p>
                  </a:txBody>
                  <a:tcPr/>
                </a:tc>
                <a:extLst>
                  <a:ext uri="{0D108BD9-81ED-4DB2-BD59-A6C34878D82A}">
                    <a16:rowId xmlns:a16="http://schemas.microsoft.com/office/drawing/2014/main" val="3545806166"/>
                  </a:ext>
                </a:extLst>
              </a:tr>
              <a:tr h="471424">
                <a:tc>
                  <a:txBody>
                    <a:bodyPr/>
                    <a:lstStyle/>
                    <a:p>
                      <a:r>
                        <a:rPr lang="sv-SE" dirty="0"/>
                        <a:t>docker pull node, docker pull mysql</a:t>
                      </a:r>
                      <a:endParaRPr lang="en-IN" dirty="0"/>
                    </a:p>
                  </a:txBody>
                  <a:tcPr/>
                </a:tc>
                <a:tc>
                  <a:txBody>
                    <a:bodyPr/>
                    <a:lstStyle/>
                    <a:p>
                      <a:r>
                        <a:rPr lang="en-IN" dirty="0"/>
                        <a:t>Pull an image from Docker Hub</a:t>
                      </a:r>
                    </a:p>
                  </a:txBody>
                  <a:tcPr/>
                </a:tc>
                <a:extLst>
                  <a:ext uri="{0D108BD9-81ED-4DB2-BD59-A6C34878D82A}">
                    <a16:rowId xmlns:a16="http://schemas.microsoft.com/office/drawing/2014/main" val="2037898542"/>
                  </a:ext>
                </a:extLst>
              </a:tr>
              <a:tr h="471424">
                <a:tc>
                  <a:txBody>
                    <a:bodyPr/>
                    <a:lstStyle/>
                    <a:p>
                      <a:r>
                        <a:rPr lang="en-IN" dirty="0"/>
                        <a:t>docker images</a:t>
                      </a:r>
                    </a:p>
                  </a:txBody>
                  <a:tcPr/>
                </a:tc>
                <a:tc>
                  <a:txBody>
                    <a:bodyPr/>
                    <a:lstStyle/>
                    <a:p>
                      <a:r>
                        <a:rPr lang="en-IN" dirty="0"/>
                        <a:t>View downloaded images</a:t>
                      </a:r>
                    </a:p>
                  </a:txBody>
                  <a:tcPr/>
                </a:tc>
                <a:extLst>
                  <a:ext uri="{0D108BD9-81ED-4DB2-BD59-A6C34878D82A}">
                    <a16:rowId xmlns:a16="http://schemas.microsoft.com/office/drawing/2014/main" val="3281686478"/>
                  </a:ext>
                </a:extLst>
              </a:tr>
              <a:tr h="471424">
                <a:tc>
                  <a:txBody>
                    <a:bodyPr/>
                    <a:lstStyle/>
                    <a:p>
                      <a:r>
                        <a:rPr lang="en-IN" dirty="0"/>
                        <a:t>docker run nginx</a:t>
                      </a:r>
                    </a:p>
                  </a:txBody>
                  <a:tcPr/>
                </a:tc>
                <a:tc>
                  <a:txBody>
                    <a:bodyPr/>
                    <a:lstStyle/>
                    <a:p>
                      <a:r>
                        <a:rPr lang="en-IN" dirty="0"/>
                        <a:t>Run a container</a:t>
                      </a:r>
                    </a:p>
                  </a:txBody>
                  <a:tcPr/>
                </a:tc>
                <a:extLst>
                  <a:ext uri="{0D108BD9-81ED-4DB2-BD59-A6C34878D82A}">
                    <a16:rowId xmlns:a16="http://schemas.microsoft.com/office/drawing/2014/main" val="1633365882"/>
                  </a:ext>
                </a:extLst>
              </a:tr>
              <a:tr h="471424">
                <a:tc>
                  <a:txBody>
                    <a:bodyPr/>
                    <a:lstStyle/>
                    <a:p>
                      <a:r>
                        <a:rPr lang="en-IN" dirty="0"/>
                        <a:t>docker run -d nginx</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dk1"/>
                          </a:solidFill>
                          <a:latin typeface="+mn-lt"/>
                          <a:ea typeface="+mn-ea"/>
                          <a:cs typeface="+mn-cs"/>
                        </a:rPr>
                        <a:t>-d</a:t>
                      </a:r>
                      <a:r>
                        <a:rPr lang="en-IN" b="1" dirty="0"/>
                        <a:t> =</a:t>
                      </a:r>
                      <a:r>
                        <a:rPr lang="en-IN" dirty="0"/>
                        <a:t> detached mode (background) </a:t>
                      </a:r>
                    </a:p>
                  </a:txBody>
                  <a:tcPr/>
                </a:tc>
                <a:extLst>
                  <a:ext uri="{0D108BD9-81ED-4DB2-BD59-A6C34878D82A}">
                    <a16:rowId xmlns:a16="http://schemas.microsoft.com/office/drawing/2014/main" val="2967133778"/>
                  </a:ext>
                </a:extLst>
              </a:tr>
              <a:tr h="471424">
                <a:tc>
                  <a:txBody>
                    <a:bodyPr/>
                    <a:lstStyle/>
                    <a:p>
                      <a:r>
                        <a:rPr lang="en-US" dirty="0"/>
                        <a:t>docker run -d --name </a:t>
                      </a:r>
                      <a:r>
                        <a:rPr lang="en-US" dirty="0" err="1"/>
                        <a:t>mynginx</a:t>
                      </a:r>
                      <a:r>
                        <a:rPr lang="en-US" dirty="0"/>
                        <a:t> nginx</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latin typeface="+mn-lt"/>
                          <a:ea typeface="+mn-ea"/>
                          <a:cs typeface="+mn-cs"/>
                        </a:rPr>
                        <a:t>--name</a:t>
                      </a:r>
                      <a:r>
                        <a:rPr lang="en-US" b="1" dirty="0"/>
                        <a:t> </a:t>
                      </a:r>
                      <a:r>
                        <a:rPr lang="en-US" dirty="0"/>
                        <a:t>gives custom container name </a:t>
                      </a:r>
                    </a:p>
                  </a:txBody>
                  <a:tcPr/>
                </a:tc>
                <a:extLst>
                  <a:ext uri="{0D108BD9-81ED-4DB2-BD59-A6C34878D82A}">
                    <a16:rowId xmlns:a16="http://schemas.microsoft.com/office/drawing/2014/main" val="1870520158"/>
                  </a:ext>
                </a:extLst>
              </a:tr>
              <a:tr h="471424">
                <a:tc>
                  <a:txBody>
                    <a:bodyPr/>
                    <a:lstStyle/>
                    <a:p>
                      <a:r>
                        <a:rPr lang="en-IN" dirty="0"/>
                        <a:t>docker run -d -p 8080:80 nginx</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Connect container port to your machine.</a:t>
                      </a:r>
                    </a:p>
                  </a:txBody>
                  <a:tcPr/>
                </a:tc>
                <a:extLst>
                  <a:ext uri="{0D108BD9-81ED-4DB2-BD59-A6C34878D82A}">
                    <a16:rowId xmlns:a16="http://schemas.microsoft.com/office/drawing/2014/main" val="2643798440"/>
                  </a:ext>
                </a:extLst>
              </a:tr>
            </a:tbl>
          </a:graphicData>
        </a:graphic>
      </p:graphicFrame>
    </p:spTree>
    <p:extLst>
      <p:ext uri="{BB962C8B-B14F-4D97-AF65-F5344CB8AC3E}">
        <p14:creationId xmlns:p14="http://schemas.microsoft.com/office/powerpoint/2010/main" val="1442603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a:extLst>
            <a:ext uri="{FF2B5EF4-FFF2-40B4-BE49-F238E27FC236}">
              <a16:creationId xmlns:a16="http://schemas.microsoft.com/office/drawing/2014/main" id="{707DCF66-392A-CFE6-0440-3BB3A744B14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1290EB8-3E14-DD54-37AF-DD4A4BF09BEC}"/>
              </a:ext>
            </a:extLst>
          </p:cNvPr>
          <p:cNvSpPr/>
          <p:nvPr/>
        </p:nvSpPr>
        <p:spPr>
          <a:xfrm>
            <a:off x="0" y="0"/>
            <a:ext cx="9144000" cy="640080"/>
          </a:xfrm>
          <a:prstGeom prst="rect">
            <a:avLst/>
          </a:prstGeom>
          <a:solidFill>
            <a:srgbClr val="0DB7ED"/>
          </a:solidFill>
          <a:ln w="12700">
            <a:solidFill>
              <a:srgbClr val="0DB7ED"/>
            </a:solidFill>
            <a:prstDash val="solid"/>
          </a:ln>
        </p:spPr>
      </p:sp>
      <p:sp>
        <p:nvSpPr>
          <p:cNvPr id="3" name="Text 1">
            <a:extLst>
              <a:ext uri="{FF2B5EF4-FFF2-40B4-BE49-F238E27FC236}">
                <a16:creationId xmlns:a16="http://schemas.microsoft.com/office/drawing/2014/main" id="{CE8B14F1-DE9C-F1B3-1C32-07287D19480D}"/>
              </a:ext>
            </a:extLst>
          </p:cNvPr>
          <p:cNvSpPr/>
          <p:nvPr/>
        </p:nvSpPr>
        <p:spPr>
          <a:xfrm>
            <a:off x="365760" y="0"/>
            <a:ext cx="8412480" cy="640080"/>
          </a:xfrm>
          <a:prstGeom prst="rect">
            <a:avLst/>
          </a:prstGeom>
          <a:noFill/>
          <a:ln/>
        </p:spPr>
        <p:txBody>
          <a:bodyPr wrap="square" rtlCol="0" anchor="ctr"/>
          <a:lstStyle/>
          <a:p>
            <a:r>
              <a:rPr lang="en-US" sz="2200" b="1" dirty="0">
                <a:solidFill>
                  <a:srgbClr val="FFFFFF"/>
                </a:solidFill>
                <a:latin typeface="Calibri" pitchFamily="34" charset="0"/>
                <a:ea typeface="Calibri" pitchFamily="34" charset="-122"/>
                <a:cs typeface="Calibri" pitchFamily="34" charset="-120"/>
              </a:rPr>
              <a:t>🐳 Docker </a:t>
            </a:r>
            <a:r>
              <a:rPr lang="en-IN" sz="2200" b="1" dirty="0">
                <a:solidFill>
                  <a:srgbClr val="FFFFFF"/>
                </a:solidFill>
                <a:latin typeface="Calibri" pitchFamily="34" charset="0"/>
                <a:ea typeface="Calibri" pitchFamily="34" charset="-122"/>
                <a:cs typeface="Calibri" pitchFamily="34" charset="-120"/>
              </a:rPr>
              <a:t>Basic Commands</a:t>
            </a: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5" name="Text 3">
            <a:extLst>
              <a:ext uri="{FF2B5EF4-FFF2-40B4-BE49-F238E27FC236}">
                <a16:creationId xmlns:a16="http://schemas.microsoft.com/office/drawing/2014/main" id="{C2A30E3C-D257-0FD3-CBF3-71C0C21DDD16}"/>
              </a:ext>
            </a:extLst>
          </p:cNvPr>
          <p:cNvSpPr/>
          <p:nvPr/>
        </p:nvSpPr>
        <p:spPr>
          <a:xfrm>
            <a:off x="457200" y="804672"/>
            <a:ext cx="5120640" cy="594360"/>
          </a:xfrm>
          <a:prstGeom prst="rect">
            <a:avLst/>
          </a:prstGeom>
          <a:noFill/>
          <a:ln/>
        </p:spPr>
        <p:txBody>
          <a:bodyPr wrap="square" rtlCol="0" anchor="ctr"/>
          <a:lstStyle/>
          <a:p>
            <a:pPr marL="0" indent="0">
              <a:buNone/>
            </a:pPr>
            <a:endParaRPr lang="en-US" sz="1200" dirty="0"/>
          </a:p>
        </p:txBody>
      </p:sp>
      <p:graphicFrame>
        <p:nvGraphicFramePr>
          <p:cNvPr id="23" name="Table 22">
            <a:extLst>
              <a:ext uri="{FF2B5EF4-FFF2-40B4-BE49-F238E27FC236}">
                <a16:creationId xmlns:a16="http://schemas.microsoft.com/office/drawing/2014/main" id="{2A1189AC-20FB-7415-2A77-CF25F602F10E}"/>
              </a:ext>
            </a:extLst>
          </p:cNvPr>
          <p:cNvGraphicFramePr>
            <a:graphicFrameLocks noGrp="1"/>
          </p:cNvGraphicFramePr>
          <p:nvPr>
            <p:extLst>
              <p:ext uri="{D42A27DB-BD31-4B8C-83A1-F6EECF244321}">
                <p14:modId xmlns:p14="http://schemas.microsoft.com/office/powerpoint/2010/main" val="1464557267"/>
              </p:ext>
            </p:extLst>
          </p:nvPr>
        </p:nvGraphicFramePr>
        <p:xfrm>
          <a:off x="365760" y="804672"/>
          <a:ext cx="8016240" cy="3940048"/>
        </p:xfrm>
        <a:graphic>
          <a:graphicData uri="http://schemas.openxmlformats.org/drawingml/2006/table">
            <a:tbl>
              <a:tblPr firstRow="1" bandRow="1">
                <a:tableStyleId>{5C22544A-7EE6-4342-B048-85BDC9FD1C3A}</a:tableStyleId>
              </a:tblPr>
              <a:tblGrid>
                <a:gridCol w="4008120">
                  <a:extLst>
                    <a:ext uri="{9D8B030D-6E8A-4147-A177-3AD203B41FA5}">
                      <a16:colId xmlns:a16="http://schemas.microsoft.com/office/drawing/2014/main" val="429360505"/>
                    </a:ext>
                  </a:extLst>
                </a:gridCol>
                <a:gridCol w="4008120">
                  <a:extLst>
                    <a:ext uri="{9D8B030D-6E8A-4147-A177-3AD203B41FA5}">
                      <a16:colId xmlns:a16="http://schemas.microsoft.com/office/drawing/2014/main" val="640921409"/>
                    </a:ext>
                  </a:extLst>
                </a:gridCol>
              </a:tblGrid>
              <a:tr h="471424">
                <a:tc>
                  <a:txBody>
                    <a:bodyPr/>
                    <a:lstStyle/>
                    <a:p>
                      <a:r>
                        <a:rPr lang="en-US" dirty="0"/>
                        <a:t>Command</a:t>
                      </a:r>
                      <a:endParaRPr lang="en-IN" dirty="0"/>
                    </a:p>
                  </a:txBody>
                  <a:tcPr/>
                </a:tc>
                <a:tc>
                  <a:txBody>
                    <a:bodyPr/>
                    <a:lstStyle/>
                    <a:p>
                      <a:endParaRPr lang="en-IN" dirty="0"/>
                    </a:p>
                  </a:txBody>
                  <a:tcPr/>
                </a:tc>
                <a:extLst>
                  <a:ext uri="{0D108BD9-81ED-4DB2-BD59-A6C34878D82A}">
                    <a16:rowId xmlns:a16="http://schemas.microsoft.com/office/drawing/2014/main" val="798937771"/>
                  </a:ext>
                </a:extLst>
              </a:tr>
              <a:tr h="471424">
                <a:tc>
                  <a:txBody>
                    <a:bodyPr/>
                    <a:lstStyle/>
                    <a:p>
                      <a:r>
                        <a:rPr lang="en-IN" dirty="0"/>
                        <a:t>docker </a:t>
                      </a:r>
                      <a:r>
                        <a:rPr lang="en-IN" dirty="0" err="1"/>
                        <a:t>ps</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Shows only running containers.</a:t>
                      </a:r>
                    </a:p>
                  </a:txBody>
                  <a:tcPr/>
                </a:tc>
                <a:extLst>
                  <a:ext uri="{0D108BD9-81ED-4DB2-BD59-A6C34878D82A}">
                    <a16:rowId xmlns:a16="http://schemas.microsoft.com/office/drawing/2014/main" val="3545806166"/>
                  </a:ext>
                </a:extLst>
              </a:tr>
              <a:tr h="471424">
                <a:tc>
                  <a:txBody>
                    <a:bodyPr/>
                    <a:lstStyle/>
                    <a:p>
                      <a:r>
                        <a:rPr lang="en-IN" dirty="0"/>
                        <a:t>docker </a:t>
                      </a:r>
                      <a:r>
                        <a:rPr lang="en-IN" dirty="0" err="1"/>
                        <a:t>ps</a:t>
                      </a:r>
                      <a:r>
                        <a:rPr lang="en-IN" dirty="0"/>
                        <a:t> -a</a:t>
                      </a:r>
                    </a:p>
                  </a:txBody>
                  <a:tcPr/>
                </a:tc>
                <a:tc>
                  <a:txBody>
                    <a:bodyPr/>
                    <a:lstStyle/>
                    <a:p>
                      <a:r>
                        <a:rPr lang="en-IN" dirty="0"/>
                        <a:t>See all containers</a:t>
                      </a:r>
                    </a:p>
                  </a:txBody>
                  <a:tcPr/>
                </a:tc>
                <a:extLst>
                  <a:ext uri="{0D108BD9-81ED-4DB2-BD59-A6C34878D82A}">
                    <a16:rowId xmlns:a16="http://schemas.microsoft.com/office/drawing/2014/main" val="2037898542"/>
                  </a:ext>
                </a:extLst>
              </a:tr>
              <a:tr h="471424">
                <a:tc>
                  <a:txBody>
                    <a:bodyPr/>
                    <a:lstStyle/>
                    <a:p>
                      <a:r>
                        <a:rPr lang="en-IN" dirty="0"/>
                        <a:t>docker stop </a:t>
                      </a:r>
                      <a:r>
                        <a:rPr lang="en-IN" dirty="0" err="1"/>
                        <a:t>container_id</a:t>
                      </a:r>
                      <a:r>
                        <a:rPr lang="en-IN" dirty="0"/>
                        <a:t> / docker stop </a:t>
                      </a:r>
                      <a:r>
                        <a:rPr lang="en-IN" dirty="0" err="1"/>
                        <a:t>mynginx</a:t>
                      </a:r>
                      <a:endParaRPr lang="en-IN" dirty="0"/>
                    </a:p>
                  </a:txBody>
                  <a:tcPr/>
                </a:tc>
                <a:tc>
                  <a:txBody>
                    <a:bodyPr/>
                    <a:lstStyle/>
                    <a:p>
                      <a:r>
                        <a:rPr lang="en-IN" dirty="0"/>
                        <a:t>Stop container</a:t>
                      </a:r>
                    </a:p>
                  </a:txBody>
                  <a:tcPr/>
                </a:tc>
                <a:extLst>
                  <a:ext uri="{0D108BD9-81ED-4DB2-BD59-A6C34878D82A}">
                    <a16:rowId xmlns:a16="http://schemas.microsoft.com/office/drawing/2014/main" val="3281686478"/>
                  </a:ext>
                </a:extLst>
              </a:tr>
              <a:tr h="471424">
                <a:tc>
                  <a:txBody>
                    <a:bodyPr/>
                    <a:lstStyle/>
                    <a:p>
                      <a:r>
                        <a:rPr lang="en-IN" dirty="0"/>
                        <a:t>docker start </a:t>
                      </a:r>
                      <a:r>
                        <a:rPr lang="en-IN" dirty="0" err="1"/>
                        <a:t>mynginx</a:t>
                      </a:r>
                      <a:endParaRPr lang="en-IN" dirty="0"/>
                    </a:p>
                  </a:txBody>
                  <a:tcPr/>
                </a:tc>
                <a:tc>
                  <a:txBody>
                    <a:bodyPr/>
                    <a:lstStyle/>
                    <a:p>
                      <a:r>
                        <a:rPr lang="en-IN" dirty="0"/>
                        <a:t>Start stopped container</a:t>
                      </a:r>
                    </a:p>
                  </a:txBody>
                  <a:tcPr/>
                </a:tc>
                <a:extLst>
                  <a:ext uri="{0D108BD9-81ED-4DB2-BD59-A6C34878D82A}">
                    <a16:rowId xmlns:a16="http://schemas.microsoft.com/office/drawing/2014/main" val="1633365882"/>
                  </a:ext>
                </a:extLst>
              </a:tr>
              <a:tr h="471424">
                <a:tc>
                  <a:txBody>
                    <a:bodyPr/>
                    <a:lstStyle/>
                    <a:p>
                      <a:r>
                        <a:rPr lang="en-IN" dirty="0"/>
                        <a:t>docker restart </a:t>
                      </a:r>
                      <a:r>
                        <a:rPr lang="en-IN" dirty="0" err="1"/>
                        <a:t>mynginx</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Restart container</a:t>
                      </a:r>
                    </a:p>
                  </a:txBody>
                  <a:tcPr/>
                </a:tc>
                <a:extLst>
                  <a:ext uri="{0D108BD9-81ED-4DB2-BD59-A6C34878D82A}">
                    <a16:rowId xmlns:a16="http://schemas.microsoft.com/office/drawing/2014/main" val="2967133778"/>
                  </a:ext>
                </a:extLst>
              </a:tr>
              <a:tr h="471424">
                <a:tc>
                  <a:txBody>
                    <a:bodyPr/>
                    <a:lstStyle/>
                    <a:p>
                      <a:r>
                        <a:rPr lang="en-IN" dirty="0"/>
                        <a:t>docker rm </a:t>
                      </a:r>
                      <a:r>
                        <a:rPr lang="en-IN" dirty="0" err="1"/>
                        <a:t>mynginx</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Remove container</a:t>
                      </a:r>
                      <a:endParaRPr lang="en-US" dirty="0"/>
                    </a:p>
                  </a:txBody>
                  <a:tcPr/>
                </a:tc>
                <a:extLst>
                  <a:ext uri="{0D108BD9-81ED-4DB2-BD59-A6C34878D82A}">
                    <a16:rowId xmlns:a16="http://schemas.microsoft.com/office/drawing/2014/main" val="1870520158"/>
                  </a:ext>
                </a:extLst>
              </a:tr>
              <a:tr h="471424">
                <a:tc>
                  <a:txBody>
                    <a:bodyPr/>
                    <a:lstStyle/>
                    <a:p>
                      <a:r>
                        <a:rPr lang="en-IN" dirty="0"/>
                        <a:t>docker </a:t>
                      </a:r>
                      <a:r>
                        <a:rPr lang="en-IN" dirty="0" err="1"/>
                        <a:t>rmi</a:t>
                      </a:r>
                      <a:r>
                        <a:rPr lang="en-IN" dirty="0"/>
                        <a:t> nginx</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t>Remove image</a:t>
                      </a:r>
                    </a:p>
                  </a:txBody>
                  <a:tcPr/>
                </a:tc>
                <a:extLst>
                  <a:ext uri="{0D108BD9-81ED-4DB2-BD59-A6C34878D82A}">
                    <a16:rowId xmlns:a16="http://schemas.microsoft.com/office/drawing/2014/main" val="2643798440"/>
                  </a:ext>
                </a:extLst>
              </a:tr>
            </a:tbl>
          </a:graphicData>
        </a:graphic>
      </p:graphicFrame>
    </p:spTree>
    <p:extLst>
      <p:ext uri="{BB962C8B-B14F-4D97-AF65-F5344CB8AC3E}">
        <p14:creationId xmlns:p14="http://schemas.microsoft.com/office/powerpoint/2010/main" val="21180341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a:extLst>
            <a:ext uri="{FF2B5EF4-FFF2-40B4-BE49-F238E27FC236}">
              <a16:creationId xmlns:a16="http://schemas.microsoft.com/office/drawing/2014/main" id="{6E1AFAD2-C24A-1BF8-454A-04BB0E5AA49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F76DF7A-672C-AF72-2A90-09A08482913A}"/>
              </a:ext>
            </a:extLst>
          </p:cNvPr>
          <p:cNvSpPr/>
          <p:nvPr/>
        </p:nvSpPr>
        <p:spPr>
          <a:xfrm>
            <a:off x="0" y="0"/>
            <a:ext cx="9144000" cy="640080"/>
          </a:xfrm>
          <a:prstGeom prst="rect">
            <a:avLst/>
          </a:prstGeom>
          <a:solidFill>
            <a:srgbClr val="0DB7ED"/>
          </a:solidFill>
          <a:ln w="12700">
            <a:solidFill>
              <a:srgbClr val="0DB7ED"/>
            </a:solidFill>
            <a:prstDash val="solid"/>
          </a:ln>
        </p:spPr>
      </p:sp>
      <p:sp>
        <p:nvSpPr>
          <p:cNvPr id="3" name="Text 1">
            <a:extLst>
              <a:ext uri="{FF2B5EF4-FFF2-40B4-BE49-F238E27FC236}">
                <a16:creationId xmlns:a16="http://schemas.microsoft.com/office/drawing/2014/main" id="{C41143E4-F74F-6EFC-D614-607FD651426F}"/>
              </a:ext>
            </a:extLst>
          </p:cNvPr>
          <p:cNvSpPr/>
          <p:nvPr/>
        </p:nvSpPr>
        <p:spPr>
          <a:xfrm>
            <a:off x="365760" y="0"/>
            <a:ext cx="8412480" cy="640080"/>
          </a:xfrm>
          <a:prstGeom prst="rect">
            <a:avLst/>
          </a:prstGeom>
          <a:noFill/>
          <a:ln/>
        </p:spPr>
        <p:txBody>
          <a:bodyPr wrap="square" rtlCol="0" anchor="ctr"/>
          <a:lstStyle/>
          <a:p>
            <a:r>
              <a:rPr lang="en-US" sz="2200" b="1" dirty="0">
                <a:solidFill>
                  <a:srgbClr val="FFFFFF"/>
                </a:solidFill>
                <a:latin typeface="Calibri" pitchFamily="34" charset="0"/>
                <a:ea typeface="Calibri" pitchFamily="34" charset="-122"/>
                <a:cs typeface="Calibri" pitchFamily="34" charset="-120"/>
              </a:rPr>
              <a:t>🐳 Docker </a:t>
            </a:r>
            <a:r>
              <a:rPr lang="en-IN" sz="2200" b="1" dirty="0">
                <a:solidFill>
                  <a:srgbClr val="FFFFFF"/>
                </a:solidFill>
                <a:latin typeface="Calibri" pitchFamily="34" charset="0"/>
                <a:ea typeface="Calibri" pitchFamily="34" charset="-122"/>
                <a:cs typeface="Calibri" pitchFamily="34" charset="-120"/>
              </a:rPr>
              <a:t>Basic Commands with </a:t>
            </a:r>
            <a:r>
              <a:rPr lang="en-IN" sz="2200" b="1" dirty="0" err="1">
                <a:solidFill>
                  <a:srgbClr val="FFFFFF"/>
                </a:solidFill>
                <a:latin typeface="Calibri" pitchFamily="34" charset="0"/>
                <a:ea typeface="Calibri" pitchFamily="34" charset="-122"/>
                <a:cs typeface="Calibri" pitchFamily="34" charset="-120"/>
              </a:rPr>
              <a:t>Dockerfile</a:t>
            </a: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5" name="Text 3">
            <a:extLst>
              <a:ext uri="{FF2B5EF4-FFF2-40B4-BE49-F238E27FC236}">
                <a16:creationId xmlns:a16="http://schemas.microsoft.com/office/drawing/2014/main" id="{044CAA8F-EF71-1BAE-224D-1BC15D815D2F}"/>
              </a:ext>
            </a:extLst>
          </p:cNvPr>
          <p:cNvSpPr/>
          <p:nvPr/>
        </p:nvSpPr>
        <p:spPr>
          <a:xfrm>
            <a:off x="457200" y="804672"/>
            <a:ext cx="5120640" cy="594360"/>
          </a:xfrm>
          <a:prstGeom prst="rect">
            <a:avLst/>
          </a:prstGeom>
          <a:noFill/>
          <a:ln/>
        </p:spPr>
        <p:txBody>
          <a:bodyPr wrap="square" rtlCol="0" anchor="ctr"/>
          <a:lstStyle/>
          <a:p>
            <a:pPr marL="0" indent="0">
              <a:buNone/>
            </a:pPr>
            <a:endParaRPr lang="en-US" sz="1200" dirty="0"/>
          </a:p>
        </p:txBody>
      </p:sp>
      <p:graphicFrame>
        <p:nvGraphicFramePr>
          <p:cNvPr id="23" name="Table 22">
            <a:extLst>
              <a:ext uri="{FF2B5EF4-FFF2-40B4-BE49-F238E27FC236}">
                <a16:creationId xmlns:a16="http://schemas.microsoft.com/office/drawing/2014/main" id="{19C7BDF8-03C1-EB84-9A2A-61487D84324D}"/>
              </a:ext>
            </a:extLst>
          </p:cNvPr>
          <p:cNvGraphicFramePr>
            <a:graphicFrameLocks noGrp="1"/>
          </p:cNvGraphicFramePr>
          <p:nvPr>
            <p:extLst>
              <p:ext uri="{D42A27DB-BD31-4B8C-83A1-F6EECF244321}">
                <p14:modId xmlns:p14="http://schemas.microsoft.com/office/powerpoint/2010/main" val="3414827352"/>
              </p:ext>
            </p:extLst>
          </p:nvPr>
        </p:nvGraphicFramePr>
        <p:xfrm>
          <a:off x="365760" y="1133094"/>
          <a:ext cx="8016240" cy="2877312"/>
        </p:xfrm>
        <a:graphic>
          <a:graphicData uri="http://schemas.openxmlformats.org/drawingml/2006/table">
            <a:tbl>
              <a:tblPr firstRow="1" bandRow="1">
                <a:tableStyleId>{5C22544A-7EE6-4342-B048-85BDC9FD1C3A}</a:tableStyleId>
              </a:tblPr>
              <a:tblGrid>
                <a:gridCol w="4008120">
                  <a:extLst>
                    <a:ext uri="{9D8B030D-6E8A-4147-A177-3AD203B41FA5}">
                      <a16:colId xmlns:a16="http://schemas.microsoft.com/office/drawing/2014/main" val="429360505"/>
                    </a:ext>
                  </a:extLst>
                </a:gridCol>
                <a:gridCol w="4008120">
                  <a:extLst>
                    <a:ext uri="{9D8B030D-6E8A-4147-A177-3AD203B41FA5}">
                      <a16:colId xmlns:a16="http://schemas.microsoft.com/office/drawing/2014/main" val="640921409"/>
                    </a:ext>
                  </a:extLst>
                </a:gridCol>
              </a:tblGrid>
              <a:tr h="471424">
                <a:tc>
                  <a:txBody>
                    <a:bodyPr/>
                    <a:lstStyle/>
                    <a:p>
                      <a:r>
                        <a:rPr lang="en-US" dirty="0"/>
                        <a:t>Command</a:t>
                      </a:r>
                      <a:endParaRPr lang="en-IN" dirty="0"/>
                    </a:p>
                  </a:txBody>
                  <a:tcPr/>
                </a:tc>
                <a:tc>
                  <a:txBody>
                    <a:bodyPr/>
                    <a:lstStyle/>
                    <a:p>
                      <a:endParaRPr lang="en-IN" dirty="0"/>
                    </a:p>
                  </a:txBody>
                  <a:tcPr/>
                </a:tc>
                <a:extLst>
                  <a:ext uri="{0D108BD9-81ED-4DB2-BD59-A6C34878D82A}">
                    <a16:rowId xmlns:a16="http://schemas.microsoft.com/office/drawing/2014/main" val="798937771"/>
                  </a:ext>
                </a:extLst>
              </a:tr>
              <a:tr h="471424">
                <a:tc>
                  <a:txBody>
                    <a:bodyPr/>
                    <a:lstStyle/>
                    <a:p>
                      <a:r>
                        <a:rPr lang="en-IN" dirty="0"/>
                        <a:t>docker build -t </a:t>
                      </a:r>
                      <a:r>
                        <a:rPr lang="en-IN" dirty="0" err="1"/>
                        <a:t>myapp</a:t>
                      </a:r>
                      <a:r>
                        <a:rPr lang="en-IN" dirty="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Build image from </a:t>
                      </a:r>
                      <a:r>
                        <a:rPr lang="en-IN" dirty="0" err="1"/>
                        <a:t>Dockerfile</a:t>
                      </a:r>
                      <a:endParaRPr lang="en-IN" dirty="0"/>
                    </a:p>
                  </a:txBody>
                  <a:tcPr/>
                </a:tc>
                <a:extLst>
                  <a:ext uri="{0D108BD9-81ED-4DB2-BD59-A6C34878D82A}">
                    <a16:rowId xmlns:a16="http://schemas.microsoft.com/office/drawing/2014/main" val="3545806166"/>
                  </a:ext>
                </a:extLst>
              </a:tr>
              <a:tr h="471424">
                <a:tc>
                  <a:txBody>
                    <a:bodyPr/>
                    <a:lstStyle/>
                    <a:p>
                      <a:r>
                        <a:rPr lang="sv-SE" dirty="0"/>
                        <a:t>docker run -d -p 3000:3000 myapp</a:t>
                      </a:r>
                      <a:endParaRPr lang="en-IN" dirty="0"/>
                    </a:p>
                  </a:txBody>
                  <a:tcPr/>
                </a:tc>
                <a:tc>
                  <a:txBody>
                    <a:bodyPr/>
                    <a:lstStyle/>
                    <a:p>
                      <a:r>
                        <a:rPr lang="en-IN" dirty="0"/>
                        <a:t>Run your built image</a:t>
                      </a:r>
                      <a:br>
                        <a:rPr lang="en-IN" dirty="0"/>
                      </a:br>
                      <a:br>
                        <a:rPr lang="en-IN" dirty="0"/>
                      </a:br>
                      <a:r>
                        <a:rPr lang="en-US" sz="1800" b="1" kern="1200" dirty="0">
                          <a:solidFill>
                            <a:schemeClr val="dk1"/>
                          </a:solidFill>
                          <a:latin typeface="+mn-lt"/>
                          <a:ea typeface="+mn-ea"/>
                          <a:cs typeface="+mn-cs"/>
                        </a:rPr>
                        <a:t>-d</a:t>
                      </a:r>
                      <a:r>
                        <a:rPr lang="en-US" b="1" dirty="0"/>
                        <a:t> means</a:t>
                      </a:r>
                      <a:r>
                        <a:rPr lang="en-US" dirty="0"/>
                        <a:t> run in background </a:t>
                      </a:r>
                      <a:br>
                        <a:rPr lang="en-US" dirty="0"/>
                      </a:br>
                      <a:r>
                        <a:rPr lang="en-US" sz="1800" b="1" kern="1200" dirty="0">
                          <a:solidFill>
                            <a:schemeClr val="dk1"/>
                          </a:solidFill>
                          <a:latin typeface="+mn-lt"/>
                          <a:ea typeface="+mn-ea"/>
                          <a:cs typeface="+mn-cs"/>
                        </a:rPr>
                        <a:t>-p</a:t>
                      </a:r>
                      <a:r>
                        <a:rPr lang="en-US" b="1" dirty="0"/>
                        <a:t> means</a:t>
                      </a:r>
                      <a:r>
                        <a:rPr lang="en-US" dirty="0"/>
                        <a:t> </a:t>
                      </a:r>
                      <a:r>
                        <a:rPr lang="en-US" b="0" dirty="0"/>
                        <a:t>connect your system port to container port</a:t>
                      </a:r>
                      <a:endParaRPr lang="en-IN" b="0" dirty="0"/>
                    </a:p>
                  </a:txBody>
                  <a:tcPr/>
                </a:tc>
                <a:extLst>
                  <a:ext uri="{0D108BD9-81ED-4DB2-BD59-A6C34878D82A}">
                    <a16:rowId xmlns:a16="http://schemas.microsoft.com/office/drawing/2014/main" val="2037898542"/>
                  </a:ext>
                </a:extLst>
              </a:tr>
              <a:tr h="471424">
                <a:tc>
                  <a:txBody>
                    <a:bodyPr/>
                    <a:lstStyle/>
                    <a:p>
                      <a:r>
                        <a:rPr lang="en-US" dirty="0"/>
                        <a:t>docker compose up -d --build</a:t>
                      </a:r>
                      <a:endParaRPr lang="en-IN" dirty="0"/>
                    </a:p>
                  </a:txBody>
                  <a:tcPr/>
                </a:tc>
                <a:tc>
                  <a:txBody>
                    <a:bodyPr/>
                    <a:lstStyle/>
                    <a:p>
                      <a:r>
                        <a:rPr lang="en-US" b="0" dirty="0"/>
                        <a:t>Start everything using one command </a:t>
                      </a:r>
                      <a:endParaRPr lang="en-IN" b="0" dirty="0"/>
                    </a:p>
                  </a:txBody>
                  <a:tcPr/>
                </a:tc>
                <a:extLst>
                  <a:ext uri="{0D108BD9-81ED-4DB2-BD59-A6C34878D82A}">
                    <a16:rowId xmlns:a16="http://schemas.microsoft.com/office/drawing/2014/main" val="2556935895"/>
                  </a:ext>
                </a:extLst>
              </a:tr>
            </a:tbl>
          </a:graphicData>
        </a:graphic>
      </p:graphicFrame>
    </p:spTree>
    <p:extLst>
      <p:ext uri="{BB962C8B-B14F-4D97-AF65-F5344CB8AC3E}">
        <p14:creationId xmlns:p14="http://schemas.microsoft.com/office/powerpoint/2010/main" val="4282535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E3E3C4-5C45-D4A2-04C3-147C6865905B}"/>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7958924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a:extLst>
            <a:ext uri="{FF2B5EF4-FFF2-40B4-BE49-F238E27FC236}">
              <a16:creationId xmlns:a16="http://schemas.microsoft.com/office/drawing/2014/main" id="{5A8D0774-5F57-2AFA-6B1D-2E10569FB4C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FD6749B-EE09-E0F5-2995-70649B2326C0}"/>
              </a:ext>
            </a:extLst>
          </p:cNvPr>
          <p:cNvSpPr/>
          <p:nvPr/>
        </p:nvSpPr>
        <p:spPr>
          <a:xfrm>
            <a:off x="0" y="0"/>
            <a:ext cx="9144000" cy="640080"/>
          </a:xfrm>
          <a:prstGeom prst="rect">
            <a:avLst/>
          </a:prstGeom>
          <a:solidFill>
            <a:srgbClr val="0DB7ED"/>
          </a:solidFill>
          <a:ln w="12700">
            <a:solidFill>
              <a:srgbClr val="0DB7ED"/>
            </a:solidFill>
            <a:prstDash val="solid"/>
          </a:ln>
        </p:spPr>
      </p:sp>
      <p:sp>
        <p:nvSpPr>
          <p:cNvPr id="3" name="Text 1">
            <a:extLst>
              <a:ext uri="{FF2B5EF4-FFF2-40B4-BE49-F238E27FC236}">
                <a16:creationId xmlns:a16="http://schemas.microsoft.com/office/drawing/2014/main" id="{6DEB938B-6D0A-A430-C5D0-B29CE2AD0DE3}"/>
              </a:ext>
            </a:extLst>
          </p:cNvPr>
          <p:cNvSpPr/>
          <p:nvPr/>
        </p:nvSpPr>
        <p:spPr>
          <a:xfrm>
            <a:off x="365760" y="0"/>
            <a:ext cx="8412480" cy="640080"/>
          </a:xfrm>
          <a:prstGeom prst="rect">
            <a:avLst/>
          </a:prstGeom>
          <a:noFill/>
          <a:ln/>
        </p:spPr>
        <p:txBody>
          <a:bodyPr wrap="square" rtlCol="0" anchor="ctr"/>
          <a:lstStyle/>
          <a:p>
            <a:r>
              <a:rPr lang="en-US" sz="2200" b="1" dirty="0">
                <a:solidFill>
                  <a:srgbClr val="FFFFFF"/>
                </a:solidFill>
                <a:latin typeface="Calibri" pitchFamily="34" charset="0"/>
                <a:ea typeface="Calibri" pitchFamily="34" charset="-122"/>
                <a:cs typeface="Calibri" pitchFamily="34" charset="-120"/>
              </a:rPr>
              <a:t>🐳  What is Docker </a:t>
            </a:r>
            <a:r>
              <a:rPr lang="en-IN" sz="2200" b="1" dirty="0">
                <a:solidFill>
                  <a:srgbClr val="FFFFFF"/>
                </a:solidFill>
                <a:latin typeface="Calibri" pitchFamily="34" charset="0"/>
                <a:ea typeface="Calibri" pitchFamily="34" charset="-122"/>
                <a:cs typeface="Calibri" pitchFamily="34" charset="-120"/>
              </a:rPr>
              <a:t>Compose</a:t>
            </a: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5" name="Text 3">
            <a:extLst>
              <a:ext uri="{FF2B5EF4-FFF2-40B4-BE49-F238E27FC236}">
                <a16:creationId xmlns:a16="http://schemas.microsoft.com/office/drawing/2014/main" id="{A76C36B1-8AC9-D3AA-0012-92EF3B03E7FB}"/>
              </a:ext>
            </a:extLst>
          </p:cNvPr>
          <p:cNvSpPr/>
          <p:nvPr/>
        </p:nvSpPr>
        <p:spPr>
          <a:xfrm>
            <a:off x="457200" y="804672"/>
            <a:ext cx="5120640" cy="594360"/>
          </a:xfrm>
          <a:prstGeom prst="rect">
            <a:avLst/>
          </a:prstGeom>
          <a:noFill/>
          <a:ln/>
        </p:spPr>
        <p:txBody>
          <a:bodyPr wrap="square" rtlCol="0" anchor="ctr"/>
          <a:lstStyle/>
          <a:p>
            <a:pPr marL="0" indent="0">
              <a:buNone/>
            </a:pPr>
            <a:endParaRPr lang="en-US" sz="1200" dirty="0"/>
          </a:p>
        </p:txBody>
      </p:sp>
      <p:sp>
        <p:nvSpPr>
          <p:cNvPr id="6" name="Text 4">
            <a:extLst>
              <a:ext uri="{FF2B5EF4-FFF2-40B4-BE49-F238E27FC236}">
                <a16:creationId xmlns:a16="http://schemas.microsoft.com/office/drawing/2014/main" id="{7FDE1F6D-A0E6-9A4C-BD77-116F091007B4}"/>
              </a:ext>
            </a:extLst>
          </p:cNvPr>
          <p:cNvSpPr/>
          <p:nvPr/>
        </p:nvSpPr>
        <p:spPr>
          <a:xfrm>
            <a:off x="356816" y="1263329"/>
            <a:ext cx="4517003" cy="1685279"/>
          </a:xfrm>
          <a:prstGeom prst="rect">
            <a:avLst/>
          </a:prstGeom>
          <a:noFill/>
          <a:ln/>
        </p:spPr>
        <p:txBody>
          <a:bodyPr wrap="square" rtlCol="0" anchor="ctr"/>
          <a:lstStyle/>
          <a:p>
            <a:pPr marL="171450" indent="-171450">
              <a:lnSpc>
                <a:spcPct val="150000"/>
              </a:lnSpc>
              <a:buFont typeface="Courier New" panose="02070309020205020404" pitchFamily="49" charset="0"/>
              <a:buChar char="o"/>
            </a:pPr>
            <a:r>
              <a:rPr lang="en-US" sz="1100" dirty="0">
                <a:solidFill>
                  <a:srgbClr val="37474F"/>
                </a:solidFill>
                <a:latin typeface="Calibri" pitchFamily="34" charset="0"/>
                <a:ea typeface="Calibri" pitchFamily="34" charset="-122"/>
                <a:cs typeface="Calibri" pitchFamily="34" charset="-120"/>
              </a:rPr>
              <a:t>In a typical setup, services like a web server, backend API, database, and cache run in separate containers.</a:t>
            </a:r>
          </a:p>
          <a:p>
            <a:pPr>
              <a:lnSpc>
                <a:spcPct val="150000"/>
              </a:lnSpc>
            </a:pPr>
            <a:endParaRPr lang="en-US" sz="1100" dirty="0">
              <a:solidFill>
                <a:srgbClr val="37474F"/>
              </a:solidFill>
              <a:latin typeface="Calibri" pitchFamily="34" charset="0"/>
              <a:ea typeface="Calibri" pitchFamily="34" charset="-122"/>
              <a:cs typeface="Calibri" pitchFamily="34" charset="-120"/>
            </a:endParaRPr>
          </a:p>
          <a:p>
            <a:pPr marL="171450" indent="-171450">
              <a:lnSpc>
                <a:spcPct val="150000"/>
              </a:lnSpc>
              <a:buFont typeface="Courier New" panose="02070309020205020404" pitchFamily="49" charset="0"/>
              <a:buChar char="o"/>
            </a:pPr>
            <a:r>
              <a:rPr lang="en-IN" sz="1100" dirty="0">
                <a:solidFill>
                  <a:srgbClr val="37474F"/>
                </a:solidFill>
                <a:latin typeface="Calibri" pitchFamily="34" charset="0"/>
                <a:ea typeface="Calibri" pitchFamily="34" charset="-122"/>
                <a:cs typeface="Calibri" pitchFamily="34" charset="-120"/>
              </a:rPr>
              <a:t>Compose</a:t>
            </a:r>
            <a:r>
              <a:rPr lang="en-US" sz="1100" dirty="0">
                <a:solidFill>
                  <a:srgbClr val="37474F"/>
                </a:solidFill>
                <a:latin typeface="Calibri" pitchFamily="34" charset="0"/>
                <a:ea typeface="Calibri" pitchFamily="34" charset="-122"/>
                <a:cs typeface="Calibri" pitchFamily="34" charset="-120"/>
              </a:rPr>
              <a:t> allows you to configure and manage them together as a single application using one </a:t>
            </a:r>
            <a:r>
              <a:rPr lang="en-US" sz="1100" b="1" dirty="0">
                <a:solidFill>
                  <a:srgbClr val="37474F"/>
                </a:solidFill>
                <a:latin typeface="Calibri" pitchFamily="34" charset="0"/>
                <a:ea typeface="Calibri" pitchFamily="34" charset="-122"/>
                <a:cs typeface="Calibri" pitchFamily="34" charset="-120"/>
              </a:rPr>
              <a:t>docker-</a:t>
            </a:r>
            <a:r>
              <a:rPr lang="en-US" sz="1100" b="1" dirty="0" err="1">
                <a:solidFill>
                  <a:srgbClr val="37474F"/>
                </a:solidFill>
                <a:latin typeface="Calibri" pitchFamily="34" charset="0"/>
                <a:ea typeface="Calibri" pitchFamily="34" charset="-122"/>
                <a:cs typeface="Calibri" pitchFamily="34" charset="-120"/>
              </a:rPr>
              <a:t>compose.yml</a:t>
            </a:r>
            <a:r>
              <a:rPr lang="en-US" sz="1100" b="1" dirty="0">
                <a:solidFill>
                  <a:srgbClr val="37474F"/>
                </a:solidFill>
                <a:latin typeface="Calibri" pitchFamily="34" charset="0"/>
                <a:ea typeface="Calibri" pitchFamily="34" charset="-122"/>
                <a:cs typeface="Calibri" pitchFamily="34" charset="-120"/>
              </a:rPr>
              <a:t> </a:t>
            </a:r>
            <a:r>
              <a:rPr lang="en-US" sz="1100" dirty="0">
                <a:solidFill>
                  <a:srgbClr val="37474F"/>
                </a:solidFill>
                <a:latin typeface="Calibri" pitchFamily="34" charset="0"/>
                <a:ea typeface="Calibri" pitchFamily="34" charset="-122"/>
                <a:cs typeface="Calibri" pitchFamily="34" charset="-120"/>
              </a:rPr>
              <a:t>file.</a:t>
            </a:r>
          </a:p>
        </p:txBody>
      </p:sp>
      <p:sp>
        <p:nvSpPr>
          <p:cNvPr id="4" name="Text 4">
            <a:extLst>
              <a:ext uri="{FF2B5EF4-FFF2-40B4-BE49-F238E27FC236}">
                <a16:creationId xmlns:a16="http://schemas.microsoft.com/office/drawing/2014/main" id="{13E3CC34-8568-6BF2-0934-0610A42069C1}"/>
              </a:ext>
            </a:extLst>
          </p:cNvPr>
          <p:cNvSpPr/>
          <p:nvPr/>
        </p:nvSpPr>
        <p:spPr>
          <a:xfrm>
            <a:off x="5126603" y="1079787"/>
            <a:ext cx="3560197" cy="2610812"/>
          </a:xfrm>
          <a:prstGeom prst="rect">
            <a:avLst/>
          </a:prstGeom>
          <a:solidFill>
            <a:schemeClr val="bg1">
              <a:lumMod val="95000"/>
            </a:schemeClr>
          </a:solidFill>
          <a:ln/>
        </p:spPr>
        <p:txBody>
          <a:bodyPr wrap="square" rtlCol="0" anchor="ctr"/>
          <a:lstStyle/>
          <a:p>
            <a:r>
              <a:rPr lang="en-US" sz="1600" b="1" dirty="0">
                <a:solidFill>
                  <a:srgbClr val="37474F"/>
                </a:solidFill>
                <a:ea typeface="Calibri" pitchFamily="34" charset="-122"/>
                <a:cs typeface="Calibri" pitchFamily="34" charset="-120"/>
              </a:rPr>
              <a:t>docker-</a:t>
            </a:r>
            <a:r>
              <a:rPr lang="en-US" sz="1600" b="1" dirty="0" err="1">
                <a:solidFill>
                  <a:srgbClr val="37474F"/>
                </a:solidFill>
                <a:ea typeface="Calibri" pitchFamily="34" charset="-122"/>
                <a:cs typeface="Calibri" pitchFamily="34" charset="-120"/>
              </a:rPr>
              <a:t>compose.yml</a:t>
            </a:r>
            <a:r>
              <a:rPr lang="en-US" sz="1600" b="1" dirty="0">
                <a:solidFill>
                  <a:srgbClr val="37474F"/>
                </a:solidFill>
                <a:ea typeface="Calibri" pitchFamily="34" charset="-122"/>
                <a:cs typeface="Calibri" pitchFamily="34" charset="-120"/>
              </a:rPr>
              <a:t>: </a:t>
            </a:r>
            <a:endParaRPr lang="en-US" sz="1600" b="1" dirty="0"/>
          </a:p>
          <a:p>
            <a:pPr lvl="1"/>
            <a:r>
              <a:rPr lang="en-US" sz="1400" dirty="0"/>
              <a:t>services:</a:t>
            </a:r>
          </a:p>
          <a:p>
            <a:pPr lvl="1"/>
            <a:r>
              <a:rPr lang="en-US" sz="1400" dirty="0"/>
              <a:t>  app:</a:t>
            </a:r>
          </a:p>
          <a:p>
            <a:pPr lvl="1"/>
            <a:r>
              <a:rPr lang="en-US" sz="1400" dirty="0"/>
              <a:t>    build:</a:t>
            </a:r>
          </a:p>
          <a:p>
            <a:pPr lvl="1"/>
            <a:r>
              <a:rPr lang="en-US" sz="1400" dirty="0"/>
              <a:t>      context: .</a:t>
            </a:r>
          </a:p>
          <a:p>
            <a:pPr lvl="1"/>
            <a:r>
              <a:rPr lang="en-US" sz="1400" dirty="0"/>
              <a:t>      </a:t>
            </a:r>
            <a:r>
              <a:rPr lang="en-US" sz="1400" dirty="0" err="1"/>
              <a:t>dockerfile</a:t>
            </a:r>
            <a:r>
              <a:rPr lang="en-US" sz="1400" dirty="0"/>
              <a:t>: </a:t>
            </a:r>
            <a:r>
              <a:rPr lang="en-US" sz="1400" dirty="0" err="1"/>
              <a:t>Dockerfile</a:t>
            </a:r>
            <a:endParaRPr lang="en-US" sz="1400" dirty="0"/>
          </a:p>
          <a:p>
            <a:pPr lvl="1"/>
            <a:r>
              <a:rPr lang="en-US" sz="1400" dirty="0"/>
              <a:t>    restart: unless-stopped</a:t>
            </a:r>
          </a:p>
          <a:p>
            <a:pPr lvl="1"/>
            <a:r>
              <a:rPr lang="en-US" sz="1400" dirty="0"/>
              <a:t>    ports:</a:t>
            </a:r>
          </a:p>
          <a:p>
            <a:pPr lvl="1"/>
            <a:r>
              <a:rPr lang="en-US" sz="1400" dirty="0"/>
              <a:t>      - "8082:5000"</a:t>
            </a:r>
          </a:p>
          <a:p>
            <a:pPr lvl="1"/>
            <a:br>
              <a:rPr lang="en-US" sz="1600" dirty="0"/>
            </a:br>
            <a:endParaRPr lang="en-US" sz="1600" dirty="0"/>
          </a:p>
        </p:txBody>
      </p:sp>
    </p:spTree>
    <p:extLst>
      <p:ext uri="{BB962C8B-B14F-4D97-AF65-F5344CB8AC3E}">
        <p14:creationId xmlns:p14="http://schemas.microsoft.com/office/powerpoint/2010/main" val="38937257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2">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26CE5"/>
          </a:solidFill>
          <a:ln w="12700">
            <a:solidFill>
              <a:srgbClr val="326CE5"/>
            </a:solidFill>
            <a:prstDash val="solid"/>
          </a:ln>
        </p:spPr>
      </p:sp>
      <p:sp>
        <p:nvSpPr>
          <p:cNvPr id="3" name="Text 1"/>
          <p:cNvSpPr/>
          <p:nvPr/>
        </p:nvSpPr>
        <p:spPr>
          <a:xfrm>
            <a:off x="365760" y="0"/>
            <a:ext cx="841248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What is Kubernetes?</a:t>
            </a:r>
            <a:endParaRPr lang="en-US" sz="2200" dirty="0"/>
          </a:p>
        </p:txBody>
      </p:sp>
      <p:sp>
        <p:nvSpPr>
          <p:cNvPr id="4" name="Shape 2"/>
          <p:cNvSpPr/>
          <p:nvPr/>
        </p:nvSpPr>
        <p:spPr>
          <a:xfrm>
            <a:off x="320040" y="749808"/>
            <a:ext cx="8503920" cy="758952"/>
          </a:xfrm>
          <a:prstGeom prst="rect">
            <a:avLst/>
          </a:prstGeom>
          <a:solidFill>
            <a:srgbClr val="E8EAF6"/>
          </a:solidFill>
          <a:ln w="12700">
            <a:solidFill>
              <a:srgbClr val="7986CB"/>
            </a:solidFill>
            <a:prstDash val="solid"/>
          </a:ln>
        </p:spPr>
      </p:sp>
      <p:sp>
        <p:nvSpPr>
          <p:cNvPr id="5" name="Text 3"/>
          <p:cNvSpPr/>
          <p:nvPr/>
        </p:nvSpPr>
        <p:spPr>
          <a:xfrm>
            <a:off x="457200" y="804672"/>
            <a:ext cx="5257800" cy="640080"/>
          </a:xfrm>
          <a:prstGeom prst="rect">
            <a:avLst/>
          </a:prstGeom>
          <a:noFill/>
          <a:ln/>
        </p:spPr>
        <p:txBody>
          <a:bodyPr wrap="square" rtlCol="0" anchor="ctr"/>
          <a:lstStyle/>
          <a:p>
            <a:pPr marL="0" indent="0">
              <a:buNone/>
            </a:pPr>
            <a:r>
              <a:rPr lang="en-US" sz="1200" i="1" dirty="0">
                <a:solidFill>
                  <a:srgbClr val="283593"/>
                </a:solidFill>
                <a:latin typeface="Calibri" pitchFamily="34" charset="0"/>
                <a:ea typeface="Calibri" pitchFamily="34" charset="-122"/>
                <a:cs typeface="Calibri" pitchFamily="34" charset="-120"/>
              </a:rPr>
              <a:t>💡  Analogy: Imagine you run a restaurant chain with 100 branches. Kubernetes is like the central manager who automatically assigns staff, opens new branches when there are more customers, and closes branches when it's quiet — all without you having to do anything manually!</a:t>
            </a:r>
            <a:endParaRPr lang="en-US" sz="1200" dirty="0"/>
          </a:p>
        </p:txBody>
      </p:sp>
      <p:sp>
        <p:nvSpPr>
          <p:cNvPr id="6" name="Text 4"/>
          <p:cNvSpPr/>
          <p:nvPr/>
        </p:nvSpPr>
        <p:spPr>
          <a:xfrm>
            <a:off x="320040" y="1508760"/>
            <a:ext cx="5303520" cy="1143000"/>
          </a:xfrm>
          <a:prstGeom prst="rect">
            <a:avLst/>
          </a:prstGeom>
          <a:noFill/>
          <a:ln/>
        </p:spPr>
        <p:txBody>
          <a:bodyPr wrap="square" rtlCol="0" anchor="ctr"/>
          <a:lstStyle/>
          <a:p>
            <a:pPr marL="0" indent="0">
              <a:buNone/>
            </a:pPr>
            <a:r>
              <a:rPr lang="en-US" sz="1200" dirty="0">
                <a:solidFill>
                  <a:srgbClr val="37474F"/>
                </a:solidFill>
                <a:latin typeface="Calibri" pitchFamily="34" charset="0"/>
                <a:ea typeface="Calibri" pitchFamily="34" charset="-122"/>
                <a:cs typeface="Calibri" pitchFamily="34" charset="-120"/>
              </a:rPr>
              <a:t>Kubernetes (also called </a:t>
            </a:r>
            <a:r>
              <a:rPr lang="en-US" sz="1200" b="1" dirty="0">
                <a:solidFill>
                  <a:srgbClr val="37474F"/>
                </a:solidFill>
                <a:latin typeface="Calibri" pitchFamily="34" charset="0"/>
                <a:ea typeface="Calibri" pitchFamily="34" charset="-122"/>
                <a:cs typeface="Calibri" pitchFamily="34" charset="-120"/>
              </a:rPr>
              <a:t>K8s</a:t>
            </a:r>
            <a:r>
              <a:rPr lang="en-US" sz="1200" dirty="0">
                <a:solidFill>
                  <a:srgbClr val="37474F"/>
                </a:solidFill>
                <a:latin typeface="Calibri" pitchFamily="34" charset="0"/>
                <a:ea typeface="Calibri" pitchFamily="34" charset="-122"/>
                <a:cs typeface="Calibri" pitchFamily="34" charset="-120"/>
              </a:rPr>
              <a:t>) is an open-source system that automatically manages containers. When you have an app running in many Docker containers, Kubernetes decides where to run them, keeps them healthy, scales them up when traffic increases, and restarts them if they crash. It is like a smart autopilot for your containers.</a:t>
            </a:r>
            <a:endParaRPr lang="en-US" sz="1200" dirty="0"/>
          </a:p>
        </p:txBody>
      </p:sp>
      <p:sp>
        <p:nvSpPr>
          <p:cNvPr id="7" name="Shape 5"/>
          <p:cNvSpPr/>
          <p:nvPr/>
        </p:nvSpPr>
        <p:spPr>
          <a:xfrm>
            <a:off x="320040" y="2743200"/>
            <a:ext cx="2468880" cy="1051560"/>
          </a:xfrm>
          <a:prstGeom prst="rect">
            <a:avLst/>
          </a:prstGeom>
          <a:solidFill>
            <a:srgbClr val="FFFFFF"/>
          </a:solidFill>
          <a:ln w="12700">
            <a:solidFill>
              <a:srgbClr val="7986CB"/>
            </a:solidFill>
            <a:prstDash val="solid"/>
          </a:ln>
          <a:effectLst>
            <a:outerShdw blurRad="38100" dist="12700" dir="8100000" algn="bl" rotWithShape="0">
              <a:srgbClr val="000000">
                <a:alpha val="7000"/>
              </a:srgbClr>
            </a:outerShdw>
          </a:effectLst>
        </p:spPr>
      </p:sp>
      <p:sp>
        <p:nvSpPr>
          <p:cNvPr id="8" name="Text 6"/>
          <p:cNvSpPr/>
          <p:nvPr/>
        </p:nvSpPr>
        <p:spPr>
          <a:xfrm>
            <a:off x="429768" y="2834640"/>
            <a:ext cx="2286000" cy="320040"/>
          </a:xfrm>
          <a:prstGeom prst="rect">
            <a:avLst/>
          </a:prstGeom>
          <a:noFill/>
          <a:ln/>
        </p:spPr>
        <p:txBody>
          <a:bodyPr wrap="square" rtlCol="0" anchor="ctr"/>
          <a:lstStyle/>
          <a:p>
            <a:pPr marL="0" indent="0">
              <a:buNone/>
            </a:pPr>
            <a:r>
              <a:rPr lang="en-US" sz="1200" b="1" dirty="0">
                <a:solidFill>
                  <a:srgbClr val="326CE5"/>
                </a:solidFill>
                <a:latin typeface="Calibri" pitchFamily="34" charset="0"/>
                <a:ea typeface="Calibri" pitchFamily="34" charset="-122"/>
                <a:cs typeface="Calibri" pitchFamily="34" charset="-120"/>
              </a:rPr>
              <a:t>⚖  Load Balancing</a:t>
            </a:r>
            <a:endParaRPr lang="en-US" sz="1200" dirty="0"/>
          </a:p>
        </p:txBody>
      </p:sp>
      <p:sp>
        <p:nvSpPr>
          <p:cNvPr id="9" name="Text 7"/>
          <p:cNvSpPr/>
          <p:nvPr/>
        </p:nvSpPr>
        <p:spPr>
          <a:xfrm>
            <a:off x="429768" y="3182112"/>
            <a:ext cx="2286000" cy="54864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Distributes traffic equally across all running containers.</a:t>
            </a:r>
            <a:endParaRPr lang="en-US" sz="1050" dirty="0"/>
          </a:p>
        </p:txBody>
      </p:sp>
      <p:sp>
        <p:nvSpPr>
          <p:cNvPr id="10" name="Shape 8"/>
          <p:cNvSpPr/>
          <p:nvPr/>
        </p:nvSpPr>
        <p:spPr>
          <a:xfrm>
            <a:off x="3017520" y="2743200"/>
            <a:ext cx="2468880" cy="1051560"/>
          </a:xfrm>
          <a:prstGeom prst="rect">
            <a:avLst/>
          </a:prstGeom>
          <a:solidFill>
            <a:srgbClr val="FFFFFF"/>
          </a:solidFill>
          <a:ln w="12700">
            <a:solidFill>
              <a:srgbClr val="7986CB"/>
            </a:solidFill>
            <a:prstDash val="solid"/>
          </a:ln>
          <a:effectLst>
            <a:outerShdw blurRad="38100" dist="12700" dir="8100000" algn="bl" rotWithShape="0">
              <a:srgbClr val="000000">
                <a:alpha val="7000"/>
              </a:srgbClr>
            </a:outerShdw>
          </a:effectLst>
        </p:spPr>
      </p:sp>
      <p:sp>
        <p:nvSpPr>
          <p:cNvPr id="11" name="Text 9"/>
          <p:cNvSpPr/>
          <p:nvPr/>
        </p:nvSpPr>
        <p:spPr>
          <a:xfrm>
            <a:off x="3127248" y="2834640"/>
            <a:ext cx="2286000" cy="320040"/>
          </a:xfrm>
          <a:prstGeom prst="rect">
            <a:avLst/>
          </a:prstGeom>
          <a:noFill/>
          <a:ln/>
        </p:spPr>
        <p:txBody>
          <a:bodyPr wrap="square" rtlCol="0" anchor="ctr"/>
          <a:lstStyle/>
          <a:p>
            <a:pPr marL="0" indent="0">
              <a:buNone/>
            </a:pPr>
            <a:r>
              <a:rPr lang="en-US" sz="1200" b="1" dirty="0">
                <a:solidFill>
                  <a:srgbClr val="326CE5"/>
                </a:solidFill>
                <a:latin typeface="Calibri" pitchFamily="34" charset="0"/>
                <a:ea typeface="Calibri" pitchFamily="34" charset="-122"/>
                <a:cs typeface="Calibri" pitchFamily="34" charset="-120"/>
              </a:rPr>
              <a:t>🔁  Auto-Restart</a:t>
            </a:r>
            <a:endParaRPr lang="en-US" sz="1200" dirty="0"/>
          </a:p>
        </p:txBody>
      </p:sp>
      <p:sp>
        <p:nvSpPr>
          <p:cNvPr id="12" name="Text 10"/>
          <p:cNvSpPr/>
          <p:nvPr/>
        </p:nvSpPr>
        <p:spPr>
          <a:xfrm>
            <a:off x="3127248" y="3182112"/>
            <a:ext cx="2286000" cy="54864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If a container crashes, K8s restarts it automatically.</a:t>
            </a:r>
            <a:endParaRPr lang="en-US" sz="1050" dirty="0"/>
          </a:p>
        </p:txBody>
      </p:sp>
      <p:sp>
        <p:nvSpPr>
          <p:cNvPr id="13" name="Shape 11"/>
          <p:cNvSpPr/>
          <p:nvPr/>
        </p:nvSpPr>
        <p:spPr>
          <a:xfrm>
            <a:off x="320040" y="3977640"/>
            <a:ext cx="2468880" cy="1051560"/>
          </a:xfrm>
          <a:prstGeom prst="rect">
            <a:avLst/>
          </a:prstGeom>
          <a:solidFill>
            <a:srgbClr val="FFFFFF"/>
          </a:solidFill>
          <a:ln w="12700">
            <a:solidFill>
              <a:srgbClr val="7986CB"/>
            </a:solidFill>
            <a:prstDash val="solid"/>
          </a:ln>
          <a:effectLst>
            <a:outerShdw blurRad="38100" dist="12700" dir="8100000" algn="bl" rotWithShape="0">
              <a:srgbClr val="000000">
                <a:alpha val="7000"/>
              </a:srgbClr>
            </a:outerShdw>
          </a:effectLst>
        </p:spPr>
      </p:sp>
      <p:sp>
        <p:nvSpPr>
          <p:cNvPr id="14" name="Text 12"/>
          <p:cNvSpPr/>
          <p:nvPr/>
        </p:nvSpPr>
        <p:spPr>
          <a:xfrm>
            <a:off x="429768" y="4069080"/>
            <a:ext cx="2286000" cy="320040"/>
          </a:xfrm>
          <a:prstGeom prst="rect">
            <a:avLst/>
          </a:prstGeom>
          <a:noFill/>
          <a:ln/>
        </p:spPr>
        <p:txBody>
          <a:bodyPr wrap="square" rtlCol="0" anchor="ctr"/>
          <a:lstStyle/>
          <a:p>
            <a:pPr marL="0" indent="0">
              <a:buNone/>
            </a:pPr>
            <a:r>
              <a:rPr lang="en-US" sz="1200" b="1" dirty="0">
                <a:solidFill>
                  <a:srgbClr val="326CE5"/>
                </a:solidFill>
                <a:latin typeface="Calibri" pitchFamily="34" charset="0"/>
                <a:ea typeface="Calibri" pitchFamily="34" charset="-122"/>
                <a:cs typeface="Calibri" pitchFamily="34" charset="-120"/>
              </a:rPr>
              <a:t>📈  Auto-Scaling</a:t>
            </a:r>
            <a:endParaRPr lang="en-US" sz="1200" dirty="0"/>
          </a:p>
        </p:txBody>
      </p:sp>
      <p:sp>
        <p:nvSpPr>
          <p:cNvPr id="15" name="Text 13"/>
          <p:cNvSpPr/>
          <p:nvPr/>
        </p:nvSpPr>
        <p:spPr>
          <a:xfrm>
            <a:off x="429768" y="4416552"/>
            <a:ext cx="2286000" cy="54864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Adds more containers when user traffic increases.</a:t>
            </a:r>
            <a:endParaRPr lang="en-US" sz="1050" dirty="0"/>
          </a:p>
        </p:txBody>
      </p:sp>
      <p:sp>
        <p:nvSpPr>
          <p:cNvPr id="16" name="Shape 14"/>
          <p:cNvSpPr/>
          <p:nvPr/>
        </p:nvSpPr>
        <p:spPr>
          <a:xfrm>
            <a:off x="3017520" y="3977640"/>
            <a:ext cx="2468880" cy="1051560"/>
          </a:xfrm>
          <a:prstGeom prst="rect">
            <a:avLst/>
          </a:prstGeom>
          <a:solidFill>
            <a:srgbClr val="FFFFFF"/>
          </a:solidFill>
          <a:ln w="12700">
            <a:solidFill>
              <a:srgbClr val="7986CB"/>
            </a:solidFill>
            <a:prstDash val="solid"/>
          </a:ln>
          <a:effectLst>
            <a:outerShdw blurRad="38100" dist="12700" dir="8100000" algn="bl" rotWithShape="0">
              <a:srgbClr val="000000">
                <a:alpha val="7000"/>
              </a:srgbClr>
            </a:outerShdw>
          </a:effectLst>
        </p:spPr>
      </p:sp>
      <p:sp>
        <p:nvSpPr>
          <p:cNvPr id="17" name="Text 15"/>
          <p:cNvSpPr/>
          <p:nvPr/>
        </p:nvSpPr>
        <p:spPr>
          <a:xfrm>
            <a:off x="3127248" y="4069080"/>
            <a:ext cx="2286000" cy="320040"/>
          </a:xfrm>
          <a:prstGeom prst="rect">
            <a:avLst/>
          </a:prstGeom>
          <a:noFill/>
          <a:ln/>
        </p:spPr>
        <p:txBody>
          <a:bodyPr wrap="square" rtlCol="0" anchor="ctr"/>
          <a:lstStyle/>
          <a:p>
            <a:pPr marL="0" indent="0">
              <a:buNone/>
            </a:pPr>
            <a:r>
              <a:rPr lang="en-US" sz="1200" b="1" dirty="0">
                <a:solidFill>
                  <a:srgbClr val="326CE5"/>
                </a:solidFill>
                <a:latin typeface="Calibri" pitchFamily="34" charset="0"/>
                <a:ea typeface="Calibri" pitchFamily="34" charset="-122"/>
                <a:cs typeface="Calibri" pitchFamily="34" charset="-120"/>
              </a:rPr>
              <a:t>🔄  Rolling Updates</a:t>
            </a:r>
            <a:endParaRPr lang="en-US" sz="1200" dirty="0"/>
          </a:p>
        </p:txBody>
      </p:sp>
      <p:sp>
        <p:nvSpPr>
          <p:cNvPr id="18" name="Text 16"/>
          <p:cNvSpPr/>
          <p:nvPr/>
        </p:nvSpPr>
        <p:spPr>
          <a:xfrm>
            <a:off x="3127248" y="4416552"/>
            <a:ext cx="2286000" cy="54864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Update your app with zero downtime — no service interruption.</a:t>
            </a:r>
            <a:endParaRPr lang="en-US" sz="1050" dirty="0"/>
          </a:p>
        </p:txBody>
      </p:sp>
      <p:sp>
        <p:nvSpPr>
          <p:cNvPr id="19" name="Shape 17"/>
          <p:cNvSpPr/>
          <p:nvPr/>
        </p:nvSpPr>
        <p:spPr>
          <a:xfrm>
            <a:off x="5806440" y="749808"/>
            <a:ext cx="3017520" cy="4023360"/>
          </a:xfrm>
          <a:prstGeom prst="rect">
            <a:avLst/>
          </a:prstGeom>
          <a:solidFill>
            <a:srgbClr val="1A237E"/>
          </a:solidFill>
          <a:ln w="12700">
            <a:solidFill>
              <a:srgbClr val="1A237E"/>
            </a:solidFill>
            <a:prstDash val="solid"/>
          </a:ln>
        </p:spPr>
      </p:sp>
      <p:sp>
        <p:nvSpPr>
          <p:cNvPr id="20" name="Text 18"/>
          <p:cNvSpPr/>
          <p:nvPr/>
        </p:nvSpPr>
        <p:spPr>
          <a:xfrm>
            <a:off x="5897880" y="822960"/>
            <a:ext cx="2834640" cy="347472"/>
          </a:xfrm>
          <a:prstGeom prst="rect">
            <a:avLst/>
          </a:prstGeom>
          <a:noFill/>
          <a:ln/>
        </p:spPr>
        <p:txBody>
          <a:bodyPr wrap="square" rtlCol="0" anchor="ctr"/>
          <a:lstStyle/>
          <a:p>
            <a:pPr marL="0" indent="0">
              <a:buNone/>
            </a:pPr>
            <a:r>
              <a:rPr lang="en-US" sz="1300" b="1" dirty="0">
                <a:solidFill>
                  <a:srgbClr val="90CAF9"/>
                </a:solidFill>
                <a:latin typeface="Calibri" pitchFamily="34" charset="0"/>
                <a:ea typeface="Calibri" pitchFamily="34" charset="-122"/>
                <a:cs typeface="Calibri" pitchFamily="34" charset="-120"/>
              </a:rPr>
              <a:t>⚙  K8s Key Terms</a:t>
            </a:r>
            <a:endParaRPr lang="en-US" sz="1300" dirty="0"/>
          </a:p>
        </p:txBody>
      </p:sp>
      <p:sp>
        <p:nvSpPr>
          <p:cNvPr id="21" name="Shape 19"/>
          <p:cNvSpPr/>
          <p:nvPr/>
        </p:nvSpPr>
        <p:spPr>
          <a:xfrm>
            <a:off x="5852160" y="1261872"/>
            <a:ext cx="2834640" cy="502920"/>
          </a:xfrm>
          <a:prstGeom prst="rect">
            <a:avLst/>
          </a:prstGeom>
          <a:solidFill>
            <a:srgbClr val="263B8A"/>
          </a:solidFill>
          <a:ln w="12700">
            <a:solidFill>
              <a:srgbClr val="3F51B5"/>
            </a:solidFill>
            <a:prstDash val="solid"/>
          </a:ln>
        </p:spPr>
      </p:sp>
      <p:sp>
        <p:nvSpPr>
          <p:cNvPr id="22" name="Text 20"/>
          <p:cNvSpPr/>
          <p:nvPr/>
        </p:nvSpPr>
        <p:spPr>
          <a:xfrm>
            <a:off x="5943600" y="1298448"/>
            <a:ext cx="914400" cy="411480"/>
          </a:xfrm>
          <a:prstGeom prst="rect">
            <a:avLst/>
          </a:prstGeom>
          <a:noFill/>
          <a:ln/>
        </p:spPr>
        <p:txBody>
          <a:bodyPr wrap="square" rtlCol="0" anchor="ctr"/>
          <a:lstStyle/>
          <a:p>
            <a:pPr marL="0" indent="0">
              <a:buNone/>
            </a:pPr>
            <a:r>
              <a:rPr lang="en-US" sz="1100" b="1" dirty="0">
                <a:solidFill>
                  <a:srgbClr val="90CAF9"/>
                </a:solidFill>
                <a:latin typeface="Calibri" pitchFamily="34" charset="0"/>
                <a:ea typeface="Calibri" pitchFamily="34" charset="-122"/>
                <a:cs typeface="Calibri" pitchFamily="34" charset="-120"/>
              </a:rPr>
              <a:t>Pod</a:t>
            </a:r>
            <a:endParaRPr lang="en-US" sz="1100" dirty="0"/>
          </a:p>
        </p:txBody>
      </p:sp>
      <p:sp>
        <p:nvSpPr>
          <p:cNvPr id="23" name="Text 21"/>
          <p:cNvSpPr/>
          <p:nvPr/>
        </p:nvSpPr>
        <p:spPr>
          <a:xfrm>
            <a:off x="6903720" y="1298448"/>
            <a:ext cx="1691640" cy="41148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Smallest unit — one or more containers</a:t>
            </a:r>
            <a:endParaRPr lang="en-US" sz="1000" dirty="0"/>
          </a:p>
        </p:txBody>
      </p:sp>
      <p:sp>
        <p:nvSpPr>
          <p:cNvPr id="24" name="Shape 22"/>
          <p:cNvSpPr/>
          <p:nvPr/>
        </p:nvSpPr>
        <p:spPr>
          <a:xfrm>
            <a:off x="5852160" y="1828800"/>
            <a:ext cx="2834640" cy="502920"/>
          </a:xfrm>
          <a:prstGeom prst="rect">
            <a:avLst/>
          </a:prstGeom>
          <a:solidFill>
            <a:srgbClr val="263B8A"/>
          </a:solidFill>
          <a:ln w="12700">
            <a:solidFill>
              <a:srgbClr val="3F51B5"/>
            </a:solidFill>
            <a:prstDash val="solid"/>
          </a:ln>
        </p:spPr>
      </p:sp>
      <p:sp>
        <p:nvSpPr>
          <p:cNvPr id="25" name="Text 23"/>
          <p:cNvSpPr/>
          <p:nvPr/>
        </p:nvSpPr>
        <p:spPr>
          <a:xfrm>
            <a:off x="5943600" y="1865376"/>
            <a:ext cx="914400" cy="411480"/>
          </a:xfrm>
          <a:prstGeom prst="rect">
            <a:avLst/>
          </a:prstGeom>
          <a:noFill/>
          <a:ln/>
        </p:spPr>
        <p:txBody>
          <a:bodyPr wrap="square" rtlCol="0" anchor="ctr"/>
          <a:lstStyle/>
          <a:p>
            <a:pPr marL="0" indent="0">
              <a:buNone/>
            </a:pPr>
            <a:r>
              <a:rPr lang="en-US" sz="1100" b="1" dirty="0">
                <a:solidFill>
                  <a:srgbClr val="90CAF9"/>
                </a:solidFill>
                <a:latin typeface="Calibri" pitchFamily="34" charset="0"/>
                <a:ea typeface="Calibri" pitchFamily="34" charset="-122"/>
                <a:cs typeface="Calibri" pitchFamily="34" charset="-120"/>
              </a:rPr>
              <a:t>Node</a:t>
            </a:r>
            <a:endParaRPr lang="en-US" sz="1100" dirty="0"/>
          </a:p>
        </p:txBody>
      </p:sp>
      <p:sp>
        <p:nvSpPr>
          <p:cNvPr id="26" name="Text 24"/>
          <p:cNvSpPr/>
          <p:nvPr/>
        </p:nvSpPr>
        <p:spPr>
          <a:xfrm>
            <a:off x="6903720" y="1865376"/>
            <a:ext cx="1691640" cy="41148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A physical or virtual server</a:t>
            </a:r>
            <a:endParaRPr lang="en-US" sz="1000" dirty="0"/>
          </a:p>
        </p:txBody>
      </p:sp>
      <p:sp>
        <p:nvSpPr>
          <p:cNvPr id="27" name="Shape 25"/>
          <p:cNvSpPr/>
          <p:nvPr/>
        </p:nvSpPr>
        <p:spPr>
          <a:xfrm>
            <a:off x="5852160" y="2395728"/>
            <a:ext cx="2834640" cy="502920"/>
          </a:xfrm>
          <a:prstGeom prst="rect">
            <a:avLst/>
          </a:prstGeom>
          <a:solidFill>
            <a:srgbClr val="263B8A"/>
          </a:solidFill>
          <a:ln w="12700">
            <a:solidFill>
              <a:srgbClr val="3F51B5"/>
            </a:solidFill>
            <a:prstDash val="solid"/>
          </a:ln>
        </p:spPr>
      </p:sp>
      <p:sp>
        <p:nvSpPr>
          <p:cNvPr id="28" name="Text 26"/>
          <p:cNvSpPr/>
          <p:nvPr/>
        </p:nvSpPr>
        <p:spPr>
          <a:xfrm>
            <a:off x="5943600" y="2432304"/>
            <a:ext cx="914400" cy="411480"/>
          </a:xfrm>
          <a:prstGeom prst="rect">
            <a:avLst/>
          </a:prstGeom>
          <a:noFill/>
          <a:ln/>
        </p:spPr>
        <p:txBody>
          <a:bodyPr wrap="square" rtlCol="0" anchor="ctr"/>
          <a:lstStyle/>
          <a:p>
            <a:pPr marL="0" indent="0">
              <a:buNone/>
            </a:pPr>
            <a:r>
              <a:rPr lang="en-US" sz="1100" b="1" dirty="0">
                <a:solidFill>
                  <a:srgbClr val="90CAF9"/>
                </a:solidFill>
                <a:latin typeface="Calibri" pitchFamily="34" charset="0"/>
                <a:ea typeface="Calibri" pitchFamily="34" charset="-122"/>
                <a:cs typeface="Calibri" pitchFamily="34" charset="-120"/>
              </a:rPr>
              <a:t>Cluster</a:t>
            </a:r>
            <a:endParaRPr lang="en-US" sz="1100" dirty="0"/>
          </a:p>
        </p:txBody>
      </p:sp>
      <p:sp>
        <p:nvSpPr>
          <p:cNvPr id="29" name="Text 27"/>
          <p:cNvSpPr/>
          <p:nvPr/>
        </p:nvSpPr>
        <p:spPr>
          <a:xfrm>
            <a:off x="6903720" y="2432304"/>
            <a:ext cx="1691640" cy="41148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Group of nodes working together</a:t>
            </a:r>
            <a:endParaRPr lang="en-US" sz="1000" dirty="0"/>
          </a:p>
        </p:txBody>
      </p:sp>
      <p:sp>
        <p:nvSpPr>
          <p:cNvPr id="30" name="Shape 28"/>
          <p:cNvSpPr/>
          <p:nvPr/>
        </p:nvSpPr>
        <p:spPr>
          <a:xfrm>
            <a:off x="5852160" y="2962656"/>
            <a:ext cx="2834640" cy="502920"/>
          </a:xfrm>
          <a:prstGeom prst="rect">
            <a:avLst/>
          </a:prstGeom>
          <a:solidFill>
            <a:srgbClr val="263B8A"/>
          </a:solidFill>
          <a:ln w="12700">
            <a:solidFill>
              <a:srgbClr val="3F51B5"/>
            </a:solidFill>
            <a:prstDash val="solid"/>
          </a:ln>
        </p:spPr>
      </p:sp>
      <p:sp>
        <p:nvSpPr>
          <p:cNvPr id="31" name="Text 29"/>
          <p:cNvSpPr/>
          <p:nvPr/>
        </p:nvSpPr>
        <p:spPr>
          <a:xfrm>
            <a:off x="5943600" y="2999232"/>
            <a:ext cx="914400" cy="411480"/>
          </a:xfrm>
          <a:prstGeom prst="rect">
            <a:avLst/>
          </a:prstGeom>
          <a:noFill/>
          <a:ln/>
        </p:spPr>
        <p:txBody>
          <a:bodyPr wrap="square" rtlCol="0" anchor="ctr"/>
          <a:lstStyle/>
          <a:p>
            <a:pPr marL="0" indent="0">
              <a:buNone/>
            </a:pPr>
            <a:r>
              <a:rPr lang="en-US" sz="1100" b="1" dirty="0">
                <a:solidFill>
                  <a:srgbClr val="90CAF9"/>
                </a:solidFill>
                <a:latin typeface="Calibri" pitchFamily="34" charset="0"/>
                <a:ea typeface="Calibri" pitchFamily="34" charset="-122"/>
                <a:cs typeface="Calibri" pitchFamily="34" charset="-120"/>
              </a:rPr>
              <a:t>Deployment</a:t>
            </a:r>
            <a:endParaRPr lang="en-US" sz="1100" dirty="0"/>
          </a:p>
        </p:txBody>
      </p:sp>
      <p:sp>
        <p:nvSpPr>
          <p:cNvPr id="32" name="Text 30"/>
          <p:cNvSpPr/>
          <p:nvPr/>
        </p:nvSpPr>
        <p:spPr>
          <a:xfrm>
            <a:off x="6903720" y="2999232"/>
            <a:ext cx="1691640" cy="41148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Defines how many Pods to run</a:t>
            </a:r>
            <a:endParaRPr lang="en-US" sz="1000" dirty="0"/>
          </a:p>
        </p:txBody>
      </p:sp>
      <p:sp>
        <p:nvSpPr>
          <p:cNvPr id="33" name="Shape 31"/>
          <p:cNvSpPr/>
          <p:nvPr/>
        </p:nvSpPr>
        <p:spPr>
          <a:xfrm>
            <a:off x="5852160" y="3529584"/>
            <a:ext cx="2834640" cy="502920"/>
          </a:xfrm>
          <a:prstGeom prst="rect">
            <a:avLst/>
          </a:prstGeom>
          <a:solidFill>
            <a:srgbClr val="263B8A"/>
          </a:solidFill>
          <a:ln w="12700">
            <a:solidFill>
              <a:srgbClr val="3F51B5"/>
            </a:solidFill>
            <a:prstDash val="solid"/>
          </a:ln>
        </p:spPr>
      </p:sp>
      <p:sp>
        <p:nvSpPr>
          <p:cNvPr id="34" name="Text 32"/>
          <p:cNvSpPr/>
          <p:nvPr/>
        </p:nvSpPr>
        <p:spPr>
          <a:xfrm>
            <a:off x="5943600" y="3566160"/>
            <a:ext cx="914400" cy="411480"/>
          </a:xfrm>
          <a:prstGeom prst="rect">
            <a:avLst/>
          </a:prstGeom>
          <a:noFill/>
          <a:ln/>
        </p:spPr>
        <p:txBody>
          <a:bodyPr wrap="square" rtlCol="0" anchor="ctr"/>
          <a:lstStyle/>
          <a:p>
            <a:pPr marL="0" indent="0">
              <a:buNone/>
            </a:pPr>
            <a:r>
              <a:rPr lang="en-US" sz="1100" b="1" dirty="0">
                <a:solidFill>
                  <a:srgbClr val="90CAF9"/>
                </a:solidFill>
                <a:latin typeface="Calibri" pitchFamily="34" charset="0"/>
                <a:ea typeface="Calibri" pitchFamily="34" charset="-122"/>
                <a:cs typeface="Calibri" pitchFamily="34" charset="-120"/>
              </a:rPr>
              <a:t>Service</a:t>
            </a:r>
            <a:endParaRPr lang="en-US" sz="1100" dirty="0"/>
          </a:p>
        </p:txBody>
      </p:sp>
      <p:sp>
        <p:nvSpPr>
          <p:cNvPr id="35" name="Text 33"/>
          <p:cNvSpPr/>
          <p:nvPr/>
        </p:nvSpPr>
        <p:spPr>
          <a:xfrm>
            <a:off x="6903720" y="3566160"/>
            <a:ext cx="1691640" cy="41148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Exposes your app to the world</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3">
    <p:bg>
      <p:bgPr>
        <a:solidFill>
          <a:srgbClr val="F3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26CE5"/>
          </a:solidFill>
          <a:ln w="12700">
            <a:solidFill>
              <a:srgbClr val="326CE5"/>
            </a:solidFill>
            <a:prstDash val="solid"/>
          </a:ln>
        </p:spPr>
      </p:sp>
      <p:sp>
        <p:nvSpPr>
          <p:cNvPr id="3" name="Text 1"/>
          <p:cNvSpPr/>
          <p:nvPr/>
        </p:nvSpPr>
        <p:spPr>
          <a:xfrm>
            <a:off x="365760" y="0"/>
            <a:ext cx="841248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Why Do We Need Kubernetes?</a:t>
            </a:r>
            <a:endParaRPr lang="en-US" sz="2200" dirty="0"/>
          </a:p>
        </p:txBody>
      </p:sp>
      <p:sp>
        <p:nvSpPr>
          <p:cNvPr id="4" name="Text 2"/>
          <p:cNvSpPr/>
          <p:nvPr/>
        </p:nvSpPr>
        <p:spPr>
          <a:xfrm>
            <a:off x="320040" y="749808"/>
            <a:ext cx="8503920" cy="685800"/>
          </a:xfrm>
          <a:prstGeom prst="rect">
            <a:avLst/>
          </a:prstGeom>
          <a:noFill/>
          <a:ln/>
        </p:spPr>
        <p:txBody>
          <a:bodyPr wrap="square" rtlCol="0" anchor="ctr"/>
          <a:lstStyle/>
          <a:p>
            <a:pPr marL="0" indent="0">
              <a:buNone/>
            </a:pPr>
            <a:r>
              <a:rPr lang="en-US" sz="1250" dirty="0">
                <a:solidFill>
                  <a:srgbClr val="37474F"/>
                </a:solidFill>
                <a:latin typeface="Calibri" pitchFamily="34" charset="0"/>
                <a:ea typeface="Calibri" pitchFamily="34" charset="-122"/>
                <a:cs typeface="Calibri" pitchFamily="34" charset="-120"/>
              </a:rPr>
              <a:t>Imagine your website gets 1,000 visitors one hour, then 100,000 visitors the next hour! Without Kubernetes, you would have to manually start more Docker containers. Kubernetes handles this automatically — it watches your containers and takes action on its own.</a:t>
            </a:r>
            <a:endParaRPr lang="en-US" sz="1250" dirty="0"/>
          </a:p>
        </p:txBody>
      </p:sp>
      <p:sp>
        <p:nvSpPr>
          <p:cNvPr id="5" name="Shape 3"/>
          <p:cNvSpPr/>
          <p:nvPr/>
        </p:nvSpPr>
        <p:spPr>
          <a:xfrm>
            <a:off x="320040" y="1554480"/>
            <a:ext cx="4114800" cy="1536192"/>
          </a:xfrm>
          <a:prstGeom prst="rect">
            <a:avLst/>
          </a:prstGeom>
          <a:solidFill>
            <a:srgbClr val="FFFFFF"/>
          </a:solidFill>
          <a:ln w="12700">
            <a:solidFill>
              <a:srgbClr val="7986CB"/>
            </a:solidFill>
            <a:prstDash val="solid"/>
          </a:ln>
          <a:effectLst>
            <a:outerShdw blurRad="50800" dist="25400" dir="8100000" algn="bl" rotWithShape="0">
              <a:srgbClr val="000000">
                <a:alpha val="8000"/>
              </a:srgbClr>
            </a:outerShdw>
          </a:effectLst>
        </p:spPr>
      </p:sp>
      <p:sp>
        <p:nvSpPr>
          <p:cNvPr id="6" name="Text 4"/>
          <p:cNvSpPr/>
          <p:nvPr/>
        </p:nvSpPr>
        <p:spPr>
          <a:xfrm>
            <a:off x="457200" y="1645920"/>
            <a:ext cx="3840480" cy="320040"/>
          </a:xfrm>
          <a:prstGeom prst="rect">
            <a:avLst/>
          </a:prstGeom>
          <a:noFill/>
          <a:ln/>
        </p:spPr>
        <p:txBody>
          <a:bodyPr wrap="square" rtlCol="0" anchor="ctr"/>
          <a:lstStyle/>
          <a:p>
            <a:pPr marL="0" indent="0">
              <a:buNone/>
            </a:pPr>
            <a:r>
              <a:rPr lang="en-US" sz="1300" b="1" dirty="0">
                <a:solidFill>
                  <a:srgbClr val="326CE5"/>
                </a:solidFill>
                <a:latin typeface="Calibri" pitchFamily="34" charset="0"/>
                <a:ea typeface="Calibri" pitchFamily="34" charset="-122"/>
                <a:cs typeface="Calibri" pitchFamily="34" charset="-120"/>
              </a:rPr>
              <a:t>🚦  Managing Many Containers</a:t>
            </a:r>
            <a:endParaRPr lang="en-US" sz="1300" dirty="0"/>
          </a:p>
        </p:txBody>
      </p:sp>
      <p:sp>
        <p:nvSpPr>
          <p:cNvPr id="7" name="Text 5"/>
          <p:cNvSpPr/>
          <p:nvPr/>
        </p:nvSpPr>
        <p:spPr>
          <a:xfrm>
            <a:off x="457200" y="2011680"/>
            <a:ext cx="3840480" cy="1005840"/>
          </a:xfrm>
          <a:prstGeom prst="rect">
            <a:avLst/>
          </a:prstGeom>
          <a:noFill/>
          <a:ln/>
        </p:spPr>
        <p:txBody>
          <a:bodyPr wrap="square" rtlCol="0" anchor="ctr"/>
          <a:lstStyle/>
          <a:p>
            <a:pPr marL="0" indent="0">
              <a:buNone/>
            </a:pPr>
            <a:r>
              <a:rPr lang="en-US" sz="1100" dirty="0">
                <a:solidFill>
                  <a:srgbClr val="37474F"/>
                </a:solidFill>
                <a:latin typeface="Calibri" pitchFamily="34" charset="0"/>
                <a:ea typeface="Calibri" pitchFamily="34" charset="-122"/>
                <a:cs typeface="Calibri" pitchFamily="34" charset="-120"/>
              </a:rPr>
              <a:t>A production app can have hundreds of Docker containers running at once. Keeping track of them all manually is impossible. Kubernetes acts like a conductor — it knows where every container is and what it's doing.</a:t>
            </a:r>
            <a:endParaRPr lang="en-US" sz="1100" dirty="0"/>
          </a:p>
        </p:txBody>
      </p:sp>
      <p:sp>
        <p:nvSpPr>
          <p:cNvPr id="8" name="Shape 6"/>
          <p:cNvSpPr/>
          <p:nvPr/>
        </p:nvSpPr>
        <p:spPr>
          <a:xfrm>
            <a:off x="320040" y="3246120"/>
            <a:ext cx="4114800" cy="1536192"/>
          </a:xfrm>
          <a:prstGeom prst="rect">
            <a:avLst/>
          </a:prstGeom>
          <a:solidFill>
            <a:srgbClr val="FFFFFF"/>
          </a:solidFill>
          <a:ln w="12700">
            <a:solidFill>
              <a:srgbClr val="7986CB"/>
            </a:solidFill>
            <a:prstDash val="solid"/>
          </a:ln>
          <a:effectLst>
            <a:outerShdw blurRad="50800" dist="25400" dir="8100000" algn="bl" rotWithShape="0">
              <a:srgbClr val="000000">
                <a:alpha val="8000"/>
              </a:srgbClr>
            </a:outerShdw>
          </a:effectLst>
        </p:spPr>
      </p:sp>
      <p:sp>
        <p:nvSpPr>
          <p:cNvPr id="9" name="Text 7"/>
          <p:cNvSpPr/>
          <p:nvPr/>
        </p:nvSpPr>
        <p:spPr>
          <a:xfrm>
            <a:off x="457200" y="3337560"/>
            <a:ext cx="3840480" cy="320040"/>
          </a:xfrm>
          <a:prstGeom prst="rect">
            <a:avLst/>
          </a:prstGeom>
          <a:noFill/>
          <a:ln/>
        </p:spPr>
        <p:txBody>
          <a:bodyPr wrap="square" rtlCol="0" anchor="ctr"/>
          <a:lstStyle/>
          <a:p>
            <a:pPr marL="0" indent="0">
              <a:buNone/>
            </a:pPr>
            <a:r>
              <a:rPr lang="en-US" sz="1300" b="1" dirty="0">
                <a:solidFill>
                  <a:srgbClr val="326CE5"/>
                </a:solidFill>
                <a:latin typeface="Calibri" pitchFamily="34" charset="0"/>
                <a:ea typeface="Calibri" pitchFamily="34" charset="-122"/>
                <a:cs typeface="Calibri" pitchFamily="34" charset="-120"/>
              </a:rPr>
              <a:t>📈  Auto-Scaling (Smart Resizing)</a:t>
            </a:r>
            <a:endParaRPr lang="en-US" sz="1300" dirty="0"/>
          </a:p>
        </p:txBody>
      </p:sp>
      <p:sp>
        <p:nvSpPr>
          <p:cNvPr id="10" name="Text 8"/>
          <p:cNvSpPr/>
          <p:nvPr/>
        </p:nvSpPr>
        <p:spPr>
          <a:xfrm>
            <a:off x="457200" y="3703320"/>
            <a:ext cx="3840480" cy="1005840"/>
          </a:xfrm>
          <a:prstGeom prst="rect">
            <a:avLst/>
          </a:prstGeom>
          <a:noFill/>
          <a:ln/>
        </p:spPr>
        <p:txBody>
          <a:bodyPr wrap="square" rtlCol="0" anchor="ctr"/>
          <a:lstStyle/>
          <a:p>
            <a:pPr marL="0" indent="0">
              <a:buNone/>
            </a:pPr>
            <a:r>
              <a:rPr lang="en-US" sz="1100" dirty="0">
                <a:solidFill>
                  <a:srgbClr val="37474F"/>
                </a:solidFill>
                <a:latin typeface="Calibri" pitchFamily="34" charset="0"/>
                <a:ea typeface="Calibri" pitchFamily="34" charset="-122"/>
                <a:cs typeface="Calibri" pitchFamily="34" charset="-120"/>
              </a:rPr>
              <a:t>K8s monitors your app's traffic. If too many users arrive, it automatically starts new containers. When traffic drops, it removes extra containers to save money. You only pay for what you use!</a:t>
            </a:r>
            <a:endParaRPr lang="en-US" sz="1100" dirty="0"/>
          </a:p>
        </p:txBody>
      </p:sp>
      <p:sp>
        <p:nvSpPr>
          <p:cNvPr id="11" name="Shape 9"/>
          <p:cNvSpPr/>
          <p:nvPr/>
        </p:nvSpPr>
        <p:spPr>
          <a:xfrm>
            <a:off x="4754880" y="1554480"/>
            <a:ext cx="4114800" cy="1536192"/>
          </a:xfrm>
          <a:prstGeom prst="rect">
            <a:avLst/>
          </a:prstGeom>
          <a:solidFill>
            <a:srgbClr val="FFFFFF"/>
          </a:solidFill>
          <a:ln w="12700">
            <a:solidFill>
              <a:srgbClr val="7986CB"/>
            </a:solidFill>
            <a:prstDash val="solid"/>
          </a:ln>
          <a:effectLst>
            <a:outerShdw blurRad="50800" dist="25400" dir="8100000" algn="bl" rotWithShape="0">
              <a:srgbClr val="000000">
                <a:alpha val="8000"/>
              </a:srgbClr>
            </a:outerShdw>
          </a:effectLst>
        </p:spPr>
      </p:sp>
      <p:sp>
        <p:nvSpPr>
          <p:cNvPr id="12" name="Text 10"/>
          <p:cNvSpPr/>
          <p:nvPr/>
        </p:nvSpPr>
        <p:spPr>
          <a:xfrm>
            <a:off x="4892040" y="1645920"/>
            <a:ext cx="3840480" cy="320040"/>
          </a:xfrm>
          <a:prstGeom prst="rect">
            <a:avLst/>
          </a:prstGeom>
          <a:noFill/>
          <a:ln/>
        </p:spPr>
        <p:txBody>
          <a:bodyPr wrap="square" rtlCol="0" anchor="ctr"/>
          <a:lstStyle/>
          <a:p>
            <a:pPr marL="0" indent="0">
              <a:buNone/>
            </a:pPr>
            <a:r>
              <a:rPr lang="en-US" sz="1300" b="1" dirty="0">
                <a:solidFill>
                  <a:srgbClr val="326CE5"/>
                </a:solidFill>
                <a:latin typeface="Calibri" pitchFamily="34" charset="0"/>
                <a:ea typeface="Calibri" pitchFamily="34" charset="-122"/>
                <a:cs typeface="Calibri" pitchFamily="34" charset="-120"/>
              </a:rPr>
              <a:t>🛡  Fault Tolerance (Self-Healing)</a:t>
            </a:r>
            <a:endParaRPr lang="en-US" sz="1300" dirty="0"/>
          </a:p>
        </p:txBody>
      </p:sp>
      <p:sp>
        <p:nvSpPr>
          <p:cNvPr id="13" name="Text 11"/>
          <p:cNvSpPr/>
          <p:nvPr/>
        </p:nvSpPr>
        <p:spPr>
          <a:xfrm>
            <a:off x="4892040" y="2011680"/>
            <a:ext cx="3840480" cy="1005840"/>
          </a:xfrm>
          <a:prstGeom prst="rect">
            <a:avLst/>
          </a:prstGeom>
          <a:noFill/>
          <a:ln/>
        </p:spPr>
        <p:txBody>
          <a:bodyPr wrap="square" rtlCol="0" anchor="ctr"/>
          <a:lstStyle/>
          <a:p>
            <a:pPr marL="0" indent="0">
              <a:buNone/>
            </a:pPr>
            <a:r>
              <a:rPr lang="en-US" sz="1100" dirty="0">
                <a:solidFill>
                  <a:srgbClr val="37474F"/>
                </a:solidFill>
                <a:latin typeface="Calibri" pitchFamily="34" charset="0"/>
                <a:ea typeface="Calibri" pitchFamily="34" charset="-122"/>
                <a:cs typeface="Calibri" pitchFamily="34" charset="-120"/>
              </a:rPr>
              <a:t>If a container crashes (e.g., due to a bug or server failure), Kubernetes immediately replaces it with a fresh one. Your app stays running 24/7 even if individual parts fail.</a:t>
            </a:r>
            <a:endParaRPr lang="en-US" sz="1100" dirty="0"/>
          </a:p>
        </p:txBody>
      </p:sp>
      <p:sp>
        <p:nvSpPr>
          <p:cNvPr id="14" name="Shape 12"/>
          <p:cNvSpPr/>
          <p:nvPr/>
        </p:nvSpPr>
        <p:spPr>
          <a:xfrm>
            <a:off x="4754880" y="3246120"/>
            <a:ext cx="4114800" cy="1536192"/>
          </a:xfrm>
          <a:prstGeom prst="rect">
            <a:avLst/>
          </a:prstGeom>
          <a:solidFill>
            <a:srgbClr val="FFFFFF"/>
          </a:solidFill>
          <a:ln w="12700">
            <a:solidFill>
              <a:srgbClr val="7986CB"/>
            </a:solidFill>
            <a:prstDash val="solid"/>
          </a:ln>
          <a:effectLst>
            <a:outerShdw blurRad="50800" dist="25400" dir="8100000" algn="bl" rotWithShape="0">
              <a:srgbClr val="000000">
                <a:alpha val="8000"/>
              </a:srgbClr>
            </a:outerShdw>
          </a:effectLst>
        </p:spPr>
      </p:sp>
      <p:sp>
        <p:nvSpPr>
          <p:cNvPr id="15" name="Text 13"/>
          <p:cNvSpPr/>
          <p:nvPr/>
        </p:nvSpPr>
        <p:spPr>
          <a:xfrm>
            <a:off x="4892040" y="3337560"/>
            <a:ext cx="3840480" cy="320040"/>
          </a:xfrm>
          <a:prstGeom prst="rect">
            <a:avLst/>
          </a:prstGeom>
          <a:noFill/>
          <a:ln/>
        </p:spPr>
        <p:txBody>
          <a:bodyPr wrap="square" rtlCol="0" anchor="ctr"/>
          <a:lstStyle/>
          <a:p>
            <a:pPr marL="0" indent="0">
              <a:buNone/>
            </a:pPr>
            <a:r>
              <a:rPr lang="en-US" sz="1300" b="1" dirty="0">
                <a:solidFill>
                  <a:srgbClr val="326CE5"/>
                </a:solidFill>
                <a:latin typeface="Calibri" pitchFamily="34" charset="0"/>
                <a:ea typeface="Calibri" pitchFamily="34" charset="-122"/>
                <a:cs typeface="Calibri" pitchFamily="34" charset="-120"/>
              </a:rPr>
              <a:t>🔄  Zero-Downtime Deployments</a:t>
            </a:r>
            <a:endParaRPr lang="en-US" sz="1300" dirty="0"/>
          </a:p>
        </p:txBody>
      </p:sp>
      <p:sp>
        <p:nvSpPr>
          <p:cNvPr id="16" name="Text 14"/>
          <p:cNvSpPr/>
          <p:nvPr/>
        </p:nvSpPr>
        <p:spPr>
          <a:xfrm>
            <a:off x="4892040" y="3703320"/>
            <a:ext cx="3840480" cy="1005840"/>
          </a:xfrm>
          <a:prstGeom prst="rect">
            <a:avLst/>
          </a:prstGeom>
          <a:noFill/>
          <a:ln/>
        </p:spPr>
        <p:txBody>
          <a:bodyPr wrap="square" rtlCol="0" anchor="ctr"/>
          <a:lstStyle/>
          <a:p>
            <a:pPr marL="0" indent="0">
              <a:buNone/>
            </a:pPr>
            <a:r>
              <a:rPr lang="en-US" sz="1100" dirty="0">
                <a:solidFill>
                  <a:srgbClr val="37474F"/>
                </a:solidFill>
                <a:latin typeface="Calibri" pitchFamily="34" charset="0"/>
                <a:ea typeface="Calibri" pitchFamily="34" charset="-122"/>
                <a:cs typeface="Calibri" pitchFamily="34" charset="-120"/>
              </a:rPr>
              <a:t>When you update your app, Kubernetes slowly replaces old containers with new ones — one at a time. Users never experience an outage during updates. This is called a Rolling Update.</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4">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7474F"/>
          </a:solidFill>
          <a:ln w="12700">
            <a:solidFill>
              <a:srgbClr val="37474F"/>
            </a:solidFill>
            <a:prstDash val="solid"/>
          </a:ln>
        </p:spPr>
      </p:sp>
      <p:sp>
        <p:nvSpPr>
          <p:cNvPr id="3" name="Text 1"/>
          <p:cNvSpPr/>
          <p:nvPr/>
        </p:nvSpPr>
        <p:spPr>
          <a:xfrm>
            <a:off x="365760" y="0"/>
            <a:ext cx="841248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Cloud vs Docker vs Kubernetes — Side by Side</a:t>
            </a:r>
            <a:endParaRPr lang="en-US" sz="2200" dirty="0"/>
          </a:p>
        </p:txBody>
      </p:sp>
      <p:sp>
        <p:nvSpPr>
          <p:cNvPr id="4" name="Shape 2"/>
          <p:cNvSpPr/>
          <p:nvPr/>
        </p:nvSpPr>
        <p:spPr>
          <a:xfrm>
            <a:off x="274320" y="749808"/>
            <a:ext cx="2743200" cy="4160520"/>
          </a:xfrm>
          <a:prstGeom prst="rect">
            <a:avLst/>
          </a:prstGeom>
          <a:solidFill>
            <a:srgbClr val="FFFFFF"/>
          </a:solidFill>
          <a:ln w="25400">
            <a:solidFill>
              <a:srgbClr val="1565C0"/>
            </a:solidFill>
            <a:prstDash val="solid"/>
          </a:ln>
          <a:effectLst>
            <a:outerShdw blurRad="50800" dist="25400" dir="8100000" algn="bl" rotWithShape="0">
              <a:srgbClr val="000000">
                <a:alpha val="8000"/>
              </a:srgbClr>
            </a:outerShdw>
          </a:effectLst>
        </p:spPr>
      </p:sp>
      <p:sp>
        <p:nvSpPr>
          <p:cNvPr id="5" name="Shape 3"/>
          <p:cNvSpPr/>
          <p:nvPr/>
        </p:nvSpPr>
        <p:spPr>
          <a:xfrm>
            <a:off x="274320" y="749808"/>
            <a:ext cx="2743200" cy="457200"/>
          </a:xfrm>
          <a:prstGeom prst="rect">
            <a:avLst/>
          </a:prstGeom>
          <a:solidFill>
            <a:srgbClr val="1565C0"/>
          </a:solidFill>
          <a:ln w="12700">
            <a:solidFill>
              <a:srgbClr val="1565C0"/>
            </a:solidFill>
            <a:prstDash val="solid"/>
          </a:ln>
        </p:spPr>
      </p:sp>
      <p:sp>
        <p:nvSpPr>
          <p:cNvPr id="6" name="Text 4"/>
          <p:cNvSpPr/>
          <p:nvPr/>
        </p:nvSpPr>
        <p:spPr>
          <a:xfrm>
            <a:off x="365760" y="749808"/>
            <a:ext cx="256032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Cloud Computing</a:t>
            </a:r>
            <a:endParaRPr lang="en-US" sz="1300" dirty="0"/>
          </a:p>
        </p:txBody>
      </p:sp>
      <p:sp>
        <p:nvSpPr>
          <p:cNvPr id="7" name="Text 5"/>
          <p:cNvSpPr/>
          <p:nvPr/>
        </p:nvSpPr>
        <p:spPr>
          <a:xfrm>
            <a:off x="384048" y="1261872"/>
            <a:ext cx="2560320" cy="228600"/>
          </a:xfrm>
          <a:prstGeom prst="rect">
            <a:avLst/>
          </a:prstGeom>
          <a:noFill/>
          <a:ln/>
        </p:spPr>
        <p:txBody>
          <a:bodyPr wrap="square"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What it is:</a:t>
            </a:r>
            <a:endParaRPr lang="en-US" sz="1100" dirty="0"/>
          </a:p>
        </p:txBody>
      </p:sp>
      <p:sp>
        <p:nvSpPr>
          <p:cNvPr id="8" name="Text 6"/>
          <p:cNvSpPr/>
          <p:nvPr/>
        </p:nvSpPr>
        <p:spPr>
          <a:xfrm>
            <a:off x="384048" y="1490472"/>
            <a:ext cx="2560320" cy="41148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Renting servers and infrastructure over the internet.</a:t>
            </a:r>
            <a:endParaRPr lang="en-US" sz="1050" dirty="0"/>
          </a:p>
        </p:txBody>
      </p:sp>
      <p:sp>
        <p:nvSpPr>
          <p:cNvPr id="9" name="Text 7"/>
          <p:cNvSpPr/>
          <p:nvPr/>
        </p:nvSpPr>
        <p:spPr>
          <a:xfrm>
            <a:off x="384048" y="1938528"/>
            <a:ext cx="2560320" cy="228600"/>
          </a:xfrm>
          <a:prstGeom prst="rect">
            <a:avLst/>
          </a:prstGeom>
          <a:noFill/>
          <a:ln/>
        </p:spPr>
        <p:txBody>
          <a:bodyPr wrap="square"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How it works:</a:t>
            </a:r>
            <a:endParaRPr lang="en-US" sz="1100" dirty="0"/>
          </a:p>
        </p:txBody>
      </p:sp>
      <p:sp>
        <p:nvSpPr>
          <p:cNvPr id="10" name="Text 8"/>
          <p:cNvSpPr/>
          <p:nvPr/>
        </p:nvSpPr>
        <p:spPr>
          <a:xfrm>
            <a:off x="384048" y="2167128"/>
            <a:ext cx="2560320" cy="50292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Use platforms like AWS, Google Cloud, or Microsoft Azure through a browser or API.</a:t>
            </a:r>
            <a:endParaRPr lang="en-US" sz="1050" dirty="0"/>
          </a:p>
        </p:txBody>
      </p:sp>
      <p:sp>
        <p:nvSpPr>
          <p:cNvPr id="11" name="Text 9"/>
          <p:cNvSpPr/>
          <p:nvPr/>
        </p:nvSpPr>
        <p:spPr>
          <a:xfrm>
            <a:off x="384048" y="2715768"/>
            <a:ext cx="2560320" cy="502920"/>
          </a:xfrm>
          <a:prstGeom prst="rect">
            <a:avLst/>
          </a:prstGeom>
          <a:noFill/>
          <a:ln/>
        </p:spPr>
        <p:txBody>
          <a:bodyPr wrap="square" rtlCol="0" anchor="ctr"/>
          <a:lstStyle/>
          <a:p>
            <a:pPr marL="0" indent="0">
              <a:buNone/>
            </a:pPr>
            <a:r>
              <a:rPr lang="en-US" sz="1050" i="1" dirty="0">
                <a:solidFill>
                  <a:srgbClr val="1565C0"/>
                </a:solidFill>
                <a:latin typeface="Calibri" pitchFamily="34" charset="0"/>
                <a:ea typeface="Calibri" pitchFamily="34" charset="-122"/>
                <a:cs typeface="Calibri" pitchFamily="34" charset="-120"/>
              </a:rPr>
              <a:t>🏨  Like renting a hotel room. You get a fully equipped room without owning the building.</a:t>
            </a:r>
            <a:endParaRPr lang="en-US" sz="1050" dirty="0"/>
          </a:p>
        </p:txBody>
      </p:sp>
      <p:sp>
        <p:nvSpPr>
          <p:cNvPr id="12" name="Text 10"/>
          <p:cNvSpPr/>
          <p:nvPr/>
        </p:nvSpPr>
        <p:spPr>
          <a:xfrm>
            <a:off x="384048" y="3291840"/>
            <a:ext cx="2560320" cy="201168"/>
          </a:xfrm>
          <a:prstGeom prst="rect">
            <a:avLst/>
          </a:prstGeom>
          <a:noFill/>
          <a:ln/>
        </p:spPr>
        <p:txBody>
          <a:bodyPr wrap="square" rtlCol="0" anchor="ctr"/>
          <a:lstStyle/>
          <a:p>
            <a:pPr marL="0" indent="0">
              <a:buNone/>
            </a:pPr>
            <a:r>
              <a:rPr lang="en-US" sz="1000" dirty="0">
                <a:solidFill>
                  <a:srgbClr val="546E7A"/>
                </a:solidFill>
                <a:latin typeface="Calibri" pitchFamily="34" charset="0"/>
                <a:ea typeface="Calibri" pitchFamily="34" charset="-122"/>
                <a:cs typeface="Calibri" pitchFamily="34" charset="-120"/>
              </a:rPr>
              <a:t>• Provides: Servers, Storage, Network</a:t>
            </a:r>
            <a:endParaRPr lang="en-US" sz="1000" dirty="0"/>
          </a:p>
        </p:txBody>
      </p:sp>
      <p:sp>
        <p:nvSpPr>
          <p:cNvPr id="13" name="Text 11"/>
          <p:cNvSpPr/>
          <p:nvPr/>
        </p:nvSpPr>
        <p:spPr>
          <a:xfrm>
            <a:off x="384048" y="3511296"/>
            <a:ext cx="2560320" cy="201168"/>
          </a:xfrm>
          <a:prstGeom prst="rect">
            <a:avLst/>
          </a:prstGeom>
          <a:noFill/>
          <a:ln/>
        </p:spPr>
        <p:txBody>
          <a:bodyPr wrap="square" rtlCol="0" anchor="ctr"/>
          <a:lstStyle/>
          <a:p>
            <a:pPr marL="0" indent="0">
              <a:buNone/>
            </a:pPr>
            <a:r>
              <a:rPr lang="en-US" sz="1000" dirty="0">
                <a:solidFill>
                  <a:srgbClr val="546E7A"/>
                </a:solidFill>
                <a:latin typeface="Calibri" pitchFamily="34" charset="0"/>
                <a:ea typeface="Calibri" pitchFamily="34" charset="-122"/>
                <a:cs typeface="Calibri" pitchFamily="34" charset="-120"/>
              </a:rPr>
              <a:t>• You pay monthly or per-hour</a:t>
            </a:r>
            <a:endParaRPr lang="en-US" sz="1000" dirty="0"/>
          </a:p>
        </p:txBody>
      </p:sp>
      <p:sp>
        <p:nvSpPr>
          <p:cNvPr id="14" name="Text 12"/>
          <p:cNvSpPr/>
          <p:nvPr/>
        </p:nvSpPr>
        <p:spPr>
          <a:xfrm>
            <a:off x="384048" y="3730752"/>
            <a:ext cx="2560320" cy="201168"/>
          </a:xfrm>
          <a:prstGeom prst="rect">
            <a:avLst/>
          </a:prstGeom>
          <a:noFill/>
          <a:ln/>
        </p:spPr>
        <p:txBody>
          <a:bodyPr wrap="square" rtlCol="0" anchor="ctr"/>
          <a:lstStyle/>
          <a:p>
            <a:pPr marL="0" indent="0">
              <a:buNone/>
            </a:pPr>
            <a:r>
              <a:rPr lang="en-US" sz="1000" dirty="0">
                <a:solidFill>
                  <a:srgbClr val="546E7A"/>
                </a:solidFill>
                <a:latin typeface="Calibri" pitchFamily="34" charset="0"/>
                <a:ea typeface="Calibri" pitchFamily="34" charset="-122"/>
                <a:cs typeface="Calibri" pitchFamily="34" charset="-120"/>
              </a:rPr>
              <a:t>• Examples: AWS, GCP, Azure</a:t>
            </a:r>
            <a:endParaRPr lang="en-US" sz="1000" dirty="0"/>
          </a:p>
        </p:txBody>
      </p:sp>
      <p:sp>
        <p:nvSpPr>
          <p:cNvPr id="15" name="Text 13"/>
          <p:cNvSpPr/>
          <p:nvPr/>
        </p:nvSpPr>
        <p:spPr>
          <a:xfrm>
            <a:off x="384048" y="3950208"/>
            <a:ext cx="2560320" cy="201168"/>
          </a:xfrm>
          <a:prstGeom prst="rect">
            <a:avLst/>
          </a:prstGeom>
          <a:noFill/>
          <a:ln/>
        </p:spPr>
        <p:txBody>
          <a:bodyPr wrap="square" rtlCol="0" anchor="ctr"/>
          <a:lstStyle/>
          <a:p>
            <a:pPr marL="0" indent="0">
              <a:buNone/>
            </a:pPr>
            <a:r>
              <a:rPr lang="en-US" sz="1000" dirty="0">
                <a:solidFill>
                  <a:srgbClr val="546E7A"/>
                </a:solidFill>
                <a:latin typeface="Calibri" pitchFamily="34" charset="0"/>
                <a:ea typeface="Calibri" pitchFamily="34" charset="-122"/>
                <a:cs typeface="Calibri" pitchFamily="34" charset="-120"/>
              </a:rPr>
              <a:t>• Used for: Hosting websites, apps, databases</a:t>
            </a:r>
            <a:endParaRPr lang="en-US" sz="1000" dirty="0"/>
          </a:p>
        </p:txBody>
      </p:sp>
      <p:sp>
        <p:nvSpPr>
          <p:cNvPr id="16" name="Shape 14"/>
          <p:cNvSpPr/>
          <p:nvPr/>
        </p:nvSpPr>
        <p:spPr>
          <a:xfrm>
            <a:off x="3182112" y="749808"/>
            <a:ext cx="2743200" cy="4160520"/>
          </a:xfrm>
          <a:prstGeom prst="rect">
            <a:avLst/>
          </a:prstGeom>
          <a:solidFill>
            <a:srgbClr val="FFFFFF"/>
          </a:solidFill>
          <a:ln w="25400">
            <a:solidFill>
              <a:srgbClr val="0DB7ED"/>
            </a:solidFill>
            <a:prstDash val="solid"/>
          </a:ln>
          <a:effectLst>
            <a:outerShdw blurRad="50800" dist="25400" dir="8100000" algn="bl" rotWithShape="0">
              <a:srgbClr val="000000">
                <a:alpha val="8000"/>
              </a:srgbClr>
            </a:outerShdw>
          </a:effectLst>
        </p:spPr>
      </p:sp>
      <p:sp>
        <p:nvSpPr>
          <p:cNvPr id="17" name="Shape 15"/>
          <p:cNvSpPr/>
          <p:nvPr/>
        </p:nvSpPr>
        <p:spPr>
          <a:xfrm>
            <a:off x="3182112" y="749808"/>
            <a:ext cx="2743200" cy="457200"/>
          </a:xfrm>
          <a:prstGeom prst="rect">
            <a:avLst/>
          </a:prstGeom>
          <a:solidFill>
            <a:srgbClr val="0DB7ED"/>
          </a:solidFill>
          <a:ln w="12700">
            <a:solidFill>
              <a:srgbClr val="0DB7ED"/>
            </a:solidFill>
            <a:prstDash val="solid"/>
          </a:ln>
        </p:spPr>
      </p:sp>
      <p:sp>
        <p:nvSpPr>
          <p:cNvPr id="18" name="Text 16"/>
          <p:cNvSpPr/>
          <p:nvPr/>
        </p:nvSpPr>
        <p:spPr>
          <a:xfrm>
            <a:off x="3273552" y="749808"/>
            <a:ext cx="256032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Docker</a:t>
            </a:r>
            <a:endParaRPr lang="en-US" sz="1300" dirty="0"/>
          </a:p>
        </p:txBody>
      </p:sp>
      <p:sp>
        <p:nvSpPr>
          <p:cNvPr id="19" name="Text 17"/>
          <p:cNvSpPr/>
          <p:nvPr/>
        </p:nvSpPr>
        <p:spPr>
          <a:xfrm>
            <a:off x="3291840" y="1261872"/>
            <a:ext cx="2560320" cy="228600"/>
          </a:xfrm>
          <a:prstGeom prst="rect">
            <a:avLst/>
          </a:prstGeom>
          <a:noFill/>
          <a:ln/>
        </p:spPr>
        <p:txBody>
          <a:bodyPr wrap="square" rtlCol="0" anchor="ctr"/>
          <a:lstStyle/>
          <a:p>
            <a:pPr marL="0" indent="0">
              <a:buNone/>
            </a:pPr>
            <a:r>
              <a:rPr lang="en-US" sz="1100" b="1" dirty="0">
                <a:solidFill>
                  <a:srgbClr val="0DB7ED"/>
                </a:solidFill>
                <a:latin typeface="Calibri" pitchFamily="34" charset="0"/>
                <a:ea typeface="Calibri" pitchFamily="34" charset="-122"/>
                <a:cs typeface="Calibri" pitchFamily="34" charset="-120"/>
              </a:rPr>
              <a:t>What it is:</a:t>
            </a:r>
            <a:endParaRPr lang="en-US" sz="1100" dirty="0"/>
          </a:p>
        </p:txBody>
      </p:sp>
      <p:sp>
        <p:nvSpPr>
          <p:cNvPr id="20" name="Text 18"/>
          <p:cNvSpPr/>
          <p:nvPr/>
        </p:nvSpPr>
        <p:spPr>
          <a:xfrm>
            <a:off x="3291840" y="1490472"/>
            <a:ext cx="2560320" cy="41148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A tool to package your app + all its needs into one portable container.</a:t>
            </a:r>
            <a:endParaRPr lang="en-US" sz="1050" dirty="0"/>
          </a:p>
        </p:txBody>
      </p:sp>
      <p:sp>
        <p:nvSpPr>
          <p:cNvPr id="21" name="Text 19"/>
          <p:cNvSpPr/>
          <p:nvPr/>
        </p:nvSpPr>
        <p:spPr>
          <a:xfrm>
            <a:off x="3291840" y="1938528"/>
            <a:ext cx="2560320" cy="228600"/>
          </a:xfrm>
          <a:prstGeom prst="rect">
            <a:avLst/>
          </a:prstGeom>
          <a:noFill/>
          <a:ln/>
        </p:spPr>
        <p:txBody>
          <a:bodyPr wrap="square" rtlCol="0" anchor="ctr"/>
          <a:lstStyle/>
          <a:p>
            <a:pPr marL="0" indent="0">
              <a:buNone/>
            </a:pPr>
            <a:r>
              <a:rPr lang="en-US" sz="1100" b="1" dirty="0">
                <a:solidFill>
                  <a:srgbClr val="0DB7ED"/>
                </a:solidFill>
                <a:latin typeface="Calibri" pitchFamily="34" charset="0"/>
                <a:ea typeface="Calibri" pitchFamily="34" charset="-122"/>
                <a:cs typeface="Calibri" pitchFamily="34" charset="-120"/>
              </a:rPr>
              <a:t>How it works:</a:t>
            </a:r>
            <a:endParaRPr lang="en-US" sz="1100" dirty="0"/>
          </a:p>
        </p:txBody>
      </p:sp>
      <p:sp>
        <p:nvSpPr>
          <p:cNvPr id="22" name="Text 20"/>
          <p:cNvSpPr/>
          <p:nvPr/>
        </p:nvSpPr>
        <p:spPr>
          <a:xfrm>
            <a:off x="3291840" y="2167128"/>
            <a:ext cx="2560320" cy="50292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Write a Dockerfile, build an Image, run it as a Container on any computer.</a:t>
            </a:r>
            <a:endParaRPr lang="en-US" sz="1050" dirty="0"/>
          </a:p>
        </p:txBody>
      </p:sp>
      <p:sp>
        <p:nvSpPr>
          <p:cNvPr id="23" name="Text 21"/>
          <p:cNvSpPr/>
          <p:nvPr/>
        </p:nvSpPr>
        <p:spPr>
          <a:xfrm>
            <a:off x="3291840" y="2715768"/>
            <a:ext cx="2560320" cy="502920"/>
          </a:xfrm>
          <a:prstGeom prst="rect">
            <a:avLst/>
          </a:prstGeom>
          <a:noFill/>
          <a:ln/>
        </p:spPr>
        <p:txBody>
          <a:bodyPr wrap="square" rtlCol="0" anchor="ctr"/>
          <a:lstStyle/>
          <a:p>
            <a:pPr marL="0" indent="0">
              <a:buNone/>
            </a:pPr>
            <a:r>
              <a:rPr lang="en-US" sz="1050" i="1" dirty="0">
                <a:solidFill>
                  <a:srgbClr val="0DB7ED"/>
                </a:solidFill>
                <a:latin typeface="Calibri" pitchFamily="34" charset="0"/>
                <a:ea typeface="Calibri" pitchFamily="34" charset="-122"/>
                <a:cs typeface="Calibri" pitchFamily="34" charset="-120"/>
              </a:rPr>
              <a:t>📦  Like a tiffin box — everything packed. Open it anywhere and the food is ready.</a:t>
            </a:r>
            <a:endParaRPr lang="en-US" sz="1050" dirty="0"/>
          </a:p>
        </p:txBody>
      </p:sp>
      <p:sp>
        <p:nvSpPr>
          <p:cNvPr id="24" name="Text 22"/>
          <p:cNvSpPr/>
          <p:nvPr/>
        </p:nvSpPr>
        <p:spPr>
          <a:xfrm>
            <a:off x="3291840" y="3291840"/>
            <a:ext cx="2560320" cy="201168"/>
          </a:xfrm>
          <a:prstGeom prst="rect">
            <a:avLst/>
          </a:prstGeom>
          <a:noFill/>
          <a:ln/>
        </p:spPr>
        <p:txBody>
          <a:bodyPr wrap="square" rtlCol="0" anchor="ctr"/>
          <a:lstStyle/>
          <a:p>
            <a:pPr marL="0" indent="0">
              <a:buNone/>
            </a:pPr>
            <a:r>
              <a:rPr lang="en-US" sz="1000" dirty="0">
                <a:solidFill>
                  <a:srgbClr val="546E7A"/>
                </a:solidFill>
                <a:latin typeface="Calibri" pitchFamily="34" charset="0"/>
                <a:ea typeface="Calibri" pitchFamily="34" charset="-122"/>
                <a:cs typeface="Calibri" pitchFamily="34" charset="-120"/>
              </a:rPr>
              <a:t>• Packages: Code + Libraries + Config</a:t>
            </a:r>
            <a:endParaRPr lang="en-US" sz="1000" dirty="0"/>
          </a:p>
        </p:txBody>
      </p:sp>
      <p:sp>
        <p:nvSpPr>
          <p:cNvPr id="25" name="Text 23"/>
          <p:cNvSpPr/>
          <p:nvPr/>
        </p:nvSpPr>
        <p:spPr>
          <a:xfrm>
            <a:off x="3291840" y="3511296"/>
            <a:ext cx="2560320" cy="201168"/>
          </a:xfrm>
          <a:prstGeom prst="rect">
            <a:avLst/>
          </a:prstGeom>
          <a:noFill/>
          <a:ln/>
        </p:spPr>
        <p:txBody>
          <a:bodyPr wrap="square" rtlCol="0" anchor="ctr"/>
          <a:lstStyle/>
          <a:p>
            <a:pPr marL="0" indent="0">
              <a:buNone/>
            </a:pPr>
            <a:r>
              <a:rPr lang="en-US" sz="1000" dirty="0">
                <a:solidFill>
                  <a:srgbClr val="546E7A"/>
                </a:solidFill>
                <a:latin typeface="Calibri" pitchFamily="34" charset="0"/>
                <a:ea typeface="Calibri" pitchFamily="34" charset="-122"/>
                <a:cs typeface="Calibri" pitchFamily="34" charset="-120"/>
              </a:rPr>
              <a:t>• Runs the same everywhere</a:t>
            </a:r>
            <a:endParaRPr lang="en-US" sz="1000" dirty="0"/>
          </a:p>
        </p:txBody>
      </p:sp>
      <p:sp>
        <p:nvSpPr>
          <p:cNvPr id="26" name="Text 24"/>
          <p:cNvSpPr/>
          <p:nvPr/>
        </p:nvSpPr>
        <p:spPr>
          <a:xfrm>
            <a:off x="3291840" y="3730752"/>
            <a:ext cx="2560320" cy="201168"/>
          </a:xfrm>
          <a:prstGeom prst="rect">
            <a:avLst/>
          </a:prstGeom>
          <a:noFill/>
          <a:ln/>
        </p:spPr>
        <p:txBody>
          <a:bodyPr wrap="square" rtlCol="0" anchor="ctr"/>
          <a:lstStyle/>
          <a:p>
            <a:pPr marL="0" indent="0">
              <a:buNone/>
            </a:pPr>
            <a:r>
              <a:rPr lang="en-US" sz="1000" dirty="0">
                <a:solidFill>
                  <a:srgbClr val="546E7A"/>
                </a:solidFill>
                <a:latin typeface="Calibri" pitchFamily="34" charset="0"/>
                <a:ea typeface="Calibri" pitchFamily="34" charset="-122"/>
                <a:cs typeface="Calibri" pitchFamily="34" charset="-120"/>
              </a:rPr>
              <a:t>• No 'works on my machine' problem</a:t>
            </a:r>
            <a:endParaRPr lang="en-US" sz="1000" dirty="0"/>
          </a:p>
        </p:txBody>
      </p:sp>
      <p:sp>
        <p:nvSpPr>
          <p:cNvPr id="27" name="Text 25"/>
          <p:cNvSpPr/>
          <p:nvPr/>
        </p:nvSpPr>
        <p:spPr>
          <a:xfrm>
            <a:off x="3291840" y="3950208"/>
            <a:ext cx="2560320" cy="201168"/>
          </a:xfrm>
          <a:prstGeom prst="rect">
            <a:avLst/>
          </a:prstGeom>
          <a:noFill/>
          <a:ln/>
        </p:spPr>
        <p:txBody>
          <a:bodyPr wrap="square" rtlCol="0" anchor="ctr"/>
          <a:lstStyle/>
          <a:p>
            <a:pPr marL="0" indent="0">
              <a:buNone/>
            </a:pPr>
            <a:r>
              <a:rPr lang="en-US" sz="1000" dirty="0">
                <a:solidFill>
                  <a:srgbClr val="546E7A"/>
                </a:solidFill>
                <a:latin typeface="Calibri" pitchFamily="34" charset="0"/>
                <a:ea typeface="Calibri" pitchFamily="34" charset="-122"/>
                <a:cs typeface="Calibri" pitchFamily="34" charset="-120"/>
              </a:rPr>
              <a:t>• Used for: App packaging &amp; deployment</a:t>
            </a:r>
            <a:endParaRPr lang="en-US" sz="1000" dirty="0"/>
          </a:p>
        </p:txBody>
      </p:sp>
      <p:sp>
        <p:nvSpPr>
          <p:cNvPr id="28" name="Shape 26"/>
          <p:cNvSpPr/>
          <p:nvPr/>
        </p:nvSpPr>
        <p:spPr>
          <a:xfrm>
            <a:off x="6089904" y="749808"/>
            <a:ext cx="2743200" cy="4160520"/>
          </a:xfrm>
          <a:prstGeom prst="rect">
            <a:avLst/>
          </a:prstGeom>
          <a:solidFill>
            <a:srgbClr val="FFFFFF"/>
          </a:solidFill>
          <a:ln w="25400">
            <a:solidFill>
              <a:srgbClr val="326CE5"/>
            </a:solidFill>
            <a:prstDash val="solid"/>
          </a:ln>
          <a:effectLst>
            <a:outerShdw blurRad="50800" dist="25400" dir="8100000" algn="bl" rotWithShape="0">
              <a:srgbClr val="000000">
                <a:alpha val="8000"/>
              </a:srgbClr>
            </a:outerShdw>
          </a:effectLst>
        </p:spPr>
      </p:sp>
      <p:sp>
        <p:nvSpPr>
          <p:cNvPr id="29" name="Shape 27"/>
          <p:cNvSpPr/>
          <p:nvPr/>
        </p:nvSpPr>
        <p:spPr>
          <a:xfrm>
            <a:off x="6089904" y="749808"/>
            <a:ext cx="2743200" cy="457200"/>
          </a:xfrm>
          <a:prstGeom prst="rect">
            <a:avLst/>
          </a:prstGeom>
          <a:solidFill>
            <a:srgbClr val="326CE5"/>
          </a:solidFill>
          <a:ln w="12700">
            <a:solidFill>
              <a:srgbClr val="326CE5"/>
            </a:solidFill>
            <a:prstDash val="solid"/>
          </a:ln>
        </p:spPr>
      </p:sp>
      <p:sp>
        <p:nvSpPr>
          <p:cNvPr id="30" name="Text 28"/>
          <p:cNvSpPr/>
          <p:nvPr/>
        </p:nvSpPr>
        <p:spPr>
          <a:xfrm>
            <a:off x="6181344" y="749808"/>
            <a:ext cx="256032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Kubernetes</a:t>
            </a:r>
            <a:endParaRPr lang="en-US" sz="1300" dirty="0"/>
          </a:p>
        </p:txBody>
      </p:sp>
      <p:sp>
        <p:nvSpPr>
          <p:cNvPr id="31" name="Text 29"/>
          <p:cNvSpPr/>
          <p:nvPr/>
        </p:nvSpPr>
        <p:spPr>
          <a:xfrm>
            <a:off x="6199632" y="1261872"/>
            <a:ext cx="2560320" cy="228600"/>
          </a:xfrm>
          <a:prstGeom prst="rect">
            <a:avLst/>
          </a:prstGeom>
          <a:noFill/>
          <a:ln/>
        </p:spPr>
        <p:txBody>
          <a:bodyPr wrap="square" rtlCol="0" anchor="ctr"/>
          <a:lstStyle/>
          <a:p>
            <a:pPr marL="0" indent="0">
              <a:buNone/>
            </a:pPr>
            <a:r>
              <a:rPr lang="en-US" sz="1100" b="1" dirty="0">
                <a:solidFill>
                  <a:srgbClr val="326CE5"/>
                </a:solidFill>
                <a:latin typeface="Calibri" pitchFamily="34" charset="0"/>
                <a:ea typeface="Calibri" pitchFamily="34" charset="-122"/>
                <a:cs typeface="Calibri" pitchFamily="34" charset="-120"/>
              </a:rPr>
              <a:t>What it is:</a:t>
            </a:r>
            <a:endParaRPr lang="en-US" sz="1100" dirty="0"/>
          </a:p>
        </p:txBody>
      </p:sp>
      <p:sp>
        <p:nvSpPr>
          <p:cNvPr id="32" name="Text 30"/>
          <p:cNvSpPr/>
          <p:nvPr/>
        </p:nvSpPr>
        <p:spPr>
          <a:xfrm>
            <a:off x="6199632" y="1490472"/>
            <a:ext cx="2560320" cy="41148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A system that automatically manages, scales, and maintains your Docker containers.</a:t>
            </a:r>
            <a:endParaRPr lang="en-US" sz="1050" dirty="0"/>
          </a:p>
        </p:txBody>
      </p:sp>
      <p:sp>
        <p:nvSpPr>
          <p:cNvPr id="33" name="Text 31"/>
          <p:cNvSpPr/>
          <p:nvPr/>
        </p:nvSpPr>
        <p:spPr>
          <a:xfrm>
            <a:off x="6199632" y="1938528"/>
            <a:ext cx="2560320" cy="228600"/>
          </a:xfrm>
          <a:prstGeom prst="rect">
            <a:avLst/>
          </a:prstGeom>
          <a:noFill/>
          <a:ln/>
        </p:spPr>
        <p:txBody>
          <a:bodyPr wrap="square" rtlCol="0" anchor="ctr"/>
          <a:lstStyle/>
          <a:p>
            <a:pPr marL="0" indent="0">
              <a:buNone/>
            </a:pPr>
            <a:r>
              <a:rPr lang="en-US" sz="1100" b="1" dirty="0">
                <a:solidFill>
                  <a:srgbClr val="326CE5"/>
                </a:solidFill>
                <a:latin typeface="Calibri" pitchFamily="34" charset="0"/>
                <a:ea typeface="Calibri" pitchFamily="34" charset="-122"/>
                <a:cs typeface="Calibri" pitchFamily="34" charset="-120"/>
              </a:rPr>
              <a:t>How it works:</a:t>
            </a:r>
            <a:endParaRPr lang="en-US" sz="1100" dirty="0"/>
          </a:p>
        </p:txBody>
      </p:sp>
      <p:sp>
        <p:nvSpPr>
          <p:cNvPr id="34" name="Text 32"/>
          <p:cNvSpPr/>
          <p:nvPr/>
        </p:nvSpPr>
        <p:spPr>
          <a:xfrm>
            <a:off x="6199632" y="2167128"/>
            <a:ext cx="2560320" cy="50292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Define desired state (e.g., 5 replicas). K8s ensures that state is always maintained.</a:t>
            </a:r>
            <a:endParaRPr lang="en-US" sz="1050" dirty="0"/>
          </a:p>
        </p:txBody>
      </p:sp>
      <p:sp>
        <p:nvSpPr>
          <p:cNvPr id="35" name="Text 33"/>
          <p:cNvSpPr/>
          <p:nvPr/>
        </p:nvSpPr>
        <p:spPr>
          <a:xfrm>
            <a:off x="6199632" y="2715768"/>
            <a:ext cx="2560320" cy="502920"/>
          </a:xfrm>
          <a:prstGeom prst="rect">
            <a:avLst/>
          </a:prstGeom>
          <a:noFill/>
          <a:ln/>
        </p:spPr>
        <p:txBody>
          <a:bodyPr wrap="square" rtlCol="0" anchor="ctr"/>
          <a:lstStyle/>
          <a:p>
            <a:pPr marL="0" indent="0">
              <a:buNone/>
            </a:pPr>
            <a:r>
              <a:rPr lang="en-US" sz="1050" i="1" dirty="0">
                <a:solidFill>
                  <a:srgbClr val="326CE5"/>
                </a:solidFill>
                <a:latin typeface="Calibri" pitchFamily="34" charset="0"/>
                <a:ea typeface="Calibri" pitchFamily="34" charset="-122"/>
                <a:cs typeface="Calibri" pitchFamily="34" charset="-120"/>
              </a:rPr>
              <a:t>🎛  Like a restaurant manager — assigns tasks, handles busy periods, replaces absent staff.</a:t>
            </a:r>
            <a:endParaRPr lang="en-US" sz="1050" dirty="0"/>
          </a:p>
        </p:txBody>
      </p:sp>
      <p:sp>
        <p:nvSpPr>
          <p:cNvPr id="36" name="Text 34"/>
          <p:cNvSpPr/>
          <p:nvPr/>
        </p:nvSpPr>
        <p:spPr>
          <a:xfrm>
            <a:off x="6199632" y="3291840"/>
            <a:ext cx="2560320" cy="201168"/>
          </a:xfrm>
          <a:prstGeom prst="rect">
            <a:avLst/>
          </a:prstGeom>
          <a:noFill/>
          <a:ln/>
        </p:spPr>
        <p:txBody>
          <a:bodyPr wrap="square" rtlCol="0" anchor="ctr"/>
          <a:lstStyle/>
          <a:p>
            <a:pPr marL="0" indent="0">
              <a:buNone/>
            </a:pPr>
            <a:r>
              <a:rPr lang="en-US" sz="1000" dirty="0">
                <a:solidFill>
                  <a:srgbClr val="546E7A"/>
                </a:solidFill>
                <a:latin typeface="Calibri" pitchFamily="34" charset="0"/>
                <a:ea typeface="Calibri" pitchFamily="34" charset="-122"/>
                <a:cs typeface="Calibri" pitchFamily="34" charset="-120"/>
              </a:rPr>
              <a:t>• Manages: Many containers at once</a:t>
            </a:r>
            <a:endParaRPr lang="en-US" sz="1000" dirty="0"/>
          </a:p>
        </p:txBody>
      </p:sp>
      <p:sp>
        <p:nvSpPr>
          <p:cNvPr id="37" name="Text 35"/>
          <p:cNvSpPr/>
          <p:nvPr/>
        </p:nvSpPr>
        <p:spPr>
          <a:xfrm>
            <a:off x="6199632" y="3511296"/>
            <a:ext cx="2560320" cy="201168"/>
          </a:xfrm>
          <a:prstGeom prst="rect">
            <a:avLst/>
          </a:prstGeom>
          <a:noFill/>
          <a:ln/>
        </p:spPr>
        <p:txBody>
          <a:bodyPr wrap="square" rtlCol="0" anchor="ctr"/>
          <a:lstStyle/>
          <a:p>
            <a:pPr marL="0" indent="0">
              <a:buNone/>
            </a:pPr>
            <a:r>
              <a:rPr lang="en-US" sz="1000" dirty="0">
                <a:solidFill>
                  <a:srgbClr val="546E7A"/>
                </a:solidFill>
                <a:latin typeface="Calibri" pitchFamily="34" charset="0"/>
                <a:ea typeface="Calibri" pitchFamily="34" charset="-122"/>
                <a:cs typeface="Calibri" pitchFamily="34" charset="-120"/>
              </a:rPr>
              <a:t>• Auto-scales based on traffic</a:t>
            </a:r>
            <a:endParaRPr lang="en-US" sz="1000" dirty="0"/>
          </a:p>
        </p:txBody>
      </p:sp>
      <p:sp>
        <p:nvSpPr>
          <p:cNvPr id="38" name="Text 36"/>
          <p:cNvSpPr/>
          <p:nvPr/>
        </p:nvSpPr>
        <p:spPr>
          <a:xfrm>
            <a:off x="6199632" y="3730752"/>
            <a:ext cx="2560320" cy="201168"/>
          </a:xfrm>
          <a:prstGeom prst="rect">
            <a:avLst/>
          </a:prstGeom>
          <a:noFill/>
          <a:ln/>
        </p:spPr>
        <p:txBody>
          <a:bodyPr wrap="square" rtlCol="0" anchor="ctr"/>
          <a:lstStyle/>
          <a:p>
            <a:pPr marL="0" indent="0">
              <a:buNone/>
            </a:pPr>
            <a:r>
              <a:rPr lang="en-US" sz="1000" dirty="0">
                <a:solidFill>
                  <a:srgbClr val="546E7A"/>
                </a:solidFill>
                <a:latin typeface="Calibri" pitchFamily="34" charset="0"/>
                <a:ea typeface="Calibri" pitchFamily="34" charset="-122"/>
                <a:cs typeface="Calibri" pitchFamily="34" charset="-120"/>
              </a:rPr>
              <a:t>• Self-heals if containers crash</a:t>
            </a:r>
            <a:endParaRPr lang="en-US" sz="1000" dirty="0"/>
          </a:p>
        </p:txBody>
      </p:sp>
      <p:sp>
        <p:nvSpPr>
          <p:cNvPr id="39" name="Text 37"/>
          <p:cNvSpPr/>
          <p:nvPr/>
        </p:nvSpPr>
        <p:spPr>
          <a:xfrm>
            <a:off x="6199632" y="3950208"/>
            <a:ext cx="2560320" cy="201168"/>
          </a:xfrm>
          <a:prstGeom prst="rect">
            <a:avLst/>
          </a:prstGeom>
          <a:noFill/>
          <a:ln/>
        </p:spPr>
        <p:txBody>
          <a:bodyPr wrap="square" rtlCol="0" anchor="ctr"/>
          <a:lstStyle/>
          <a:p>
            <a:pPr marL="0" indent="0">
              <a:buNone/>
            </a:pPr>
            <a:r>
              <a:rPr lang="en-US" sz="1000" dirty="0">
                <a:solidFill>
                  <a:srgbClr val="546E7A"/>
                </a:solidFill>
                <a:latin typeface="Calibri" pitchFamily="34" charset="0"/>
                <a:ea typeface="Calibri" pitchFamily="34" charset="-122"/>
                <a:cs typeface="Calibri" pitchFamily="34" charset="-120"/>
              </a:rPr>
              <a:t>• Used for: Large-scale production apps</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FFB300"/>
          </a:solidFill>
          <a:ln w="12700">
            <a:solidFill>
              <a:srgbClr val="FFB300"/>
            </a:solidFill>
            <a:prstDash val="solid"/>
          </a:ln>
        </p:spPr>
      </p:sp>
      <p:sp>
        <p:nvSpPr>
          <p:cNvPr id="3" name="Text 1"/>
          <p:cNvSpPr/>
          <p:nvPr/>
        </p:nvSpPr>
        <p:spPr>
          <a:xfrm>
            <a:off x="365760" y="0"/>
            <a:ext cx="8412480" cy="640080"/>
          </a:xfrm>
          <a:prstGeom prst="rect">
            <a:avLst/>
          </a:prstGeom>
          <a:noFill/>
          <a:ln/>
        </p:spPr>
        <p:txBody>
          <a:bodyPr wrap="square" rtlCol="0" anchor="ctr"/>
          <a:lstStyle/>
          <a:p>
            <a:pPr marL="0" indent="0">
              <a:buNone/>
            </a:pPr>
            <a:r>
              <a:rPr lang="en-US" sz="2200" b="1" dirty="0">
                <a:solidFill>
                  <a:srgbClr val="0A1628"/>
                </a:solidFill>
                <a:latin typeface="Calibri" pitchFamily="34" charset="0"/>
                <a:ea typeface="Calibri" pitchFamily="34" charset="-122"/>
                <a:cs typeface="Calibri" pitchFamily="34" charset="-120"/>
              </a:rPr>
              <a:t>🌐  Real-World Example: How a Website Goes Live</a:t>
            </a:r>
            <a:endParaRPr lang="en-US" sz="2200" dirty="0"/>
          </a:p>
        </p:txBody>
      </p:sp>
      <p:sp>
        <p:nvSpPr>
          <p:cNvPr id="4" name="Text 2"/>
          <p:cNvSpPr/>
          <p:nvPr/>
        </p:nvSpPr>
        <p:spPr>
          <a:xfrm>
            <a:off x="320040" y="749808"/>
            <a:ext cx="8503920" cy="384048"/>
          </a:xfrm>
          <a:prstGeom prst="rect">
            <a:avLst/>
          </a:prstGeom>
          <a:noFill/>
          <a:ln/>
        </p:spPr>
        <p:txBody>
          <a:bodyPr wrap="square" rtlCol="0" anchor="ctr"/>
          <a:lstStyle/>
          <a:p>
            <a:pPr marL="0" indent="0">
              <a:buNone/>
            </a:pPr>
            <a:r>
              <a:rPr lang="en-US" sz="1300" i="1" dirty="0">
                <a:solidFill>
                  <a:srgbClr val="90CAF9"/>
                </a:solidFill>
                <a:latin typeface="Calibri" pitchFamily="34" charset="0"/>
                <a:ea typeface="Calibri" pitchFamily="34" charset="-122"/>
                <a:cs typeface="Calibri" pitchFamily="34" charset="-120"/>
              </a:rPr>
              <a:t>How a full-stack app (like an online shopping site) uses Cloud + Docker + Kubernetes together:</a:t>
            </a:r>
            <a:endParaRPr lang="en-US" sz="1300" dirty="0"/>
          </a:p>
        </p:txBody>
      </p:sp>
      <p:sp>
        <p:nvSpPr>
          <p:cNvPr id="5" name="Shape 3"/>
          <p:cNvSpPr/>
          <p:nvPr/>
        </p:nvSpPr>
        <p:spPr>
          <a:xfrm>
            <a:off x="274320" y="1261872"/>
            <a:ext cx="4160520" cy="1115568"/>
          </a:xfrm>
          <a:prstGeom prst="rect">
            <a:avLst/>
          </a:prstGeom>
          <a:solidFill>
            <a:srgbClr val="0D1F3C"/>
          </a:solidFill>
          <a:ln w="12700">
            <a:solidFill>
              <a:srgbClr val="0DB7ED"/>
            </a:solidFill>
            <a:prstDash val="solid"/>
          </a:ln>
        </p:spPr>
      </p:sp>
      <p:sp>
        <p:nvSpPr>
          <p:cNvPr id="6" name="Shape 4"/>
          <p:cNvSpPr/>
          <p:nvPr/>
        </p:nvSpPr>
        <p:spPr>
          <a:xfrm>
            <a:off x="384048" y="1536192"/>
            <a:ext cx="530352" cy="530352"/>
          </a:xfrm>
          <a:prstGeom prst="ellipse">
            <a:avLst/>
          </a:prstGeom>
          <a:solidFill>
            <a:srgbClr val="0DB7ED"/>
          </a:solidFill>
          <a:ln w="12700">
            <a:solidFill>
              <a:srgbClr val="0DB7ED"/>
            </a:solidFill>
            <a:prstDash val="solid"/>
          </a:ln>
        </p:spPr>
      </p:sp>
      <p:sp>
        <p:nvSpPr>
          <p:cNvPr id="7" name="Text 5"/>
          <p:cNvSpPr/>
          <p:nvPr/>
        </p:nvSpPr>
        <p:spPr>
          <a:xfrm>
            <a:off x="384048" y="1536192"/>
            <a:ext cx="530352" cy="53035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024128" y="1335024"/>
            <a:ext cx="3291840" cy="320040"/>
          </a:xfrm>
          <a:prstGeom prst="rect">
            <a:avLst/>
          </a:prstGeom>
          <a:noFill/>
          <a:ln/>
        </p:spPr>
        <p:txBody>
          <a:bodyPr wrap="square" rtlCol="0" anchor="ctr"/>
          <a:lstStyle/>
          <a:p>
            <a:pPr marL="0" indent="0">
              <a:buNone/>
            </a:pPr>
            <a:r>
              <a:rPr lang="en-US" sz="1200" b="1" dirty="0">
                <a:solidFill>
                  <a:srgbClr val="0DB7ED"/>
                </a:solidFill>
                <a:latin typeface="Calibri" pitchFamily="34" charset="0"/>
                <a:ea typeface="Calibri" pitchFamily="34" charset="-122"/>
                <a:cs typeface="Calibri" pitchFamily="34" charset="-120"/>
              </a:rPr>
              <a:t>👨‍💻  Developer builds the app</a:t>
            </a:r>
            <a:endParaRPr lang="en-US" sz="1200" dirty="0"/>
          </a:p>
        </p:txBody>
      </p:sp>
      <p:sp>
        <p:nvSpPr>
          <p:cNvPr id="9" name="Text 7"/>
          <p:cNvSpPr/>
          <p:nvPr/>
        </p:nvSpPr>
        <p:spPr>
          <a:xfrm>
            <a:off x="1024128" y="1682496"/>
            <a:ext cx="3291840" cy="640080"/>
          </a:xfrm>
          <a:prstGeom prst="rect">
            <a:avLst/>
          </a:prstGeom>
          <a:noFill/>
          <a:ln/>
        </p:spPr>
        <p:txBody>
          <a:bodyPr wrap="square" rtlCol="0" anchor="ctr"/>
          <a:lstStyle/>
          <a:p>
            <a:pPr marL="0" indent="0">
              <a:buNone/>
            </a:pPr>
            <a:r>
              <a:rPr lang="en-US" sz="1100" dirty="0">
                <a:solidFill>
                  <a:srgbClr val="B0BEC5"/>
                </a:solidFill>
                <a:latin typeface="Calibri" pitchFamily="34" charset="0"/>
                <a:ea typeface="Calibri" pitchFamily="34" charset="-122"/>
                <a:cs typeface="Calibri" pitchFamily="34" charset="-120"/>
              </a:rPr>
              <a:t>A developer writes a React frontend and a Node.js backend. They write a Dockerfile to package the entire app.</a:t>
            </a:r>
            <a:endParaRPr lang="en-US" sz="1100" dirty="0"/>
          </a:p>
        </p:txBody>
      </p:sp>
      <p:sp>
        <p:nvSpPr>
          <p:cNvPr id="10" name="Shape 8"/>
          <p:cNvSpPr/>
          <p:nvPr/>
        </p:nvSpPr>
        <p:spPr>
          <a:xfrm>
            <a:off x="274320" y="2496312"/>
            <a:ext cx="4160520" cy="1115568"/>
          </a:xfrm>
          <a:prstGeom prst="rect">
            <a:avLst/>
          </a:prstGeom>
          <a:solidFill>
            <a:srgbClr val="0D1F3C"/>
          </a:solidFill>
          <a:ln w="12700">
            <a:solidFill>
              <a:srgbClr val="43A047"/>
            </a:solidFill>
            <a:prstDash val="solid"/>
          </a:ln>
        </p:spPr>
      </p:sp>
      <p:sp>
        <p:nvSpPr>
          <p:cNvPr id="11" name="Shape 9"/>
          <p:cNvSpPr/>
          <p:nvPr/>
        </p:nvSpPr>
        <p:spPr>
          <a:xfrm>
            <a:off x="384048" y="2770632"/>
            <a:ext cx="530352" cy="530352"/>
          </a:xfrm>
          <a:prstGeom prst="ellipse">
            <a:avLst/>
          </a:prstGeom>
          <a:solidFill>
            <a:srgbClr val="43A047"/>
          </a:solidFill>
          <a:ln w="12700">
            <a:solidFill>
              <a:srgbClr val="43A047"/>
            </a:solidFill>
            <a:prstDash val="solid"/>
          </a:ln>
        </p:spPr>
      </p:sp>
      <p:sp>
        <p:nvSpPr>
          <p:cNvPr id="12" name="Text 10"/>
          <p:cNvSpPr/>
          <p:nvPr/>
        </p:nvSpPr>
        <p:spPr>
          <a:xfrm>
            <a:off x="384048" y="2770632"/>
            <a:ext cx="530352" cy="53035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024128" y="2569464"/>
            <a:ext cx="3291840" cy="320040"/>
          </a:xfrm>
          <a:prstGeom prst="rect">
            <a:avLst/>
          </a:prstGeom>
          <a:noFill/>
          <a:ln/>
        </p:spPr>
        <p:txBody>
          <a:bodyPr wrap="square" rtlCol="0" anchor="ctr"/>
          <a:lstStyle/>
          <a:p>
            <a:pPr marL="0" indent="0">
              <a:buNone/>
            </a:pPr>
            <a:r>
              <a:rPr lang="en-US" sz="1200" b="1" dirty="0">
                <a:solidFill>
                  <a:srgbClr val="43A047"/>
                </a:solidFill>
                <a:latin typeface="Calibri" pitchFamily="34" charset="0"/>
                <a:ea typeface="Calibri" pitchFamily="34" charset="-122"/>
                <a:cs typeface="Calibri" pitchFamily="34" charset="-120"/>
              </a:rPr>
              <a:t>🐳  Docker packages it</a:t>
            </a:r>
            <a:endParaRPr lang="en-US" sz="1200" dirty="0"/>
          </a:p>
        </p:txBody>
      </p:sp>
      <p:sp>
        <p:nvSpPr>
          <p:cNvPr id="14" name="Text 12"/>
          <p:cNvSpPr/>
          <p:nvPr/>
        </p:nvSpPr>
        <p:spPr>
          <a:xfrm>
            <a:off x="1024128" y="2916936"/>
            <a:ext cx="3291840" cy="640080"/>
          </a:xfrm>
          <a:prstGeom prst="rect">
            <a:avLst/>
          </a:prstGeom>
          <a:noFill/>
          <a:ln/>
        </p:spPr>
        <p:txBody>
          <a:bodyPr wrap="square" rtlCol="0" anchor="ctr"/>
          <a:lstStyle/>
          <a:p>
            <a:pPr marL="0" indent="0">
              <a:buNone/>
            </a:pPr>
            <a:r>
              <a:rPr lang="en-US" sz="1100" dirty="0">
                <a:solidFill>
                  <a:srgbClr val="B0BEC5"/>
                </a:solidFill>
                <a:latin typeface="Calibri" pitchFamily="34" charset="0"/>
                <a:ea typeface="Calibri" pitchFamily="34" charset="-122"/>
                <a:cs typeface="Calibri" pitchFamily="34" charset="-120"/>
              </a:rPr>
              <a:t>docker build creates an Image. The image is pushed to Docker Hub. Now the app is ready to run anywhere, consistently.</a:t>
            </a:r>
            <a:endParaRPr lang="en-US" sz="1100" dirty="0"/>
          </a:p>
        </p:txBody>
      </p:sp>
      <p:sp>
        <p:nvSpPr>
          <p:cNvPr id="15" name="Shape 13"/>
          <p:cNvSpPr/>
          <p:nvPr/>
        </p:nvSpPr>
        <p:spPr>
          <a:xfrm>
            <a:off x="274320" y="3730752"/>
            <a:ext cx="4160520" cy="1115568"/>
          </a:xfrm>
          <a:prstGeom prst="rect">
            <a:avLst/>
          </a:prstGeom>
          <a:solidFill>
            <a:srgbClr val="0D1F3C"/>
          </a:solidFill>
          <a:ln w="12700">
            <a:solidFill>
              <a:srgbClr val="326CE5"/>
            </a:solidFill>
            <a:prstDash val="solid"/>
          </a:ln>
        </p:spPr>
      </p:sp>
      <p:sp>
        <p:nvSpPr>
          <p:cNvPr id="16" name="Shape 14"/>
          <p:cNvSpPr/>
          <p:nvPr/>
        </p:nvSpPr>
        <p:spPr>
          <a:xfrm>
            <a:off x="384048" y="4005072"/>
            <a:ext cx="530352" cy="530352"/>
          </a:xfrm>
          <a:prstGeom prst="ellipse">
            <a:avLst/>
          </a:prstGeom>
          <a:solidFill>
            <a:srgbClr val="326CE5"/>
          </a:solidFill>
          <a:ln w="12700">
            <a:solidFill>
              <a:srgbClr val="326CE5"/>
            </a:solidFill>
            <a:prstDash val="solid"/>
          </a:ln>
        </p:spPr>
      </p:sp>
      <p:sp>
        <p:nvSpPr>
          <p:cNvPr id="17" name="Text 15"/>
          <p:cNvSpPr/>
          <p:nvPr/>
        </p:nvSpPr>
        <p:spPr>
          <a:xfrm>
            <a:off x="384048" y="4005072"/>
            <a:ext cx="530352" cy="53035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1024128" y="3803904"/>
            <a:ext cx="3291840" cy="320040"/>
          </a:xfrm>
          <a:prstGeom prst="rect">
            <a:avLst/>
          </a:prstGeom>
          <a:noFill/>
          <a:ln/>
        </p:spPr>
        <p:txBody>
          <a:bodyPr wrap="square" rtlCol="0" anchor="ctr"/>
          <a:lstStyle/>
          <a:p>
            <a:pPr marL="0" indent="0">
              <a:buNone/>
            </a:pPr>
            <a:r>
              <a:rPr lang="en-US" sz="1200" b="1" dirty="0">
                <a:solidFill>
                  <a:srgbClr val="326CE5"/>
                </a:solidFill>
                <a:latin typeface="Calibri" pitchFamily="34" charset="0"/>
                <a:ea typeface="Calibri" pitchFamily="34" charset="-122"/>
                <a:cs typeface="Calibri" pitchFamily="34" charset="-120"/>
              </a:rPr>
              <a:t>⚙  Kubernetes deploys it</a:t>
            </a:r>
            <a:endParaRPr lang="en-US" sz="1200" dirty="0"/>
          </a:p>
        </p:txBody>
      </p:sp>
      <p:sp>
        <p:nvSpPr>
          <p:cNvPr id="19" name="Text 17"/>
          <p:cNvSpPr/>
          <p:nvPr/>
        </p:nvSpPr>
        <p:spPr>
          <a:xfrm>
            <a:off x="1024128" y="4151376"/>
            <a:ext cx="3291840" cy="640080"/>
          </a:xfrm>
          <a:prstGeom prst="rect">
            <a:avLst/>
          </a:prstGeom>
          <a:noFill/>
          <a:ln/>
        </p:spPr>
        <p:txBody>
          <a:bodyPr wrap="square" rtlCol="0" anchor="ctr"/>
          <a:lstStyle/>
          <a:p>
            <a:pPr marL="0" indent="0">
              <a:buNone/>
            </a:pPr>
            <a:r>
              <a:rPr lang="en-US" sz="1100" dirty="0">
                <a:solidFill>
                  <a:srgbClr val="B0BEC5"/>
                </a:solidFill>
                <a:latin typeface="Calibri" pitchFamily="34" charset="0"/>
                <a:ea typeface="Calibri" pitchFamily="34" charset="-122"/>
                <a:cs typeface="Calibri" pitchFamily="34" charset="-120"/>
              </a:rPr>
              <a:t>Kubernetes reads the image and starts 5 containers of the app. It sets up load balancing and monitors all containers.</a:t>
            </a:r>
            <a:endParaRPr lang="en-US" sz="1100" dirty="0"/>
          </a:p>
        </p:txBody>
      </p:sp>
      <p:sp>
        <p:nvSpPr>
          <p:cNvPr id="20" name="Shape 18"/>
          <p:cNvSpPr/>
          <p:nvPr/>
        </p:nvSpPr>
        <p:spPr>
          <a:xfrm>
            <a:off x="4736592" y="1261872"/>
            <a:ext cx="4160520" cy="1115568"/>
          </a:xfrm>
          <a:prstGeom prst="rect">
            <a:avLst/>
          </a:prstGeom>
          <a:solidFill>
            <a:srgbClr val="0D1F3C"/>
          </a:solidFill>
          <a:ln w="12700">
            <a:solidFill>
              <a:srgbClr val="FFB300"/>
            </a:solidFill>
            <a:prstDash val="solid"/>
          </a:ln>
        </p:spPr>
      </p:sp>
      <p:sp>
        <p:nvSpPr>
          <p:cNvPr id="21" name="Shape 19"/>
          <p:cNvSpPr/>
          <p:nvPr/>
        </p:nvSpPr>
        <p:spPr>
          <a:xfrm>
            <a:off x="4846320" y="1536192"/>
            <a:ext cx="530352" cy="530352"/>
          </a:xfrm>
          <a:prstGeom prst="ellipse">
            <a:avLst/>
          </a:prstGeom>
          <a:solidFill>
            <a:srgbClr val="FFB300"/>
          </a:solidFill>
          <a:ln w="12700">
            <a:solidFill>
              <a:srgbClr val="FFB300"/>
            </a:solidFill>
            <a:prstDash val="solid"/>
          </a:ln>
        </p:spPr>
      </p:sp>
      <p:sp>
        <p:nvSpPr>
          <p:cNvPr id="22" name="Text 20"/>
          <p:cNvSpPr/>
          <p:nvPr/>
        </p:nvSpPr>
        <p:spPr>
          <a:xfrm>
            <a:off x="4846320" y="1536192"/>
            <a:ext cx="530352" cy="53035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1"/>
          <p:cNvSpPr/>
          <p:nvPr/>
        </p:nvSpPr>
        <p:spPr>
          <a:xfrm>
            <a:off x="5486400" y="1335024"/>
            <a:ext cx="3291840" cy="320040"/>
          </a:xfrm>
          <a:prstGeom prst="rect">
            <a:avLst/>
          </a:prstGeom>
          <a:noFill/>
          <a:ln/>
        </p:spPr>
        <p:txBody>
          <a:bodyPr wrap="square" rtlCol="0" anchor="ctr"/>
          <a:lstStyle/>
          <a:p>
            <a:pPr marL="0" indent="0">
              <a:buNone/>
            </a:pPr>
            <a:r>
              <a:rPr lang="en-US" sz="1200" b="1" dirty="0">
                <a:solidFill>
                  <a:srgbClr val="FFB300"/>
                </a:solidFill>
                <a:latin typeface="Calibri" pitchFamily="34" charset="0"/>
                <a:ea typeface="Calibri" pitchFamily="34" charset="-122"/>
                <a:cs typeface="Calibri" pitchFamily="34" charset="-120"/>
              </a:rPr>
              <a:t>☁  Cloud hosts everything</a:t>
            </a:r>
            <a:endParaRPr lang="en-US" sz="1200" dirty="0"/>
          </a:p>
        </p:txBody>
      </p:sp>
      <p:sp>
        <p:nvSpPr>
          <p:cNvPr id="24" name="Text 22"/>
          <p:cNvSpPr/>
          <p:nvPr/>
        </p:nvSpPr>
        <p:spPr>
          <a:xfrm>
            <a:off x="5486400" y="1682496"/>
            <a:ext cx="3291840" cy="640080"/>
          </a:xfrm>
          <a:prstGeom prst="rect">
            <a:avLst/>
          </a:prstGeom>
          <a:noFill/>
          <a:ln/>
        </p:spPr>
        <p:txBody>
          <a:bodyPr wrap="square" rtlCol="0" anchor="ctr"/>
          <a:lstStyle/>
          <a:p>
            <a:pPr marL="0" indent="0">
              <a:buNone/>
            </a:pPr>
            <a:r>
              <a:rPr lang="en-US" sz="1100" dirty="0">
                <a:solidFill>
                  <a:srgbClr val="B0BEC5"/>
                </a:solidFill>
                <a:latin typeface="Calibri" pitchFamily="34" charset="0"/>
                <a:ea typeface="Calibri" pitchFamily="34" charset="-122"/>
                <a:cs typeface="Calibri" pitchFamily="34" charset="-120"/>
              </a:rPr>
              <a:t>All of this runs on AWS or Google Cloud servers. The cloud provides VMs, storage, networking — everything needed at scale.</a:t>
            </a:r>
            <a:endParaRPr lang="en-US" sz="1100" dirty="0"/>
          </a:p>
        </p:txBody>
      </p:sp>
      <p:sp>
        <p:nvSpPr>
          <p:cNvPr id="25" name="Shape 23"/>
          <p:cNvSpPr/>
          <p:nvPr/>
        </p:nvSpPr>
        <p:spPr>
          <a:xfrm>
            <a:off x="4736592" y="2496312"/>
            <a:ext cx="4160520" cy="1115568"/>
          </a:xfrm>
          <a:prstGeom prst="rect">
            <a:avLst/>
          </a:prstGeom>
          <a:solidFill>
            <a:srgbClr val="0D1F3C"/>
          </a:solidFill>
          <a:ln w="12700">
            <a:solidFill>
              <a:srgbClr val="F4511E"/>
            </a:solidFill>
            <a:prstDash val="solid"/>
          </a:ln>
        </p:spPr>
      </p:sp>
      <p:sp>
        <p:nvSpPr>
          <p:cNvPr id="26" name="Shape 24"/>
          <p:cNvSpPr/>
          <p:nvPr/>
        </p:nvSpPr>
        <p:spPr>
          <a:xfrm>
            <a:off x="4846320" y="2770632"/>
            <a:ext cx="530352" cy="530352"/>
          </a:xfrm>
          <a:prstGeom prst="ellipse">
            <a:avLst/>
          </a:prstGeom>
          <a:solidFill>
            <a:srgbClr val="F4511E"/>
          </a:solidFill>
          <a:ln w="12700">
            <a:solidFill>
              <a:srgbClr val="F4511E"/>
            </a:solidFill>
            <a:prstDash val="solid"/>
          </a:ln>
        </p:spPr>
      </p:sp>
      <p:sp>
        <p:nvSpPr>
          <p:cNvPr id="27" name="Text 25"/>
          <p:cNvSpPr/>
          <p:nvPr/>
        </p:nvSpPr>
        <p:spPr>
          <a:xfrm>
            <a:off x="4846320" y="2770632"/>
            <a:ext cx="530352" cy="53035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8" name="Text 26"/>
          <p:cNvSpPr/>
          <p:nvPr/>
        </p:nvSpPr>
        <p:spPr>
          <a:xfrm>
            <a:off x="5486400" y="2569464"/>
            <a:ext cx="3291840" cy="320040"/>
          </a:xfrm>
          <a:prstGeom prst="rect">
            <a:avLst/>
          </a:prstGeom>
          <a:noFill/>
          <a:ln/>
        </p:spPr>
        <p:txBody>
          <a:bodyPr wrap="square" rtlCol="0" anchor="ctr"/>
          <a:lstStyle/>
          <a:p>
            <a:pPr marL="0" indent="0">
              <a:buNone/>
            </a:pPr>
            <a:r>
              <a:rPr lang="en-US" sz="1200" b="1" dirty="0">
                <a:solidFill>
                  <a:srgbClr val="F4511E"/>
                </a:solidFill>
                <a:latin typeface="Calibri" pitchFamily="34" charset="0"/>
                <a:ea typeface="Calibri" pitchFamily="34" charset="-122"/>
                <a:cs typeface="Calibri" pitchFamily="34" charset="-120"/>
              </a:rPr>
              <a:t>📈  Traffic spikes happen</a:t>
            </a:r>
            <a:endParaRPr lang="en-US" sz="1200" dirty="0"/>
          </a:p>
        </p:txBody>
      </p:sp>
      <p:sp>
        <p:nvSpPr>
          <p:cNvPr id="29" name="Text 27"/>
          <p:cNvSpPr/>
          <p:nvPr/>
        </p:nvSpPr>
        <p:spPr>
          <a:xfrm>
            <a:off x="5486400" y="2916936"/>
            <a:ext cx="3291840" cy="640080"/>
          </a:xfrm>
          <a:prstGeom prst="rect">
            <a:avLst/>
          </a:prstGeom>
          <a:noFill/>
          <a:ln/>
        </p:spPr>
        <p:txBody>
          <a:bodyPr wrap="square" rtlCol="0" anchor="ctr"/>
          <a:lstStyle/>
          <a:p>
            <a:pPr marL="0" indent="0">
              <a:buNone/>
            </a:pPr>
            <a:r>
              <a:rPr lang="en-US" sz="1100" dirty="0">
                <a:solidFill>
                  <a:srgbClr val="B0BEC5"/>
                </a:solidFill>
                <a:latin typeface="Calibri" pitchFamily="34" charset="0"/>
                <a:ea typeface="Calibri" pitchFamily="34" charset="-122"/>
                <a:cs typeface="Calibri" pitchFamily="34" charset="-120"/>
              </a:rPr>
              <a:t>Suddenly 50,000 users visit! Kubernetes sees high traffic and adds 20 more containers automatically. No action needed from the developer.</a:t>
            </a:r>
            <a:endParaRPr lang="en-US" sz="1100" dirty="0"/>
          </a:p>
        </p:txBody>
      </p:sp>
      <p:sp>
        <p:nvSpPr>
          <p:cNvPr id="30" name="Shape 28"/>
          <p:cNvSpPr/>
          <p:nvPr/>
        </p:nvSpPr>
        <p:spPr>
          <a:xfrm>
            <a:off x="4736592" y="3730752"/>
            <a:ext cx="4160520" cy="1115568"/>
          </a:xfrm>
          <a:prstGeom prst="rect">
            <a:avLst/>
          </a:prstGeom>
          <a:solidFill>
            <a:srgbClr val="0D1F3C"/>
          </a:solidFill>
          <a:ln w="12700">
            <a:solidFill>
              <a:srgbClr val="AB47BC"/>
            </a:solidFill>
            <a:prstDash val="solid"/>
          </a:ln>
        </p:spPr>
      </p:sp>
      <p:sp>
        <p:nvSpPr>
          <p:cNvPr id="31" name="Shape 29"/>
          <p:cNvSpPr/>
          <p:nvPr/>
        </p:nvSpPr>
        <p:spPr>
          <a:xfrm>
            <a:off x="4846320" y="4005072"/>
            <a:ext cx="530352" cy="530352"/>
          </a:xfrm>
          <a:prstGeom prst="ellipse">
            <a:avLst/>
          </a:prstGeom>
          <a:solidFill>
            <a:srgbClr val="AB47BC"/>
          </a:solidFill>
          <a:ln w="12700">
            <a:solidFill>
              <a:srgbClr val="AB47BC"/>
            </a:solidFill>
            <a:prstDash val="solid"/>
          </a:ln>
        </p:spPr>
      </p:sp>
      <p:sp>
        <p:nvSpPr>
          <p:cNvPr id="32" name="Text 30"/>
          <p:cNvSpPr/>
          <p:nvPr/>
        </p:nvSpPr>
        <p:spPr>
          <a:xfrm>
            <a:off x="4846320" y="4005072"/>
            <a:ext cx="530352" cy="53035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3" name="Text 31"/>
          <p:cNvSpPr/>
          <p:nvPr/>
        </p:nvSpPr>
        <p:spPr>
          <a:xfrm>
            <a:off x="5486400" y="3803904"/>
            <a:ext cx="3291840" cy="320040"/>
          </a:xfrm>
          <a:prstGeom prst="rect">
            <a:avLst/>
          </a:prstGeom>
          <a:noFill/>
          <a:ln/>
        </p:spPr>
        <p:txBody>
          <a:bodyPr wrap="square" rtlCol="0" anchor="ctr"/>
          <a:lstStyle/>
          <a:p>
            <a:pPr marL="0" indent="0">
              <a:buNone/>
            </a:pPr>
            <a:r>
              <a:rPr lang="en-US" sz="1200" b="1" dirty="0">
                <a:solidFill>
                  <a:srgbClr val="AB47BC"/>
                </a:solidFill>
                <a:latin typeface="Calibri" pitchFamily="34" charset="0"/>
                <a:ea typeface="Calibri" pitchFamily="34" charset="-122"/>
                <a:cs typeface="Calibri" pitchFamily="34" charset="-120"/>
              </a:rPr>
              <a:t>✅  Users use the app</a:t>
            </a:r>
            <a:endParaRPr lang="en-US" sz="1200" dirty="0"/>
          </a:p>
        </p:txBody>
      </p:sp>
      <p:sp>
        <p:nvSpPr>
          <p:cNvPr id="34" name="Text 32"/>
          <p:cNvSpPr/>
          <p:nvPr/>
        </p:nvSpPr>
        <p:spPr>
          <a:xfrm>
            <a:off x="5486400" y="4151376"/>
            <a:ext cx="3291840" cy="640080"/>
          </a:xfrm>
          <a:prstGeom prst="rect">
            <a:avLst/>
          </a:prstGeom>
          <a:noFill/>
          <a:ln/>
        </p:spPr>
        <p:txBody>
          <a:bodyPr wrap="square" rtlCol="0" anchor="ctr"/>
          <a:lstStyle/>
          <a:p>
            <a:pPr marL="0" indent="0">
              <a:buNone/>
            </a:pPr>
            <a:r>
              <a:rPr lang="en-US" sz="1100" dirty="0">
                <a:solidFill>
                  <a:srgbClr val="B0BEC5"/>
                </a:solidFill>
                <a:latin typeface="Calibri" pitchFamily="34" charset="0"/>
                <a:ea typeface="Calibri" pitchFamily="34" charset="-122"/>
                <a:cs typeface="Calibri" pitchFamily="34" charset="-120"/>
              </a:rPr>
              <a:t>Users get fast, reliable service. If any container crashes, Kubernetes replaces it in seconds. The app is always available!</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6">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897B"/>
          </a:solidFill>
          <a:ln w="12700">
            <a:solidFill>
              <a:srgbClr val="00897B"/>
            </a:solidFill>
            <a:prstDash val="solid"/>
          </a:ln>
        </p:spPr>
      </p:sp>
      <p:sp>
        <p:nvSpPr>
          <p:cNvPr id="3" name="Text 1"/>
          <p:cNvSpPr/>
          <p:nvPr/>
        </p:nvSpPr>
        <p:spPr>
          <a:xfrm>
            <a:off x="365760" y="0"/>
            <a:ext cx="841248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Unit 5 Summary — What We Learned</a:t>
            </a:r>
            <a:endParaRPr lang="en-US" sz="2200" dirty="0"/>
          </a:p>
        </p:txBody>
      </p:sp>
      <p:sp>
        <p:nvSpPr>
          <p:cNvPr id="4" name="Shape 2"/>
          <p:cNvSpPr/>
          <p:nvPr/>
        </p:nvSpPr>
        <p:spPr>
          <a:xfrm>
            <a:off x="274320" y="749808"/>
            <a:ext cx="4160520" cy="1298448"/>
          </a:xfrm>
          <a:prstGeom prst="rect">
            <a:avLst/>
          </a:prstGeom>
          <a:solidFill>
            <a:srgbClr val="FFFFFF"/>
          </a:solidFill>
          <a:ln w="12700">
            <a:solidFill>
              <a:srgbClr val="1565C0"/>
            </a:solidFill>
            <a:prstDash val="solid"/>
          </a:ln>
          <a:effectLst>
            <a:outerShdw blurRad="38100" dist="12700" dir="8100000" algn="bl" rotWithShape="0">
              <a:srgbClr val="000000">
                <a:alpha val="7000"/>
              </a:srgbClr>
            </a:outerShdw>
          </a:effectLst>
        </p:spPr>
      </p:sp>
      <p:sp>
        <p:nvSpPr>
          <p:cNvPr id="5" name="Shape 3"/>
          <p:cNvSpPr/>
          <p:nvPr/>
        </p:nvSpPr>
        <p:spPr>
          <a:xfrm>
            <a:off x="274320" y="749808"/>
            <a:ext cx="457200" cy="1298448"/>
          </a:xfrm>
          <a:prstGeom prst="rect">
            <a:avLst/>
          </a:prstGeom>
          <a:solidFill>
            <a:srgbClr val="1565C0"/>
          </a:solidFill>
          <a:ln w="12700">
            <a:solidFill>
              <a:srgbClr val="1565C0"/>
            </a:solidFill>
            <a:prstDash val="solid"/>
          </a:ln>
        </p:spPr>
      </p:sp>
      <p:sp>
        <p:nvSpPr>
          <p:cNvPr id="6" name="Text 4"/>
          <p:cNvSpPr/>
          <p:nvPr/>
        </p:nvSpPr>
        <p:spPr>
          <a:xfrm>
            <a:off x="274320" y="1207008"/>
            <a:ext cx="457200" cy="457200"/>
          </a:xfrm>
          <a:prstGeom prst="rect">
            <a:avLst/>
          </a:prstGeom>
          <a:noFill/>
          <a:ln/>
        </p:spPr>
        <p:txBody>
          <a:bodyPr wrap="square"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804672" y="822960"/>
            <a:ext cx="3520440" cy="292608"/>
          </a:xfrm>
          <a:prstGeom prst="rect">
            <a:avLst/>
          </a:prstGeom>
          <a:noFill/>
          <a:ln/>
        </p:spPr>
        <p:txBody>
          <a:bodyPr wrap="square"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Cloud Computing</a:t>
            </a:r>
            <a:endParaRPr lang="en-US" sz="1300" dirty="0"/>
          </a:p>
        </p:txBody>
      </p:sp>
      <p:sp>
        <p:nvSpPr>
          <p:cNvPr id="8" name="Text 6"/>
          <p:cNvSpPr/>
          <p:nvPr/>
        </p:nvSpPr>
        <p:spPr>
          <a:xfrm>
            <a:off x="804672" y="1133856"/>
            <a:ext cx="3520440" cy="27432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  Renting powerful internet servers instead of buying them</a:t>
            </a:r>
            <a:endParaRPr lang="en-US" sz="1050" dirty="0"/>
          </a:p>
        </p:txBody>
      </p:sp>
      <p:sp>
        <p:nvSpPr>
          <p:cNvPr id="9" name="Text 7"/>
          <p:cNvSpPr/>
          <p:nvPr/>
        </p:nvSpPr>
        <p:spPr>
          <a:xfrm>
            <a:off x="804672" y="1426464"/>
            <a:ext cx="3520440" cy="27432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  Types: Public, Private, Hybrid Cloud</a:t>
            </a:r>
            <a:endParaRPr lang="en-US" sz="1050" dirty="0"/>
          </a:p>
        </p:txBody>
      </p:sp>
      <p:sp>
        <p:nvSpPr>
          <p:cNvPr id="10" name="Text 8"/>
          <p:cNvSpPr/>
          <p:nvPr/>
        </p:nvSpPr>
        <p:spPr>
          <a:xfrm>
            <a:off x="804672" y="1719072"/>
            <a:ext cx="3520440" cy="27432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  Benefits: Cost savings, scaling, accessibility</a:t>
            </a:r>
            <a:endParaRPr lang="en-US" sz="1050" dirty="0"/>
          </a:p>
        </p:txBody>
      </p:sp>
      <p:sp>
        <p:nvSpPr>
          <p:cNvPr id="11" name="Shape 9"/>
          <p:cNvSpPr/>
          <p:nvPr/>
        </p:nvSpPr>
        <p:spPr>
          <a:xfrm>
            <a:off x="274320" y="2194560"/>
            <a:ext cx="4160520" cy="1298448"/>
          </a:xfrm>
          <a:prstGeom prst="rect">
            <a:avLst/>
          </a:prstGeom>
          <a:solidFill>
            <a:srgbClr val="FFFFFF"/>
          </a:solidFill>
          <a:ln w="12700">
            <a:solidFill>
              <a:srgbClr val="37474F"/>
            </a:solidFill>
            <a:prstDash val="solid"/>
          </a:ln>
          <a:effectLst>
            <a:outerShdw blurRad="38100" dist="12700" dir="8100000" algn="bl" rotWithShape="0">
              <a:srgbClr val="000000">
                <a:alpha val="7000"/>
              </a:srgbClr>
            </a:outerShdw>
          </a:effectLst>
        </p:spPr>
      </p:sp>
      <p:sp>
        <p:nvSpPr>
          <p:cNvPr id="12" name="Shape 10"/>
          <p:cNvSpPr/>
          <p:nvPr/>
        </p:nvSpPr>
        <p:spPr>
          <a:xfrm>
            <a:off x="274320" y="2194560"/>
            <a:ext cx="457200" cy="1298448"/>
          </a:xfrm>
          <a:prstGeom prst="rect">
            <a:avLst/>
          </a:prstGeom>
          <a:solidFill>
            <a:srgbClr val="37474F"/>
          </a:solidFill>
          <a:ln w="12700">
            <a:solidFill>
              <a:srgbClr val="37474F"/>
            </a:solidFill>
            <a:prstDash val="solid"/>
          </a:ln>
        </p:spPr>
      </p:sp>
      <p:sp>
        <p:nvSpPr>
          <p:cNvPr id="13" name="Text 11"/>
          <p:cNvSpPr/>
          <p:nvPr/>
        </p:nvSpPr>
        <p:spPr>
          <a:xfrm>
            <a:off x="274320" y="2651760"/>
            <a:ext cx="457200" cy="457200"/>
          </a:xfrm>
          <a:prstGeom prst="rect">
            <a:avLst/>
          </a:prstGeom>
          <a:noFill/>
          <a:ln/>
        </p:spPr>
        <p:txBody>
          <a:bodyPr wrap="square"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14" name="Text 12"/>
          <p:cNvSpPr/>
          <p:nvPr/>
        </p:nvSpPr>
        <p:spPr>
          <a:xfrm>
            <a:off x="804672" y="2267712"/>
            <a:ext cx="3520440" cy="292608"/>
          </a:xfrm>
          <a:prstGeom prst="rect">
            <a:avLst/>
          </a:prstGeom>
          <a:noFill/>
          <a:ln/>
        </p:spPr>
        <p:txBody>
          <a:bodyPr wrap="square" rtlCol="0" anchor="ctr"/>
          <a:lstStyle/>
          <a:p>
            <a:pPr marL="0" indent="0">
              <a:buNone/>
            </a:pPr>
            <a:r>
              <a:rPr lang="en-US" sz="1300" b="1" dirty="0">
                <a:solidFill>
                  <a:srgbClr val="37474F"/>
                </a:solidFill>
                <a:latin typeface="Calibri" pitchFamily="34" charset="0"/>
                <a:ea typeface="Calibri" pitchFamily="34" charset="-122"/>
                <a:cs typeface="Calibri" pitchFamily="34" charset="-120"/>
              </a:rPr>
              <a:t>Virtual Machines &amp; Networking</a:t>
            </a:r>
            <a:endParaRPr lang="en-US" sz="1300" dirty="0"/>
          </a:p>
        </p:txBody>
      </p:sp>
      <p:sp>
        <p:nvSpPr>
          <p:cNvPr id="15" name="Text 13"/>
          <p:cNvSpPr/>
          <p:nvPr/>
        </p:nvSpPr>
        <p:spPr>
          <a:xfrm>
            <a:off x="804672" y="2578608"/>
            <a:ext cx="3520440" cy="27432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  VM = a computer inside a computer (virtualization)</a:t>
            </a:r>
            <a:endParaRPr lang="en-US" sz="1050" dirty="0"/>
          </a:p>
        </p:txBody>
      </p:sp>
      <p:sp>
        <p:nvSpPr>
          <p:cNvPr id="16" name="Text 14"/>
          <p:cNvSpPr/>
          <p:nvPr/>
        </p:nvSpPr>
        <p:spPr>
          <a:xfrm>
            <a:off x="804672" y="2871216"/>
            <a:ext cx="3520440" cy="27432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  VPC = your private section inside a public cloud</a:t>
            </a:r>
            <a:endParaRPr lang="en-US" sz="1050" dirty="0"/>
          </a:p>
        </p:txBody>
      </p:sp>
      <p:sp>
        <p:nvSpPr>
          <p:cNvPr id="17" name="Text 15"/>
          <p:cNvSpPr/>
          <p:nvPr/>
        </p:nvSpPr>
        <p:spPr>
          <a:xfrm>
            <a:off x="804672" y="3163824"/>
            <a:ext cx="3520440" cy="27432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  Ethernet &amp; Switches manage data traffic in networks</a:t>
            </a:r>
            <a:endParaRPr lang="en-US" sz="1050" dirty="0"/>
          </a:p>
        </p:txBody>
      </p:sp>
      <p:sp>
        <p:nvSpPr>
          <p:cNvPr id="18" name="Shape 16"/>
          <p:cNvSpPr/>
          <p:nvPr/>
        </p:nvSpPr>
        <p:spPr>
          <a:xfrm>
            <a:off x="274320" y="3639312"/>
            <a:ext cx="4160520" cy="1298448"/>
          </a:xfrm>
          <a:prstGeom prst="rect">
            <a:avLst/>
          </a:prstGeom>
          <a:solidFill>
            <a:srgbClr val="FFFFFF"/>
          </a:solidFill>
          <a:ln w="12700">
            <a:solidFill>
              <a:srgbClr val="43A047"/>
            </a:solidFill>
            <a:prstDash val="solid"/>
          </a:ln>
          <a:effectLst>
            <a:outerShdw blurRad="38100" dist="12700" dir="8100000" algn="bl" rotWithShape="0">
              <a:srgbClr val="000000">
                <a:alpha val="7000"/>
              </a:srgbClr>
            </a:outerShdw>
          </a:effectLst>
        </p:spPr>
      </p:sp>
      <p:sp>
        <p:nvSpPr>
          <p:cNvPr id="19" name="Shape 17"/>
          <p:cNvSpPr/>
          <p:nvPr/>
        </p:nvSpPr>
        <p:spPr>
          <a:xfrm>
            <a:off x="274320" y="3639312"/>
            <a:ext cx="457200" cy="1298448"/>
          </a:xfrm>
          <a:prstGeom prst="rect">
            <a:avLst/>
          </a:prstGeom>
          <a:solidFill>
            <a:srgbClr val="43A047"/>
          </a:solidFill>
          <a:ln w="12700">
            <a:solidFill>
              <a:srgbClr val="43A047"/>
            </a:solidFill>
            <a:prstDash val="solid"/>
          </a:ln>
        </p:spPr>
      </p:sp>
      <p:sp>
        <p:nvSpPr>
          <p:cNvPr id="20" name="Text 18"/>
          <p:cNvSpPr/>
          <p:nvPr/>
        </p:nvSpPr>
        <p:spPr>
          <a:xfrm>
            <a:off x="274320" y="4096512"/>
            <a:ext cx="457200" cy="457200"/>
          </a:xfrm>
          <a:prstGeom prst="rect">
            <a:avLst/>
          </a:prstGeom>
          <a:noFill/>
          <a:ln/>
        </p:spPr>
        <p:txBody>
          <a:bodyPr wrap="square"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21" name="Text 19"/>
          <p:cNvSpPr/>
          <p:nvPr/>
        </p:nvSpPr>
        <p:spPr>
          <a:xfrm>
            <a:off x="804672" y="3712464"/>
            <a:ext cx="3520440" cy="292608"/>
          </a:xfrm>
          <a:prstGeom prst="rect">
            <a:avLst/>
          </a:prstGeom>
          <a:noFill/>
          <a:ln/>
        </p:spPr>
        <p:txBody>
          <a:bodyPr wrap="square" rtlCol="0" anchor="ctr"/>
          <a:lstStyle/>
          <a:p>
            <a:pPr marL="0" indent="0">
              <a:buNone/>
            </a:pPr>
            <a:r>
              <a:rPr lang="en-US" sz="1300" b="1" dirty="0">
                <a:solidFill>
                  <a:srgbClr val="43A047"/>
                </a:solidFill>
                <a:latin typeface="Calibri" pitchFamily="34" charset="0"/>
                <a:ea typeface="Calibri" pitchFamily="34" charset="-122"/>
                <a:cs typeface="Calibri" pitchFamily="34" charset="-120"/>
              </a:rPr>
              <a:t>Scaling</a:t>
            </a:r>
            <a:endParaRPr lang="en-US" sz="1300" dirty="0"/>
          </a:p>
        </p:txBody>
      </p:sp>
      <p:sp>
        <p:nvSpPr>
          <p:cNvPr id="22" name="Text 20"/>
          <p:cNvSpPr/>
          <p:nvPr/>
        </p:nvSpPr>
        <p:spPr>
          <a:xfrm>
            <a:off x="804672" y="4023360"/>
            <a:ext cx="3520440" cy="27432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  Vertical Scaling = upgrade same server (more CPU/RAM)</a:t>
            </a:r>
            <a:endParaRPr lang="en-US" sz="1050" dirty="0"/>
          </a:p>
        </p:txBody>
      </p:sp>
      <p:sp>
        <p:nvSpPr>
          <p:cNvPr id="23" name="Text 21"/>
          <p:cNvSpPr/>
          <p:nvPr/>
        </p:nvSpPr>
        <p:spPr>
          <a:xfrm>
            <a:off x="804672" y="4315968"/>
            <a:ext cx="3520440" cy="27432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  Horizontal Scaling = add more servers (scale out)</a:t>
            </a:r>
            <a:endParaRPr lang="en-US" sz="1050" dirty="0"/>
          </a:p>
        </p:txBody>
      </p:sp>
      <p:sp>
        <p:nvSpPr>
          <p:cNvPr id="24" name="Text 22"/>
          <p:cNvSpPr/>
          <p:nvPr/>
        </p:nvSpPr>
        <p:spPr>
          <a:xfrm>
            <a:off x="804672" y="4608576"/>
            <a:ext cx="3520440" cy="27432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  Cloud makes scaling easy and affordable</a:t>
            </a:r>
            <a:endParaRPr lang="en-US" sz="1050" dirty="0"/>
          </a:p>
        </p:txBody>
      </p:sp>
      <p:sp>
        <p:nvSpPr>
          <p:cNvPr id="25" name="Shape 23"/>
          <p:cNvSpPr/>
          <p:nvPr/>
        </p:nvSpPr>
        <p:spPr>
          <a:xfrm>
            <a:off x="4736592" y="749808"/>
            <a:ext cx="4160520" cy="1298448"/>
          </a:xfrm>
          <a:prstGeom prst="rect">
            <a:avLst/>
          </a:prstGeom>
          <a:solidFill>
            <a:srgbClr val="FFFFFF"/>
          </a:solidFill>
          <a:ln w="12700">
            <a:solidFill>
              <a:srgbClr val="0DB7ED"/>
            </a:solidFill>
            <a:prstDash val="solid"/>
          </a:ln>
          <a:effectLst>
            <a:outerShdw blurRad="38100" dist="12700" dir="8100000" algn="bl" rotWithShape="0">
              <a:srgbClr val="000000">
                <a:alpha val="7000"/>
              </a:srgbClr>
            </a:outerShdw>
          </a:effectLst>
        </p:spPr>
      </p:sp>
      <p:sp>
        <p:nvSpPr>
          <p:cNvPr id="26" name="Shape 24"/>
          <p:cNvSpPr/>
          <p:nvPr/>
        </p:nvSpPr>
        <p:spPr>
          <a:xfrm>
            <a:off x="4736592" y="749808"/>
            <a:ext cx="457200" cy="1298448"/>
          </a:xfrm>
          <a:prstGeom prst="rect">
            <a:avLst/>
          </a:prstGeom>
          <a:solidFill>
            <a:srgbClr val="0DB7ED"/>
          </a:solidFill>
          <a:ln w="12700">
            <a:solidFill>
              <a:srgbClr val="0DB7ED"/>
            </a:solidFill>
            <a:prstDash val="solid"/>
          </a:ln>
        </p:spPr>
      </p:sp>
      <p:sp>
        <p:nvSpPr>
          <p:cNvPr id="27" name="Text 25"/>
          <p:cNvSpPr/>
          <p:nvPr/>
        </p:nvSpPr>
        <p:spPr>
          <a:xfrm>
            <a:off x="4736592" y="1207008"/>
            <a:ext cx="457200" cy="457200"/>
          </a:xfrm>
          <a:prstGeom prst="rect">
            <a:avLst/>
          </a:prstGeom>
          <a:noFill/>
          <a:ln/>
        </p:spPr>
        <p:txBody>
          <a:bodyPr wrap="square"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28" name="Text 26"/>
          <p:cNvSpPr/>
          <p:nvPr/>
        </p:nvSpPr>
        <p:spPr>
          <a:xfrm>
            <a:off x="5266944" y="822960"/>
            <a:ext cx="3520440" cy="292608"/>
          </a:xfrm>
          <a:prstGeom prst="rect">
            <a:avLst/>
          </a:prstGeom>
          <a:noFill/>
          <a:ln/>
        </p:spPr>
        <p:txBody>
          <a:bodyPr wrap="square" rtlCol="0" anchor="ctr"/>
          <a:lstStyle/>
          <a:p>
            <a:pPr marL="0" indent="0">
              <a:buNone/>
            </a:pPr>
            <a:r>
              <a:rPr lang="en-US" sz="1300" b="1" dirty="0">
                <a:solidFill>
                  <a:srgbClr val="0DB7ED"/>
                </a:solidFill>
                <a:latin typeface="Calibri" pitchFamily="34" charset="0"/>
                <a:ea typeface="Calibri" pitchFamily="34" charset="-122"/>
                <a:cs typeface="Calibri" pitchFamily="34" charset="-120"/>
              </a:rPr>
              <a:t>Docker</a:t>
            </a:r>
            <a:endParaRPr lang="en-US" sz="1300" dirty="0"/>
          </a:p>
        </p:txBody>
      </p:sp>
      <p:sp>
        <p:nvSpPr>
          <p:cNvPr id="29" name="Text 27"/>
          <p:cNvSpPr/>
          <p:nvPr/>
        </p:nvSpPr>
        <p:spPr>
          <a:xfrm>
            <a:off x="5266944" y="1133856"/>
            <a:ext cx="3520440" cy="27432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  Packages app + environment into a container</a:t>
            </a:r>
            <a:endParaRPr lang="en-US" sz="1050" dirty="0"/>
          </a:p>
        </p:txBody>
      </p:sp>
      <p:sp>
        <p:nvSpPr>
          <p:cNvPr id="30" name="Text 28"/>
          <p:cNvSpPr/>
          <p:nvPr/>
        </p:nvSpPr>
        <p:spPr>
          <a:xfrm>
            <a:off x="5266944" y="1426464"/>
            <a:ext cx="3520440" cy="27432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  Image = blueprint; Container = running instance</a:t>
            </a:r>
            <a:endParaRPr lang="en-US" sz="1050" dirty="0"/>
          </a:p>
        </p:txBody>
      </p:sp>
      <p:sp>
        <p:nvSpPr>
          <p:cNvPr id="31" name="Text 29"/>
          <p:cNvSpPr/>
          <p:nvPr/>
        </p:nvSpPr>
        <p:spPr>
          <a:xfrm>
            <a:off x="5266944" y="1719072"/>
            <a:ext cx="3520440" cy="27432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  Solves 'works on my machine' problem permanently</a:t>
            </a:r>
            <a:endParaRPr lang="en-US" sz="1050" dirty="0"/>
          </a:p>
        </p:txBody>
      </p:sp>
      <p:sp>
        <p:nvSpPr>
          <p:cNvPr id="32" name="Shape 30"/>
          <p:cNvSpPr/>
          <p:nvPr/>
        </p:nvSpPr>
        <p:spPr>
          <a:xfrm>
            <a:off x="4736592" y="2194560"/>
            <a:ext cx="4160520" cy="1298448"/>
          </a:xfrm>
          <a:prstGeom prst="rect">
            <a:avLst/>
          </a:prstGeom>
          <a:solidFill>
            <a:srgbClr val="FFFFFF"/>
          </a:solidFill>
          <a:ln w="12700">
            <a:solidFill>
              <a:srgbClr val="326CE5"/>
            </a:solidFill>
            <a:prstDash val="solid"/>
          </a:ln>
          <a:effectLst>
            <a:outerShdw blurRad="38100" dist="12700" dir="8100000" algn="bl" rotWithShape="0">
              <a:srgbClr val="000000">
                <a:alpha val="7000"/>
              </a:srgbClr>
            </a:outerShdw>
          </a:effectLst>
        </p:spPr>
      </p:sp>
      <p:sp>
        <p:nvSpPr>
          <p:cNvPr id="33" name="Shape 31"/>
          <p:cNvSpPr/>
          <p:nvPr/>
        </p:nvSpPr>
        <p:spPr>
          <a:xfrm>
            <a:off x="4736592" y="2194560"/>
            <a:ext cx="457200" cy="1298448"/>
          </a:xfrm>
          <a:prstGeom prst="rect">
            <a:avLst/>
          </a:prstGeom>
          <a:solidFill>
            <a:srgbClr val="326CE5"/>
          </a:solidFill>
          <a:ln w="12700">
            <a:solidFill>
              <a:srgbClr val="326CE5"/>
            </a:solidFill>
            <a:prstDash val="solid"/>
          </a:ln>
        </p:spPr>
      </p:sp>
      <p:sp>
        <p:nvSpPr>
          <p:cNvPr id="34" name="Text 32"/>
          <p:cNvSpPr/>
          <p:nvPr/>
        </p:nvSpPr>
        <p:spPr>
          <a:xfrm>
            <a:off x="4736592" y="2651760"/>
            <a:ext cx="457200" cy="457200"/>
          </a:xfrm>
          <a:prstGeom prst="rect">
            <a:avLst/>
          </a:prstGeom>
          <a:noFill/>
          <a:ln/>
        </p:spPr>
        <p:txBody>
          <a:bodyPr wrap="square"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35" name="Text 33"/>
          <p:cNvSpPr/>
          <p:nvPr/>
        </p:nvSpPr>
        <p:spPr>
          <a:xfrm>
            <a:off x="5266944" y="2267712"/>
            <a:ext cx="3520440" cy="292608"/>
          </a:xfrm>
          <a:prstGeom prst="rect">
            <a:avLst/>
          </a:prstGeom>
          <a:noFill/>
          <a:ln/>
        </p:spPr>
        <p:txBody>
          <a:bodyPr wrap="square" rtlCol="0" anchor="ctr"/>
          <a:lstStyle/>
          <a:p>
            <a:pPr marL="0" indent="0">
              <a:buNone/>
            </a:pPr>
            <a:r>
              <a:rPr lang="en-US" sz="1300" b="1" dirty="0">
                <a:solidFill>
                  <a:srgbClr val="326CE5"/>
                </a:solidFill>
                <a:latin typeface="Calibri" pitchFamily="34" charset="0"/>
                <a:ea typeface="Calibri" pitchFamily="34" charset="-122"/>
                <a:cs typeface="Calibri" pitchFamily="34" charset="-120"/>
              </a:rPr>
              <a:t>Kubernetes</a:t>
            </a:r>
            <a:endParaRPr lang="en-US" sz="1300" dirty="0"/>
          </a:p>
        </p:txBody>
      </p:sp>
      <p:sp>
        <p:nvSpPr>
          <p:cNvPr id="36" name="Text 34"/>
          <p:cNvSpPr/>
          <p:nvPr/>
        </p:nvSpPr>
        <p:spPr>
          <a:xfrm>
            <a:off x="5266944" y="2578608"/>
            <a:ext cx="3520440" cy="27432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  Manages many containers automatically</a:t>
            </a:r>
            <a:endParaRPr lang="en-US" sz="1050" dirty="0"/>
          </a:p>
        </p:txBody>
      </p:sp>
      <p:sp>
        <p:nvSpPr>
          <p:cNvPr id="37" name="Text 35"/>
          <p:cNvSpPr/>
          <p:nvPr/>
        </p:nvSpPr>
        <p:spPr>
          <a:xfrm>
            <a:off x="5266944" y="2871216"/>
            <a:ext cx="3520440" cy="27432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  Auto-scaling, self-healing, load balancing</a:t>
            </a:r>
            <a:endParaRPr lang="en-US" sz="1050" dirty="0"/>
          </a:p>
        </p:txBody>
      </p:sp>
      <p:sp>
        <p:nvSpPr>
          <p:cNvPr id="38" name="Text 36"/>
          <p:cNvSpPr/>
          <p:nvPr/>
        </p:nvSpPr>
        <p:spPr>
          <a:xfrm>
            <a:off x="5266944" y="3163824"/>
            <a:ext cx="3520440" cy="27432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  Used for large-scale production deployments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TotalTime>
  <Words>3391</Words>
  <Application>Microsoft Office PowerPoint</Application>
  <PresentationFormat>On-screen Show (16:9)</PresentationFormat>
  <Paragraphs>370</Paragraphs>
  <Slides>24</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Consolas</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5 – App Implementation in Cloud</dc:title>
  <dc:subject>PptxGenJS Presentation</dc:subject>
  <dc:creator>PptxGenJS</dc:creator>
  <cp:lastModifiedBy>Mitul Rathod</cp:lastModifiedBy>
  <cp:revision>7</cp:revision>
  <dcterms:created xsi:type="dcterms:W3CDTF">2026-04-23T07:59:19Z</dcterms:created>
  <dcterms:modified xsi:type="dcterms:W3CDTF">2026-04-28T18:32:47Z</dcterms:modified>
</cp:coreProperties>
</file>