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93" r:id="rId11"/>
    <p:sldId id="292"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300" r:id="rId28"/>
    <p:sldId id="301" r:id="rId29"/>
    <p:sldId id="294" r:id="rId30"/>
    <p:sldId id="280" r:id="rId31"/>
    <p:sldId id="281" r:id="rId32"/>
    <p:sldId id="302" r:id="rId33"/>
    <p:sldId id="282" r:id="rId34"/>
    <p:sldId id="295" r:id="rId35"/>
    <p:sldId id="299" r:id="rId36"/>
    <p:sldId id="283" r:id="rId37"/>
    <p:sldId id="284" r:id="rId38"/>
    <p:sldId id="285" r:id="rId39"/>
    <p:sldId id="286" r:id="rId40"/>
    <p:sldId id="287" r:id="rId41"/>
    <p:sldId id="296" r:id="rId42"/>
    <p:sldId id="288" r:id="rId43"/>
    <p:sldId id="289" r:id="rId44"/>
    <p:sldId id="290" r:id="rId45"/>
    <p:sldId id="298" r:id="rId46"/>
    <p:sldId id="291" r:id="rId4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529" autoAdjust="0"/>
  </p:normalViewPr>
  <p:slideViewPr>
    <p:cSldViewPr snapToGrid="0" snapToObjects="1">
      <p:cViewPr varScale="1">
        <p:scale>
          <a:sx n="116" d="100"/>
          <a:sy n="116" d="100"/>
        </p:scale>
        <p:origin x="4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706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183E-2C82-44AC-DE59-AB17AFC3F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2DD18-36E3-2067-E759-D6219CA43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8C2A6-5BBB-62E9-7993-E3AE85BAA7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CF700C-52A2-6BBA-F285-B77D7F6935C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26456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8C52-8D93-BF64-1E3A-7F3B0D3EF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B823A-7770-EE86-4AF9-D1A20560A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2B23A-7B84-0F02-26EE-8053D60818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F56849-F480-E6B3-75AA-C697C05B361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28190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3C8E-14C9-08C3-5909-DE951D671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2FEF4-7F80-5BB8-A473-F2C752F9B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70B73-D534-F369-F99C-73F3875019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489CB2-3DF7-B61E-7438-F99076013CE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181859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E63F6-BA45-4AD5-8856-C068EBB7E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096F6-2959-124D-4003-5F7384D63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FD7EE-DF8C-A55F-786A-AA49C57FDA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9557D-E900-D8D5-1794-7F10D29F9EE1}"/>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646165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720E-0B4D-A3E6-E304-907DDB24A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23460-3915-3648-771A-AED334715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9DA69-F9AF-6B20-D94B-38C84401F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889877-B134-BE17-50D0-EBDD2F691F86}"/>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752129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CE18-EA87-B3F0-F892-561B6E92D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DD479-F874-0E10-CA5F-2FDA7BFAC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71364-4CA7-3AD6-5084-480CD71676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08228F-C5A2-F607-5A62-5C3B51FD624A}"/>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737255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F6546-6637-BE66-5CAB-6C6272E2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E3705-03AE-9912-51FF-1C1F28312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EE033-BF08-A494-F991-B948C6F72B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C11BD8-8C05-1D53-2222-8B779DE66D41}"/>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5417994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B766-D9BE-425F-3EE1-FD2BEF216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41C36-C865-57E2-1F16-EA180BD14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A87D9-BC8E-88FE-A5A8-083EE7AABC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2D78B0-817D-FD70-AF07-2B4BB6885C1C}"/>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5174591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hyperlink" Target="https://github.com/mde/ejs/wiki/Using-EJS-with-Express" TargetMode="External"/><Relationship Id="rId3" Type="http://schemas.openxmlformats.org/officeDocument/2006/relationships/hyperlink" Target="https://www.codecademy.com/article/what-is-express-js" TargetMode="External"/><Relationship Id="rId7" Type="http://schemas.openxmlformats.org/officeDocument/2006/relationships/hyperlink" Target="https://ejs.co/"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hyperlink" Target="https://www.npmjs.com/" TargetMode="External"/><Relationship Id="rId5" Type="http://schemas.openxmlformats.org/officeDocument/2006/relationships/hyperlink" Target="https://www.codecademy.com/article/node-package-manager" TargetMode="External"/><Relationship Id="rId4" Type="http://schemas.openxmlformats.org/officeDocument/2006/relationships/hyperlink" Target="https://www.codecademy.com/resources/docs/general/node-js"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D166"/>
          </a:solidFill>
          <a:ln/>
        </p:spPr>
      </p:sp>
      <p:sp>
        <p:nvSpPr>
          <p:cNvPr id="3" name="Shape 1"/>
          <p:cNvSpPr/>
          <p:nvPr/>
        </p:nvSpPr>
        <p:spPr>
          <a:xfrm>
            <a:off x="201168" y="0"/>
            <a:ext cx="8942832" cy="54864"/>
          </a:xfrm>
          <a:prstGeom prst="rect">
            <a:avLst/>
          </a:prstGeom>
          <a:solidFill>
            <a:srgbClr val="1E6FBF"/>
          </a:solidFill>
          <a:ln/>
        </p:spPr>
      </p:sp>
      <p:sp>
        <p:nvSpPr>
          <p:cNvPr id="4" name="Shape 2"/>
          <p:cNvSpPr/>
          <p:nvPr/>
        </p:nvSpPr>
        <p:spPr>
          <a:xfrm>
            <a:off x="201168" y="5088636"/>
            <a:ext cx="8942832" cy="54864"/>
          </a:xfrm>
          <a:prstGeom prst="rect">
            <a:avLst/>
          </a:prstGeom>
          <a:solidFill>
            <a:srgbClr val="1E6FBF"/>
          </a:solidFill>
          <a:ln/>
        </p:spPr>
      </p:sp>
      <p:sp>
        <p:nvSpPr>
          <p:cNvPr id="5" name="Text 3"/>
          <p:cNvSpPr/>
          <p:nvPr/>
        </p:nvSpPr>
        <p:spPr>
          <a:xfrm>
            <a:off x="457200" y="457200"/>
            <a:ext cx="8229600" cy="640080"/>
          </a:xfrm>
          <a:prstGeom prst="rect">
            <a:avLst/>
          </a:prstGeom>
          <a:noFill/>
          <a:ln/>
        </p:spPr>
        <p:txBody>
          <a:bodyPr wrap="square" rtlCol="0" anchor="ctr"/>
          <a:lstStyle/>
          <a:p>
            <a:pPr marL="0" indent="0">
              <a:buNone/>
            </a:pPr>
            <a:r>
              <a:rPr lang="en-US" sz="1600" b="1" kern="0" spc="800" dirty="0">
                <a:solidFill>
                  <a:srgbClr val="FFD166"/>
                </a:solidFill>
                <a:latin typeface="Calibri" pitchFamily="34" charset="0"/>
                <a:ea typeface="Calibri" pitchFamily="34" charset="-122"/>
                <a:cs typeface="Calibri" pitchFamily="34" charset="-120"/>
              </a:rPr>
              <a:t>UNIT 2</a:t>
            </a:r>
            <a:endParaRPr lang="en-US" sz="1600" dirty="0"/>
          </a:p>
        </p:txBody>
      </p:sp>
      <p:sp>
        <p:nvSpPr>
          <p:cNvPr id="6" name="Text 4"/>
          <p:cNvSpPr/>
          <p:nvPr/>
        </p:nvSpPr>
        <p:spPr>
          <a:xfrm>
            <a:off x="457200" y="1051560"/>
            <a:ext cx="8229600" cy="237744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Introduction to</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Web Servers &amp;</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Node.js Development</a:t>
            </a:r>
            <a:endParaRPr lang="en-US" sz="3800" dirty="0"/>
          </a:p>
        </p:txBody>
      </p:sp>
      <p:sp>
        <p:nvSpPr>
          <p:cNvPr id="7" name="Text 5"/>
          <p:cNvSpPr/>
          <p:nvPr/>
        </p:nvSpPr>
        <p:spPr>
          <a:xfrm>
            <a:off x="457200" y="3520440"/>
            <a:ext cx="8229600" cy="411480"/>
          </a:xfrm>
          <a:prstGeom prst="rect">
            <a:avLst/>
          </a:prstGeom>
          <a:noFill/>
          <a:ln/>
        </p:spPr>
        <p:txBody>
          <a:bodyPr wrap="square" rtlCol="0" anchor="ctr"/>
          <a:lstStyle/>
          <a:p>
            <a:pPr marL="0" indent="0">
              <a:buNone/>
            </a:pPr>
            <a:r>
              <a:rPr lang="en-US" sz="1300" dirty="0">
                <a:solidFill>
                  <a:srgbClr val="AABBCC"/>
                </a:solidFill>
                <a:latin typeface="Calibri" pitchFamily="34" charset="0"/>
                <a:ea typeface="Calibri" pitchFamily="34" charset="-122"/>
                <a:cs typeface="Calibri" pitchFamily="34" charset="-120"/>
              </a:rPr>
              <a:t>Full Stack Development  |  MC02094041  |  MCA Semester 2  |  GTU</a:t>
            </a:r>
            <a:endParaRPr lang="en-US" sz="1300" dirty="0"/>
          </a:p>
        </p:txBody>
      </p:sp>
      <p:sp>
        <p:nvSpPr>
          <p:cNvPr id="8" name="Shape 6"/>
          <p:cNvSpPr/>
          <p:nvPr/>
        </p:nvSpPr>
        <p:spPr>
          <a:xfrm>
            <a:off x="457200" y="4023360"/>
            <a:ext cx="8229600" cy="27432"/>
          </a:xfrm>
          <a:prstGeom prst="rect">
            <a:avLst/>
          </a:prstGeom>
          <a:solidFill>
            <a:srgbClr val="334455"/>
          </a:solidFill>
          <a:ln/>
        </p:spPr>
      </p:sp>
      <p:sp>
        <p:nvSpPr>
          <p:cNvPr id="9" name="Text 7"/>
          <p:cNvSpPr/>
          <p:nvPr/>
        </p:nvSpPr>
        <p:spPr>
          <a:xfrm>
            <a:off x="457200" y="4114800"/>
            <a:ext cx="8229600" cy="457200"/>
          </a:xfrm>
          <a:prstGeom prst="rect">
            <a:avLst/>
          </a:prstGeom>
          <a:noFill/>
          <a:ln/>
        </p:spPr>
        <p:txBody>
          <a:bodyPr wrap="square" rtlCol="0" anchor="ctr"/>
          <a:lstStyle/>
          <a:p>
            <a:pPr marL="0" indent="0">
              <a:buNone/>
            </a:pPr>
            <a:r>
              <a:rPr lang="en-US" sz="1200" dirty="0">
                <a:solidFill>
                  <a:srgbClr val="778899"/>
                </a:solidFill>
                <a:latin typeface="Calibri" pitchFamily="34" charset="0"/>
                <a:ea typeface="Calibri" pitchFamily="34" charset="-122"/>
                <a:cs typeface="Calibri" pitchFamily="34" charset="-120"/>
              </a:rPr>
              <a:t>Topics: Web Servers  •  Node.js  •  NPM  •  HTTP Module  •  Express  •  EJS  •  Static Files  •  async/await  •  JSON APIs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Unit 2 — What We Will Learn</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Overview</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182880" y="1005840"/>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9" name="Shape 7"/>
          <p:cNvSpPr/>
          <p:nvPr/>
        </p:nvSpPr>
        <p:spPr>
          <a:xfrm>
            <a:off x="182880" y="1005840"/>
            <a:ext cx="2834640" cy="73152"/>
          </a:xfrm>
          <a:prstGeom prst="rect">
            <a:avLst/>
          </a:prstGeom>
          <a:solidFill>
            <a:srgbClr val="1E6FBF"/>
          </a:solidFill>
          <a:ln/>
        </p:spPr>
      </p:sp>
      <p:sp>
        <p:nvSpPr>
          <p:cNvPr id="10" name="Text 8"/>
          <p:cNvSpPr/>
          <p:nvPr/>
        </p:nvSpPr>
        <p:spPr>
          <a:xfrm>
            <a:off x="292608" y="1124712"/>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Web Servers</a:t>
            </a:r>
            <a:endParaRPr lang="en-US" sz="1400" dirty="0"/>
          </a:p>
        </p:txBody>
      </p:sp>
      <p:sp>
        <p:nvSpPr>
          <p:cNvPr id="11" name="Text 9"/>
          <p:cNvSpPr/>
          <p:nvPr/>
        </p:nvSpPr>
        <p:spPr>
          <a:xfrm>
            <a:off x="292608" y="1536192"/>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How websites work, HTTP, Client-Server</a:t>
            </a:r>
            <a:endParaRPr lang="en-US" sz="1150" dirty="0"/>
          </a:p>
        </p:txBody>
      </p:sp>
      <p:sp>
        <p:nvSpPr>
          <p:cNvPr id="12" name="Text 10"/>
          <p:cNvSpPr/>
          <p:nvPr/>
        </p:nvSpPr>
        <p:spPr>
          <a:xfrm>
            <a:off x="2670048" y="1097280"/>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1</a:t>
            </a:r>
            <a:endParaRPr lang="en-US" sz="1200" dirty="0"/>
          </a:p>
        </p:txBody>
      </p:sp>
      <p:sp>
        <p:nvSpPr>
          <p:cNvPr id="13" name="Shape 11"/>
          <p:cNvSpPr/>
          <p:nvPr/>
        </p:nvSpPr>
        <p:spPr>
          <a:xfrm>
            <a:off x="3063240" y="1005840"/>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14" name="Shape 12"/>
          <p:cNvSpPr/>
          <p:nvPr/>
        </p:nvSpPr>
        <p:spPr>
          <a:xfrm>
            <a:off x="3063240" y="1005840"/>
            <a:ext cx="2834640" cy="73152"/>
          </a:xfrm>
          <a:prstGeom prst="rect">
            <a:avLst/>
          </a:prstGeom>
          <a:solidFill>
            <a:srgbClr val="1E6FBF"/>
          </a:solidFill>
          <a:ln/>
        </p:spPr>
      </p:sp>
      <p:sp>
        <p:nvSpPr>
          <p:cNvPr id="15" name="Text 13"/>
          <p:cNvSpPr/>
          <p:nvPr/>
        </p:nvSpPr>
        <p:spPr>
          <a:xfrm>
            <a:off x="3172968" y="1124712"/>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Node.js</a:t>
            </a:r>
            <a:endParaRPr lang="en-US" sz="1400" dirty="0"/>
          </a:p>
        </p:txBody>
      </p:sp>
      <p:sp>
        <p:nvSpPr>
          <p:cNvPr id="16" name="Text 14"/>
          <p:cNvSpPr/>
          <p:nvPr/>
        </p:nvSpPr>
        <p:spPr>
          <a:xfrm>
            <a:off x="3172968" y="1536192"/>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Running JS outside the browser</a:t>
            </a:r>
            <a:endParaRPr lang="en-US" sz="1150" dirty="0"/>
          </a:p>
        </p:txBody>
      </p:sp>
      <p:sp>
        <p:nvSpPr>
          <p:cNvPr id="17" name="Text 15"/>
          <p:cNvSpPr/>
          <p:nvPr/>
        </p:nvSpPr>
        <p:spPr>
          <a:xfrm>
            <a:off x="5550408" y="1097280"/>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2</a:t>
            </a:r>
            <a:endParaRPr lang="en-US" sz="1200" dirty="0"/>
          </a:p>
        </p:txBody>
      </p:sp>
      <p:sp>
        <p:nvSpPr>
          <p:cNvPr id="18" name="Shape 16"/>
          <p:cNvSpPr/>
          <p:nvPr/>
        </p:nvSpPr>
        <p:spPr>
          <a:xfrm>
            <a:off x="5943600" y="1005840"/>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19" name="Shape 17"/>
          <p:cNvSpPr/>
          <p:nvPr/>
        </p:nvSpPr>
        <p:spPr>
          <a:xfrm>
            <a:off x="5943600" y="1005840"/>
            <a:ext cx="2834640" cy="73152"/>
          </a:xfrm>
          <a:prstGeom prst="rect">
            <a:avLst/>
          </a:prstGeom>
          <a:solidFill>
            <a:srgbClr val="1E6FBF"/>
          </a:solidFill>
          <a:ln/>
        </p:spPr>
      </p:sp>
      <p:sp>
        <p:nvSpPr>
          <p:cNvPr id="20" name="Text 18"/>
          <p:cNvSpPr/>
          <p:nvPr/>
        </p:nvSpPr>
        <p:spPr>
          <a:xfrm>
            <a:off x="6053328" y="1124712"/>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NPM</a:t>
            </a:r>
            <a:endParaRPr lang="en-US" sz="1400" dirty="0"/>
          </a:p>
        </p:txBody>
      </p:sp>
      <p:sp>
        <p:nvSpPr>
          <p:cNvPr id="21" name="Text 19"/>
          <p:cNvSpPr/>
          <p:nvPr/>
        </p:nvSpPr>
        <p:spPr>
          <a:xfrm>
            <a:off x="6053328" y="1536192"/>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Managing packages &amp; libraries</a:t>
            </a:r>
            <a:endParaRPr lang="en-US" sz="1150" dirty="0"/>
          </a:p>
        </p:txBody>
      </p:sp>
      <p:sp>
        <p:nvSpPr>
          <p:cNvPr id="22" name="Text 20"/>
          <p:cNvSpPr/>
          <p:nvPr/>
        </p:nvSpPr>
        <p:spPr>
          <a:xfrm>
            <a:off x="8430768" y="1097280"/>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3</a:t>
            </a:r>
            <a:endParaRPr lang="en-US" sz="1200" dirty="0"/>
          </a:p>
        </p:txBody>
      </p:sp>
      <p:sp>
        <p:nvSpPr>
          <p:cNvPr id="23" name="Shape 21"/>
          <p:cNvSpPr/>
          <p:nvPr/>
        </p:nvSpPr>
        <p:spPr>
          <a:xfrm>
            <a:off x="182880" y="2176272"/>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24" name="Shape 22"/>
          <p:cNvSpPr/>
          <p:nvPr/>
        </p:nvSpPr>
        <p:spPr>
          <a:xfrm>
            <a:off x="182880" y="2176272"/>
            <a:ext cx="2834640" cy="73152"/>
          </a:xfrm>
          <a:prstGeom prst="rect">
            <a:avLst/>
          </a:prstGeom>
          <a:solidFill>
            <a:srgbClr val="1E6FBF"/>
          </a:solidFill>
          <a:ln/>
        </p:spPr>
      </p:sp>
      <p:sp>
        <p:nvSpPr>
          <p:cNvPr id="25" name="Text 23"/>
          <p:cNvSpPr/>
          <p:nvPr/>
        </p:nvSpPr>
        <p:spPr>
          <a:xfrm>
            <a:off x="292608" y="2295144"/>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HTTP Module</a:t>
            </a:r>
            <a:endParaRPr lang="en-US" sz="1400" dirty="0"/>
          </a:p>
        </p:txBody>
      </p:sp>
      <p:sp>
        <p:nvSpPr>
          <p:cNvPr id="26" name="Text 24"/>
          <p:cNvSpPr/>
          <p:nvPr/>
        </p:nvSpPr>
        <p:spPr>
          <a:xfrm>
            <a:off x="292608" y="2706624"/>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Building a server from scratch</a:t>
            </a:r>
            <a:endParaRPr lang="en-US" sz="1150" dirty="0"/>
          </a:p>
        </p:txBody>
      </p:sp>
      <p:sp>
        <p:nvSpPr>
          <p:cNvPr id="27" name="Text 25"/>
          <p:cNvSpPr/>
          <p:nvPr/>
        </p:nvSpPr>
        <p:spPr>
          <a:xfrm>
            <a:off x="2670048" y="2267712"/>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4</a:t>
            </a:r>
            <a:endParaRPr lang="en-US" sz="1200" dirty="0"/>
          </a:p>
        </p:txBody>
      </p:sp>
      <p:sp>
        <p:nvSpPr>
          <p:cNvPr id="28" name="Shape 26"/>
          <p:cNvSpPr/>
          <p:nvPr/>
        </p:nvSpPr>
        <p:spPr>
          <a:xfrm>
            <a:off x="3063240" y="2176272"/>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29" name="Shape 27"/>
          <p:cNvSpPr/>
          <p:nvPr/>
        </p:nvSpPr>
        <p:spPr>
          <a:xfrm>
            <a:off x="3063240" y="2176272"/>
            <a:ext cx="2834640" cy="73152"/>
          </a:xfrm>
          <a:prstGeom prst="rect">
            <a:avLst/>
          </a:prstGeom>
          <a:solidFill>
            <a:srgbClr val="1E6FBF"/>
          </a:solidFill>
          <a:ln/>
        </p:spPr>
      </p:sp>
      <p:sp>
        <p:nvSpPr>
          <p:cNvPr id="30" name="Text 28"/>
          <p:cNvSpPr/>
          <p:nvPr/>
        </p:nvSpPr>
        <p:spPr>
          <a:xfrm>
            <a:off x="3172968" y="2295144"/>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Express.js</a:t>
            </a:r>
            <a:endParaRPr lang="en-US" sz="1400" dirty="0"/>
          </a:p>
        </p:txBody>
      </p:sp>
      <p:sp>
        <p:nvSpPr>
          <p:cNvPr id="31" name="Text 29"/>
          <p:cNvSpPr/>
          <p:nvPr/>
        </p:nvSpPr>
        <p:spPr>
          <a:xfrm>
            <a:off x="3172968" y="2706624"/>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Fast routing &amp; web framework</a:t>
            </a:r>
            <a:endParaRPr lang="en-US" sz="1150" dirty="0"/>
          </a:p>
        </p:txBody>
      </p:sp>
      <p:sp>
        <p:nvSpPr>
          <p:cNvPr id="32" name="Text 30"/>
          <p:cNvSpPr/>
          <p:nvPr/>
        </p:nvSpPr>
        <p:spPr>
          <a:xfrm>
            <a:off x="5550408" y="2267712"/>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5</a:t>
            </a:r>
            <a:endParaRPr lang="en-US" sz="1200" dirty="0"/>
          </a:p>
        </p:txBody>
      </p:sp>
      <p:sp>
        <p:nvSpPr>
          <p:cNvPr id="33" name="Shape 31"/>
          <p:cNvSpPr/>
          <p:nvPr/>
        </p:nvSpPr>
        <p:spPr>
          <a:xfrm>
            <a:off x="5943600" y="2176272"/>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34" name="Shape 32"/>
          <p:cNvSpPr/>
          <p:nvPr/>
        </p:nvSpPr>
        <p:spPr>
          <a:xfrm>
            <a:off x="5943600" y="2176272"/>
            <a:ext cx="2834640" cy="73152"/>
          </a:xfrm>
          <a:prstGeom prst="rect">
            <a:avLst/>
          </a:prstGeom>
          <a:solidFill>
            <a:srgbClr val="1E6FBF"/>
          </a:solidFill>
          <a:ln/>
        </p:spPr>
      </p:sp>
      <p:sp>
        <p:nvSpPr>
          <p:cNvPr id="35" name="Text 33"/>
          <p:cNvSpPr/>
          <p:nvPr/>
        </p:nvSpPr>
        <p:spPr>
          <a:xfrm>
            <a:off x="6053328" y="2295144"/>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EJS Templates</a:t>
            </a:r>
            <a:endParaRPr lang="en-US" sz="1400" dirty="0"/>
          </a:p>
        </p:txBody>
      </p:sp>
      <p:sp>
        <p:nvSpPr>
          <p:cNvPr id="36" name="Text 34"/>
          <p:cNvSpPr/>
          <p:nvPr/>
        </p:nvSpPr>
        <p:spPr>
          <a:xfrm>
            <a:off x="6053328" y="2706624"/>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Dynamic HTML on the server</a:t>
            </a:r>
            <a:endParaRPr lang="en-US" sz="1150" dirty="0"/>
          </a:p>
        </p:txBody>
      </p:sp>
      <p:sp>
        <p:nvSpPr>
          <p:cNvPr id="37" name="Text 35"/>
          <p:cNvSpPr/>
          <p:nvPr/>
        </p:nvSpPr>
        <p:spPr>
          <a:xfrm>
            <a:off x="8430768" y="2267712"/>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6</a:t>
            </a:r>
            <a:endParaRPr lang="en-US" sz="1200" dirty="0"/>
          </a:p>
        </p:txBody>
      </p:sp>
      <p:sp>
        <p:nvSpPr>
          <p:cNvPr id="38" name="Shape 36"/>
          <p:cNvSpPr/>
          <p:nvPr/>
        </p:nvSpPr>
        <p:spPr>
          <a:xfrm>
            <a:off x="182880" y="3346704"/>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39" name="Shape 37"/>
          <p:cNvSpPr/>
          <p:nvPr/>
        </p:nvSpPr>
        <p:spPr>
          <a:xfrm>
            <a:off x="182880" y="3346704"/>
            <a:ext cx="2834640" cy="73152"/>
          </a:xfrm>
          <a:prstGeom prst="rect">
            <a:avLst/>
          </a:prstGeom>
          <a:solidFill>
            <a:srgbClr val="1E6FBF"/>
          </a:solidFill>
          <a:ln/>
        </p:spPr>
      </p:sp>
      <p:sp>
        <p:nvSpPr>
          <p:cNvPr id="40" name="Text 38"/>
          <p:cNvSpPr/>
          <p:nvPr/>
        </p:nvSpPr>
        <p:spPr>
          <a:xfrm>
            <a:off x="292608" y="3465576"/>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Static Files</a:t>
            </a:r>
            <a:endParaRPr lang="en-US" sz="1400" dirty="0"/>
          </a:p>
        </p:txBody>
      </p:sp>
      <p:sp>
        <p:nvSpPr>
          <p:cNvPr id="41" name="Text 39"/>
          <p:cNvSpPr/>
          <p:nvPr/>
        </p:nvSpPr>
        <p:spPr>
          <a:xfrm>
            <a:off x="292608" y="3877056"/>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Serving CSS, images, JS files</a:t>
            </a:r>
            <a:endParaRPr lang="en-US" sz="1150" dirty="0"/>
          </a:p>
        </p:txBody>
      </p:sp>
      <p:sp>
        <p:nvSpPr>
          <p:cNvPr id="42" name="Text 40"/>
          <p:cNvSpPr/>
          <p:nvPr/>
        </p:nvSpPr>
        <p:spPr>
          <a:xfrm>
            <a:off x="2670048" y="3438144"/>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7</a:t>
            </a:r>
            <a:endParaRPr lang="en-US" sz="1200" dirty="0"/>
          </a:p>
        </p:txBody>
      </p:sp>
      <p:sp>
        <p:nvSpPr>
          <p:cNvPr id="43" name="Shape 41"/>
          <p:cNvSpPr/>
          <p:nvPr/>
        </p:nvSpPr>
        <p:spPr>
          <a:xfrm>
            <a:off x="3063240" y="3346704"/>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44" name="Shape 42"/>
          <p:cNvSpPr/>
          <p:nvPr/>
        </p:nvSpPr>
        <p:spPr>
          <a:xfrm>
            <a:off x="3063240" y="3346704"/>
            <a:ext cx="2834640" cy="73152"/>
          </a:xfrm>
          <a:prstGeom prst="rect">
            <a:avLst/>
          </a:prstGeom>
          <a:solidFill>
            <a:srgbClr val="1E6FBF"/>
          </a:solidFill>
          <a:ln/>
        </p:spPr>
      </p:sp>
      <p:sp>
        <p:nvSpPr>
          <p:cNvPr id="45" name="Text 43"/>
          <p:cNvSpPr/>
          <p:nvPr/>
        </p:nvSpPr>
        <p:spPr>
          <a:xfrm>
            <a:off x="3172968" y="3465576"/>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async/await</a:t>
            </a:r>
            <a:endParaRPr lang="en-US" sz="1400" dirty="0"/>
          </a:p>
        </p:txBody>
      </p:sp>
      <p:sp>
        <p:nvSpPr>
          <p:cNvPr id="46" name="Text 44"/>
          <p:cNvSpPr/>
          <p:nvPr/>
        </p:nvSpPr>
        <p:spPr>
          <a:xfrm>
            <a:off x="3172968" y="3877056"/>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Clean asynchronous code</a:t>
            </a:r>
            <a:endParaRPr lang="en-US" sz="1150" dirty="0"/>
          </a:p>
        </p:txBody>
      </p:sp>
      <p:sp>
        <p:nvSpPr>
          <p:cNvPr id="47" name="Text 45"/>
          <p:cNvSpPr/>
          <p:nvPr/>
        </p:nvSpPr>
        <p:spPr>
          <a:xfrm>
            <a:off x="5550408" y="3438144"/>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8</a:t>
            </a:r>
            <a:endParaRPr lang="en-US" sz="1200" dirty="0"/>
          </a:p>
        </p:txBody>
      </p:sp>
      <p:sp>
        <p:nvSpPr>
          <p:cNvPr id="48" name="Shape 46"/>
          <p:cNvSpPr/>
          <p:nvPr/>
        </p:nvSpPr>
        <p:spPr>
          <a:xfrm>
            <a:off x="5943600" y="3346704"/>
            <a:ext cx="2834640" cy="1078992"/>
          </a:xfrm>
          <a:prstGeom prst="rect">
            <a:avLst/>
          </a:prstGeom>
          <a:solidFill>
            <a:srgbClr val="FFFFFF"/>
          </a:solidFill>
          <a:ln/>
          <a:effectLst>
            <a:outerShdw blurRad="88900" dist="38100" dir="8100000" algn="bl" rotWithShape="0">
              <a:srgbClr val="000000">
                <a:alpha val="13000"/>
              </a:srgbClr>
            </a:outerShdw>
          </a:effectLst>
        </p:spPr>
      </p:sp>
      <p:sp>
        <p:nvSpPr>
          <p:cNvPr id="49" name="Shape 47"/>
          <p:cNvSpPr/>
          <p:nvPr/>
        </p:nvSpPr>
        <p:spPr>
          <a:xfrm>
            <a:off x="5943600" y="3346704"/>
            <a:ext cx="2834640" cy="73152"/>
          </a:xfrm>
          <a:prstGeom prst="rect">
            <a:avLst/>
          </a:prstGeom>
          <a:solidFill>
            <a:srgbClr val="1E6FBF"/>
          </a:solidFill>
          <a:ln/>
        </p:spPr>
      </p:sp>
      <p:sp>
        <p:nvSpPr>
          <p:cNvPr id="50" name="Text 48"/>
          <p:cNvSpPr/>
          <p:nvPr/>
        </p:nvSpPr>
        <p:spPr>
          <a:xfrm>
            <a:off x="6053328" y="3465576"/>
            <a:ext cx="2651760" cy="384048"/>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 JSON APIs</a:t>
            </a:r>
            <a:endParaRPr lang="en-US" sz="1400" dirty="0"/>
          </a:p>
        </p:txBody>
      </p:sp>
      <p:sp>
        <p:nvSpPr>
          <p:cNvPr id="51" name="Text 49"/>
          <p:cNvSpPr/>
          <p:nvPr/>
        </p:nvSpPr>
        <p:spPr>
          <a:xfrm>
            <a:off x="6053328" y="3877056"/>
            <a:ext cx="2651760" cy="45720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Sending &amp; receiving data as JSON</a:t>
            </a:r>
            <a:endParaRPr lang="en-US" sz="1150" dirty="0"/>
          </a:p>
        </p:txBody>
      </p:sp>
      <p:sp>
        <p:nvSpPr>
          <p:cNvPr id="52" name="Text 50"/>
          <p:cNvSpPr/>
          <p:nvPr/>
        </p:nvSpPr>
        <p:spPr>
          <a:xfrm>
            <a:off x="8430768" y="3438144"/>
            <a:ext cx="274320" cy="320040"/>
          </a:xfrm>
          <a:prstGeom prst="rect">
            <a:avLst/>
          </a:prstGeom>
          <a:noFill/>
          <a:ln/>
        </p:spPr>
        <p:txBody>
          <a:bodyPr wrap="square" rtlCol="0" anchor="ctr"/>
          <a:lstStyle/>
          <a:p>
            <a:pPr marL="0" indent="0" algn="r">
              <a:buNone/>
            </a:pPr>
            <a:r>
              <a:rPr lang="en-US" sz="1200" b="1" dirty="0">
                <a:solidFill>
                  <a:srgbClr val="FFD166"/>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1</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Introduction to Web Servers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How the internet works — clients, servers, and HTTP</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a Web Server?</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1 › Web Servers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389888"/>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389888"/>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Web Server</a:t>
            </a:r>
            <a:endParaRPr lang="en-US" sz="1300" dirty="0"/>
          </a:p>
        </p:txBody>
      </p:sp>
      <p:sp>
        <p:nvSpPr>
          <p:cNvPr id="11" name="Text 9"/>
          <p:cNvSpPr/>
          <p:nvPr/>
        </p:nvSpPr>
        <p:spPr>
          <a:xfrm>
            <a:off x="393192" y="1444752"/>
            <a:ext cx="8458200" cy="82296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web server is a software program that runs continuously on a computer and is responsible for accepting incoming HTTP requests from clients (browsers), processing those requests, and sending back appropriate HTTP responses — such as HTML pages, images, or JSON data.</a:t>
            </a:r>
            <a:endParaRPr lang="en-US" sz="1250" dirty="0"/>
          </a:p>
        </p:txBody>
      </p:sp>
      <p:sp>
        <p:nvSpPr>
          <p:cNvPr id="12" name="Shape 10"/>
          <p:cNvSpPr/>
          <p:nvPr/>
        </p:nvSpPr>
        <p:spPr>
          <a:xfrm>
            <a:off x="228600" y="2514600"/>
            <a:ext cx="8686800" cy="1188720"/>
          </a:xfrm>
          <a:prstGeom prst="rect">
            <a:avLst/>
          </a:prstGeom>
          <a:solidFill>
            <a:srgbClr val="EAFAF1"/>
          </a:solidFill>
          <a:ln/>
          <a:effectLst>
            <a:outerShdw blurRad="88900" dist="38100" dir="8100000" algn="bl" rotWithShape="0">
              <a:srgbClr val="000000">
                <a:alpha val="13000"/>
              </a:srgbClr>
            </a:outerShdw>
          </a:effectLst>
        </p:spPr>
      </p:sp>
      <p:sp>
        <p:nvSpPr>
          <p:cNvPr id="13" name="Shape 11"/>
          <p:cNvSpPr/>
          <p:nvPr/>
        </p:nvSpPr>
        <p:spPr>
          <a:xfrm>
            <a:off x="228600" y="2514600"/>
            <a:ext cx="91440" cy="1188720"/>
          </a:xfrm>
          <a:prstGeom prst="rect">
            <a:avLst/>
          </a:prstGeom>
          <a:solidFill>
            <a:srgbClr val="06D6A0"/>
          </a:solidFill>
          <a:ln/>
        </p:spPr>
      </p:sp>
      <p:sp>
        <p:nvSpPr>
          <p:cNvPr id="14" name="Text 12"/>
          <p:cNvSpPr/>
          <p:nvPr/>
        </p:nvSpPr>
        <p:spPr>
          <a:xfrm>
            <a:off x="393192" y="2578608"/>
            <a:ext cx="8458200" cy="329184"/>
          </a:xfrm>
          <a:prstGeom prst="rect">
            <a:avLst/>
          </a:prstGeom>
          <a:noFill/>
          <a:ln/>
        </p:spPr>
        <p:txBody>
          <a:bodyPr wrap="square" lIns="0" tIns="0" rIns="0" bIns="0" rtlCol="0" anchor="ctr"/>
          <a:lstStyle/>
          <a:p>
            <a:pPr marL="0" indent="0">
              <a:buNone/>
            </a:pPr>
            <a:r>
              <a:rPr lang="en-US" sz="1300" b="1" dirty="0">
                <a:solidFill>
                  <a:srgbClr val="1A6344"/>
                </a:solidFill>
                <a:latin typeface="Calibri" pitchFamily="34" charset="0"/>
                <a:ea typeface="Calibri" pitchFamily="34" charset="-122"/>
                <a:cs typeface="Calibri" pitchFamily="34" charset="-120"/>
              </a:rPr>
              <a:t>🌍  Real-World Analogy — Think of a Restaurant:</a:t>
            </a:r>
            <a:endParaRPr lang="en-US" sz="1300" dirty="0"/>
          </a:p>
        </p:txBody>
      </p:sp>
      <p:sp>
        <p:nvSpPr>
          <p:cNvPr id="15" name="Text 13"/>
          <p:cNvSpPr/>
          <p:nvPr/>
        </p:nvSpPr>
        <p:spPr>
          <a:xfrm>
            <a:off x="393192" y="2935224"/>
            <a:ext cx="8458200" cy="685800"/>
          </a:xfrm>
          <a:prstGeom prst="rect">
            <a:avLst/>
          </a:prstGeom>
          <a:noFill/>
          <a:ln/>
        </p:spPr>
        <p:txBody>
          <a:bodyPr wrap="square" rtlCol="0" anchor="ctr"/>
          <a:lstStyle/>
          <a:p>
            <a:pPr marL="0" indent="0">
              <a:buNone/>
            </a:pPr>
            <a:r>
              <a:rPr lang="en-US" sz="1200" dirty="0">
                <a:solidFill>
                  <a:srgbClr val="1A4A33"/>
                </a:solidFill>
                <a:latin typeface="Calibri" pitchFamily="34" charset="0"/>
                <a:ea typeface="Calibri" pitchFamily="34" charset="-122"/>
                <a:cs typeface="Calibri" pitchFamily="34" charset="-120"/>
              </a:rPr>
              <a:t>YOU (browser) = customer who places an order  |  WAITER = HTTP protocol that carries the order  |  KITCHEN = server that processes the order  |  FOOD = the response (HTML/JSON) served back to you</a:t>
            </a:r>
            <a:endParaRPr lang="en-US" sz="1200" dirty="0"/>
          </a:p>
        </p:txBody>
      </p:sp>
      <p:sp>
        <p:nvSpPr>
          <p:cNvPr id="16" name="Shape 14"/>
          <p:cNvSpPr/>
          <p:nvPr/>
        </p:nvSpPr>
        <p:spPr>
          <a:xfrm>
            <a:off x="228600" y="3840480"/>
            <a:ext cx="8686800" cy="594360"/>
          </a:xfrm>
          <a:prstGeom prst="rect">
            <a:avLst/>
          </a:prstGeom>
          <a:solidFill>
            <a:srgbClr val="FFF9E6"/>
          </a:solidFill>
          <a:ln/>
          <a:effectLst>
            <a:outerShdw blurRad="88900" dist="38100" dir="8100000" algn="bl" rotWithShape="0">
              <a:srgbClr val="000000">
                <a:alpha val="13000"/>
              </a:srgbClr>
            </a:outerShdw>
          </a:effectLst>
        </p:spPr>
      </p:sp>
      <p:sp>
        <p:nvSpPr>
          <p:cNvPr id="17" name="Shape 15"/>
          <p:cNvSpPr/>
          <p:nvPr/>
        </p:nvSpPr>
        <p:spPr>
          <a:xfrm>
            <a:off x="228600" y="3840480"/>
            <a:ext cx="91440" cy="594360"/>
          </a:xfrm>
          <a:prstGeom prst="rect">
            <a:avLst/>
          </a:prstGeom>
          <a:solidFill>
            <a:srgbClr val="F4A261"/>
          </a:solidFill>
          <a:ln/>
        </p:spPr>
      </p:sp>
      <p:sp>
        <p:nvSpPr>
          <p:cNvPr id="18" name="Text 16"/>
          <p:cNvSpPr/>
          <p:nvPr/>
        </p:nvSpPr>
        <p:spPr>
          <a:xfrm>
            <a:off x="393192" y="3840480"/>
            <a:ext cx="8458200" cy="594360"/>
          </a:xfrm>
          <a:prstGeom prst="rect">
            <a:avLst/>
          </a:prstGeom>
          <a:noFill/>
          <a:ln/>
        </p:spPr>
        <p:txBody>
          <a:bodyPr wrap="square" rtlCol="0" anchor="ctr"/>
          <a:lstStyle/>
          <a:p>
            <a:pPr marL="0" indent="0">
              <a:buNone/>
            </a:pPr>
            <a:r>
              <a:rPr lang="en-US" sz="1250" dirty="0">
                <a:solidFill>
                  <a:srgbClr val="5C3A00"/>
                </a:solidFill>
                <a:latin typeface="Calibri" pitchFamily="34" charset="0"/>
                <a:ea typeface="Calibri" pitchFamily="34" charset="-122"/>
                <a:cs typeface="Calibri" pitchFamily="34" charset="-120"/>
              </a:rPr>
              <a:t>💡  Note:  Examples of web server software: Apache HTTP Server, Nginx, Microsoft IIS, and Node.js with the Express framework.</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Client-Server Architecture</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1 › Web Servers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00584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00584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Client-Server Architecture</a:t>
            </a:r>
            <a:endParaRPr lang="en-US" sz="1300" dirty="0"/>
          </a:p>
        </p:txBody>
      </p:sp>
      <p:sp>
        <p:nvSpPr>
          <p:cNvPr id="11" name="Text 9"/>
          <p:cNvSpPr/>
          <p:nvPr/>
        </p:nvSpPr>
        <p:spPr>
          <a:xfrm>
            <a:off x="393192" y="1444752"/>
            <a:ext cx="8458200" cy="43891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computing model where the CLIENT (browser) initiates requests and the SERVER listens, processes requests, and returns responses. This model is the foundation of how all web applications work on the internet.</a:t>
            </a:r>
            <a:endParaRPr lang="en-US" sz="1250" dirty="0"/>
          </a:p>
        </p:txBody>
      </p:sp>
      <p:sp>
        <p:nvSpPr>
          <p:cNvPr id="12" name="Shape 10"/>
          <p:cNvSpPr/>
          <p:nvPr/>
        </p:nvSpPr>
        <p:spPr>
          <a:xfrm>
            <a:off x="274320" y="2148840"/>
            <a:ext cx="2560320" cy="2377440"/>
          </a:xfrm>
          <a:prstGeom prst="rect">
            <a:avLst/>
          </a:prstGeom>
          <a:solidFill>
            <a:srgbClr val="FFFFFF"/>
          </a:solidFill>
          <a:ln/>
          <a:effectLst>
            <a:outerShdw blurRad="88900" dist="38100" dir="8100000" algn="bl" rotWithShape="0">
              <a:srgbClr val="000000">
                <a:alpha val="13000"/>
              </a:srgbClr>
            </a:outerShdw>
          </a:effectLst>
        </p:spPr>
      </p:sp>
      <p:sp>
        <p:nvSpPr>
          <p:cNvPr id="13" name="Shape 11"/>
          <p:cNvSpPr/>
          <p:nvPr/>
        </p:nvSpPr>
        <p:spPr>
          <a:xfrm>
            <a:off x="274320" y="2148840"/>
            <a:ext cx="2560320" cy="411480"/>
          </a:xfrm>
          <a:prstGeom prst="rect">
            <a:avLst/>
          </a:prstGeom>
          <a:solidFill>
            <a:srgbClr val="1E6FBF"/>
          </a:solidFill>
          <a:ln/>
        </p:spPr>
      </p:sp>
      <p:sp>
        <p:nvSpPr>
          <p:cNvPr id="14" name="Text 12"/>
          <p:cNvSpPr/>
          <p:nvPr/>
        </p:nvSpPr>
        <p:spPr>
          <a:xfrm>
            <a:off x="274320" y="2148840"/>
            <a:ext cx="256032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CLIENT</a:t>
            </a:r>
            <a:endParaRPr lang="en-US" sz="1400" dirty="0"/>
          </a:p>
        </p:txBody>
      </p:sp>
      <p:sp>
        <p:nvSpPr>
          <p:cNvPr id="15" name="Text 13"/>
          <p:cNvSpPr/>
          <p:nvPr/>
        </p:nvSpPr>
        <p:spPr>
          <a:xfrm>
            <a:off x="411480" y="2633472"/>
            <a:ext cx="228600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Web Browser</a:t>
            </a:r>
            <a:endParaRPr lang="en-US" sz="1250" dirty="0"/>
          </a:p>
        </p:txBody>
      </p:sp>
      <p:sp>
        <p:nvSpPr>
          <p:cNvPr id="16" name="Text 14"/>
          <p:cNvSpPr/>
          <p:nvPr/>
        </p:nvSpPr>
        <p:spPr>
          <a:xfrm>
            <a:off x="411480" y="3063240"/>
            <a:ext cx="228600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Your Phone/Laptop</a:t>
            </a:r>
            <a:endParaRPr lang="en-US" sz="1250" dirty="0"/>
          </a:p>
        </p:txBody>
      </p:sp>
      <p:sp>
        <p:nvSpPr>
          <p:cNvPr id="17" name="Text 15"/>
          <p:cNvSpPr/>
          <p:nvPr/>
        </p:nvSpPr>
        <p:spPr>
          <a:xfrm>
            <a:off x="411480" y="3493008"/>
            <a:ext cx="228600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Sends HTTP Request</a:t>
            </a:r>
            <a:endParaRPr lang="en-US" sz="1250" dirty="0"/>
          </a:p>
        </p:txBody>
      </p:sp>
      <p:sp>
        <p:nvSpPr>
          <p:cNvPr id="18" name="Text 16"/>
          <p:cNvSpPr/>
          <p:nvPr/>
        </p:nvSpPr>
        <p:spPr>
          <a:xfrm>
            <a:off x="411480" y="3922776"/>
            <a:ext cx="228600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Displays Response</a:t>
            </a:r>
            <a:endParaRPr lang="en-US" sz="1250" dirty="0"/>
          </a:p>
        </p:txBody>
      </p:sp>
      <p:sp>
        <p:nvSpPr>
          <p:cNvPr id="19" name="Shape 17"/>
          <p:cNvSpPr/>
          <p:nvPr/>
        </p:nvSpPr>
        <p:spPr>
          <a:xfrm>
            <a:off x="2926080" y="2926080"/>
            <a:ext cx="3200400" cy="0"/>
          </a:xfrm>
          <a:prstGeom prst="line">
            <a:avLst/>
          </a:prstGeom>
          <a:noFill/>
          <a:ln w="31750">
            <a:solidFill>
              <a:srgbClr val="1E6FBF"/>
            </a:solidFill>
            <a:prstDash val="solid"/>
          </a:ln>
        </p:spPr>
      </p:sp>
      <p:sp>
        <p:nvSpPr>
          <p:cNvPr id="20" name="Text 18"/>
          <p:cNvSpPr/>
          <p:nvPr/>
        </p:nvSpPr>
        <p:spPr>
          <a:xfrm>
            <a:off x="2926080" y="2697480"/>
            <a:ext cx="3200400" cy="347472"/>
          </a:xfrm>
          <a:prstGeom prst="rect">
            <a:avLst/>
          </a:prstGeom>
          <a:noFill/>
          <a:ln/>
        </p:spPr>
        <p:txBody>
          <a:bodyPr wrap="square" rtlCol="0" anchor="ctr"/>
          <a:lstStyle/>
          <a:p>
            <a:pPr marL="0" indent="0" algn="ctr">
              <a:buNone/>
            </a:pPr>
            <a:r>
              <a:rPr lang="en-US" sz="1200" b="1" dirty="0">
                <a:solidFill>
                  <a:srgbClr val="1E6FBF"/>
                </a:solidFill>
                <a:latin typeface="Calibri" pitchFamily="34" charset="0"/>
                <a:ea typeface="Calibri" pitchFamily="34" charset="-122"/>
                <a:cs typeface="Calibri" pitchFamily="34" charset="-120"/>
              </a:rPr>
              <a:t>➜  HTTP Request</a:t>
            </a:r>
            <a:endParaRPr lang="en-US" sz="1200" dirty="0"/>
          </a:p>
        </p:txBody>
      </p:sp>
      <p:sp>
        <p:nvSpPr>
          <p:cNvPr id="21" name="Text 19"/>
          <p:cNvSpPr/>
          <p:nvPr/>
        </p:nvSpPr>
        <p:spPr>
          <a:xfrm>
            <a:off x="2926080" y="2926080"/>
            <a:ext cx="3200400" cy="347472"/>
          </a:xfrm>
          <a:prstGeom prst="rect">
            <a:avLst/>
          </a:prstGeom>
          <a:noFill/>
          <a:ln/>
        </p:spPr>
        <p:txBody>
          <a:bodyPr wrap="square" rtlCol="0" anchor="ctr"/>
          <a:lstStyle/>
          <a:p>
            <a:pPr marL="0" indent="0" algn="ctr">
              <a:buNone/>
            </a:pPr>
            <a:r>
              <a:rPr lang="en-US" sz="1100" dirty="0">
                <a:solidFill>
                  <a:srgbClr val="5A6475"/>
                </a:solidFill>
                <a:latin typeface="Courier New" pitchFamily="34" charset="0"/>
                <a:ea typeface="Courier New" pitchFamily="34" charset="-122"/>
                <a:cs typeface="Courier New" pitchFamily="34" charset="-120"/>
              </a:rPr>
              <a:t>GET /index.html</a:t>
            </a:r>
            <a:endParaRPr lang="en-US" sz="1100" dirty="0"/>
          </a:p>
        </p:txBody>
      </p:sp>
      <p:sp>
        <p:nvSpPr>
          <p:cNvPr id="22" name="Shape 20"/>
          <p:cNvSpPr/>
          <p:nvPr/>
        </p:nvSpPr>
        <p:spPr>
          <a:xfrm>
            <a:off x="2926080" y="3977640"/>
            <a:ext cx="3200400" cy="0"/>
          </a:xfrm>
          <a:prstGeom prst="line">
            <a:avLst/>
          </a:prstGeom>
          <a:noFill/>
          <a:ln w="31750">
            <a:solidFill>
              <a:srgbClr val="06D6A0"/>
            </a:solidFill>
            <a:prstDash val="solid"/>
          </a:ln>
        </p:spPr>
      </p:sp>
      <p:sp>
        <p:nvSpPr>
          <p:cNvPr id="23" name="Text 21"/>
          <p:cNvSpPr/>
          <p:nvPr/>
        </p:nvSpPr>
        <p:spPr>
          <a:xfrm>
            <a:off x="2926080" y="4041648"/>
            <a:ext cx="3200400" cy="347472"/>
          </a:xfrm>
          <a:prstGeom prst="rect">
            <a:avLst/>
          </a:prstGeom>
          <a:noFill/>
          <a:ln/>
        </p:spPr>
        <p:txBody>
          <a:bodyPr wrap="square" rtlCol="0" anchor="ctr"/>
          <a:lstStyle/>
          <a:p>
            <a:pPr marL="0" indent="0" algn="ctr">
              <a:buNone/>
            </a:pPr>
            <a:r>
              <a:rPr lang="en-US" sz="1200" b="1" dirty="0">
                <a:solidFill>
                  <a:srgbClr val="06D6A0"/>
                </a:solidFill>
                <a:latin typeface="Calibri" pitchFamily="34" charset="0"/>
                <a:ea typeface="Calibri" pitchFamily="34" charset="-122"/>
                <a:cs typeface="Calibri" pitchFamily="34" charset="-120"/>
              </a:rPr>
              <a:t>◀  HTTP Response</a:t>
            </a:r>
            <a:endParaRPr lang="en-US" sz="1200" dirty="0"/>
          </a:p>
        </p:txBody>
      </p:sp>
      <p:sp>
        <p:nvSpPr>
          <p:cNvPr id="24" name="Text 22"/>
          <p:cNvSpPr/>
          <p:nvPr/>
        </p:nvSpPr>
        <p:spPr>
          <a:xfrm>
            <a:off x="2926080" y="4370832"/>
            <a:ext cx="3200400" cy="320040"/>
          </a:xfrm>
          <a:prstGeom prst="rect">
            <a:avLst/>
          </a:prstGeom>
          <a:noFill/>
          <a:ln/>
        </p:spPr>
        <p:txBody>
          <a:bodyPr wrap="square" rtlCol="0" anchor="ctr"/>
          <a:lstStyle/>
          <a:p>
            <a:pPr marL="0" indent="0" algn="ctr">
              <a:buNone/>
            </a:pPr>
            <a:r>
              <a:rPr lang="en-US" sz="1100" dirty="0">
                <a:solidFill>
                  <a:srgbClr val="5A6475"/>
                </a:solidFill>
                <a:latin typeface="Courier New" pitchFamily="34" charset="0"/>
                <a:ea typeface="Courier New" pitchFamily="34" charset="-122"/>
                <a:cs typeface="Courier New" pitchFamily="34" charset="-120"/>
              </a:rPr>
              <a:t>200 OK + HTML page</a:t>
            </a:r>
            <a:endParaRPr lang="en-US" sz="1100" dirty="0"/>
          </a:p>
        </p:txBody>
      </p:sp>
      <p:sp>
        <p:nvSpPr>
          <p:cNvPr id="25" name="Shape 23"/>
          <p:cNvSpPr/>
          <p:nvPr/>
        </p:nvSpPr>
        <p:spPr>
          <a:xfrm>
            <a:off x="6263640" y="2148840"/>
            <a:ext cx="2651760" cy="2377440"/>
          </a:xfrm>
          <a:prstGeom prst="rect">
            <a:avLst/>
          </a:prstGeom>
          <a:solidFill>
            <a:srgbClr val="FFFFFF"/>
          </a:solidFill>
          <a:ln/>
          <a:effectLst>
            <a:outerShdw blurRad="88900" dist="38100" dir="8100000" algn="bl" rotWithShape="0">
              <a:srgbClr val="000000">
                <a:alpha val="13000"/>
              </a:srgbClr>
            </a:outerShdw>
          </a:effectLst>
        </p:spPr>
      </p:sp>
      <p:sp>
        <p:nvSpPr>
          <p:cNvPr id="26" name="Shape 24"/>
          <p:cNvSpPr/>
          <p:nvPr/>
        </p:nvSpPr>
        <p:spPr>
          <a:xfrm>
            <a:off x="6263640" y="2148840"/>
            <a:ext cx="2651760" cy="411480"/>
          </a:xfrm>
          <a:prstGeom prst="rect">
            <a:avLst/>
          </a:prstGeom>
          <a:solidFill>
            <a:srgbClr val="1A3A6B"/>
          </a:solidFill>
          <a:ln/>
        </p:spPr>
      </p:sp>
      <p:sp>
        <p:nvSpPr>
          <p:cNvPr id="27" name="Text 25"/>
          <p:cNvSpPr/>
          <p:nvPr/>
        </p:nvSpPr>
        <p:spPr>
          <a:xfrm>
            <a:off x="6263640" y="214884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SERVER</a:t>
            </a:r>
            <a:endParaRPr lang="en-US" sz="1400" dirty="0"/>
          </a:p>
        </p:txBody>
      </p:sp>
      <p:sp>
        <p:nvSpPr>
          <p:cNvPr id="28" name="Text 26"/>
          <p:cNvSpPr/>
          <p:nvPr/>
        </p:nvSpPr>
        <p:spPr>
          <a:xfrm>
            <a:off x="6400800" y="2633472"/>
            <a:ext cx="237744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Node.js / Express</a:t>
            </a:r>
            <a:endParaRPr lang="en-US" sz="1250" dirty="0"/>
          </a:p>
        </p:txBody>
      </p:sp>
      <p:sp>
        <p:nvSpPr>
          <p:cNvPr id="29" name="Text 27"/>
          <p:cNvSpPr/>
          <p:nvPr/>
        </p:nvSpPr>
        <p:spPr>
          <a:xfrm>
            <a:off x="6400800" y="3063240"/>
            <a:ext cx="237744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Runs on a computer</a:t>
            </a:r>
            <a:endParaRPr lang="en-US" sz="1250" dirty="0"/>
          </a:p>
        </p:txBody>
      </p:sp>
      <p:sp>
        <p:nvSpPr>
          <p:cNvPr id="30" name="Text 28"/>
          <p:cNvSpPr/>
          <p:nvPr/>
        </p:nvSpPr>
        <p:spPr>
          <a:xfrm>
            <a:off x="6400800" y="3493008"/>
            <a:ext cx="237744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Receives requests</a:t>
            </a:r>
            <a:endParaRPr lang="en-US" sz="1250" dirty="0"/>
          </a:p>
        </p:txBody>
      </p:sp>
      <p:sp>
        <p:nvSpPr>
          <p:cNvPr id="31" name="Text 29"/>
          <p:cNvSpPr/>
          <p:nvPr/>
        </p:nvSpPr>
        <p:spPr>
          <a:xfrm>
            <a:off x="6400800" y="3922776"/>
            <a:ext cx="2377440" cy="384048"/>
          </a:xfrm>
          <a:prstGeom prst="rect">
            <a:avLst/>
          </a:prstGeom>
          <a:noFill/>
          <a:ln/>
        </p:spPr>
        <p:txBody>
          <a:bodyPr wrap="square" rtlCol="0" anchor="ctr"/>
          <a:lstStyle/>
          <a:p>
            <a:pPr marL="0" indent="0">
              <a:buNone/>
            </a:pPr>
            <a:r>
              <a:rPr lang="en-US" sz="1250" dirty="0">
                <a:solidFill>
                  <a:srgbClr val="1C1C2E"/>
                </a:solidFill>
                <a:latin typeface="Calibri" pitchFamily="34" charset="0"/>
                <a:ea typeface="Calibri" pitchFamily="34" charset="-122"/>
                <a:cs typeface="Calibri" pitchFamily="34" charset="-120"/>
              </a:rPr>
              <a:t>• Sends back data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HTTP — The Language of the Web</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1 › Web Servers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144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1440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HTTP (HyperText Transfer Protocol)</a:t>
            </a:r>
            <a:endParaRPr lang="en-US" sz="1300" dirty="0"/>
          </a:p>
        </p:txBody>
      </p:sp>
      <p:sp>
        <p:nvSpPr>
          <p:cNvPr id="11" name="Text 9"/>
          <p:cNvSpPr/>
          <p:nvPr/>
        </p:nvSpPr>
        <p:spPr>
          <a:xfrm>
            <a:off x="393192" y="1444752"/>
            <a:ext cx="8458200" cy="3474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set of rules that defines how data is exchanged between a client and a web server over the internet. HTTP is a request-response protocol — the client always sends a request first, and the server always sends a response back.</a:t>
            </a:r>
            <a:endParaRPr lang="en-US" sz="1250" dirty="0"/>
          </a:p>
        </p:txBody>
      </p:sp>
      <p:sp>
        <p:nvSpPr>
          <p:cNvPr id="12" name="Text 10"/>
          <p:cNvSpPr/>
          <p:nvPr/>
        </p:nvSpPr>
        <p:spPr>
          <a:xfrm>
            <a:off x="274320" y="2029968"/>
            <a:ext cx="8595360" cy="365760"/>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The 4 Most Important HTTP Methods:</a:t>
            </a:r>
            <a:endParaRPr lang="en-US" sz="1400" dirty="0"/>
          </a:p>
        </p:txBody>
      </p:sp>
      <p:sp>
        <p:nvSpPr>
          <p:cNvPr id="13" name="Shape 11"/>
          <p:cNvSpPr/>
          <p:nvPr/>
        </p:nvSpPr>
        <p:spPr>
          <a:xfrm>
            <a:off x="228600" y="2450592"/>
            <a:ext cx="2103120" cy="2148840"/>
          </a:xfrm>
          <a:prstGeom prst="rect">
            <a:avLst/>
          </a:prstGeom>
          <a:solidFill>
            <a:srgbClr val="FFFFFF"/>
          </a:solidFill>
          <a:ln/>
          <a:effectLst>
            <a:outerShdw blurRad="88900" dist="38100" dir="8100000" algn="bl" rotWithShape="0">
              <a:srgbClr val="000000">
                <a:alpha val="13000"/>
              </a:srgbClr>
            </a:outerShdw>
          </a:effectLst>
        </p:spPr>
      </p:sp>
      <p:sp>
        <p:nvSpPr>
          <p:cNvPr id="14" name="Shape 12"/>
          <p:cNvSpPr/>
          <p:nvPr/>
        </p:nvSpPr>
        <p:spPr>
          <a:xfrm>
            <a:off x="228600" y="2450592"/>
            <a:ext cx="2103120" cy="457200"/>
          </a:xfrm>
          <a:prstGeom prst="rect">
            <a:avLst/>
          </a:prstGeom>
          <a:solidFill>
            <a:srgbClr val="1E6FBF"/>
          </a:solidFill>
          <a:ln/>
        </p:spPr>
      </p:sp>
      <p:sp>
        <p:nvSpPr>
          <p:cNvPr id="15" name="Text 13"/>
          <p:cNvSpPr/>
          <p:nvPr/>
        </p:nvSpPr>
        <p:spPr>
          <a:xfrm>
            <a:off x="228600" y="2450592"/>
            <a:ext cx="2103120"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GET</a:t>
            </a:r>
            <a:endParaRPr lang="en-US" sz="1700" dirty="0"/>
          </a:p>
        </p:txBody>
      </p:sp>
      <p:sp>
        <p:nvSpPr>
          <p:cNvPr id="16" name="Text 14"/>
          <p:cNvSpPr/>
          <p:nvPr/>
        </p:nvSpPr>
        <p:spPr>
          <a:xfrm>
            <a:off x="320040" y="2980944"/>
            <a:ext cx="1920240" cy="438912"/>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Fetch / Read Data</a:t>
            </a:r>
            <a:endParaRPr lang="en-US" sz="1250" dirty="0"/>
          </a:p>
        </p:txBody>
      </p:sp>
      <p:sp>
        <p:nvSpPr>
          <p:cNvPr id="17" name="Text 15"/>
          <p:cNvSpPr/>
          <p:nvPr/>
        </p:nvSpPr>
        <p:spPr>
          <a:xfrm>
            <a:off x="320040" y="3438144"/>
            <a:ext cx="1920240" cy="77724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e.g. Open a webpage, load students list</a:t>
            </a:r>
            <a:endParaRPr lang="en-US" sz="1150" dirty="0"/>
          </a:p>
        </p:txBody>
      </p:sp>
      <p:sp>
        <p:nvSpPr>
          <p:cNvPr id="18" name="Shape 16"/>
          <p:cNvSpPr/>
          <p:nvPr/>
        </p:nvSpPr>
        <p:spPr>
          <a:xfrm>
            <a:off x="2423160" y="2450592"/>
            <a:ext cx="2103120" cy="2148840"/>
          </a:xfrm>
          <a:prstGeom prst="rect">
            <a:avLst/>
          </a:prstGeom>
          <a:solidFill>
            <a:srgbClr val="FFFFFF"/>
          </a:solidFill>
          <a:ln/>
          <a:effectLst>
            <a:outerShdw blurRad="88900" dist="38100" dir="8100000" algn="bl" rotWithShape="0">
              <a:srgbClr val="000000">
                <a:alpha val="13000"/>
              </a:srgbClr>
            </a:outerShdw>
          </a:effectLst>
        </p:spPr>
      </p:sp>
      <p:sp>
        <p:nvSpPr>
          <p:cNvPr id="19" name="Shape 17"/>
          <p:cNvSpPr/>
          <p:nvPr/>
        </p:nvSpPr>
        <p:spPr>
          <a:xfrm>
            <a:off x="2423160" y="2450592"/>
            <a:ext cx="2103120" cy="457200"/>
          </a:xfrm>
          <a:prstGeom prst="rect">
            <a:avLst/>
          </a:prstGeom>
          <a:solidFill>
            <a:srgbClr val="06D6A0"/>
          </a:solidFill>
          <a:ln/>
        </p:spPr>
      </p:sp>
      <p:sp>
        <p:nvSpPr>
          <p:cNvPr id="20" name="Text 18"/>
          <p:cNvSpPr/>
          <p:nvPr/>
        </p:nvSpPr>
        <p:spPr>
          <a:xfrm>
            <a:off x="2423160" y="2450592"/>
            <a:ext cx="2103120"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POST</a:t>
            </a:r>
            <a:endParaRPr lang="en-US" sz="1700" dirty="0"/>
          </a:p>
        </p:txBody>
      </p:sp>
      <p:sp>
        <p:nvSpPr>
          <p:cNvPr id="21" name="Text 19"/>
          <p:cNvSpPr/>
          <p:nvPr/>
        </p:nvSpPr>
        <p:spPr>
          <a:xfrm>
            <a:off x="2514600" y="2980944"/>
            <a:ext cx="1920240" cy="438912"/>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Send / Create Data</a:t>
            </a:r>
            <a:endParaRPr lang="en-US" sz="1250" dirty="0"/>
          </a:p>
        </p:txBody>
      </p:sp>
      <p:sp>
        <p:nvSpPr>
          <p:cNvPr id="22" name="Text 20"/>
          <p:cNvSpPr/>
          <p:nvPr/>
        </p:nvSpPr>
        <p:spPr>
          <a:xfrm>
            <a:off x="2514600" y="3438144"/>
            <a:ext cx="1920240" cy="77724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e.g. Submit a form, register a user</a:t>
            </a:r>
            <a:endParaRPr lang="en-US" sz="1150" dirty="0"/>
          </a:p>
        </p:txBody>
      </p:sp>
      <p:sp>
        <p:nvSpPr>
          <p:cNvPr id="23" name="Shape 21"/>
          <p:cNvSpPr/>
          <p:nvPr/>
        </p:nvSpPr>
        <p:spPr>
          <a:xfrm>
            <a:off x="4617720" y="2450592"/>
            <a:ext cx="2103120" cy="2148840"/>
          </a:xfrm>
          <a:prstGeom prst="rect">
            <a:avLst/>
          </a:prstGeom>
          <a:solidFill>
            <a:srgbClr val="FFFFFF"/>
          </a:solidFill>
          <a:ln/>
          <a:effectLst>
            <a:outerShdw blurRad="88900" dist="38100" dir="8100000" algn="bl" rotWithShape="0">
              <a:srgbClr val="000000">
                <a:alpha val="13000"/>
              </a:srgbClr>
            </a:outerShdw>
          </a:effectLst>
        </p:spPr>
      </p:sp>
      <p:sp>
        <p:nvSpPr>
          <p:cNvPr id="24" name="Shape 22"/>
          <p:cNvSpPr/>
          <p:nvPr/>
        </p:nvSpPr>
        <p:spPr>
          <a:xfrm>
            <a:off x="4617720" y="2450592"/>
            <a:ext cx="2103120" cy="457200"/>
          </a:xfrm>
          <a:prstGeom prst="rect">
            <a:avLst/>
          </a:prstGeom>
          <a:solidFill>
            <a:srgbClr val="F4A261"/>
          </a:solidFill>
          <a:ln/>
        </p:spPr>
      </p:sp>
      <p:sp>
        <p:nvSpPr>
          <p:cNvPr id="25" name="Text 23"/>
          <p:cNvSpPr/>
          <p:nvPr/>
        </p:nvSpPr>
        <p:spPr>
          <a:xfrm>
            <a:off x="4617720" y="2450592"/>
            <a:ext cx="2103120"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PUT</a:t>
            </a:r>
            <a:endParaRPr lang="en-US" sz="1700" dirty="0"/>
          </a:p>
        </p:txBody>
      </p:sp>
      <p:sp>
        <p:nvSpPr>
          <p:cNvPr id="26" name="Text 24"/>
          <p:cNvSpPr/>
          <p:nvPr/>
        </p:nvSpPr>
        <p:spPr>
          <a:xfrm>
            <a:off x="4709160" y="2980944"/>
            <a:ext cx="1920240" cy="438912"/>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Update Existing Data</a:t>
            </a:r>
            <a:endParaRPr lang="en-US" sz="1250" dirty="0"/>
          </a:p>
        </p:txBody>
      </p:sp>
      <p:sp>
        <p:nvSpPr>
          <p:cNvPr id="27" name="Text 25"/>
          <p:cNvSpPr/>
          <p:nvPr/>
        </p:nvSpPr>
        <p:spPr>
          <a:xfrm>
            <a:off x="4709160" y="3438144"/>
            <a:ext cx="1920240" cy="77724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e.g. Edit profile, update a record</a:t>
            </a:r>
            <a:endParaRPr lang="en-US" sz="1150" dirty="0"/>
          </a:p>
        </p:txBody>
      </p:sp>
      <p:sp>
        <p:nvSpPr>
          <p:cNvPr id="28" name="Shape 26"/>
          <p:cNvSpPr/>
          <p:nvPr/>
        </p:nvSpPr>
        <p:spPr>
          <a:xfrm>
            <a:off x="6812280" y="2450592"/>
            <a:ext cx="2103120" cy="2148840"/>
          </a:xfrm>
          <a:prstGeom prst="rect">
            <a:avLst/>
          </a:prstGeom>
          <a:solidFill>
            <a:srgbClr val="FFFFFF"/>
          </a:solidFill>
          <a:ln/>
          <a:effectLst>
            <a:outerShdw blurRad="88900" dist="38100" dir="8100000" algn="bl" rotWithShape="0">
              <a:srgbClr val="000000">
                <a:alpha val="13000"/>
              </a:srgbClr>
            </a:outerShdw>
          </a:effectLst>
        </p:spPr>
      </p:sp>
      <p:sp>
        <p:nvSpPr>
          <p:cNvPr id="29" name="Shape 27"/>
          <p:cNvSpPr/>
          <p:nvPr/>
        </p:nvSpPr>
        <p:spPr>
          <a:xfrm>
            <a:off x="6812280" y="2450592"/>
            <a:ext cx="2103120" cy="457200"/>
          </a:xfrm>
          <a:prstGeom prst="rect">
            <a:avLst/>
          </a:prstGeom>
          <a:solidFill>
            <a:srgbClr val="EF476F"/>
          </a:solidFill>
          <a:ln/>
        </p:spPr>
      </p:sp>
      <p:sp>
        <p:nvSpPr>
          <p:cNvPr id="30" name="Text 28"/>
          <p:cNvSpPr/>
          <p:nvPr/>
        </p:nvSpPr>
        <p:spPr>
          <a:xfrm>
            <a:off x="6812280" y="2450592"/>
            <a:ext cx="2103120"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DELETE</a:t>
            </a:r>
            <a:endParaRPr lang="en-US" sz="1700" dirty="0"/>
          </a:p>
        </p:txBody>
      </p:sp>
      <p:sp>
        <p:nvSpPr>
          <p:cNvPr id="31" name="Text 29"/>
          <p:cNvSpPr/>
          <p:nvPr/>
        </p:nvSpPr>
        <p:spPr>
          <a:xfrm>
            <a:off x="6903720" y="2980944"/>
            <a:ext cx="1920240" cy="438912"/>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Remove Data</a:t>
            </a:r>
            <a:endParaRPr lang="en-US" sz="1250" dirty="0"/>
          </a:p>
        </p:txBody>
      </p:sp>
      <p:sp>
        <p:nvSpPr>
          <p:cNvPr id="32" name="Text 30"/>
          <p:cNvSpPr/>
          <p:nvPr/>
        </p:nvSpPr>
        <p:spPr>
          <a:xfrm>
            <a:off x="6903720" y="3438144"/>
            <a:ext cx="1920240" cy="777240"/>
          </a:xfrm>
          <a:prstGeom prst="rect">
            <a:avLst/>
          </a:prstGeom>
          <a:noFill/>
          <a:ln/>
        </p:spPr>
        <p:txBody>
          <a:bodyPr wrap="square" rtlCol="0" anchor="ctr"/>
          <a:lstStyle/>
          <a:p>
            <a:pPr marL="0" indent="0">
              <a:buNone/>
            </a:pPr>
            <a:r>
              <a:rPr lang="en-US" sz="1150" dirty="0">
                <a:solidFill>
                  <a:srgbClr val="5A6475"/>
                </a:solidFill>
                <a:latin typeface="Calibri" pitchFamily="34" charset="0"/>
                <a:ea typeface="Calibri" pitchFamily="34" charset="-122"/>
                <a:cs typeface="Calibri" pitchFamily="34" charset="-120"/>
              </a:rPr>
              <a:t>e.g. Delete a post, remove an account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HTTP Status Codes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1 › Web Servers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82296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82296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HTTP Status Code</a:t>
            </a:r>
            <a:endParaRPr lang="en-US" sz="1300" dirty="0"/>
          </a:p>
        </p:txBody>
      </p:sp>
      <p:sp>
        <p:nvSpPr>
          <p:cNvPr id="11" name="Text 9"/>
          <p:cNvSpPr/>
          <p:nvPr/>
        </p:nvSpPr>
        <p:spPr>
          <a:xfrm>
            <a:off x="393192" y="1444752"/>
            <a:ext cx="8458200" cy="25603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3-digit number sent by the server in every response to indicate the outcome of the request. The first digit shows the category (1xx=Info, 2xx=Success, 3xx=Redirect, 4xx=Client Error, 5xx=Server Error).</a:t>
            </a:r>
            <a:endParaRPr lang="en-US" sz="1250" dirty="0"/>
          </a:p>
        </p:txBody>
      </p:sp>
      <p:sp>
        <p:nvSpPr>
          <p:cNvPr id="12" name="Text 10"/>
          <p:cNvSpPr/>
          <p:nvPr/>
        </p:nvSpPr>
        <p:spPr>
          <a:xfrm>
            <a:off x="274320" y="1938528"/>
            <a:ext cx="8595360" cy="347472"/>
          </a:xfrm>
          <a:prstGeom prst="rect">
            <a:avLst/>
          </a:prstGeom>
          <a:noFill/>
          <a:ln/>
        </p:spPr>
        <p:txBody>
          <a:bodyPr wrap="square" lIns="0" tIns="0" rIns="0" bIns="0"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Most Important Status Codes:</a:t>
            </a:r>
            <a:endParaRPr lang="en-US" sz="1400" dirty="0"/>
          </a:p>
        </p:txBody>
      </p:sp>
      <p:sp>
        <p:nvSpPr>
          <p:cNvPr id="13" name="Shape 11"/>
          <p:cNvSpPr/>
          <p:nvPr/>
        </p:nvSpPr>
        <p:spPr>
          <a:xfrm>
            <a:off x="228600" y="2377440"/>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14" name="Shape 12"/>
          <p:cNvSpPr/>
          <p:nvPr/>
        </p:nvSpPr>
        <p:spPr>
          <a:xfrm>
            <a:off x="228600" y="2377440"/>
            <a:ext cx="73152" cy="749808"/>
          </a:xfrm>
          <a:prstGeom prst="rect">
            <a:avLst/>
          </a:prstGeom>
          <a:solidFill>
            <a:srgbClr val="06D6A0"/>
          </a:solidFill>
          <a:ln/>
        </p:spPr>
      </p:sp>
      <p:sp>
        <p:nvSpPr>
          <p:cNvPr id="15" name="Text 13"/>
          <p:cNvSpPr/>
          <p:nvPr/>
        </p:nvSpPr>
        <p:spPr>
          <a:xfrm>
            <a:off x="393192" y="2414016"/>
            <a:ext cx="2011680" cy="347472"/>
          </a:xfrm>
          <a:prstGeom prst="rect">
            <a:avLst/>
          </a:prstGeom>
          <a:noFill/>
          <a:ln/>
        </p:spPr>
        <p:txBody>
          <a:bodyPr wrap="square" lIns="0" tIns="0" rIns="0" bIns="0" rtlCol="0" anchor="ctr"/>
          <a:lstStyle/>
          <a:p>
            <a:pPr marL="0" indent="0">
              <a:buNone/>
            </a:pPr>
            <a:r>
              <a:rPr lang="en-US" sz="1300" b="1" dirty="0">
                <a:solidFill>
                  <a:srgbClr val="06D6A0"/>
                </a:solidFill>
                <a:latin typeface="Courier New" pitchFamily="34" charset="0"/>
                <a:ea typeface="Courier New" pitchFamily="34" charset="-122"/>
                <a:cs typeface="Courier New" pitchFamily="34" charset="-120"/>
              </a:rPr>
              <a:t>200 OK</a:t>
            </a:r>
            <a:endParaRPr lang="en-US" sz="1300" dirty="0"/>
          </a:p>
        </p:txBody>
      </p:sp>
      <p:sp>
        <p:nvSpPr>
          <p:cNvPr id="16" name="Text 14"/>
          <p:cNvSpPr/>
          <p:nvPr/>
        </p:nvSpPr>
        <p:spPr>
          <a:xfrm>
            <a:off x="2441448" y="2414016"/>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Request successful</a:t>
            </a:r>
            <a:endParaRPr lang="en-US" sz="1200" dirty="0"/>
          </a:p>
        </p:txBody>
      </p:sp>
      <p:sp>
        <p:nvSpPr>
          <p:cNvPr id="17" name="Text 15"/>
          <p:cNvSpPr/>
          <p:nvPr/>
        </p:nvSpPr>
        <p:spPr>
          <a:xfrm>
            <a:off x="393192" y="2779776"/>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Page loaded correctly</a:t>
            </a:r>
            <a:endParaRPr lang="en-US" sz="1100" dirty="0"/>
          </a:p>
        </p:txBody>
      </p:sp>
      <p:sp>
        <p:nvSpPr>
          <p:cNvPr id="18" name="Shape 16"/>
          <p:cNvSpPr/>
          <p:nvPr/>
        </p:nvSpPr>
        <p:spPr>
          <a:xfrm>
            <a:off x="228600" y="3218688"/>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19" name="Shape 17"/>
          <p:cNvSpPr/>
          <p:nvPr/>
        </p:nvSpPr>
        <p:spPr>
          <a:xfrm>
            <a:off x="228600" y="3218688"/>
            <a:ext cx="73152" cy="749808"/>
          </a:xfrm>
          <a:prstGeom prst="rect">
            <a:avLst/>
          </a:prstGeom>
          <a:solidFill>
            <a:srgbClr val="06A87A"/>
          </a:solidFill>
          <a:ln/>
        </p:spPr>
      </p:sp>
      <p:sp>
        <p:nvSpPr>
          <p:cNvPr id="20" name="Text 18"/>
          <p:cNvSpPr/>
          <p:nvPr/>
        </p:nvSpPr>
        <p:spPr>
          <a:xfrm>
            <a:off x="393192" y="3255264"/>
            <a:ext cx="2011680" cy="347472"/>
          </a:xfrm>
          <a:prstGeom prst="rect">
            <a:avLst/>
          </a:prstGeom>
          <a:noFill/>
          <a:ln/>
        </p:spPr>
        <p:txBody>
          <a:bodyPr wrap="square" lIns="0" tIns="0" rIns="0" bIns="0" rtlCol="0" anchor="ctr"/>
          <a:lstStyle/>
          <a:p>
            <a:pPr marL="0" indent="0">
              <a:buNone/>
            </a:pPr>
            <a:r>
              <a:rPr lang="en-US" sz="1300" b="1" dirty="0">
                <a:solidFill>
                  <a:srgbClr val="06A87A"/>
                </a:solidFill>
                <a:latin typeface="Courier New" pitchFamily="34" charset="0"/>
                <a:ea typeface="Courier New" pitchFamily="34" charset="-122"/>
                <a:cs typeface="Courier New" pitchFamily="34" charset="-120"/>
              </a:rPr>
              <a:t>201 Created</a:t>
            </a:r>
            <a:endParaRPr lang="en-US" sz="1300" dirty="0"/>
          </a:p>
        </p:txBody>
      </p:sp>
      <p:sp>
        <p:nvSpPr>
          <p:cNvPr id="21" name="Text 19"/>
          <p:cNvSpPr/>
          <p:nvPr/>
        </p:nvSpPr>
        <p:spPr>
          <a:xfrm>
            <a:off x="2441448" y="3255264"/>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New resource created</a:t>
            </a:r>
            <a:endParaRPr lang="en-US" sz="1200" dirty="0"/>
          </a:p>
        </p:txBody>
      </p:sp>
      <p:sp>
        <p:nvSpPr>
          <p:cNvPr id="22" name="Text 20"/>
          <p:cNvSpPr/>
          <p:nvPr/>
        </p:nvSpPr>
        <p:spPr>
          <a:xfrm>
            <a:off x="393192" y="3621024"/>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User registered successfully</a:t>
            </a:r>
            <a:endParaRPr lang="en-US" sz="1100" dirty="0"/>
          </a:p>
        </p:txBody>
      </p:sp>
      <p:sp>
        <p:nvSpPr>
          <p:cNvPr id="23" name="Shape 21"/>
          <p:cNvSpPr/>
          <p:nvPr/>
        </p:nvSpPr>
        <p:spPr>
          <a:xfrm>
            <a:off x="228600" y="4059936"/>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24" name="Shape 22"/>
          <p:cNvSpPr/>
          <p:nvPr/>
        </p:nvSpPr>
        <p:spPr>
          <a:xfrm>
            <a:off x="228600" y="4059936"/>
            <a:ext cx="73152" cy="749808"/>
          </a:xfrm>
          <a:prstGeom prst="rect">
            <a:avLst/>
          </a:prstGeom>
          <a:solidFill>
            <a:srgbClr val="F4A261"/>
          </a:solidFill>
          <a:ln/>
        </p:spPr>
      </p:sp>
      <p:sp>
        <p:nvSpPr>
          <p:cNvPr id="25" name="Text 23"/>
          <p:cNvSpPr/>
          <p:nvPr/>
        </p:nvSpPr>
        <p:spPr>
          <a:xfrm>
            <a:off x="393192" y="4096512"/>
            <a:ext cx="2011680" cy="347472"/>
          </a:xfrm>
          <a:prstGeom prst="rect">
            <a:avLst/>
          </a:prstGeom>
          <a:noFill/>
          <a:ln/>
        </p:spPr>
        <p:txBody>
          <a:bodyPr wrap="square" lIns="0" tIns="0" rIns="0" bIns="0" rtlCol="0" anchor="ctr"/>
          <a:lstStyle/>
          <a:p>
            <a:pPr marL="0" indent="0">
              <a:buNone/>
            </a:pPr>
            <a:r>
              <a:rPr lang="en-US" sz="1300" b="1" dirty="0">
                <a:solidFill>
                  <a:srgbClr val="F4A261"/>
                </a:solidFill>
                <a:latin typeface="Courier New" pitchFamily="34" charset="0"/>
                <a:ea typeface="Courier New" pitchFamily="34" charset="-122"/>
                <a:cs typeface="Courier New" pitchFamily="34" charset="-120"/>
              </a:rPr>
              <a:t>404 Not Found</a:t>
            </a:r>
            <a:endParaRPr lang="en-US" sz="1300" dirty="0"/>
          </a:p>
        </p:txBody>
      </p:sp>
      <p:sp>
        <p:nvSpPr>
          <p:cNvPr id="26" name="Text 24"/>
          <p:cNvSpPr/>
          <p:nvPr/>
        </p:nvSpPr>
        <p:spPr>
          <a:xfrm>
            <a:off x="2441448" y="4096512"/>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Resource doesn't exist</a:t>
            </a:r>
            <a:endParaRPr lang="en-US" sz="1200" dirty="0"/>
          </a:p>
        </p:txBody>
      </p:sp>
      <p:sp>
        <p:nvSpPr>
          <p:cNvPr id="27" name="Text 25"/>
          <p:cNvSpPr/>
          <p:nvPr/>
        </p:nvSpPr>
        <p:spPr>
          <a:xfrm>
            <a:off x="393192" y="4462272"/>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Wrong URL typed by user</a:t>
            </a:r>
            <a:endParaRPr lang="en-US" sz="1100" dirty="0"/>
          </a:p>
        </p:txBody>
      </p:sp>
      <p:sp>
        <p:nvSpPr>
          <p:cNvPr id="28" name="Shape 26"/>
          <p:cNvSpPr/>
          <p:nvPr/>
        </p:nvSpPr>
        <p:spPr>
          <a:xfrm>
            <a:off x="4663440" y="2377440"/>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29" name="Shape 27"/>
          <p:cNvSpPr/>
          <p:nvPr/>
        </p:nvSpPr>
        <p:spPr>
          <a:xfrm>
            <a:off x="4663440" y="2377440"/>
            <a:ext cx="73152" cy="749808"/>
          </a:xfrm>
          <a:prstGeom prst="rect">
            <a:avLst/>
          </a:prstGeom>
          <a:solidFill>
            <a:srgbClr val="E07B00"/>
          </a:solidFill>
          <a:ln/>
        </p:spPr>
      </p:sp>
      <p:sp>
        <p:nvSpPr>
          <p:cNvPr id="30" name="Text 28"/>
          <p:cNvSpPr/>
          <p:nvPr/>
        </p:nvSpPr>
        <p:spPr>
          <a:xfrm>
            <a:off x="4828032" y="2414016"/>
            <a:ext cx="2011680" cy="347472"/>
          </a:xfrm>
          <a:prstGeom prst="rect">
            <a:avLst/>
          </a:prstGeom>
          <a:noFill/>
          <a:ln/>
        </p:spPr>
        <p:txBody>
          <a:bodyPr wrap="square" lIns="0" tIns="0" rIns="0" bIns="0" rtlCol="0" anchor="ctr"/>
          <a:lstStyle/>
          <a:p>
            <a:pPr marL="0" indent="0">
              <a:buNone/>
            </a:pPr>
            <a:r>
              <a:rPr lang="en-US" sz="1300" b="1" dirty="0">
                <a:solidFill>
                  <a:srgbClr val="E07B00"/>
                </a:solidFill>
                <a:latin typeface="Courier New" pitchFamily="34" charset="0"/>
                <a:ea typeface="Courier New" pitchFamily="34" charset="-122"/>
                <a:cs typeface="Courier New" pitchFamily="34" charset="-120"/>
              </a:rPr>
              <a:t>400 Bad Request</a:t>
            </a:r>
            <a:endParaRPr lang="en-US" sz="1300" dirty="0"/>
          </a:p>
        </p:txBody>
      </p:sp>
      <p:sp>
        <p:nvSpPr>
          <p:cNvPr id="31" name="Text 29"/>
          <p:cNvSpPr/>
          <p:nvPr/>
        </p:nvSpPr>
        <p:spPr>
          <a:xfrm>
            <a:off x="6876288" y="2414016"/>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Client sent bad data</a:t>
            </a:r>
            <a:endParaRPr lang="en-US" sz="1200" dirty="0"/>
          </a:p>
        </p:txBody>
      </p:sp>
      <p:sp>
        <p:nvSpPr>
          <p:cNvPr id="32" name="Text 30"/>
          <p:cNvSpPr/>
          <p:nvPr/>
        </p:nvSpPr>
        <p:spPr>
          <a:xfrm>
            <a:off x="4828032" y="2779776"/>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Missing required field in form</a:t>
            </a:r>
            <a:endParaRPr lang="en-US" sz="1100" dirty="0"/>
          </a:p>
        </p:txBody>
      </p:sp>
      <p:sp>
        <p:nvSpPr>
          <p:cNvPr id="33" name="Shape 31"/>
          <p:cNvSpPr/>
          <p:nvPr/>
        </p:nvSpPr>
        <p:spPr>
          <a:xfrm>
            <a:off x="4663440" y="3218688"/>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34" name="Shape 32"/>
          <p:cNvSpPr/>
          <p:nvPr/>
        </p:nvSpPr>
        <p:spPr>
          <a:xfrm>
            <a:off x="4663440" y="3218688"/>
            <a:ext cx="73152" cy="749808"/>
          </a:xfrm>
          <a:prstGeom prst="rect">
            <a:avLst/>
          </a:prstGeom>
          <a:solidFill>
            <a:srgbClr val="1E6FBF"/>
          </a:solidFill>
          <a:ln/>
        </p:spPr>
      </p:sp>
      <p:sp>
        <p:nvSpPr>
          <p:cNvPr id="35" name="Text 33"/>
          <p:cNvSpPr/>
          <p:nvPr/>
        </p:nvSpPr>
        <p:spPr>
          <a:xfrm>
            <a:off x="4828032" y="3255264"/>
            <a:ext cx="2011680" cy="347472"/>
          </a:xfrm>
          <a:prstGeom prst="rect">
            <a:avLst/>
          </a:prstGeom>
          <a:noFill/>
          <a:ln/>
        </p:spPr>
        <p:txBody>
          <a:bodyPr wrap="square" lIns="0" tIns="0" rIns="0" bIns="0" rtlCol="0" anchor="ctr"/>
          <a:lstStyle/>
          <a:p>
            <a:pPr marL="0" indent="0">
              <a:buNone/>
            </a:pPr>
            <a:r>
              <a:rPr lang="en-US" sz="1300" b="1" dirty="0">
                <a:solidFill>
                  <a:srgbClr val="1E6FBF"/>
                </a:solidFill>
                <a:latin typeface="Courier New" pitchFamily="34" charset="0"/>
                <a:ea typeface="Courier New" pitchFamily="34" charset="-122"/>
                <a:cs typeface="Courier New" pitchFamily="34" charset="-120"/>
              </a:rPr>
              <a:t>401 Unauthorized</a:t>
            </a:r>
            <a:endParaRPr lang="en-US" sz="1300" dirty="0"/>
          </a:p>
        </p:txBody>
      </p:sp>
      <p:sp>
        <p:nvSpPr>
          <p:cNvPr id="36" name="Text 34"/>
          <p:cNvSpPr/>
          <p:nvPr/>
        </p:nvSpPr>
        <p:spPr>
          <a:xfrm>
            <a:off x="6876288" y="3255264"/>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Login required</a:t>
            </a:r>
            <a:endParaRPr lang="en-US" sz="1200" dirty="0"/>
          </a:p>
        </p:txBody>
      </p:sp>
      <p:sp>
        <p:nvSpPr>
          <p:cNvPr id="37" name="Text 35"/>
          <p:cNvSpPr/>
          <p:nvPr/>
        </p:nvSpPr>
        <p:spPr>
          <a:xfrm>
            <a:off x="4828032" y="3621024"/>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Accessing page without logging in</a:t>
            </a:r>
            <a:endParaRPr lang="en-US" sz="1100" dirty="0"/>
          </a:p>
        </p:txBody>
      </p:sp>
      <p:sp>
        <p:nvSpPr>
          <p:cNvPr id="38" name="Shape 36"/>
          <p:cNvSpPr/>
          <p:nvPr/>
        </p:nvSpPr>
        <p:spPr>
          <a:xfrm>
            <a:off x="4663440" y="4059936"/>
            <a:ext cx="4206240" cy="749808"/>
          </a:xfrm>
          <a:prstGeom prst="rect">
            <a:avLst/>
          </a:prstGeom>
          <a:solidFill>
            <a:srgbClr val="FFFFFF"/>
          </a:solidFill>
          <a:ln/>
          <a:effectLst>
            <a:outerShdw blurRad="88900" dist="38100" dir="8100000" algn="bl" rotWithShape="0">
              <a:srgbClr val="000000">
                <a:alpha val="13000"/>
              </a:srgbClr>
            </a:outerShdw>
          </a:effectLst>
        </p:spPr>
      </p:sp>
      <p:sp>
        <p:nvSpPr>
          <p:cNvPr id="39" name="Shape 37"/>
          <p:cNvSpPr/>
          <p:nvPr/>
        </p:nvSpPr>
        <p:spPr>
          <a:xfrm>
            <a:off x="4663440" y="4059936"/>
            <a:ext cx="73152" cy="749808"/>
          </a:xfrm>
          <a:prstGeom prst="rect">
            <a:avLst/>
          </a:prstGeom>
          <a:solidFill>
            <a:srgbClr val="EF476F"/>
          </a:solidFill>
          <a:ln/>
        </p:spPr>
      </p:sp>
      <p:sp>
        <p:nvSpPr>
          <p:cNvPr id="40" name="Text 38"/>
          <p:cNvSpPr/>
          <p:nvPr/>
        </p:nvSpPr>
        <p:spPr>
          <a:xfrm>
            <a:off x="4828032" y="4096512"/>
            <a:ext cx="2011680" cy="347472"/>
          </a:xfrm>
          <a:prstGeom prst="rect">
            <a:avLst/>
          </a:prstGeom>
          <a:noFill/>
          <a:ln/>
        </p:spPr>
        <p:txBody>
          <a:bodyPr wrap="square" lIns="0" tIns="0" rIns="0" bIns="0" rtlCol="0" anchor="ctr"/>
          <a:lstStyle/>
          <a:p>
            <a:pPr marL="0" indent="0">
              <a:buNone/>
            </a:pPr>
            <a:r>
              <a:rPr lang="en-US" sz="1300" b="1" dirty="0">
                <a:solidFill>
                  <a:srgbClr val="EF476F"/>
                </a:solidFill>
                <a:latin typeface="Courier New" pitchFamily="34" charset="0"/>
                <a:ea typeface="Courier New" pitchFamily="34" charset="-122"/>
                <a:cs typeface="Courier New" pitchFamily="34" charset="-120"/>
              </a:rPr>
              <a:t>500 Server Error</a:t>
            </a:r>
            <a:endParaRPr lang="en-US" sz="1300" dirty="0"/>
          </a:p>
        </p:txBody>
      </p:sp>
      <p:sp>
        <p:nvSpPr>
          <p:cNvPr id="41" name="Text 39"/>
          <p:cNvSpPr/>
          <p:nvPr/>
        </p:nvSpPr>
        <p:spPr>
          <a:xfrm>
            <a:off x="6876288" y="4096512"/>
            <a:ext cx="1920240" cy="347472"/>
          </a:xfrm>
          <a:prstGeom prst="rect">
            <a:avLst/>
          </a:prstGeom>
          <a:noFill/>
          <a:ln/>
        </p:spPr>
        <p:txBody>
          <a:bodyPr wrap="square" lIns="0" tIns="0" rIns="0" bIns="0" rtlCol="0" anchor="ctr"/>
          <a:lstStyle/>
          <a:p>
            <a:pPr marL="0" indent="0">
              <a:buNone/>
            </a:pPr>
            <a:r>
              <a:rPr lang="en-US" sz="1200" b="1" dirty="0">
                <a:solidFill>
                  <a:srgbClr val="1C1C2E"/>
                </a:solidFill>
                <a:latin typeface="Calibri" pitchFamily="34" charset="0"/>
                <a:ea typeface="Calibri" pitchFamily="34" charset="-122"/>
                <a:cs typeface="Calibri" pitchFamily="34" charset="-120"/>
              </a:rPr>
              <a:t>Bug in server code</a:t>
            </a:r>
            <a:endParaRPr lang="en-US" sz="1200" dirty="0"/>
          </a:p>
        </p:txBody>
      </p:sp>
      <p:sp>
        <p:nvSpPr>
          <p:cNvPr id="42" name="Text 40"/>
          <p:cNvSpPr/>
          <p:nvPr/>
        </p:nvSpPr>
        <p:spPr>
          <a:xfrm>
            <a:off x="4828032" y="4462272"/>
            <a:ext cx="3931920" cy="292608"/>
          </a:xfrm>
          <a:prstGeom prst="rect">
            <a:avLst/>
          </a:prstGeom>
          <a:noFill/>
          <a:ln/>
        </p:spPr>
        <p:txBody>
          <a:bodyPr wrap="square" rtlCol="0" anchor="ctr"/>
          <a:lstStyle/>
          <a:p>
            <a:pPr marL="0" indent="0">
              <a:buNone/>
            </a:pPr>
            <a:r>
              <a:rPr lang="en-US" sz="1100" dirty="0">
                <a:solidFill>
                  <a:srgbClr val="5A6475"/>
                </a:solidFill>
                <a:latin typeface="Calibri" pitchFamily="34" charset="0"/>
                <a:ea typeface="Calibri" pitchFamily="34" charset="-122"/>
                <a:cs typeface="Calibri" pitchFamily="34" charset="-120"/>
              </a:rPr>
              <a:t>e.g. Crash in Node.js/Express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2</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JavaScript with Node.js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Running JavaScript outside the browser — on the server</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Node.js?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170432"/>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170432"/>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Node.js</a:t>
            </a:r>
            <a:endParaRPr lang="en-US" sz="1300" dirty="0"/>
          </a:p>
        </p:txBody>
      </p:sp>
      <p:sp>
        <p:nvSpPr>
          <p:cNvPr id="11" name="Text 9"/>
          <p:cNvSpPr/>
          <p:nvPr/>
        </p:nvSpPr>
        <p:spPr>
          <a:xfrm>
            <a:off x="393192" y="1444752"/>
            <a:ext cx="8458200" cy="603504"/>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Node.js is an open-source, cross-platform, server-side JavaScript runtime environment built on Google Chrome's V8 JavaScript engine. It allows developers to execute JavaScript code outside of a web browser — directly on a computer or server — enabling JavaScript to be used for backend development.</a:t>
            </a:r>
            <a:endParaRPr lang="en-US" sz="1250" dirty="0"/>
          </a:p>
        </p:txBody>
      </p:sp>
      <p:sp>
        <p:nvSpPr>
          <p:cNvPr id="12" name="Text 10"/>
          <p:cNvSpPr/>
          <p:nvPr/>
        </p:nvSpPr>
        <p:spPr>
          <a:xfrm>
            <a:off x="274320" y="2286000"/>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Key Features of Node.js:</a:t>
            </a:r>
            <a:endParaRPr lang="en-US" sz="1300" dirty="0"/>
          </a:p>
        </p:txBody>
      </p:sp>
      <p:sp>
        <p:nvSpPr>
          <p:cNvPr id="13" name="Shape 11"/>
          <p:cNvSpPr/>
          <p:nvPr/>
        </p:nvSpPr>
        <p:spPr>
          <a:xfrm>
            <a:off x="228600" y="2697480"/>
            <a:ext cx="2834640" cy="868680"/>
          </a:xfrm>
          <a:prstGeom prst="rect">
            <a:avLst/>
          </a:prstGeom>
          <a:solidFill>
            <a:srgbClr val="FFFFFF"/>
          </a:solidFill>
          <a:ln/>
          <a:effectLst>
            <a:outerShdw blurRad="88900" dist="38100" dir="8100000" algn="bl" rotWithShape="0">
              <a:srgbClr val="000000">
                <a:alpha val="13000"/>
              </a:srgbClr>
            </a:outerShdw>
          </a:effectLst>
        </p:spPr>
      </p:sp>
      <p:sp>
        <p:nvSpPr>
          <p:cNvPr id="14" name="Text 12"/>
          <p:cNvSpPr/>
          <p:nvPr/>
        </p:nvSpPr>
        <p:spPr>
          <a:xfrm>
            <a:off x="338328" y="2770632"/>
            <a:ext cx="2615184" cy="329184"/>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Open-Source</a:t>
            </a:r>
            <a:endParaRPr lang="en-US" sz="1300" dirty="0"/>
          </a:p>
        </p:txBody>
      </p:sp>
      <p:sp>
        <p:nvSpPr>
          <p:cNvPr id="15" name="Text 13"/>
          <p:cNvSpPr/>
          <p:nvPr/>
        </p:nvSpPr>
        <p:spPr>
          <a:xfrm>
            <a:off x="338328" y="3108960"/>
            <a:ext cx="2615184" cy="384048"/>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Free to use; code is publicly available for anyone to see and contribute to</a:t>
            </a:r>
            <a:endParaRPr lang="en-US" sz="1100" dirty="0"/>
          </a:p>
        </p:txBody>
      </p:sp>
      <p:sp>
        <p:nvSpPr>
          <p:cNvPr id="16" name="Shape 14"/>
          <p:cNvSpPr/>
          <p:nvPr/>
        </p:nvSpPr>
        <p:spPr>
          <a:xfrm>
            <a:off x="3200400" y="2697480"/>
            <a:ext cx="2834640" cy="868680"/>
          </a:xfrm>
          <a:prstGeom prst="rect">
            <a:avLst/>
          </a:prstGeom>
          <a:solidFill>
            <a:srgbClr val="FFFFFF"/>
          </a:solidFill>
          <a:ln/>
          <a:effectLst>
            <a:outerShdw blurRad="88900" dist="38100" dir="8100000" algn="bl" rotWithShape="0">
              <a:srgbClr val="000000">
                <a:alpha val="13000"/>
              </a:srgbClr>
            </a:outerShdw>
          </a:effectLst>
        </p:spPr>
      </p:sp>
      <p:sp>
        <p:nvSpPr>
          <p:cNvPr id="17" name="Text 15"/>
          <p:cNvSpPr/>
          <p:nvPr/>
        </p:nvSpPr>
        <p:spPr>
          <a:xfrm>
            <a:off x="3310128" y="2770632"/>
            <a:ext cx="2615184" cy="329184"/>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Cross-Platform</a:t>
            </a:r>
            <a:endParaRPr lang="en-US" sz="1300" dirty="0"/>
          </a:p>
        </p:txBody>
      </p:sp>
      <p:sp>
        <p:nvSpPr>
          <p:cNvPr id="18" name="Text 16"/>
          <p:cNvSpPr/>
          <p:nvPr/>
        </p:nvSpPr>
        <p:spPr>
          <a:xfrm>
            <a:off x="3310128" y="3108960"/>
            <a:ext cx="2615184" cy="384048"/>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Runs on Windows, macOS, and Linux without any changes to the code</a:t>
            </a:r>
            <a:endParaRPr lang="en-US" sz="1100" dirty="0"/>
          </a:p>
        </p:txBody>
      </p:sp>
      <p:sp>
        <p:nvSpPr>
          <p:cNvPr id="19" name="Shape 17"/>
          <p:cNvSpPr/>
          <p:nvPr/>
        </p:nvSpPr>
        <p:spPr>
          <a:xfrm>
            <a:off x="6172200" y="2697480"/>
            <a:ext cx="2834640" cy="868680"/>
          </a:xfrm>
          <a:prstGeom prst="rect">
            <a:avLst/>
          </a:prstGeom>
          <a:solidFill>
            <a:srgbClr val="FFFFFF"/>
          </a:solidFill>
          <a:ln/>
          <a:effectLst>
            <a:outerShdw blurRad="88900" dist="38100" dir="8100000" algn="bl" rotWithShape="0">
              <a:srgbClr val="000000">
                <a:alpha val="13000"/>
              </a:srgbClr>
            </a:outerShdw>
          </a:effectLst>
        </p:spPr>
      </p:sp>
      <p:sp>
        <p:nvSpPr>
          <p:cNvPr id="20" name="Text 18"/>
          <p:cNvSpPr/>
          <p:nvPr/>
        </p:nvSpPr>
        <p:spPr>
          <a:xfrm>
            <a:off x="6281928" y="2770632"/>
            <a:ext cx="2615184" cy="329184"/>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V8 Engine</a:t>
            </a:r>
            <a:endParaRPr lang="en-US" sz="1300" dirty="0"/>
          </a:p>
        </p:txBody>
      </p:sp>
      <p:sp>
        <p:nvSpPr>
          <p:cNvPr id="21" name="Text 19"/>
          <p:cNvSpPr/>
          <p:nvPr/>
        </p:nvSpPr>
        <p:spPr>
          <a:xfrm>
            <a:off x="6281928" y="3108960"/>
            <a:ext cx="2615184" cy="384048"/>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Uses Google Chrome's V8 engine — compiles JS to machine code for very fast execution</a:t>
            </a:r>
            <a:endParaRPr lang="en-US" sz="1100" dirty="0"/>
          </a:p>
        </p:txBody>
      </p:sp>
      <p:sp>
        <p:nvSpPr>
          <p:cNvPr id="22" name="Shape 20"/>
          <p:cNvSpPr/>
          <p:nvPr/>
        </p:nvSpPr>
        <p:spPr>
          <a:xfrm>
            <a:off x="228600" y="3767328"/>
            <a:ext cx="2834640" cy="868680"/>
          </a:xfrm>
          <a:prstGeom prst="rect">
            <a:avLst/>
          </a:prstGeom>
          <a:solidFill>
            <a:srgbClr val="FFFFFF"/>
          </a:solidFill>
          <a:ln/>
          <a:effectLst>
            <a:outerShdw blurRad="88900" dist="38100" dir="8100000" algn="bl" rotWithShape="0">
              <a:srgbClr val="000000">
                <a:alpha val="13000"/>
              </a:srgbClr>
            </a:outerShdw>
          </a:effectLst>
        </p:spPr>
      </p:sp>
      <p:sp>
        <p:nvSpPr>
          <p:cNvPr id="23" name="Text 21"/>
          <p:cNvSpPr/>
          <p:nvPr/>
        </p:nvSpPr>
        <p:spPr>
          <a:xfrm>
            <a:off x="338328" y="3840480"/>
            <a:ext cx="2615184" cy="329184"/>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Non-Blocking I/O</a:t>
            </a:r>
            <a:endParaRPr lang="en-US" sz="1300" dirty="0"/>
          </a:p>
        </p:txBody>
      </p:sp>
      <p:sp>
        <p:nvSpPr>
          <p:cNvPr id="24" name="Text 22"/>
          <p:cNvSpPr/>
          <p:nvPr/>
        </p:nvSpPr>
        <p:spPr>
          <a:xfrm>
            <a:off x="338328" y="4178808"/>
            <a:ext cx="2615184" cy="384048"/>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Does NOT wait for slow operations — handles multiple requests simultaneously</a:t>
            </a:r>
            <a:endParaRPr lang="en-US" sz="1100" dirty="0"/>
          </a:p>
        </p:txBody>
      </p:sp>
      <p:sp>
        <p:nvSpPr>
          <p:cNvPr id="25" name="Shape 23"/>
          <p:cNvSpPr/>
          <p:nvPr/>
        </p:nvSpPr>
        <p:spPr>
          <a:xfrm>
            <a:off x="3200400" y="3767328"/>
            <a:ext cx="2834640" cy="868680"/>
          </a:xfrm>
          <a:prstGeom prst="rect">
            <a:avLst/>
          </a:prstGeom>
          <a:solidFill>
            <a:srgbClr val="FFFFFF"/>
          </a:solidFill>
          <a:ln/>
          <a:effectLst>
            <a:outerShdw blurRad="88900" dist="38100" dir="8100000" algn="bl" rotWithShape="0">
              <a:srgbClr val="000000">
                <a:alpha val="13000"/>
              </a:srgbClr>
            </a:outerShdw>
          </a:effectLst>
        </p:spPr>
      </p:sp>
      <p:sp>
        <p:nvSpPr>
          <p:cNvPr id="26" name="Text 24"/>
          <p:cNvSpPr/>
          <p:nvPr/>
        </p:nvSpPr>
        <p:spPr>
          <a:xfrm>
            <a:off x="3310128" y="3840480"/>
            <a:ext cx="2615184" cy="329184"/>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Single-Threaded</a:t>
            </a:r>
            <a:endParaRPr lang="en-US" sz="1300" dirty="0"/>
          </a:p>
        </p:txBody>
      </p:sp>
      <p:sp>
        <p:nvSpPr>
          <p:cNvPr id="27" name="Text 25"/>
          <p:cNvSpPr/>
          <p:nvPr/>
        </p:nvSpPr>
        <p:spPr>
          <a:xfrm>
            <a:off x="3310128" y="4178808"/>
            <a:ext cx="2615184" cy="384048"/>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Runs on one thread but uses the Event Loop to manage thousands of connections efficiently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D8DBD476-E9D1-5CF1-2037-4F8C376427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27B1E7-068E-86F2-9639-D9F1EBCFCB5C}"/>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90923A61-57CF-5940-AF88-C5DDB6B4B5CF}"/>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64252C62-D364-C184-7E8B-D80F3E5A7678}"/>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Examples</a:t>
            </a:r>
            <a:endParaRPr lang="en-US" sz="2400" dirty="0"/>
          </a:p>
        </p:txBody>
      </p:sp>
      <p:sp>
        <p:nvSpPr>
          <p:cNvPr id="5" name="Text 3">
            <a:extLst>
              <a:ext uri="{FF2B5EF4-FFF2-40B4-BE49-F238E27FC236}">
                <a16:creationId xmlns:a16="http://schemas.microsoft.com/office/drawing/2014/main" id="{D8889C83-3EED-124E-5849-50B4F2AAAF6D}"/>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a:extLst>
              <a:ext uri="{FF2B5EF4-FFF2-40B4-BE49-F238E27FC236}">
                <a16:creationId xmlns:a16="http://schemas.microsoft.com/office/drawing/2014/main" id="{C9B67392-C487-182F-1817-D5EBBD3469C7}"/>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8B9F55F2-D73C-9618-DF36-41276A7073F9}"/>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grpSp>
        <p:nvGrpSpPr>
          <p:cNvPr id="29" name="Group 28">
            <a:extLst>
              <a:ext uri="{FF2B5EF4-FFF2-40B4-BE49-F238E27FC236}">
                <a16:creationId xmlns:a16="http://schemas.microsoft.com/office/drawing/2014/main" id="{03315593-5B99-A776-6144-7C067CC471D4}"/>
              </a:ext>
            </a:extLst>
          </p:cNvPr>
          <p:cNvGrpSpPr/>
          <p:nvPr/>
        </p:nvGrpSpPr>
        <p:grpSpPr>
          <a:xfrm>
            <a:off x="274320" y="1282446"/>
            <a:ext cx="7993380" cy="1248156"/>
            <a:chOff x="228600" y="2491740"/>
            <a:chExt cx="7993380" cy="1248156"/>
          </a:xfrm>
        </p:grpSpPr>
        <p:sp>
          <p:nvSpPr>
            <p:cNvPr id="13" name="Shape 11">
              <a:extLst>
                <a:ext uri="{FF2B5EF4-FFF2-40B4-BE49-F238E27FC236}">
                  <a16:creationId xmlns:a16="http://schemas.microsoft.com/office/drawing/2014/main" id="{82185D77-434C-6A8C-5558-A729A30C84A4}"/>
                </a:ext>
              </a:extLst>
            </p:cNvPr>
            <p:cNvSpPr/>
            <p:nvPr/>
          </p:nvSpPr>
          <p:spPr>
            <a:xfrm>
              <a:off x="228600" y="2491740"/>
              <a:ext cx="7993380" cy="1248156"/>
            </a:xfrm>
            <a:prstGeom prst="rect">
              <a:avLst/>
            </a:prstGeom>
            <a:solidFill>
              <a:srgbClr val="FFFFFF"/>
            </a:solidFill>
            <a:ln/>
            <a:effectLst>
              <a:outerShdw blurRad="88900" dist="38100" dir="8100000" algn="bl" rotWithShape="0">
                <a:srgbClr val="000000">
                  <a:alpha val="13000"/>
                </a:srgbClr>
              </a:outerShdw>
            </a:effectLst>
          </p:spPr>
          <p:txBody>
            <a:bodyPr/>
            <a:lstStyle/>
            <a:p>
              <a:endParaRPr lang="en-IN" dirty="0"/>
            </a:p>
          </p:txBody>
        </p:sp>
        <p:sp>
          <p:nvSpPr>
            <p:cNvPr id="14" name="Text 12">
              <a:extLst>
                <a:ext uri="{FF2B5EF4-FFF2-40B4-BE49-F238E27FC236}">
                  <a16:creationId xmlns:a16="http://schemas.microsoft.com/office/drawing/2014/main" id="{20B5C0AA-C872-654A-E63F-0BF193CD63F3}"/>
                </a:ext>
              </a:extLst>
            </p:cNvPr>
            <p:cNvSpPr/>
            <p:nvPr/>
          </p:nvSpPr>
          <p:spPr>
            <a:xfrm>
              <a:off x="338328" y="2596896"/>
              <a:ext cx="2615184" cy="329184"/>
            </a:xfrm>
            <a:prstGeom prst="rect">
              <a:avLst/>
            </a:prstGeom>
            <a:noFill/>
            <a:ln/>
          </p:spPr>
          <p:txBody>
            <a:bodyPr wrap="square" lIns="0" tIns="0" rIns="0" bIns="0" rtlCol="0" anchor="ctr"/>
            <a:lstStyle/>
            <a:p>
              <a:r>
                <a:rPr lang="it-IT" sz="1300" b="1" dirty="0">
                  <a:solidFill>
                    <a:srgbClr val="1E6FBF"/>
                  </a:solidFill>
                  <a:latin typeface="Calibri" pitchFamily="34" charset="0"/>
                  <a:ea typeface="Calibri" pitchFamily="34" charset="-122"/>
                  <a:cs typeface="Calibri" pitchFamily="34" charset="-120"/>
                </a:rPr>
                <a:t>Non-Blocking I/O in Node.js</a:t>
              </a:r>
              <a:endParaRPr lang="en-US" sz="1300" b="1" dirty="0">
                <a:solidFill>
                  <a:srgbClr val="1E6FBF"/>
                </a:solidFill>
                <a:latin typeface="Calibri" pitchFamily="34" charset="0"/>
                <a:ea typeface="Calibri" pitchFamily="34" charset="-122"/>
                <a:cs typeface="Calibri" pitchFamily="34" charset="-120"/>
              </a:endParaRPr>
            </a:p>
          </p:txBody>
        </p:sp>
        <p:sp>
          <p:nvSpPr>
            <p:cNvPr id="15" name="Text 13">
              <a:extLst>
                <a:ext uri="{FF2B5EF4-FFF2-40B4-BE49-F238E27FC236}">
                  <a16:creationId xmlns:a16="http://schemas.microsoft.com/office/drawing/2014/main" id="{B2533F35-769A-52F9-4A09-35CDC8A06E8D}"/>
                </a:ext>
              </a:extLst>
            </p:cNvPr>
            <p:cNvSpPr/>
            <p:nvPr/>
          </p:nvSpPr>
          <p:spPr>
            <a:xfrm>
              <a:off x="338328" y="2926080"/>
              <a:ext cx="6961632" cy="708660"/>
            </a:xfrm>
            <a:prstGeom prst="rect">
              <a:avLst/>
            </a:prstGeom>
            <a:noFill/>
            <a:ln/>
          </p:spPr>
          <p:txBody>
            <a:bodyPr wrap="square" rtlCol="0" anchor="ctr"/>
            <a:lstStyle/>
            <a:p>
              <a:pPr algn="just"/>
              <a:r>
                <a:rPr lang="en-US" sz="1100" dirty="0">
                  <a:solidFill>
                    <a:srgbClr val="1C1C2E"/>
                  </a:solidFill>
                  <a:latin typeface="Calibri" pitchFamily="34" charset="0"/>
                  <a:ea typeface="Calibri" pitchFamily="34" charset="-122"/>
                  <a:cs typeface="Calibri" pitchFamily="34" charset="-120"/>
                </a:rPr>
                <a:t>Imagine</a:t>
              </a:r>
              <a:r>
                <a:rPr lang="en-US" sz="1100" dirty="0"/>
                <a:t> a user requests a file from the server. Reading a file takes time. In Node.js, when the file reading starts, the server does not wait for it to finish</a:t>
              </a:r>
              <a:r>
                <a:rPr lang="en-US" sz="1100" dirty="0">
                  <a:solidFill>
                    <a:srgbClr val="1C1C2E"/>
                  </a:solidFill>
                  <a:latin typeface="Calibri" pitchFamily="34" charset="0"/>
                  <a:ea typeface="Calibri" pitchFamily="34" charset="-122"/>
                  <a:cs typeface="Calibri" pitchFamily="34" charset="-120"/>
                </a:rPr>
                <a:t>. Instead, it continues handling other user requests. When the file is ready, Node.js sends it back to the user. This means the server does not stop or block while waiting. It keeps working on other tasks. That is called Non-Blocking I/O.</a:t>
              </a:r>
            </a:p>
          </p:txBody>
        </p:sp>
      </p:grpSp>
      <p:grpSp>
        <p:nvGrpSpPr>
          <p:cNvPr id="30" name="Group 29">
            <a:extLst>
              <a:ext uri="{FF2B5EF4-FFF2-40B4-BE49-F238E27FC236}">
                <a16:creationId xmlns:a16="http://schemas.microsoft.com/office/drawing/2014/main" id="{5DC89A10-6799-94BB-2D85-0FCE9AE6618D}"/>
              </a:ext>
            </a:extLst>
          </p:cNvPr>
          <p:cNvGrpSpPr/>
          <p:nvPr/>
        </p:nvGrpSpPr>
        <p:grpSpPr>
          <a:xfrm>
            <a:off x="274320" y="2754630"/>
            <a:ext cx="7993380" cy="1676400"/>
            <a:chOff x="228600" y="2491740"/>
            <a:chExt cx="7993380" cy="1248156"/>
          </a:xfrm>
        </p:grpSpPr>
        <p:sp>
          <p:nvSpPr>
            <p:cNvPr id="31" name="Shape 11">
              <a:extLst>
                <a:ext uri="{FF2B5EF4-FFF2-40B4-BE49-F238E27FC236}">
                  <a16:creationId xmlns:a16="http://schemas.microsoft.com/office/drawing/2014/main" id="{FF60D9BB-6497-F0EA-99FD-BFA8E39ABB03}"/>
                </a:ext>
              </a:extLst>
            </p:cNvPr>
            <p:cNvSpPr/>
            <p:nvPr/>
          </p:nvSpPr>
          <p:spPr>
            <a:xfrm>
              <a:off x="228600" y="2491740"/>
              <a:ext cx="7993380" cy="1248156"/>
            </a:xfrm>
            <a:prstGeom prst="rect">
              <a:avLst/>
            </a:prstGeom>
            <a:solidFill>
              <a:srgbClr val="FFFFFF"/>
            </a:solidFill>
            <a:ln/>
            <a:effectLst>
              <a:outerShdw blurRad="88900" dist="38100" dir="8100000" algn="bl" rotWithShape="0">
                <a:srgbClr val="000000">
                  <a:alpha val="13000"/>
                </a:srgbClr>
              </a:outerShdw>
            </a:effectLst>
          </p:spPr>
          <p:txBody>
            <a:bodyPr/>
            <a:lstStyle/>
            <a:p>
              <a:endParaRPr lang="en-IN" dirty="0"/>
            </a:p>
          </p:txBody>
        </p:sp>
        <p:sp>
          <p:nvSpPr>
            <p:cNvPr id="32" name="Text 12">
              <a:extLst>
                <a:ext uri="{FF2B5EF4-FFF2-40B4-BE49-F238E27FC236}">
                  <a16:creationId xmlns:a16="http://schemas.microsoft.com/office/drawing/2014/main" id="{452E873D-2290-0DE6-2B5A-2EE6CD421CD4}"/>
                </a:ext>
              </a:extLst>
            </p:cNvPr>
            <p:cNvSpPr/>
            <p:nvPr/>
          </p:nvSpPr>
          <p:spPr>
            <a:xfrm>
              <a:off x="338328" y="2596896"/>
              <a:ext cx="2615184" cy="329184"/>
            </a:xfrm>
            <a:prstGeom prst="rect">
              <a:avLst/>
            </a:prstGeom>
            <a:noFill/>
            <a:ln/>
          </p:spPr>
          <p:txBody>
            <a:bodyPr wrap="square" lIns="0" tIns="0" rIns="0" bIns="0" rtlCol="0" anchor="ctr"/>
            <a:lstStyle/>
            <a:p>
              <a:r>
                <a:rPr lang="en-IN" sz="1300" b="1" dirty="0">
                  <a:solidFill>
                    <a:srgbClr val="1E6FBF"/>
                  </a:solidFill>
                  <a:latin typeface="Calibri" pitchFamily="34" charset="0"/>
                  <a:ea typeface="Calibri" pitchFamily="34" charset="-122"/>
                  <a:cs typeface="Calibri" pitchFamily="34" charset="-120"/>
                </a:rPr>
                <a:t>Single-Threaded</a:t>
              </a:r>
              <a:endParaRPr lang="en-US" sz="1300" b="1" dirty="0">
                <a:solidFill>
                  <a:srgbClr val="1E6FBF"/>
                </a:solidFill>
                <a:latin typeface="Calibri" pitchFamily="34" charset="0"/>
                <a:ea typeface="Calibri" pitchFamily="34" charset="-122"/>
                <a:cs typeface="Calibri" pitchFamily="34" charset="-120"/>
              </a:endParaRPr>
            </a:p>
          </p:txBody>
        </p:sp>
        <p:sp>
          <p:nvSpPr>
            <p:cNvPr id="33" name="Text 13">
              <a:extLst>
                <a:ext uri="{FF2B5EF4-FFF2-40B4-BE49-F238E27FC236}">
                  <a16:creationId xmlns:a16="http://schemas.microsoft.com/office/drawing/2014/main" id="{D9B09FE0-4DC1-593B-93D4-3DB1D0B5BE13}"/>
                </a:ext>
              </a:extLst>
            </p:cNvPr>
            <p:cNvSpPr/>
            <p:nvPr/>
          </p:nvSpPr>
          <p:spPr>
            <a:xfrm>
              <a:off x="338328" y="2926080"/>
              <a:ext cx="6961632" cy="708660"/>
            </a:xfrm>
            <a:prstGeom prst="rect">
              <a:avLst/>
            </a:prstGeom>
            <a:noFill/>
            <a:ln/>
          </p:spPr>
          <p:txBody>
            <a:bodyPr wrap="square" rtlCol="0" anchor="ctr"/>
            <a:lstStyle/>
            <a:p>
              <a:pPr algn="just"/>
              <a:r>
                <a:rPr lang="en-US" sz="1100" dirty="0"/>
                <a:t>Node.js uses only one main thread to execute JavaScript code. That means all requests are handled by one execution flow. But instead of creating multiple threads for multiple users, Node.js uses the Event Loop to quickly switch between tasks.</a:t>
              </a:r>
            </a:p>
            <a:p>
              <a:pPr algn="just"/>
              <a:r>
                <a:rPr lang="en-US" sz="1100" dirty="0"/>
                <a:t>For example, if 100 users open a website at the same time, Node.js does not create 100 threads. It handles requests one by one very quickly using the same single thread, making it memory-efficient and scalable.</a:t>
              </a:r>
            </a:p>
          </p:txBody>
        </p:sp>
      </p:grpSp>
    </p:spTree>
    <p:extLst>
      <p:ext uri="{BB962C8B-B14F-4D97-AF65-F5344CB8AC3E}">
        <p14:creationId xmlns:p14="http://schemas.microsoft.com/office/powerpoint/2010/main" val="1260177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1983C3FB-F904-F316-8792-2196C03D1F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F89543-61EF-8531-BC2E-A3EAACEDBD81}"/>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8247A6EA-0878-9DCE-B0A2-B8BB5D831281}"/>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2AA9FD44-E5F2-330F-81A8-0B2DD7807A89}"/>
              </a:ext>
            </a:extLst>
          </p:cNvPr>
          <p:cNvSpPr/>
          <p:nvPr/>
        </p:nvSpPr>
        <p:spPr>
          <a:xfrm>
            <a:off x="274320" y="0"/>
            <a:ext cx="7772400" cy="914400"/>
          </a:xfrm>
          <a:prstGeom prst="rect">
            <a:avLst/>
          </a:prstGeom>
          <a:noFill/>
          <a:ln/>
        </p:spPr>
        <p:txBody>
          <a:bodyPr wrap="square" lIns="0" tIns="0" rIns="0" bIns="0" rtlCol="0" anchor="ctr"/>
          <a:lstStyle/>
          <a:p>
            <a:pPr fontAlgn="base"/>
            <a:r>
              <a:rPr lang="en-IN" sz="2400" b="1" dirty="0">
                <a:solidFill>
                  <a:srgbClr val="FFFFFF"/>
                </a:solidFill>
                <a:latin typeface="Calibri" pitchFamily="34" charset="0"/>
                <a:ea typeface="Calibri" pitchFamily="34" charset="-122"/>
                <a:cs typeface="Calibri" pitchFamily="34" charset="-120"/>
              </a:rPr>
              <a:t>Why Learn Node.js?</a:t>
            </a:r>
          </a:p>
          <a:p>
            <a:endParaRPr lang="en-US" sz="2400" dirty="0"/>
          </a:p>
        </p:txBody>
      </p:sp>
      <p:sp>
        <p:nvSpPr>
          <p:cNvPr id="5" name="Text 3">
            <a:extLst>
              <a:ext uri="{FF2B5EF4-FFF2-40B4-BE49-F238E27FC236}">
                <a16:creationId xmlns:a16="http://schemas.microsoft.com/office/drawing/2014/main" id="{6337F0F9-57A4-5B32-BF6B-D904A855E21D}"/>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a:extLst>
              <a:ext uri="{FF2B5EF4-FFF2-40B4-BE49-F238E27FC236}">
                <a16:creationId xmlns:a16="http://schemas.microsoft.com/office/drawing/2014/main" id="{43A7A80A-C83B-50D9-0BC3-82BB9406B2C0}"/>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6A7C7CE4-4DC5-6D8E-29A5-D0366C10546A}"/>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a:extLst>
              <a:ext uri="{FF2B5EF4-FFF2-40B4-BE49-F238E27FC236}">
                <a16:creationId xmlns:a16="http://schemas.microsoft.com/office/drawing/2014/main" id="{CBC42FCB-5526-DBCA-03AB-3C071BA73D83}"/>
              </a:ext>
            </a:extLst>
          </p:cNvPr>
          <p:cNvSpPr/>
          <p:nvPr/>
        </p:nvSpPr>
        <p:spPr>
          <a:xfrm>
            <a:off x="228600" y="987552"/>
            <a:ext cx="8686800" cy="1170432"/>
          </a:xfrm>
          <a:prstGeom prst="rect">
            <a:avLst/>
          </a:prstGeom>
          <a:solidFill>
            <a:srgbClr val="EBF4FD"/>
          </a:solidFill>
          <a:ln/>
          <a:effectLst>
            <a:outerShdw blurRad="88900" dist="38100" dir="8100000" algn="bl" rotWithShape="0">
              <a:srgbClr val="000000">
                <a:alpha val="13000"/>
              </a:srgbClr>
            </a:outerShdw>
          </a:effectLst>
        </p:spPr>
      </p:sp>
      <p:sp>
        <p:nvSpPr>
          <p:cNvPr id="9" name="Shape 7">
            <a:extLst>
              <a:ext uri="{FF2B5EF4-FFF2-40B4-BE49-F238E27FC236}">
                <a16:creationId xmlns:a16="http://schemas.microsoft.com/office/drawing/2014/main" id="{FF533AFF-A27B-5F1D-2C09-0B8EEEB01529}"/>
              </a:ext>
            </a:extLst>
          </p:cNvPr>
          <p:cNvSpPr/>
          <p:nvPr/>
        </p:nvSpPr>
        <p:spPr>
          <a:xfrm>
            <a:off x="228600" y="987552"/>
            <a:ext cx="91440" cy="1170432"/>
          </a:xfrm>
          <a:prstGeom prst="rect">
            <a:avLst/>
          </a:prstGeom>
          <a:solidFill>
            <a:srgbClr val="1E6FBF"/>
          </a:solidFill>
          <a:ln/>
        </p:spPr>
      </p:sp>
      <p:sp>
        <p:nvSpPr>
          <p:cNvPr id="10" name="Text 8">
            <a:extLst>
              <a:ext uri="{FF2B5EF4-FFF2-40B4-BE49-F238E27FC236}">
                <a16:creationId xmlns:a16="http://schemas.microsoft.com/office/drawing/2014/main" id="{07719C3D-5994-26A7-831B-F38C974F7824}"/>
              </a:ext>
            </a:extLst>
          </p:cNvPr>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Node.js</a:t>
            </a:r>
            <a:endParaRPr lang="en-US" sz="1300" dirty="0"/>
          </a:p>
        </p:txBody>
      </p:sp>
      <p:sp>
        <p:nvSpPr>
          <p:cNvPr id="11" name="Text 9">
            <a:extLst>
              <a:ext uri="{FF2B5EF4-FFF2-40B4-BE49-F238E27FC236}">
                <a16:creationId xmlns:a16="http://schemas.microsoft.com/office/drawing/2014/main" id="{D7BC06CC-5671-F826-FBF9-909282167882}"/>
              </a:ext>
            </a:extLst>
          </p:cNvPr>
          <p:cNvSpPr/>
          <p:nvPr/>
        </p:nvSpPr>
        <p:spPr>
          <a:xfrm>
            <a:off x="388620" y="1499616"/>
            <a:ext cx="8458200" cy="603504"/>
          </a:xfrm>
          <a:prstGeom prst="rect">
            <a:avLst/>
          </a:prstGeom>
          <a:noFill/>
          <a:ln/>
        </p:spPr>
        <p:txBody>
          <a:bodyPr wrap="square" rtlCol="0" anchor="ctr"/>
          <a:lstStyle/>
          <a:p>
            <a:pPr marL="0" indent="0" algn="just">
              <a:buNone/>
            </a:pPr>
            <a:endParaRPr lang="en-US" sz="1300" dirty="0">
              <a:solidFill>
                <a:srgbClr val="1C1C2E"/>
              </a:solidFill>
              <a:latin typeface="Calibri" pitchFamily="34" charset="0"/>
              <a:ea typeface="Calibri" pitchFamily="34" charset="-122"/>
              <a:cs typeface="Calibri" pitchFamily="34" charset="-120"/>
            </a:endParaRPr>
          </a:p>
          <a:p>
            <a:pPr algn="just" fontAlgn="base"/>
            <a:r>
              <a:rPr lang="en-US" sz="1300" dirty="0"/>
              <a:t>It Enables the use of JavaScript for both frontend and backend development.</a:t>
            </a:r>
          </a:p>
          <a:p>
            <a:pPr algn="just" fontAlgn="base"/>
            <a:r>
              <a:rPr lang="en-US" sz="1300" dirty="0"/>
              <a:t>It Supports building real-time applications like chat apps and gaming servers.</a:t>
            </a:r>
          </a:p>
          <a:p>
            <a:pPr algn="just" fontAlgn="base"/>
            <a:r>
              <a:rPr lang="en-US" sz="1300" dirty="0"/>
              <a:t>It Backed by a vibrant community and extensive library support</a:t>
            </a:r>
          </a:p>
          <a:p>
            <a:pPr algn="just"/>
            <a:br>
              <a:rPr lang="en-US" sz="1300" dirty="0"/>
            </a:br>
            <a:endParaRPr lang="en-US" sz="1300" dirty="0"/>
          </a:p>
        </p:txBody>
      </p:sp>
    </p:spTree>
    <p:extLst>
      <p:ext uri="{BB962C8B-B14F-4D97-AF65-F5344CB8AC3E}">
        <p14:creationId xmlns:p14="http://schemas.microsoft.com/office/powerpoint/2010/main" val="134350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Browser JavaScript vs Node.js — Side by Side</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4114800" cy="3794760"/>
          </a:xfrm>
          <a:prstGeom prst="rect">
            <a:avLst/>
          </a:prstGeom>
          <a:solidFill>
            <a:srgbClr val="FFFFFF"/>
          </a:solidFill>
          <a:ln/>
          <a:effectLst>
            <a:outerShdw blurRad="88900" dist="38100" dir="8100000" algn="bl" rotWithShape="0">
              <a:srgbClr val="000000">
                <a:alpha val="13000"/>
              </a:srgbClr>
            </a:outerShdw>
          </a:effectLst>
        </p:spPr>
      </p:sp>
      <p:sp>
        <p:nvSpPr>
          <p:cNvPr id="9" name="Shape 7"/>
          <p:cNvSpPr/>
          <p:nvPr/>
        </p:nvSpPr>
        <p:spPr>
          <a:xfrm>
            <a:off x="228600" y="987552"/>
            <a:ext cx="4114800" cy="457200"/>
          </a:xfrm>
          <a:prstGeom prst="rect">
            <a:avLst/>
          </a:prstGeom>
          <a:solidFill>
            <a:srgbClr val="D45500"/>
          </a:solidFill>
          <a:ln/>
        </p:spPr>
      </p:sp>
      <p:sp>
        <p:nvSpPr>
          <p:cNvPr id="10" name="Text 8"/>
          <p:cNvSpPr/>
          <p:nvPr/>
        </p:nvSpPr>
        <p:spPr>
          <a:xfrm>
            <a:off x="228600" y="987552"/>
            <a:ext cx="41148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JS in Browser</a:t>
            </a:r>
            <a:endParaRPr lang="en-US" sz="1500" dirty="0"/>
          </a:p>
        </p:txBody>
      </p:sp>
      <p:sp>
        <p:nvSpPr>
          <p:cNvPr id="11" name="Shape 9"/>
          <p:cNvSpPr/>
          <p:nvPr/>
        </p:nvSpPr>
        <p:spPr>
          <a:xfrm>
            <a:off x="320040" y="1536192"/>
            <a:ext cx="3931920" cy="420624"/>
          </a:xfrm>
          <a:prstGeom prst="rect">
            <a:avLst/>
          </a:prstGeom>
          <a:solidFill>
            <a:srgbClr val="FFEEEE"/>
          </a:solidFill>
          <a:ln/>
        </p:spPr>
      </p:sp>
      <p:sp>
        <p:nvSpPr>
          <p:cNvPr id="12" name="Text 10"/>
          <p:cNvSpPr/>
          <p:nvPr/>
        </p:nvSpPr>
        <p:spPr>
          <a:xfrm>
            <a:off x="411480" y="1554480"/>
            <a:ext cx="3749040" cy="384048"/>
          </a:xfrm>
          <a:prstGeom prst="rect">
            <a:avLst/>
          </a:prstGeom>
          <a:noFill/>
          <a:ln/>
        </p:spPr>
        <p:txBody>
          <a:bodyPr wrap="square" lIns="0" tIns="0" rIns="0" bIns="0" rtlCol="0" anchor="ctr"/>
          <a:lstStyle/>
          <a:p>
            <a:pPr marL="0" indent="0">
              <a:buNone/>
            </a:pPr>
            <a:r>
              <a:rPr lang="en-US" sz="1250" dirty="0">
                <a:solidFill>
                  <a:srgbClr val="AA0000"/>
                </a:solidFill>
                <a:latin typeface="Calibri" pitchFamily="34" charset="0"/>
                <a:ea typeface="Calibri" pitchFamily="34" charset="-122"/>
                <a:cs typeface="Calibri" pitchFamily="34" charset="-120"/>
              </a:rPr>
              <a:t>✗  Runs inside Chrome / Firefox</a:t>
            </a:r>
            <a:endParaRPr lang="en-US" sz="1250" dirty="0"/>
          </a:p>
        </p:txBody>
      </p:sp>
      <p:sp>
        <p:nvSpPr>
          <p:cNvPr id="13" name="Shape 11"/>
          <p:cNvSpPr/>
          <p:nvPr/>
        </p:nvSpPr>
        <p:spPr>
          <a:xfrm>
            <a:off x="320040" y="2011680"/>
            <a:ext cx="3931920" cy="420624"/>
          </a:xfrm>
          <a:prstGeom prst="rect">
            <a:avLst/>
          </a:prstGeom>
          <a:solidFill>
            <a:srgbClr val="FFEEEE"/>
          </a:solidFill>
          <a:ln/>
        </p:spPr>
      </p:sp>
      <p:sp>
        <p:nvSpPr>
          <p:cNvPr id="14" name="Text 12"/>
          <p:cNvSpPr/>
          <p:nvPr/>
        </p:nvSpPr>
        <p:spPr>
          <a:xfrm>
            <a:off x="411480" y="2029968"/>
            <a:ext cx="3749040" cy="384048"/>
          </a:xfrm>
          <a:prstGeom prst="rect">
            <a:avLst/>
          </a:prstGeom>
          <a:noFill/>
          <a:ln/>
        </p:spPr>
        <p:txBody>
          <a:bodyPr wrap="square" lIns="0" tIns="0" rIns="0" bIns="0" rtlCol="0" anchor="ctr"/>
          <a:lstStyle/>
          <a:p>
            <a:pPr marL="0" indent="0">
              <a:buNone/>
            </a:pPr>
            <a:r>
              <a:rPr lang="en-US" sz="1250" dirty="0">
                <a:solidFill>
                  <a:srgbClr val="AA0000"/>
                </a:solidFill>
                <a:latin typeface="Calibri" pitchFamily="34" charset="0"/>
                <a:ea typeface="Calibri" pitchFamily="34" charset="-122"/>
                <a:cs typeface="Calibri" pitchFamily="34" charset="-120"/>
              </a:rPr>
              <a:t>✗  Cannot read/write files</a:t>
            </a:r>
            <a:endParaRPr lang="en-US" sz="1250" dirty="0"/>
          </a:p>
        </p:txBody>
      </p:sp>
      <p:sp>
        <p:nvSpPr>
          <p:cNvPr id="15" name="Shape 13"/>
          <p:cNvSpPr/>
          <p:nvPr/>
        </p:nvSpPr>
        <p:spPr>
          <a:xfrm>
            <a:off x="320040" y="2487168"/>
            <a:ext cx="3931920" cy="420624"/>
          </a:xfrm>
          <a:prstGeom prst="rect">
            <a:avLst/>
          </a:prstGeom>
          <a:solidFill>
            <a:srgbClr val="FFF5F5"/>
          </a:solidFill>
          <a:ln/>
        </p:spPr>
      </p:sp>
      <p:sp>
        <p:nvSpPr>
          <p:cNvPr id="16" name="Text 14"/>
          <p:cNvSpPr/>
          <p:nvPr/>
        </p:nvSpPr>
        <p:spPr>
          <a:xfrm>
            <a:off x="411480" y="2505456"/>
            <a:ext cx="3749040" cy="384048"/>
          </a:xfrm>
          <a:prstGeom prst="rect">
            <a:avLst/>
          </a:prstGeom>
          <a:noFill/>
          <a:ln/>
        </p:spPr>
        <p:txBody>
          <a:bodyPr wrap="square" lIns="0" tIns="0" rIns="0" bIns="0" rtlCol="0" anchor="ctr"/>
          <a:lstStyle/>
          <a:p>
            <a:pPr marL="0" indent="0">
              <a:buNone/>
            </a:pPr>
            <a:r>
              <a:rPr lang="en-US" sz="1250" dirty="0">
                <a:solidFill>
                  <a:srgbClr val="AA0000"/>
                </a:solidFill>
                <a:latin typeface="Calibri" pitchFamily="34" charset="0"/>
                <a:ea typeface="Calibri" pitchFamily="34" charset="-122"/>
                <a:cs typeface="Calibri" pitchFamily="34" charset="-120"/>
              </a:rPr>
              <a:t>✗  Cannot create a web server</a:t>
            </a:r>
            <a:endParaRPr lang="en-US" sz="1250" dirty="0"/>
          </a:p>
        </p:txBody>
      </p:sp>
      <p:sp>
        <p:nvSpPr>
          <p:cNvPr id="17" name="Shape 15"/>
          <p:cNvSpPr/>
          <p:nvPr/>
        </p:nvSpPr>
        <p:spPr>
          <a:xfrm>
            <a:off x="320040" y="2962656"/>
            <a:ext cx="3931920" cy="420624"/>
          </a:xfrm>
          <a:prstGeom prst="rect">
            <a:avLst/>
          </a:prstGeom>
          <a:solidFill>
            <a:srgbClr val="FFEEEE"/>
          </a:solidFill>
          <a:ln/>
        </p:spPr>
      </p:sp>
      <p:sp>
        <p:nvSpPr>
          <p:cNvPr id="18" name="Text 16"/>
          <p:cNvSpPr/>
          <p:nvPr/>
        </p:nvSpPr>
        <p:spPr>
          <a:xfrm>
            <a:off x="411480" y="2980944"/>
            <a:ext cx="3749040" cy="384048"/>
          </a:xfrm>
          <a:prstGeom prst="rect">
            <a:avLst/>
          </a:prstGeom>
          <a:noFill/>
          <a:ln/>
        </p:spPr>
        <p:txBody>
          <a:bodyPr wrap="square" lIns="0" tIns="0" rIns="0" bIns="0" rtlCol="0" anchor="ctr"/>
          <a:lstStyle/>
          <a:p>
            <a:pPr marL="0" indent="0">
              <a:buNone/>
            </a:pPr>
            <a:r>
              <a:rPr lang="en-US" sz="1250" dirty="0">
                <a:solidFill>
                  <a:srgbClr val="AA0000"/>
                </a:solidFill>
                <a:latin typeface="Calibri" pitchFamily="34" charset="0"/>
                <a:ea typeface="Calibri" pitchFamily="34" charset="-122"/>
                <a:cs typeface="Calibri" pitchFamily="34" charset="-120"/>
              </a:rPr>
              <a:t>✗  Cannot connect to database</a:t>
            </a:r>
            <a:endParaRPr lang="en-US" sz="1250" dirty="0"/>
          </a:p>
        </p:txBody>
      </p:sp>
      <p:sp>
        <p:nvSpPr>
          <p:cNvPr id="19" name="Shape 17"/>
          <p:cNvSpPr/>
          <p:nvPr/>
        </p:nvSpPr>
        <p:spPr>
          <a:xfrm>
            <a:off x="320040" y="3438144"/>
            <a:ext cx="3931920" cy="420624"/>
          </a:xfrm>
          <a:prstGeom prst="rect">
            <a:avLst/>
          </a:prstGeom>
          <a:solidFill>
            <a:srgbClr val="FFF5F5"/>
          </a:solidFill>
          <a:ln/>
        </p:spPr>
      </p:sp>
      <p:sp>
        <p:nvSpPr>
          <p:cNvPr id="20" name="Text 18"/>
          <p:cNvSpPr/>
          <p:nvPr/>
        </p:nvSpPr>
        <p:spPr>
          <a:xfrm>
            <a:off x="411480" y="3456432"/>
            <a:ext cx="3749040" cy="384048"/>
          </a:xfrm>
          <a:prstGeom prst="rect">
            <a:avLst/>
          </a:prstGeom>
          <a:noFill/>
          <a:ln/>
        </p:spPr>
        <p:txBody>
          <a:bodyPr wrap="square" lIns="0" tIns="0" rIns="0" bIns="0" rtlCol="0" anchor="ctr"/>
          <a:lstStyle/>
          <a:p>
            <a:pPr marL="0" indent="0">
              <a:buNone/>
            </a:pPr>
            <a:r>
              <a:rPr lang="en-US" sz="1250" dirty="0">
                <a:solidFill>
                  <a:srgbClr val="AA0000"/>
                </a:solidFill>
                <a:latin typeface="Calibri" pitchFamily="34" charset="0"/>
                <a:ea typeface="Calibri" pitchFamily="34" charset="-122"/>
                <a:cs typeface="Calibri" pitchFamily="34" charset="-120"/>
              </a:rPr>
              <a:t>✗  Limited to browser APIs only</a:t>
            </a:r>
            <a:endParaRPr lang="en-US" sz="1250" dirty="0"/>
          </a:p>
        </p:txBody>
      </p:sp>
      <p:sp>
        <p:nvSpPr>
          <p:cNvPr id="21" name="Shape 19"/>
          <p:cNvSpPr/>
          <p:nvPr/>
        </p:nvSpPr>
        <p:spPr>
          <a:xfrm>
            <a:off x="320040" y="3913632"/>
            <a:ext cx="3931920" cy="420624"/>
          </a:xfrm>
          <a:prstGeom prst="rect">
            <a:avLst/>
          </a:prstGeom>
          <a:solidFill>
            <a:srgbClr val="E8FFE8"/>
          </a:solidFill>
          <a:ln/>
        </p:spPr>
      </p:sp>
      <p:sp>
        <p:nvSpPr>
          <p:cNvPr id="22" name="Text 20"/>
          <p:cNvSpPr/>
          <p:nvPr/>
        </p:nvSpPr>
        <p:spPr>
          <a:xfrm>
            <a:off x="411480" y="3931920"/>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Can manipulate HTML (DOM)</a:t>
            </a:r>
            <a:endParaRPr lang="en-US" sz="1250" dirty="0"/>
          </a:p>
        </p:txBody>
      </p:sp>
      <p:sp>
        <p:nvSpPr>
          <p:cNvPr id="23" name="Shape 21"/>
          <p:cNvSpPr/>
          <p:nvPr/>
        </p:nvSpPr>
        <p:spPr>
          <a:xfrm>
            <a:off x="4800600" y="987552"/>
            <a:ext cx="4114800" cy="3794760"/>
          </a:xfrm>
          <a:prstGeom prst="rect">
            <a:avLst/>
          </a:prstGeom>
          <a:solidFill>
            <a:srgbClr val="FFFFFF"/>
          </a:solidFill>
          <a:ln/>
          <a:effectLst>
            <a:outerShdw blurRad="88900" dist="38100" dir="8100000" algn="bl" rotWithShape="0">
              <a:srgbClr val="000000">
                <a:alpha val="13000"/>
              </a:srgbClr>
            </a:outerShdw>
          </a:effectLst>
        </p:spPr>
      </p:sp>
      <p:sp>
        <p:nvSpPr>
          <p:cNvPr id="24" name="Shape 22"/>
          <p:cNvSpPr/>
          <p:nvPr/>
        </p:nvSpPr>
        <p:spPr>
          <a:xfrm>
            <a:off x="4800600" y="987552"/>
            <a:ext cx="4114800" cy="457200"/>
          </a:xfrm>
          <a:prstGeom prst="rect">
            <a:avLst/>
          </a:prstGeom>
          <a:solidFill>
            <a:srgbClr val="00875A"/>
          </a:solidFill>
          <a:ln/>
        </p:spPr>
      </p:sp>
      <p:sp>
        <p:nvSpPr>
          <p:cNvPr id="25" name="Text 23"/>
          <p:cNvSpPr/>
          <p:nvPr/>
        </p:nvSpPr>
        <p:spPr>
          <a:xfrm>
            <a:off x="4800600" y="987552"/>
            <a:ext cx="41148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JS with Node.js</a:t>
            </a:r>
            <a:endParaRPr lang="en-US" sz="1500" dirty="0"/>
          </a:p>
        </p:txBody>
      </p:sp>
      <p:sp>
        <p:nvSpPr>
          <p:cNvPr id="26" name="Shape 24"/>
          <p:cNvSpPr/>
          <p:nvPr/>
        </p:nvSpPr>
        <p:spPr>
          <a:xfrm>
            <a:off x="4892040" y="1536192"/>
            <a:ext cx="3931920" cy="420624"/>
          </a:xfrm>
          <a:prstGeom prst="rect">
            <a:avLst/>
          </a:prstGeom>
          <a:solidFill>
            <a:srgbClr val="E8FFE8"/>
          </a:solidFill>
          <a:ln/>
        </p:spPr>
      </p:sp>
      <p:sp>
        <p:nvSpPr>
          <p:cNvPr id="27" name="Text 25"/>
          <p:cNvSpPr/>
          <p:nvPr/>
        </p:nvSpPr>
        <p:spPr>
          <a:xfrm>
            <a:off x="4983480" y="1554480"/>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Runs on server / your computer</a:t>
            </a:r>
            <a:endParaRPr lang="en-US" sz="1250" dirty="0"/>
          </a:p>
        </p:txBody>
      </p:sp>
      <p:sp>
        <p:nvSpPr>
          <p:cNvPr id="28" name="Shape 26"/>
          <p:cNvSpPr/>
          <p:nvPr/>
        </p:nvSpPr>
        <p:spPr>
          <a:xfrm>
            <a:off x="4892040" y="2011680"/>
            <a:ext cx="3931920" cy="420624"/>
          </a:xfrm>
          <a:prstGeom prst="rect">
            <a:avLst/>
          </a:prstGeom>
          <a:solidFill>
            <a:srgbClr val="E8FFE8"/>
          </a:solidFill>
          <a:ln/>
        </p:spPr>
      </p:sp>
      <p:sp>
        <p:nvSpPr>
          <p:cNvPr id="29" name="Text 27"/>
          <p:cNvSpPr/>
          <p:nvPr/>
        </p:nvSpPr>
        <p:spPr>
          <a:xfrm>
            <a:off x="4983480" y="2029968"/>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Can read and write files</a:t>
            </a:r>
            <a:endParaRPr lang="en-US" sz="1250" dirty="0"/>
          </a:p>
        </p:txBody>
      </p:sp>
      <p:sp>
        <p:nvSpPr>
          <p:cNvPr id="30" name="Shape 28"/>
          <p:cNvSpPr/>
          <p:nvPr/>
        </p:nvSpPr>
        <p:spPr>
          <a:xfrm>
            <a:off x="4892040" y="2487168"/>
            <a:ext cx="3931920" cy="420624"/>
          </a:xfrm>
          <a:prstGeom prst="rect">
            <a:avLst/>
          </a:prstGeom>
          <a:solidFill>
            <a:srgbClr val="F0FFF8"/>
          </a:solidFill>
          <a:ln/>
        </p:spPr>
      </p:sp>
      <p:sp>
        <p:nvSpPr>
          <p:cNvPr id="31" name="Text 29"/>
          <p:cNvSpPr/>
          <p:nvPr/>
        </p:nvSpPr>
        <p:spPr>
          <a:xfrm>
            <a:off x="4983480" y="2505456"/>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Can create a web server</a:t>
            </a:r>
            <a:endParaRPr lang="en-US" sz="1250" dirty="0"/>
          </a:p>
        </p:txBody>
      </p:sp>
      <p:sp>
        <p:nvSpPr>
          <p:cNvPr id="32" name="Shape 30"/>
          <p:cNvSpPr/>
          <p:nvPr/>
        </p:nvSpPr>
        <p:spPr>
          <a:xfrm>
            <a:off x="4892040" y="2962656"/>
            <a:ext cx="3931920" cy="420624"/>
          </a:xfrm>
          <a:prstGeom prst="rect">
            <a:avLst/>
          </a:prstGeom>
          <a:solidFill>
            <a:srgbClr val="E8FFE8"/>
          </a:solidFill>
          <a:ln/>
        </p:spPr>
      </p:sp>
      <p:sp>
        <p:nvSpPr>
          <p:cNvPr id="33" name="Text 31"/>
          <p:cNvSpPr/>
          <p:nvPr/>
        </p:nvSpPr>
        <p:spPr>
          <a:xfrm>
            <a:off x="4983480" y="2980944"/>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Can connect to databases</a:t>
            </a:r>
            <a:endParaRPr lang="en-US" sz="1250" dirty="0"/>
          </a:p>
        </p:txBody>
      </p:sp>
      <p:sp>
        <p:nvSpPr>
          <p:cNvPr id="34" name="Shape 32"/>
          <p:cNvSpPr/>
          <p:nvPr/>
        </p:nvSpPr>
        <p:spPr>
          <a:xfrm>
            <a:off x="4892040" y="3438144"/>
            <a:ext cx="3931920" cy="420624"/>
          </a:xfrm>
          <a:prstGeom prst="rect">
            <a:avLst/>
          </a:prstGeom>
          <a:solidFill>
            <a:srgbClr val="F0FFF8"/>
          </a:solidFill>
          <a:ln/>
        </p:spPr>
      </p:sp>
      <p:sp>
        <p:nvSpPr>
          <p:cNvPr id="35" name="Text 33"/>
          <p:cNvSpPr/>
          <p:nvPr/>
        </p:nvSpPr>
        <p:spPr>
          <a:xfrm>
            <a:off x="4983480" y="3456432"/>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Access to all OS features</a:t>
            </a:r>
            <a:endParaRPr lang="en-US" sz="1250" dirty="0"/>
          </a:p>
        </p:txBody>
      </p:sp>
      <p:sp>
        <p:nvSpPr>
          <p:cNvPr id="36" name="Shape 34"/>
          <p:cNvSpPr/>
          <p:nvPr/>
        </p:nvSpPr>
        <p:spPr>
          <a:xfrm>
            <a:off x="4892040" y="3913632"/>
            <a:ext cx="3931920" cy="420624"/>
          </a:xfrm>
          <a:prstGeom prst="rect">
            <a:avLst/>
          </a:prstGeom>
          <a:solidFill>
            <a:srgbClr val="E8FFE8"/>
          </a:solidFill>
          <a:ln/>
        </p:spPr>
      </p:sp>
      <p:sp>
        <p:nvSpPr>
          <p:cNvPr id="37" name="Text 35"/>
          <p:cNvSpPr/>
          <p:nvPr/>
        </p:nvSpPr>
        <p:spPr>
          <a:xfrm>
            <a:off x="4983480" y="3931920"/>
            <a:ext cx="3749040" cy="384048"/>
          </a:xfrm>
          <a:prstGeom prst="rect">
            <a:avLst/>
          </a:prstGeom>
          <a:noFill/>
          <a:ln/>
        </p:spPr>
        <p:txBody>
          <a:bodyPr wrap="square" lIns="0" tIns="0" rIns="0" bIns="0" rtlCol="0" anchor="ctr"/>
          <a:lstStyle/>
          <a:p>
            <a:pPr marL="0" indent="0">
              <a:buNone/>
            </a:pPr>
            <a:r>
              <a:rPr lang="en-US" sz="1250" dirty="0">
                <a:solidFill>
                  <a:srgbClr val="006600"/>
                </a:solidFill>
                <a:latin typeface="Calibri" pitchFamily="34" charset="0"/>
                <a:ea typeface="Calibri" pitchFamily="34" charset="-122"/>
                <a:cs typeface="Calibri" pitchFamily="34" charset="-120"/>
              </a:rPr>
              <a:t>✓  Can process requests &amp; responses</a:t>
            </a:r>
            <a:endParaRPr lang="en-US" sz="1250" dirty="0"/>
          </a:p>
        </p:txBody>
      </p:sp>
      <p:sp>
        <p:nvSpPr>
          <p:cNvPr id="38" name="Text 36"/>
          <p:cNvSpPr/>
          <p:nvPr/>
        </p:nvSpPr>
        <p:spPr>
          <a:xfrm>
            <a:off x="4343400" y="2560320"/>
            <a:ext cx="457200" cy="457200"/>
          </a:xfrm>
          <a:prstGeom prst="rect">
            <a:avLst/>
          </a:prstGeom>
          <a:noFill/>
          <a:ln/>
        </p:spPr>
        <p:txBody>
          <a:bodyPr wrap="square" rtlCol="0" anchor="ctr"/>
          <a:lstStyle/>
          <a:p>
            <a:pPr marL="0" indent="0" algn="ctr">
              <a:buNone/>
            </a:pPr>
            <a:r>
              <a:rPr lang="en-US" sz="1600" b="1" dirty="0">
                <a:solidFill>
                  <a:srgbClr val="5A6475"/>
                </a:solidFill>
                <a:latin typeface="Calibri" pitchFamily="34" charset="0"/>
                <a:ea typeface="Calibri" pitchFamily="34" charset="-122"/>
                <a:cs typeface="Calibri" pitchFamily="34" charset="-120"/>
              </a:rPr>
              <a:t>VS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Installing Node.js &amp; Your First Program</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Text 6"/>
          <p:cNvSpPr/>
          <p:nvPr/>
        </p:nvSpPr>
        <p:spPr>
          <a:xfrm>
            <a:off x="274320" y="987552"/>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Installation Steps:</a:t>
            </a:r>
            <a:endParaRPr lang="en-US" sz="1300" dirty="0"/>
          </a:p>
        </p:txBody>
      </p:sp>
      <p:sp>
        <p:nvSpPr>
          <p:cNvPr id="9" name="Shape 7"/>
          <p:cNvSpPr/>
          <p:nvPr/>
        </p:nvSpPr>
        <p:spPr>
          <a:xfrm>
            <a:off x="228600" y="1389888"/>
            <a:ext cx="1600200" cy="960120"/>
          </a:xfrm>
          <a:prstGeom prst="rect">
            <a:avLst/>
          </a:prstGeom>
          <a:solidFill>
            <a:srgbClr val="1A3A6B"/>
          </a:solidFill>
          <a:ln/>
          <a:effectLst>
            <a:outerShdw blurRad="88900" dist="38100" dir="8100000" algn="bl" rotWithShape="0">
              <a:srgbClr val="000000">
                <a:alpha val="13000"/>
              </a:srgbClr>
            </a:outerShdw>
          </a:effectLst>
        </p:spPr>
      </p:sp>
      <p:sp>
        <p:nvSpPr>
          <p:cNvPr id="10" name="Text 8"/>
          <p:cNvSpPr/>
          <p:nvPr/>
        </p:nvSpPr>
        <p:spPr>
          <a:xfrm>
            <a:off x="228600" y="1426464"/>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274320" y="1792224"/>
            <a:ext cx="153619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Go to nodejs.org</a:t>
            </a:r>
            <a:endParaRPr lang="en-US" sz="1100" dirty="0"/>
          </a:p>
        </p:txBody>
      </p:sp>
      <p:sp>
        <p:nvSpPr>
          <p:cNvPr id="12" name="Shape 10"/>
          <p:cNvSpPr/>
          <p:nvPr/>
        </p:nvSpPr>
        <p:spPr>
          <a:xfrm>
            <a:off x="1837944" y="1801368"/>
            <a:ext cx="109728" cy="0"/>
          </a:xfrm>
          <a:prstGeom prst="line">
            <a:avLst/>
          </a:prstGeom>
          <a:noFill/>
          <a:ln w="25400">
            <a:solidFill>
              <a:srgbClr val="FFD166"/>
            </a:solidFill>
            <a:prstDash val="solid"/>
          </a:ln>
        </p:spPr>
      </p:sp>
      <p:sp>
        <p:nvSpPr>
          <p:cNvPr id="13" name="Shape 11"/>
          <p:cNvSpPr/>
          <p:nvPr/>
        </p:nvSpPr>
        <p:spPr>
          <a:xfrm>
            <a:off x="1965960" y="1389888"/>
            <a:ext cx="1600200" cy="960120"/>
          </a:xfrm>
          <a:prstGeom prst="rect">
            <a:avLst/>
          </a:prstGeom>
          <a:solidFill>
            <a:srgbClr val="1E6FBF"/>
          </a:solidFill>
          <a:ln/>
          <a:effectLst>
            <a:outerShdw blurRad="88900" dist="38100" dir="8100000" algn="bl" rotWithShape="0">
              <a:srgbClr val="000000">
                <a:alpha val="13000"/>
              </a:srgbClr>
            </a:outerShdw>
          </a:effectLst>
        </p:spPr>
      </p:sp>
      <p:sp>
        <p:nvSpPr>
          <p:cNvPr id="14" name="Text 12"/>
          <p:cNvSpPr/>
          <p:nvPr/>
        </p:nvSpPr>
        <p:spPr>
          <a:xfrm>
            <a:off x="1965960" y="1426464"/>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2011680" y="1792224"/>
            <a:ext cx="153619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Download LTS version</a:t>
            </a:r>
            <a:endParaRPr lang="en-US" sz="1100" dirty="0"/>
          </a:p>
        </p:txBody>
      </p:sp>
      <p:sp>
        <p:nvSpPr>
          <p:cNvPr id="16" name="Shape 14"/>
          <p:cNvSpPr/>
          <p:nvPr/>
        </p:nvSpPr>
        <p:spPr>
          <a:xfrm>
            <a:off x="3575304" y="1801368"/>
            <a:ext cx="109728" cy="0"/>
          </a:xfrm>
          <a:prstGeom prst="line">
            <a:avLst/>
          </a:prstGeom>
          <a:noFill/>
          <a:ln w="25400">
            <a:solidFill>
              <a:srgbClr val="FFD166"/>
            </a:solidFill>
            <a:prstDash val="solid"/>
          </a:ln>
        </p:spPr>
      </p:sp>
      <p:sp>
        <p:nvSpPr>
          <p:cNvPr id="17" name="Shape 15"/>
          <p:cNvSpPr/>
          <p:nvPr/>
        </p:nvSpPr>
        <p:spPr>
          <a:xfrm>
            <a:off x="3703320" y="1389888"/>
            <a:ext cx="1600200" cy="960120"/>
          </a:xfrm>
          <a:prstGeom prst="rect">
            <a:avLst/>
          </a:prstGeom>
          <a:solidFill>
            <a:srgbClr val="1A3A6B"/>
          </a:solidFill>
          <a:ln/>
          <a:effectLst>
            <a:outerShdw blurRad="88900" dist="38100" dir="8100000" algn="bl" rotWithShape="0">
              <a:srgbClr val="000000">
                <a:alpha val="13000"/>
              </a:srgbClr>
            </a:outerShdw>
          </a:effectLst>
        </p:spPr>
      </p:sp>
      <p:sp>
        <p:nvSpPr>
          <p:cNvPr id="18" name="Text 16"/>
          <p:cNvSpPr/>
          <p:nvPr/>
        </p:nvSpPr>
        <p:spPr>
          <a:xfrm>
            <a:off x="3703320" y="1426464"/>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3749040" y="1792224"/>
            <a:ext cx="153619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Run installer</a:t>
            </a:r>
            <a:endParaRPr lang="en-US" sz="1100" dirty="0"/>
          </a:p>
        </p:txBody>
      </p:sp>
      <p:sp>
        <p:nvSpPr>
          <p:cNvPr id="20" name="Shape 18"/>
          <p:cNvSpPr/>
          <p:nvPr/>
        </p:nvSpPr>
        <p:spPr>
          <a:xfrm>
            <a:off x="5312664" y="1801368"/>
            <a:ext cx="109728" cy="0"/>
          </a:xfrm>
          <a:prstGeom prst="line">
            <a:avLst/>
          </a:prstGeom>
          <a:noFill/>
          <a:ln w="25400">
            <a:solidFill>
              <a:srgbClr val="FFD166"/>
            </a:solidFill>
            <a:prstDash val="solid"/>
          </a:ln>
        </p:spPr>
      </p:sp>
      <p:sp>
        <p:nvSpPr>
          <p:cNvPr id="21" name="Shape 19"/>
          <p:cNvSpPr/>
          <p:nvPr/>
        </p:nvSpPr>
        <p:spPr>
          <a:xfrm>
            <a:off x="5440680" y="1389888"/>
            <a:ext cx="1600200" cy="960120"/>
          </a:xfrm>
          <a:prstGeom prst="rect">
            <a:avLst/>
          </a:prstGeom>
          <a:solidFill>
            <a:srgbClr val="1E6FBF"/>
          </a:solidFill>
          <a:ln/>
          <a:effectLst>
            <a:outerShdw blurRad="88900" dist="38100" dir="8100000" algn="bl" rotWithShape="0">
              <a:srgbClr val="000000">
                <a:alpha val="13000"/>
              </a:srgbClr>
            </a:outerShdw>
          </a:effectLst>
        </p:spPr>
      </p:sp>
      <p:sp>
        <p:nvSpPr>
          <p:cNvPr id="22" name="Text 20"/>
          <p:cNvSpPr/>
          <p:nvPr/>
        </p:nvSpPr>
        <p:spPr>
          <a:xfrm>
            <a:off x="5440680" y="1426464"/>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5486400" y="1792224"/>
            <a:ext cx="153619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Verify in terminal</a:t>
            </a:r>
            <a:endParaRPr lang="en-US" sz="1100" dirty="0"/>
          </a:p>
        </p:txBody>
      </p:sp>
      <p:sp>
        <p:nvSpPr>
          <p:cNvPr id="24" name="Shape 22"/>
          <p:cNvSpPr/>
          <p:nvPr/>
        </p:nvSpPr>
        <p:spPr>
          <a:xfrm>
            <a:off x="7050024" y="1801368"/>
            <a:ext cx="109728" cy="0"/>
          </a:xfrm>
          <a:prstGeom prst="line">
            <a:avLst/>
          </a:prstGeom>
          <a:noFill/>
          <a:ln w="25400">
            <a:solidFill>
              <a:srgbClr val="FFD166"/>
            </a:solidFill>
            <a:prstDash val="solid"/>
          </a:ln>
        </p:spPr>
      </p:sp>
      <p:sp>
        <p:nvSpPr>
          <p:cNvPr id="25" name="Shape 23"/>
          <p:cNvSpPr/>
          <p:nvPr/>
        </p:nvSpPr>
        <p:spPr>
          <a:xfrm>
            <a:off x="7178040" y="1389888"/>
            <a:ext cx="1600200" cy="960120"/>
          </a:xfrm>
          <a:prstGeom prst="rect">
            <a:avLst/>
          </a:prstGeom>
          <a:solidFill>
            <a:srgbClr val="1A3A6B"/>
          </a:solidFill>
          <a:ln/>
          <a:effectLst>
            <a:outerShdw blurRad="88900" dist="38100" dir="8100000" algn="bl" rotWithShape="0">
              <a:srgbClr val="000000">
                <a:alpha val="13000"/>
              </a:srgbClr>
            </a:outerShdw>
          </a:effectLst>
        </p:spPr>
      </p:sp>
      <p:sp>
        <p:nvSpPr>
          <p:cNvPr id="26" name="Text 24"/>
          <p:cNvSpPr/>
          <p:nvPr/>
        </p:nvSpPr>
        <p:spPr>
          <a:xfrm>
            <a:off x="7178040" y="1426464"/>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7223760" y="1792224"/>
            <a:ext cx="153619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Start coding!</a:t>
            </a:r>
            <a:endParaRPr lang="en-US" sz="1100" dirty="0"/>
          </a:p>
        </p:txBody>
      </p:sp>
      <p:sp>
        <p:nvSpPr>
          <p:cNvPr id="28" name="Shape 26"/>
          <p:cNvSpPr/>
          <p:nvPr/>
        </p:nvSpPr>
        <p:spPr>
          <a:xfrm>
            <a:off x="228600" y="2487168"/>
            <a:ext cx="4114800" cy="2377440"/>
          </a:xfrm>
          <a:prstGeom prst="rect">
            <a:avLst/>
          </a:prstGeom>
          <a:solidFill>
            <a:srgbClr val="1E2D3D"/>
          </a:solidFill>
          <a:ln/>
          <a:effectLst>
            <a:outerShdw blurRad="88900" dist="38100" dir="8100000" algn="bl" rotWithShape="0">
              <a:srgbClr val="000000">
                <a:alpha val="13000"/>
              </a:srgbClr>
            </a:outerShdw>
          </a:effectLst>
        </p:spPr>
      </p:sp>
      <p:sp>
        <p:nvSpPr>
          <p:cNvPr id="29" name="Shape 27"/>
          <p:cNvSpPr/>
          <p:nvPr/>
        </p:nvSpPr>
        <p:spPr>
          <a:xfrm>
            <a:off x="228600" y="2487168"/>
            <a:ext cx="4114800" cy="256032"/>
          </a:xfrm>
          <a:prstGeom prst="rect">
            <a:avLst/>
          </a:prstGeom>
          <a:solidFill>
            <a:srgbClr val="152232"/>
          </a:solidFill>
          <a:ln/>
        </p:spPr>
      </p:sp>
      <p:sp>
        <p:nvSpPr>
          <p:cNvPr id="30" name="Text 28"/>
          <p:cNvSpPr/>
          <p:nvPr/>
        </p:nvSpPr>
        <p:spPr>
          <a:xfrm>
            <a:off x="228600" y="2505456"/>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31" name="Text 29"/>
          <p:cNvSpPr/>
          <p:nvPr/>
        </p:nvSpPr>
        <p:spPr>
          <a:xfrm>
            <a:off x="365760" y="2779776"/>
            <a:ext cx="3886200" cy="201168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Verify installation</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node --version</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npm --version</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Create file: hello.js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console.log('Hello Node.js!');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let name = 'Priya';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console.log('Hello, ' + name);</a:t>
            </a:r>
            <a:endParaRPr lang="en-US" sz="1150" dirty="0"/>
          </a:p>
        </p:txBody>
      </p:sp>
      <p:sp>
        <p:nvSpPr>
          <p:cNvPr id="32" name="Shape 30"/>
          <p:cNvSpPr/>
          <p:nvPr/>
        </p:nvSpPr>
        <p:spPr>
          <a:xfrm>
            <a:off x="4480560" y="2487168"/>
            <a:ext cx="4434840" cy="1527048"/>
          </a:xfrm>
          <a:prstGeom prst="rect">
            <a:avLst/>
          </a:prstGeom>
          <a:solidFill>
            <a:srgbClr val="1E2D3D"/>
          </a:solidFill>
          <a:ln/>
          <a:effectLst>
            <a:outerShdw blurRad="88900" dist="38100" dir="8100000" algn="bl" rotWithShape="0">
              <a:srgbClr val="000000">
                <a:alpha val="13000"/>
              </a:srgbClr>
            </a:outerShdw>
          </a:effectLst>
        </p:spPr>
      </p:sp>
      <p:sp>
        <p:nvSpPr>
          <p:cNvPr id="33" name="Shape 31"/>
          <p:cNvSpPr/>
          <p:nvPr/>
        </p:nvSpPr>
        <p:spPr>
          <a:xfrm>
            <a:off x="4480560" y="2487168"/>
            <a:ext cx="4434840" cy="256032"/>
          </a:xfrm>
          <a:prstGeom prst="rect">
            <a:avLst/>
          </a:prstGeom>
          <a:solidFill>
            <a:srgbClr val="152232"/>
          </a:solidFill>
          <a:ln/>
        </p:spPr>
      </p:sp>
      <p:sp>
        <p:nvSpPr>
          <p:cNvPr id="34" name="Text 32"/>
          <p:cNvSpPr/>
          <p:nvPr/>
        </p:nvSpPr>
        <p:spPr>
          <a:xfrm>
            <a:off x="4480560" y="2505456"/>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35" name="Text 33"/>
          <p:cNvSpPr/>
          <p:nvPr/>
        </p:nvSpPr>
        <p:spPr>
          <a:xfrm>
            <a:off x="4617720" y="2779776"/>
            <a:ext cx="4206240" cy="68580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Run in terminal:</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node hello.js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Output: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Hello Node.js!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Hello, Priya</a:t>
            </a:r>
            <a:endParaRPr lang="en-US" sz="1150" dirty="0"/>
          </a:p>
        </p:txBody>
      </p:sp>
      <p:sp>
        <p:nvSpPr>
          <p:cNvPr id="36" name="Shape 34"/>
          <p:cNvSpPr/>
          <p:nvPr/>
        </p:nvSpPr>
        <p:spPr>
          <a:xfrm>
            <a:off x="4480560" y="4210181"/>
            <a:ext cx="4434840" cy="640080"/>
          </a:xfrm>
          <a:prstGeom prst="rect">
            <a:avLst/>
          </a:prstGeom>
          <a:solidFill>
            <a:srgbClr val="FFF9E6"/>
          </a:solidFill>
          <a:ln/>
          <a:effectLst>
            <a:outerShdw blurRad="88900" dist="38100" dir="8100000" algn="bl" rotWithShape="0">
              <a:srgbClr val="000000">
                <a:alpha val="13000"/>
              </a:srgbClr>
            </a:outerShdw>
          </a:effectLst>
        </p:spPr>
      </p:sp>
      <p:sp>
        <p:nvSpPr>
          <p:cNvPr id="37" name="Shape 35"/>
          <p:cNvSpPr/>
          <p:nvPr/>
        </p:nvSpPr>
        <p:spPr>
          <a:xfrm>
            <a:off x="4480560" y="4210181"/>
            <a:ext cx="91440" cy="640080"/>
          </a:xfrm>
          <a:prstGeom prst="rect">
            <a:avLst/>
          </a:prstGeom>
          <a:solidFill>
            <a:srgbClr val="F4A261"/>
          </a:solidFill>
          <a:ln/>
        </p:spPr>
      </p:sp>
      <p:sp>
        <p:nvSpPr>
          <p:cNvPr id="38" name="Text 36"/>
          <p:cNvSpPr/>
          <p:nvPr/>
        </p:nvSpPr>
        <p:spPr>
          <a:xfrm>
            <a:off x="4645152" y="4210181"/>
            <a:ext cx="4206240" cy="640080"/>
          </a:xfrm>
          <a:prstGeom prst="rect">
            <a:avLst/>
          </a:prstGeom>
          <a:noFill/>
          <a:ln/>
        </p:spPr>
        <p:txBody>
          <a:bodyPr wrap="square" rtlCol="0" anchor="ctr"/>
          <a:lstStyle/>
          <a:p>
            <a:pPr marL="0" indent="0">
              <a:buNone/>
            </a:pPr>
            <a:r>
              <a:rPr lang="en-US" sz="1250" dirty="0">
                <a:solidFill>
                  <a:srgbClr val="5C3A00"/>
                </a:solidFill>
                <a:latin typeface="Calibri" pitchFamily="34" charset="0"/>
                <a:ea typeface="Calibri" pitchFamily="34" charset="-122"/>
                <a:cs typeface="Calibri" pitchFamily="34" charset="-120"/>
              </a:rPr>
              <a:t>💡  Note:  LTS = Long Term Support. Always download LTS for stability. 'node filename.js' executes any JS file with Node.js.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Node.js Works — The Event Loop</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2 › Node.js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144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1440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Event Loop</a:t>
            </a:r>
            <a:endParaRPr lang="en-US" sz="1300" dirty="0"/>
          </a:p>
        </p:txBody>
      </p:sp>
      <p:sp>
        <p:nvSpPr>
          <p:cNvPr id="11" name="Text 9"/>
          <p:cNvSpPr/>
          <p:nvPr/>
        </p:nvSpPr>
        <p:spPr>
          <a:xfrm>
            <a:off x="393192" y="1444752"/>
            <a:ext cx="8458200" cy="3474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The Event Loop is the mechanism that enables Node.js to handle asynchronous operations without blocking. Instead of waiting for slow tasks (file reading, database queries), it registers callbacks and moves on, returning to handle results when ready.</a:t>
            </a:r>
            <a:endParaRPr lang="en-US" sz="1250" dirty="0"/>
          </a:p>
        </p:txBody>
      </p:sp>
      <p:sp>
        <p:nvSpPr>
          <p:cNvPr id="12" name="Shape 10"/>
          <p:cNvSpPr/>
          <p:nvPr/>
        </p:nvSpPr>
        <p:spPr>
          <a:xfrm>
            <a:off x="228600" y="2029968"/>
            <a:ext cx="8686800" cy="1143000"/>
          </a:xfrm>
          <a:prstGeom prst="rect">
            <a:avLst/>
          </a:prstGeom>
          <a:solidFill>
            <a:srgbClr val="EAFAF1"/>
          </a:solidFill>
          <a:ln/>
          <a:effectLst>
            <a:outerShdw blurRad="88900" dist="38100" dir="8100000" algn="bl" rotWithShape="0">
              <a:srgbClr val="000000">
                <a:alpha val="13000"/>
              </a:srgbClr>
            </a:outerShdw>
          </a:effectLst>
        </p:spPr>
      </p:sp>
      <p:sp>
        <p:nvSpPr>
          <p:cNvPr id="13" name="Shape 11"/>
          <p:cNvSpPr/>
          <p:nvPr/>
        </p:nvSpPr>
        <p:spPr>
          <a:xfrm>
            <a:off x="228600" y="2029968"/>
            <a:ext cx="91440" cy="1143000"/>
          </a:xfrm>
          <a:prstGeom prst="rect">
            <a:avLst/>
          </a:prstGeom>
          <a:solidFill>
            <a:srgbClr val="06D6A0"/>
          </a:solidFill>
          <a:ln/>
        </p:spPr>
      </p:sp>
      <p:sp>
        <p:nvSpPr>
          <p:cNvPr id="14" name="Text 12"/>
          <p:cNvSpPr/>
          <p:nvPr/>
        </p:nvSpPr>
        <p:spPr>
          <a:xfrm>
            <a:off x="393192" y="2093976"/>
            <a:ext cx="8458200" cy="329184"/>
          </a:xfrm>
          <a:prstGeom prst="rect">
            <a:avLst/>
          </a:prstGeom>
          <a:noFill/>
          <a:ln/>
        </p:spPr>
        <p:txBody>
          <a:bodyPr wrap="square" lIns="0" tIns="0" rIns="0" bIns="0" rtlCol="0" anchor="ctr"/>
          <a:lstStyle/>
          <a:p>
            <a:pPr marL="0" indent="0">
              <a:buNone/>
            </a:pPr>
            <a:r>
              <a:rPr lang="en-US" sz="1300" b="1" dirty="0">
                <a:solidFill>
                  <a:srgbClr val="1A6344"/>
                </a:solidFill>
                <a:latin typeface="Calibri" pitchFamily="34" charset="0"/>
                <a:ea typeface="Calibri" pitchFamily="34" charset="-122"/>
                <a:cs typeface="Calibri" pitchFamily="34" charset="-120"/>
              </a:rPr>
              <a:t>🌍  Analogy — A Smart Restaurant Waiter:</a:t>
            </a:r>
            <a:endParaRPr lang="en-US" sz="1300" dirty="0"/>
          </a:p>
        </p:txBody>
      </p:sp>
      <p:sp>
        <p:nvSpPr>
          <p:cNvPr id="15" name="Text 13"/>
          <p:cNvSpPr/>
          <p:nvPr/>
        </p:nvSpPr>
        <p:spPr>
          <a:xfrm>
            <a:off x="393192" y="2450592"/>
            <a:ext cx="8458200" cy="640080"/>
          </a:xfrm>
          <a:prstGeom prst="rect">
            <a:avLst/>
          </a:prstGeom>
          <a:noFill/>
          <a:ln/>
        </p:spPr>
        <p:txBody>
          <a:bodyPr wrap="square" rtlCol="0" anchor="ctr"/>
          <a:lstStyle/>
          <a:p>
            <a:pPr marL="0" indent="0">
              <a:buNone/>
            </a:pPr>
            <a:r>
              <a:rPr lang="en-US" sz="1200" dirty="0">
                <a:solidFill>
                  <a:srgbClr val="1A4A33"/>
                </a:solidFill>
                <a:latin typeface="Calibri" pitchFamily="34" charset="0"/>
                <a:ea typeface="Calibri" pitchFamily="34" charset="-122"/>
                <a:cs typeface="Calibri" pitchFamily="34" charset="-120"/>
              </a:rPr>
              <a:t>SLOW (Blocking): Waiter takes order → stands at kitchen window waiting 10 min → delivers → takes next order. Very slow!</a:t>
            </a:r>
            <a:endParaRPr lang="en-US" sz="1200" dirty="0"/>
          </a:p>
          <a:p>
            <a:pPr marL="0" indent="0">
              <a:buNone/>
            </a:pPr>
            <a:r>
              <a:rPr lang="en-US" sz="1200" dirty="0">
                <a:solidFill>
                  <a:srgbClr val="1A4A33"/>
                </a:solidFill>
                <a:latin typeface="Calibri" pitchFamily="34" charset="0"/>
                <a:ea typeface="Calibri" pitchFamily="34" charset="-122"/>
                <a:cs typeface="Calibri" pitchFamily="34" charset="-120"/>
              </a:rPr>
              <a:t>SMART (Non-blocking / Node.js): Waiter takes order 1 → gives it to kitchen → takes order 2 → takes order 3 → when order 1 is ready, kitchen notifies waiter → delivers. All customers served efficiently!</a:t>
            </a:r>
            <a:endParaRPr lang="en-US" sz="1200" dirty="0"/>
          </a:p>
        </p:txBody>
      </p:sp>
      <p:sp>
        <p:nvSpPr>
          <p:cNvPr id="16" name="Shape 14"/>
          <p:cNvSpPr/>
          <p:nvPr/>
        </p:nvSpPr>
        <p:spPr>
          <a:xfrm>
            <a:off x="228600" y="3310128"/>
            <a:ext cx="8686800" cy="594360"/>
          </a:xfrm>
          <a:prstGeom prst="rect">
            <a:avLst/>
          </a:prstGeom>
          <a:solidFill>
            <a:srgbClr val="FFF9E6"/>
          </a:solidFill>
          <a:ln/>
          <a:effectLst>
            <a:outerShdw blurRad="88900" dist="38100" dir="8100000" algn="bl" rotWithShape="0">
              <a:srgbClr val="000000">
                <a:alpha val="13000"/>
              </a:srgbClr>
            </a:outerShdw>
          </a:effectLst>
        </p:spPr>
      </p:sp>
      <p:sp>
        <p:nvSpPr>
          <p:cNvPr id="17" name="Shape 15"/>
          <p:cNvSpPr/>
          <p:nvPr/>
        </p:nvSpPr>
        <p:spPr>
          <a:xfrm>
            <a:off x="228600" y="3310128"/>
            <a:ext cx="91440" cy="594360"/>
          </a:xfrm>
          <a:prstGeom prst="rect">
            <a:avLst/>
          </a:prstGeom>
          <a:solidFill>
            <a:srgbClr val="F4A261"/>
          </a:solidFill>
          <a:ln/>
        </p:spPr>
      </p:sp>
      <p:sp>
        <p:nvSpPr>
          <p:cNvPr id="18" name="Text 16"/>
          <p:cNvSpPr/>
          <p:nvPr/>
        </p:nvSpPr>
        <p:spPr>
          <a:xfrm>
            <a:off x="393192" y="3310128"/>
            <a:ext cx="8458200" cy="594360"/>
          </a:xfrm>
          <a:prstGeom prst="rect">
            <a:avLst/>
          </a:prstGeom>
          <a:noFill/>
          <a:ln/>
        </p:spPr>
        <p:txBody>
          <a:bodyPr wrap="square" rtlCol="0" anchor="ctr"/>
          <a:lstStyle/>
          <a:p>
            <a:pPr marL="0" indent="0">
              <a:buNone/>
            </a:pPr>
            <a:r>
              <a:rPr lang="en-US" sz="1250" dirty="0">
                <a:solidFill>
                  <a:srgbClr val="5C3A00"/>
                </a:solidFill>
                <a:latin typeface="Calibri" pitchFamily="34" charset="0"/>
                <a:ea typeface="Calibri" pitchFamily="34" charset="-122"/>
                <a:cs typeface="Calibri" pitchFamily="34" charset="-120"/>
              </a:rPr>
              <a:t>💡  Note:  This is why Node.js can handle thousands of simultaneous connections with a single thread — it never sits idle waiting for one slow operation to finish.</a:t>
            </a:r>
            <a:endParaRPr lang="en-US" sz="1250" dirty="0"/>
          </a:p>
        </p:txBody>
      </p:sp>
      <p:sp>
        <p:nvSpPr>
          <p:cNvPr id="19" name="Text 17"/>
          <p:cNvSpPr/>
          <p:nvPr/>
        </p:nvSpPr>
        <p:spPr>
          <a:xfrm>
            <a:off x="274320" y="4041648"/>
            <a:ext cx="8595360" cy="320040"/>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Non-Blocking Flow:</a:t>
            </a:r>
            <a:endParaRPr lang="en-US" sz="1300" dirty="0"/>
          </a:p>
        </p:txBody>
      </p:sp>
      <p:sp>
        <p:nvSpPr>
          <p:cNvPr id="20" name="Shape 18"/>
          <p:cNvSpPr/>
          <p:nvPr/>
        </p:nvSpPr>
        <p:spPr>
          <a:xfrm>
            <a:off x="228600" y="4416552"/>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21" name="Text 19"/>
          <p:cNvSpPr/>
          <p:nvPr/>
        </p:nvSpPr>
        <p:spPr>
          <a:xfrm>
            <a:off x="2286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1</a:t>
            </a:r>
            <a:endParaRPr lang="en-US" sz="1500" dirty="0"/>
          </a:p>
        </p:txBody>
      </p:sp>
      <p:sp>
        <p:nvSpPr>
          <p:cNvPr id="22" name="Text 20"/>
          <p:cNvSpPr/>
          <p:nvPr/>
        </p:nvSpPr>
        <p:spPr>
          <a:xfrm>
            <a:off x="2743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Request arrives</a:t>
            </a:r>
            <a:endParaRPr lang="en-US" sz="1100" dirty="0"/>
          </a:p>
        </p:txBody>
      </p:sp>
      <p:sp>
        <p:nvSpPr>
          <p:cNvPr id="23" name="Shape 21"/>
          <p:cNvSpPr/>
          <p:nvPr/>
        </p:nvSpPr>
        <p:spPr>
          <a:xfrm>
            <a:off x="1548384" y="4828032"/>
            <a:ext cx="109728" cy="0"/>
          </a:xfrm>
          <a:prstGeom prst="line">
            <a:avLst/>
          </a:prstGeom>
          <a:noFill/>
          <a:ln w="25400">
            <a:solidFill>
              <a:srgbClr val="FFD166"/>
            </a:solidFill>
            <a:prstDash val="solid"/>
          </a:ln>
        </p:spPr>
      </p:sp>
      <p:sp>
        <p:nvSpPr>
          <p:cNvPr id="24" name="Shape 22"/>
          <p:cNvSpPr/>
          <p:nvPr/>
        </p:nvSpPr>
        <p:spPr>
          <a:xfrm>
            <a:off x="1676400" y="4416552"/>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25" name="Text 23"/>
          <p:cNvSpPr/>
          <p:nvPr/>
        </p:nvSpPr>
        <p:spPr>
          <a:xfrm>
            <a:off x="16764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2</a:t>
            </a:r>
            <a:endParaRPr lang="en-US" sz="1500" dirty="0"/>
          </a:p>
        </p:txBody>
      </p:sp>
      <p:sp>
        <p:nvSpPr>
          <p:cNvPr id="26" name="Text 24"/>
          <p:cNvSpPr/>
          <p:nvPr/>
        </p:nvSpPr>
        <p:spPr>
          <a:xfrm>
            <a:off x="17221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Start operation</a:t>
            </a:r>
            <a:endParaRPr lang="en-US" sz="1100" dirty="0"/>
          </a:p>
        </p:txBody>
      </p:sp>
      <p:sp>
        <p:nvSpPr>
          <p:cNvPr id="27" name="Shape 25"/>
          <p:cNvSpPr/>
          <p:nvPr/>
        </p:nvSpPr>
        <p:spPr>
          <a:xfrm>
            <a:off x="2996184" y="4828032"/>
            <a:ext cx="109728" cy="0"/>
          </a:xfrm>
          <a:prstGeom prst="line">
            <a:avLst/>
          </a:prstGeom>
          <a:noFill/>
          <a:ln w="25400">
            <a:solidFill>
              <a:srgbClr val="FFD166"/>
            </a:solidFill>
            <a:prstDash val="solid"/>
          </a:ln>
        </p:spPr>
      </p:sp>
      <p:sp>
        <p:nvSpPr>
          <p:cNvPr id="28" name="Shape 26"/>
          <p:cNvSpPr/>
          <p:nvPr/>
        </p:nvSpPr>
        <p:spPr>
          <a:xfrm>
            <a:off x="3124200" y="4416552"/>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29" name="Text 27"/>
          <p:cNvSpPr/>
          <p:nvPr/>
        </p:nvSpPr>
        <p:spPr>
          <a:xfrm>
            <a:off x="31242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3</a:t>
            </a:r>
            <a:endParaRPr lang="en-US" sz="1500" dirty="0"/>
          </a:p>
        </p:txBody>
      </p:sp>
      <p:sp>
        <p:nvSpPr>
          <p:cNvPr id="30" name="Text 28"/>
          <p:cNvSpPr/>
          <p:nvPr/>
        </p:nvSpPr>
        <p:spPr>
          <a:xfrm>
            <a:off x="31699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Register callback</a:t>
            </a:r>
            <a:endParaRPr lang="en-US" sz="1100" dirty="0"/>
          </a:p>
        </p:txBody>
      </p:sp>
      <p:sp>
        <p:nvSpPr>
          <p:cNvPr id="31" name="Shape 29"/>
          <p:cNvSpPr/>
          <p:nvPr/>
        </p:nvSpPr>
        <p:spPr>
          <a:xfrm>
            <a:off x="4443984" y="4828032"/>
            <a:ext cx="109728" cy="0"/>
          </a:xfrm>
          <a:prstGeom prst="line">
            <a:avLst/>
          </a:prstGeom>
          <a:noFill/>
          <a:ln w="25400">
            <a:solidFill>
              <a:srgbClr val="FFD166"/>
            </a:solidFill>
            <a:prstDash val="solid"/>
          </a:ln>
        </p:spPr>
      </p:sp>
      <p:sp>
        <p:nvSpPr>
          <p:cNvPr id="32" name="Shape 30"/>
          <p:cNvSpPr/>
          <p:nvPr/>
        </p:nvSpPr>
        <p:spPr>
          <a:xfrm>
            <a:off x="4572000" y="4416552"/>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33" name="Text 31"/>
          <p:cNvSpPr/>
          <p:nvPr/>
        </p:nvSpPr>
        <p:spPr>
          <a:xfrm>
            <a:off x="45720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4</a:t>
            </a:r>
            <a:endParaRPr lang="en-US" sz="1500" dirty="0"/>
          </a:p>
        </p:txBody>
      </p:sp>
      <p:sp>
        <p:nvSpPr>
          <p:cNvPr id="34" name="Text 32"/>
          <p:cNvSpPr/>
          <p:nvPr/>
        </p:nvSpPr>
        <p:spPr>
          <a:xfrm>
            <a:off x="46177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Move to next request</a:t>
            </a:r>
            <a:endParaRPr lang="en-US" sz="1100" dirty="0"/>
          </a:p>
        </p:txBody>
      </p:sp>
      <p:sp>
        <p:nvSpPr>
          <p:cNvPr id="35" name="Shape 33"/>
          <p:cNvSpPr/>
          <p:nvPr/>
        </p:nvSpPr>
        <p:spPr>
          <a:xfrm>
            <a:off x="5891784" y="4828032"/>
            <a:ext cx="109728" cy="0"/>
          </a:xfrm>
          <a:prstGeom prst="line">
            <a:avLst/>
          </a:prstGeom>
          <a:noFill/>
          <a:ln w="25400">
            <a:solidFill>
              <a:srgbClr val="FFD166"/>
            </a:solidFill>
            <a:prstDash val="solid"/>
          </a:ln>
        </p:spPr>
      </p:sp>
      <p:sp>
        <p:nvSpPr>
          <p:cNvPr id="36" name="Shape 34"/>
          <p:cNvSpPr/>
          <p:nvPr/>
        </p:nvSpPr>
        <p:spPr>
          <a:xfrm>
            <a:off x="6019800" y="4416552"/>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37" name="Text 35"/>
          <p:cNvSpPr/>
          <p:nvPr/>
        </p:nvSpPr>
        <p:spPr>
          <a:xfrm>
            <a:off x="60198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5</a:t>
            </a:r>
            <a:endParaRPr lang="en-US" sz="1500" dirty="0"/>
          </a:p>
        </p:txBody>
      </p:sp>
      <p:sp>
        <p:nvSpPr>
          <p:cNvPr id="38" name="Text 36"/>
          <p:cNvSpPr/>
          <p:nvPr/>
        </p:nvSpPr>
        <p:spPr>
          <a:xfrm>
            <a:off x="60655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Operation finishes</a:t>
            </a:r>
            <a:endParaRPr lang="en-US" sz="1100" dirty="0"/>
          </a:p>
        </p:txBody>
      </p:sp>
      <p:sp>
        <p:nvSpPr>
          <p:cNvPr id="39" name="Shape 37"/>
          <p:cNvSpPr/>
          <p:nvPr/>
        </p:nvSpPr>
        <p:spPr>
          <a:xfrm>
            <a:off x="7339584" y="4828032"/>
            <a:ext cx="109728" cy="0"/>
          </a:xfrm>
          <a:prstGeom prst="line">
            <a:avLst/>
          </a:prstGeom>
          <a:noFill/>
          <a:ln w="25400">
            <a:solidFill>
              <a:srgbClr val="FFD166"/>
            </a:solidFill>
            <a:prstDash val="solid"/>
          </a:ln>
        </p:spPr>
      </p:sp>
      <p:sp>
        <p:nvSpPr>
          <p:cNvPr id="40" name="Shape 38"/>
          <p:cNvSpPr/>
          <p:nvPr/>
        </p:nvSpPr>
        <p:spPr>
          <a:xfrm>
            <a:off x="7467600" y="4416552"/>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41" name="Text 39"/>
          <p:cNvSpPr/>
          <p:nvPr/>
        </p:nvSpPr>
        <p:spPr>
          <a:xfrm>
            <a:off x="7467600" y="4453128"/>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6</a:t>
            </a:r>
            <a:endParaRPr lang="en-US" sz="1500" dirty="0"/>
          </a:p>
        </p:txBody>
      </p:sp>
      <p:sp>
        <p:nvSpPr>
          <p:cNvPr id="42" name="Text 40"/>
          <p:cNvSpPr/>
          <p:nvPr/>
        </p:nvSpPr>
        <p:spPr>
          <a:xfrm>
            <a:off x="7513320" y="4818888"/>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Run callback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3</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NPM — Node Package Manager</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Install, manage, and share JavaScript libraries in one command</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NPM?</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3 › NPM</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024128"/>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024128"/>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NPM (Node Package Manager)</a:t>
            </a:r>
            <a:endParaRPr lang="en-US" sz="1300" dirty="0"/>
          </a:p>
        </p:txBody>
      </p:sp>
      <p:sp>
        <p:nvSpPr>
          <p:cNvPr id="11" name="Text 9"/>
          <p:cNvSpPr/>
          <p:nvPr/>
        </p:nvSpPr>
        <p:spPr>
          <a:xfrm>
            <a:off x="393192" y="1444752"/>
            <a:ext cx="8458200" cy="45720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NPM is a command-line tool that comes bundled with Node.js. It serves as both (1) a tool to install, update, and manage external code libraries called packages, and (2) the world's largest online registry of open-source JavaScript packages (npmjs.com) with over 2 million packages.</a:t>
            </a:r>
            <a:endParaRPr lang="en-US" sz="1250" dirty="0"/>
          </a:p>
        </p:txBody>
      </p:sp>
      <p:sp>
        <p:nvSpPr>
          <p:cNvPr id="12" name="Shape 10"/>
          <p:cNvSpPr/>
          <p:nvPr/>
        </p:nvSpPr>
        <p:spPr>
          <a:xfrm>
            <a:off x="228600" y="2121408"/>
            <a:ext cx="8686800" cy="914400"/>
          </a:xfrm>
          <a:prstGeom prst="rect">
            <a:avLst/>
          </a:prstGeom>
          <a:solidFill>
            <a:srgbClr val="EAFAF1"/>
          </a:solidFill>
          <a:ln/>
          <a:effectLst>
            <a:outerShdw blurRad="88900" dist="38100" dir="8100000" algn="bl" rotWithShape="0">
              <a:srgbClr val="000000">
                <a:alpha val="13000"/>
              </a:srgbClr>
            </a:outerShdw>
          </a:effectLst>
        </p:spPr>
      </p:sp>
      <p:sp>
        <p:nvSpPr>
          <p:cNvPr id="13" name="Shape 11"/>
          <p:cNvSpPr/>
          <p:nvPr/>
        </p:nvSpPr>
        <p:spPr>
          <a:xfrm>
            <a:off x="228600" y="2121408"/>
            <a:ext cx="91440" cy="914400"/>
          </a:xfrm>
          <a:prstGeom prst="rect">
            <a:avLst/>
          </a:prstGeom>
          <a:solidFill>
            <a:srgbClr val="06D6A0"/>
          </a:solidFill>
          <a:ln/>
        </p:spPr>
      </p:sp>
      <p:sp>
        <p:nvSpPr>
          <p:cNvPr id="14" name="Text 12"/>
          <p:cNvSpPr/>
          <p:nvPr/>
        </p:nvSpPr>
        <p:spPr>
          <a:xfrm>
            <a:off x="393192" y="2185416"/>
            <a:ext cx="8458200" cy="329184"/>
          </a:xfrm>
          <a:prstGeom prst="rect">
            <a:avLst/>
          </a:prstGeom>
          <a:noFill/>
          <a:ln/>
        </p:spPr>
        <p:txBody>
          <a:bodyPr wrap="square" lIns="0" tIns="0" rIns="0" bIns="0" rtlCol="0" anchor="ctr"/>
          <a:lstStyle/>
          <a:p>
            <a:pPr marL="0" indent="0">
              <a:buNone/>
            </a:pPr>
            <a:r>
              <a:rPr lang="en-US" sz="1300" b="1" dirty="0">
                <a:solidFill>
                  <a:srgbClr val="1A6344"/>
                </a:solidFill>
                <a:latin typeface="Calibri" pitchFamily="34" charset="0"/>
                <a:ea typeface="Calibri" pitchFamily="34" charset="-122"/>
                <a:cs typeface="Calibri" pitchFamily="34" charset="-120"/>
              </a:rPr>
              <a:t>🌍  Analogy — App Store for Code:</a:t>
            </a:r>
            <a:endParaRPr lang="en-US" sz="1300" dirty="0"/>
          </a:p>
        </p:txBody>
      </p:sp>
      <p:sp>
        <p:nvSpPr>
          <p:cNvPr id="15" name="Text 13"/>
          <p:cNvSpPr/>
          <p:nvPr/>
        </p:nvSpPr>
        <p:spPr>
          <a:xfrm>
            <a:off x="393192" y="2542032"/>
            <a:ext cx="8458200" cy="411480"/>
          </a:xfrm>
          <a:prstGeom prst="rect">
            <a:avLst/>
          </a:prstGeom>
          <a:noFill/>
          <a:ln/>
        </p:spPr>
        <p:txBody>
          <a:bodyPr wrap="square" rtlCol="0" anchor="ctr"/>
          <a:lstStyle/>
          <a:p>
            <a:pPr marL="0" indent="0">
              <a:buNone/>
            </a:pPr>
            <a:r>
              <a:rPr lang="en-US" sz="1200" dirty="0">
                <a:solidFill>
                  <a:srgbClr val="1A4A33"/>
                </a:solidFill>
                <a:latin typeface="Calibri" pitchFamily="34" charset="0"/>
                <a:ea typeface="Calibri" pitchFamily="34" charset="-122"/>
                <a:cs typeface="Calibri" pitchFamily="34" charset="-120"/>
              </a:rPr>
              <a:t>Instead of building every feature from scratch, a developer can search for an existing package that already does the job and install it in one command. Need to send emails? There is a package. Need to hash passwords? There is a package. Need to connect to MongoDB? There is a package.</a:t>
            </a:r>
            <a:endParaRPr lang="en-US" sz="1200" dirty="0"/>
          </a:p>
        </p:txBody>
      </p:sp>
      <p:sp>
        <p:nvSpPr>
          <p:cNvPr id="16" name="Text 14"/>
          <p:cNvSpPr/>
          <p:nvPr/>
        </p:nvSpPr>
        <p:spPr>
          <a:xfrm>
            <a:off x="274320" y="3154680"/>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Most Common NPM Commands:</a:t>
            </a:r>
            <a:endParaRPr lang="en-US" sz="1300" dirty="0"/>
          </a:p>
        </p:txBody>
      </p:sp>
      <p:sp>
        <p:nvSpPr>
          <p:cNvPr id="17" name="Shape 15"/>
          <p:cNvSpPr/>
          <p:nvPr/>
        </p:nvSpPr>
        <p:spPr>
          <a:xfrm>
            <a:off x="228600" y="3566160"/>
            <a:ext cx="8686800" cy="246888"/>
          </a:xfrm>
          <a:prstGeom prst="rect">
            <a:avLst/>
          </a:prstGeom>
          <a:solidFill>
            <a:srgbClr val="EBF4FD"/>
          </a:solidFill>
          <a:ln/>
        </p:spPr>
      </p:sp>
      <p:sp>
        <p:nvSpPr>
          <p:cNvPr id="18" name="Text 16"/>
          <p:cNvSpPr/>
          <p:nvPr/>
        </p:nvSpPr>
        <p:spPr>
          <a:xfrm>
            <a:off x="320040" y="3575304"/>
            <a:ext cx="3291840" cy="228600"/>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npm init -y</a:t>
            </a:r>
            <a:endParaRPr lang="en-US" sz="1200" dirty="0"/>
          </a:p>
        </p:txBody>
      </p:sp>
      <p:sp>
        <p:nvSpPr>
          <p:cNvPr id="19" name="Text 17"/>
          <p:cNvSpPr/>
          <p:nvPr/>
        </p:nvSpPr>
        <p:spPr>
          <a:xfrm>
            <a:off x="3657600" y="3575304"/>
            <a:ext cx="5120640" cy="228600"/>
          </a:xfrm>
          <a:prstGeom prst="rect">
            <a:avLst/>
          </a:prstGeom>
          <a:noFill/>
          <a:ln/>
        </p:spPr>
        <p:txBody>
          <a:bodyPr wrap="square" lIns="0" tIns="0" rIns="0" bIns="0" rtlCol="0" anchor="ctr"/>
          <a:lstStyle/>
          <a:p>
            <a:pPr marL="0" indent="0">
              <a:buNone/>
            </a:pPr>
            <a:r>
              <a:rPr lang="en-US" sz="1200" dirty="0">
                <a:solidFill>
                  <a:srgbClr val="1C1C2E"/>
                </a:solidFill>
                <a:latin typeface="Calibri" pitchFamily="34" charset="0"/>
                <a:ea typeface="Calibri" pitchFamily="34" charset="-122"/>
                <a:cs typeface="Calibri" pitchFamily="34" charset="-120"/>
              </a:rPr>
              <a:t>Create a new package.json with default settings</a:t>
            </a:r>
            <a:endParaRPr lang="en-US" sz="1200" dirty="0"/>
          </a:p>
        </p:txBody>
      </p:sp>
      <p:sp>
        <p:nvSpPr>
          <p:cNvPr id="20" name="Shape 18"/>
          <p:cNvSpPr/>
          <p:nvPr/>
        </p:nvSpPr>
        <p:spPr>
          <a:xfrm>
            <a:off x="228600" y="3840480"/>
            <a:ext cx="8686800" cy="246888"/>
          </a:xfrm>
          <a:prstGeom prst="rect">
            <a:avLst/>
          </a:prstGeom>
          <a:solidFill>
            <a:srgbClr val="FFFFFF"/>
          </a:solidFill>
          <a:ln/>
        </p:spPr>
      </p:sp>
      <p:sp>
        <p:nvSpPr>
          <p:cNvPr id="21" name="Text 19"/>
          <p:cNvSpPr/>
          <p:nvPr/>
        </p:nvSpPr>
        <p:spPr>
          <a:xfrm>
            <a:off x="320040" y="3849624"/>
            <a:ext cx="3291840" cy="228600"/>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npm install express</a:t>
            </a:r>
            <a:endParaRPr lang="en-US" sz="1200" dirty="0"/>
          </a:p>
        </p:txBody>
      </p:sp>
      <p:sp>
        <p:nvSpPr>
          <p:cNvPr id="22" name="Text 20"/>
          <p:cNvSpPr/>
          <p:nvPr/>
        </p:nvSpPr>
        <p:spPr>
          <a:xfrm>
            <a:off x="3657600" y="3849624"/>
            <a:ext cx="5120640" cy="228600"/>
          </a:xfrm>
          <a:prstGeom prst="rect">
            <a:avLst/>
          </a:prstGeom>
          <a:noFill/>
          <a:ln/>
        </p:spPr>
        <p:txBody>
          <a:bodyPr wrap="square" lIns="0" tIns="0" rIns="0" bIns="0" rtlCol="0" anchor="ctr"/>
          <a:lstStyle/>
          <a:p>
            <a:pPr marL="0" indent="0">
              <a:buNone/>
            </a:pPr>
            <a:r>
              <a:rPr lang="en-US" sz="1200" dirty="0">
                <a:solidFill>
                  <a:srgbClr val="1C1C2E"/>
                </a:solidFill>
                <a:latin typeface="Calibri" pitchFamily="34" charset="0"/>
                <a:ea typeface="Calibri" pitchFamily="34" charset="-122"/>
                <a:cs typeface="Calibri" pitchFamily="34" charset="-120"/>
              </a:rPr>
              <a:t>Download &amp; install the 'express' package</a:t>
            </a:r>
            <a:endParaRPr lang="en-US" sz="1200" dirty="0"/>
          </a:p>
        </p:txBody>
      </p:sp>
      <p:sp>
        <p:nvSpPr>
          <p:cNvPr id="23" name="Shape 21"/>
          <p:cNvSpPr/>
          <p:nvPr/>
        </p:nvSpPr>
        <p:spPr>
          <a:xfrm>
            <a:off x="228600" y="4114800"/>
            <a:ext cx="8686800" cy="246888"/>
          </a:xfrm>
          <a:prstGeom prst="rect">
            <a:avLst/>
          </a:prstGeom>
          <a:solidFill>
            <a:srgbClr val="EBF4FD"/>
          </a:solidFill>
          <a:ln/>
        </p:spPr>
      </p:sp>
      <p:sp>
        <p:nvSpPr>
          <p:cNvPr id="24" name="Text 22"/>
          <p:cNvSpPr/>
          <p:nvPr/>
        </p:nvSpPr>
        <p:spPr>
          <a:xfrm>
            <a:off x="320040" y="4123944"/>
            <a:ext cx="3291840" cy="228600"/>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npm install nodemon --save-dev</a:t>
            </a:r>
            <a:endParaRPr lang="en-US" sz="1200" dirty="0"/>
          </a:p>
        </p:txBody>
      </p:sp>
      <p:sp>
        <p:nvSpPr>
          <p:cNvPr id="25" name="Text 23"/>
          <p:cNvSpPr/>
          <p:nvPr/>
        </p:nvSpPr>
        <p:spPr>
          <a:xfrm>
            <a:off x="3657600" y="4123944"/>
            <a:ext cx="5120640" cy="228600"/>
          </a:xfrm>
          <a:prstGeom prst="rect">
            <a:avLst/>
          </a:prstGeom>
          <a:noFill/>
          <a:ln/>
        </p:spPr>
        <p:txBody>
          <a:bodyPr wrap="square" lIns="0" tIns="0" rIns="0" bIns="0" rtlCol="0" anchor="ctr"/>
          <a:lstStyle/>
          <a:p>
            <a:pPr marL="0" indent="0">
              <a:buNone/>
            </a:pPr>
            <a:r>
              <a:rPr lang="en-US" sz="1200" dirty="0">
                <a:solidFill>
                  <a:srgbClr val="1C1C2E"/>
                </a:solidFill>
                <a:latin typeface="Calibri" pitchFamily="34" charset="0"/>
                <a:ea typeface="Calibri" pitchFamily="34" charset="-122"/>
                <a:cs typeface="Calibri" pitchFamily="34" charset="-120"/>
              </a:rPr>
              <a:t>Install as development-only dependency</a:t>
            </a:r>
            <a:endParaRPr lang="en-US" sz="1200" dirty="0"/>
          </a:p>
        </p:txBody>
      </p:sp>
      <p:sp>
        <p:nvSpPr>
          <p:cNvPr id="26" name="Shape 24"/>
          <p:cNvSpPr/>
          <p:nvPr/>
        </p:nvSpPr>
        <p:spPr>
          <a:xfrm>
            <a:off x="228600" y="4389120"/>
            <a:ext cx="8686800" cy="246888"/>
          </a:xfrm>
          <a:prstGeom prst="rect">
            <a:avLst/>
          </a:prstGeom>
          <a:solidFill>
            <a:srgbClr val="FFFFFF"/>
          </a:solidFill>
          <a:ln/>
        </p:spPr>
      </p:sp>
      <p:sp>
        <p:nvSpPr>
          <p:cNvPr id="27" name="Text 25"/>
          <p:cNvSpPr/>
          <p:nvPr/>
        </p:nvSpPr>
        <p:spPr>
          <a:xfrm>
            <a:off x="320040" y="4398264"/>
            <a:ext cx="3291840" cy="228600"/>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npm install</a:t>
            </a:r>
            <a:endParaRPr lang="en-US" sz="1200" dirty="0"/>
          </a:p>
        </p:txBody>
      </p:sp>
      <p:sp>
        <p:nvSpPr>
          <p:cNvPr id="28" name="Text 26"/>
          <p:cNvSpPr/>
          <p:nvPr/>
        </p:nvSpPr>
        <p:spPr>
          <a:xfrm>
            <a:off x="3657600" y="4398264"/>
            <a:ext cx="5120640" cy="228600"/>
          </a:xfrm>
          <a:prstGeom prst="rect">
            <a:avLst/>
          </a:prstGeom>
          <a:noFill/>
          <a:ln/>
        </p:spPr>
        <p:txBody>
          <a:bodyPr wrap="square" lIns="0" tIns="0" rIns="0" bIns="0" rtlCol="0" anchor="ctr"/>
          <a:lstStyle/>
          <a:p>
            <a:pPr marL="0" indent="0">
              <a:buNone/>
            </a:pPr>
            <a:r>
              <a:rPr lang="en-US" sz="1200" dirty="0">
                <a:solidFill>
                  <a:srgbClr val="1C1C2E"/>
                </a:solidFill>
                <a:latin typeface="Calibri" pitchFamily="34" charset="0"/>
                <a:ea typeface="Calibri" pitchFamily="34" charset="-122"/>
                <a:cs typeface="Calibri" pitchFamily="34" charset="-120"/>
              </a:rPr>
              <a:t>Install ALL packages listed in package.json</a:t>
            </a:r>
            <a:endParaRPr lang="en-US" sz="1200" dirty="0"/>
          </a:p>
        </p:txBody>
      </p:sp>
      <p:sp>
        <p:nvSpPr>
          <p:cNvPr id="29" name="Shape 27"/>
          <p:cNvSpPr/>
          <p:nvPr/>
        </p:nvSpPr>
        <p:spPr>
          <a:xfrm>
            <a:off x="228600" y="4663440"/>
            <a:ext cx="8686800" cy="246888"/>
          </a:xfrm>
          <a:prstGeom prst="rect">
            <a:avLst/>
          </a:prstGeom>
          <a:solidFill>
            <a:srgbClr val="EBF4FD"/>
          </a:solidFill>
          <a:ln/>
        </p:spPr>
      </p:sp>
      <p:sp>
        <p:nvSpPr>
          <p:cNvPr id="30" name="Text 28"/>
          <p:cNvSpPr/>
          <p:nvPr/>
        </p:nvSpPr>
        <p:spPr>
          <a:xfrm>
            <a:off x="320040" y="4672584"/>
            <a:ext cx="3291840" cy="228600"/>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npm uninstall express</a:t>
            </a:r>
            <a:endParaRPr lang="en-US" sz="1200" dirty="0"/>
          </a:p>
        </p:txBody>
      </p:sp>
      <p:sp>
        <p:nvSpPr>
          <p:cNvPr id="31" name="Text 29"/>
          <p:cNvSpPr/>
          <p:nvPr/>
        </p:nvSpPr>
        <p:spPr>
          <a:xfrm>
            <a:off x="3657600" y="4672584"/>
            <a:ext cx="5120640" cy="228600"/>
          </a:xfrm>
          <a:prstGeom prst="rect">
            <a:avLst/>
          </a:prstGeom>
          <a:noFill/>
          <a:ln/>
        </p:spPr>
        <p:txBody>
          <a:bodyPr wrap="square" lIns="0" tIns="0" rIns="0" bIns="0" rtlCol="0" anchor="ctr"/>
          <a:lstStyle/>
          <a:p>
            <a:pPr marL="0" indent="0">
              <a:buNone/>
            </a:pPr>
            <a:r>
              <a:rPr lang="en-US" sz="1200" dirty="0">
                <a:solidFill>
                  <a:srgbClr val="1C1C2E"/>
                </a:solidFill>
                <a:latin typeface="Calibri" pitchFamily="34" charset="0"/>
                <a:ea typeface="Calibri" pitchFamily="34" charset="-122"/>
                <a:cs typeface="Calibri" pitchFamily="34" charset="-120"/>
              </a:rPr>
              <a:t>Remove / uninstall a package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package.json File — Project Identity Card</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3 › NPM</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841248"/>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841248"/>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package.json</a:t>
            </a:r>
            <a:endParaRPr lang="en-US" sz="1300" dirty="0"/>
          </a:p>
        </p:txBody>
      </p:sp>
      <p:sp>
        <p:nvSpPr>
          <p:cNvPr id="11" name="Text 9"/>
          <p:cNvSpPr/>
          <p:nvPr/>
        </p:nvSpPr>
        <p:spPr>
          <a:xfrm>
            <a:off x="393192" y="1444752"/>
            <a:ext cx="8458200" cy="27432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JSON configuration file at the root of every Node.js project. It stores project name, version, description, and most importantly — the complete list of all package dependencies. Running 'npm install' reads this file and installs everything listed automatically.</a:t>
            </a:r>
            <a:endParaRPr lang="en-US" sz="1250" dirty="0"/>
          </a:p>
        </p:txBody>
      </p:sp>
      <p:sp>
        <p:nvSpPr>
          <p:cNvPr id="12" name="Shape 10"/>
          <p:cNvSpPr/>
          <p:nvPr/>
        </p:nvSpPr>
        <p:spPr>
          <a:xfrm>
            <a:off x="228600" y="1920239"/>
            <a:ext cx="4206240" cy="3546425"/>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1920240"/>
            <a:ext cx="4206240" cy="256032"/>
          </a:xfrm>
          <a:prstGeom prst="rect">
            <a:avLst/>
          </a:prstGeom>
          <a:solidFill>
            <a:srgbClr val="152232"/>
          </a:solidFill>
          <a:ln/>
        </p:spPr>
      </p:sp>
      <p:sp>
        <p:nvSpPr>
          <p:cNvPr id="14" name="Text 12"/>
          <p:cNvSpPr/>
          <p:nvPr/>
        </p:nvSpPr>
        <p:spPr>
          <a:xfrm>
            <a:off x="228600" y="193852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212848"/>
            <a:ext cx="3977640" cy="251460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"name": "my-web-app",</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"version": "1.0.0",</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"description": "MCA Project",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"main": "app.js",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"scripts":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"start": "node app.js",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"dev": "nodemon app.js"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"dependencies":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"express": "^4.18.2",</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"ejs": "^3.1.9"</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"devDependencies":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"nodemon": "^3.0.1"</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4617720" y="1920240"/>
            <a:ext cx="4297680" cy="365760"/>
          </a:xfrm>
          <a:prstGeom prst="rect">
            <a:avLst/>
          </a:prstGeom>
          <a:solidFill>
            <a:srgbClr val="EBF4FD"/>
          </a:solidFill>
          <a:ln/>
        </p:spPr>
      </p:sp>
      <p:sp>
        <p:nvSpPr>
          <p:cNvPr id="17" name="Text 15"/>
          <p:cNvSpPr/>
          <p:nvPr/>
        </p:nvSpPr>
        <p:spPr>
          <a:xfrm>
            <a:off x="4700016" y="193852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name</a:t>
            </a:r>
            <a:endParaRPr lang="en-US" sz="1150" dirty="0"/>
          </a:p>
        </p:txBody>
      </p:sp>
      <p:sp>
        <p:nvSpPr>
          <p:cNvPr id="18" name="Text 16"/>
          <p:cNvSpPr/>
          <p:nvPr/>
        </p:nvSpPr>
        <p:spPr>
          <a:xfrm>
            <a:off x="6400800" y="193852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Project name (lowercase, no spaces)</a:t>
            </a:r>
            <a:endParaRPr lang="en-US" sz="1150" dirty="0"/>
          </a:p>
        </p:txBody>
      </p:sp>
      <p:sp>
        <p:nvSpPr>
          <p:cNvPr id="19" name="Shape 17"/>
          <p:cNvSpPr/>
          <p:nvPr/>
        </p:nvSpPr>
        <p:spPr>
          <a:xfrm>
            <a:off x="4617720" y="2331720"/>
            <a:ext cx="4297680" cy="365760"/>
          </a:xfrm>
          <a:prstGeom prst="rect">
            <a:avLst/>
          </a:prstGeom>
          <a:solidFill>
            <a:srgbClr val="FFFFFF"/>
          </a:solidFill>
          <a:ln/>
        </p:spPr>
      </p:sp>
      <p:sp>
        <p:nvSpPr>
          <p:cNvPr id="20" name="Text 18"/>
          <p:cNvSpPr/>
          <p:nvPr/>
        </p:nvSpPr>
        <p:spPr>
          <a:xfrm>
            <a:off x="4700016" y="235000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version</a:t>
            </a:r>
            <a:endParaRPr lang="en-US" sz="1150" dirty="0"/>
          </a:p>
        </p:txBody>
      </p:sp>
      <p:sp>
        <p:nvSpPr>
          <p:cNvPr id="21" name="Text 19"/>
          <p:cNvSpPr/>
          <p:nvPr/>
        </p:nvSpPr>
        <p:spPr>
          <a:xfrm>
            <a:off x="6400800" y="235000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Current version: major.minor.patch</a:t>
            </a:r>
            <a:endParaRPr lang="en-US" sz="1150" dirty="0"/>
          </a:p>
        </p:txBody>
      </p:sp>
      <p:sp>
        <p:nvSpPr>
          <p:cNvPr id="22" name="Shape 20"/>
          <p:cNvSpPr/>
          <p:nvPr/>
        </p:nvSpPr>
        <p:spPr>
          <a:xfrm>
            <a:off x="4617720" y="2743200"/>
            <a:ext cx="4297680" cy="365760"/>
          </a:xfrm>
          <a:prstGeom prst="rect">
            <a:avLst/>
          </a:prstGeom>
          <a:solidFill>
            <a:srgbClr val="EBF4FD"/>
          </a:solidFill>
          <a:ln/>
        </p:spPr>
      </p:sp>
      <p:sp>
        <p:nvSpPr>
          <p:cNvPr id="23" name="Text 21"/>
          <p:cNvSpPr/>
          <p:nvPr/>
        </p:nvSpPr>
        <p:spPr>
          <a:xfrm>
            <a:off x="4700016" y="276148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main</a:t>
            </a:r>
            <a:endParaRPr lang="en-US" sz="1150" dirty="0"/>
          </a:p>
        </p:txBody>
      </p:sp>
      <p:sp>
        <p:nvSpPr>
          <p:cNvPr id="24" name="Text 22"/>
          <p:cNvSpPr/>
          <p:nvPr/>
        </p:nvSpPr>
        <p:spPr>
          <a:xfrm>
            <a:off x="6400800" y="276148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Entry file Node.js runs to start app</a:t>
            </a:r>
            <a:endParaRPr lang="en-US" sz="1150" dirty="0"/>
          </a:p>
        </p:txBody>
      </p:sp>
      <p:sp>
        <p:nvSpPr>
          <p:cNvPr id="25" name="Shape 23"/>
          <p:cNvSpPr/>
          <p:nvPr/>
        </p:nvSpPr>
        <p:spPr>
          <a:xfrm>
            <a:off x="4617720" y="3154680"/>
            <a:ext cx="4297680" cy="365760"/>
          </a:xfrm>
          <a:prstGeom prst="rect">
            <a:avLst/>
          </a:prstGeom>
          <a:solidFill>
            <a:srgbClr val="FFFFFF"/>
          </a:solidFill>
          <a:ln/>
        </p:spPr>
      </p:sp>
      <p:sp>
        <p:nvSpPr>
          <p:cNvPr id="26" name="Text 24"/>
          <p:cNvSpPr/>
          <p:nvPr/>
        </p:nvSpPr>
        <p:spPr>
          <a:xfrm>
            <a:off x="4700016" y="317296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scripts.start</a:t>
            </a:r>
            <a:endParaRPr lang="en-US" sz="1150" dirty="0"/>
          </a:p>
        </p:txBody>
      </p:sp>
      <p:sp>
        <p:nvSpPr>
          <p:cNvPr id="27" name="Text 25"/>
          <p:cNvSpPr/>
          <p:nvPr/>
        </p:nvSpPr>
        <p:spPr>
          <a:xfrm>
            <a:off x="6400800" y="317296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Run with: npm start</a:t>
            </a:r>
            <a:endParaRPr lang="en-US" sz="1150" dirty="0"/>
          </a:p>
        </p:txBody>
      </p:sp>
      <p:sp>
        <p:nvSpPr>
          <p:cNvPr id="28" name="Shape 26"/>
          <p:cNvSpPr/>
          <p:nvPr/>
        </p:nvSpPr>
        <p:spPr>
          <a:xfrm>
            <a:off x="4617720" y="3566160"/>
            <a:ext cx="4297680" cy="365760"/>
          </a:xfrm>
          <a:prstGeom prst="rect">
            <a:avLst/>
          </a:prstGeom>
          <a:solidFill>
            <a:srgbClr val="EBF4FD"/>
          </a:solidFill>
          <a:ln/>
        </p:spPr>
      </p:sp>
      <p:sp>
        <p:nvSpPr>
          <p:cNvPr id="29" name="Text 27"/>
          <p:cNvSpPr/>
          <p:nvPr/>
        </p:nvSpPr>
        <p:spPr>
          <a:xfrm>
            <a:off x="4700016" y="358444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scripts.dev</a:t>
            </a:r>
            <a:endParaRPr lang="en-US" sz="1150" dirty="0"/>
          </a:p>
        </p:txBody>
      </p:sp>
      <p:sp>
        <p:nvSpPr>
          <p:cNvPr id="30" name="Text 28"/>
          <p:cNvSpPr/>
          <p:nvPr/>
        </p:nvSpPr>
        <p:spPr>
          <a:xfrm>
            <a:off x="6400800" y="358444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Run with: npm run dev</a:t>
            </a:r>
            <a:endParaRPr lang="en-US" sz="1150" dirty="0"/>
          </a:p>
        </p:txBody>
      </p:sp>
      <p:sp>
        <p:nvSpPr>
          <p:cNvPr id="31" name="Shape 29"/>
          <p:cNvSpPr/>
          <p:nvPr/>
        </p:nvSpPr>
        <p:spPr>
          <a:xfrm>
            <a:off x="4617720" y="3977640"/>
            <a:ext cx="4297680" cy="365760"/>
          </a:xfrm>
          <a:prstGeom prst="rect">
            <a:avLst/>
          </a:prstGeom>
          <a:solidFill>
            <a:srgbClr val="FFFFFF"/>
          </a:solidFill>
          <a:ln/>
        </p:spPr>
      </p:sp>
      <p:sp>
        <p:nvSpPr>
          <p:cNvPr id="32" name="Text 30"/>
          <p:cNvSpPr/>
          <p:nvPr/>
        </p:nvSpPr>
        <p:spPr>
          <a:xfrm>
            <a:off x="4700016" y="399592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dependencies</a:t>
            </a:r>
            <a:endParaRPr lang="en-US" sz="1150" dirty="0"/>
          </a:p>
        </p:txBody>
      </p:sp>
      <p:sp>
        <p:nvSpPr>
          <p:cNvPr id="33" name="Text 31"/>
          <p:cNvSpPr/>
          <p:nvPr/>
        </p:nvSpPr>
        <p:spPr>
          <a:xfrm>
            <a:off x="6400800" y="399592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Packages needed to run the app</a:t>
            </a:r>
            <a:endParaRPr lang="en-US" sz="1150" dirty="0"/>
          </a:p>
        </p:txBody>
      </p:sp>
      <p:sp>
        <p:nvSpPr>
          <p:cNvPr id="34" name="Shape 32"/>
          <p:cNvSpPr/>
          <p:nvPr/>
        </p:nvSpPr>
        <p:spPr>
          <a:xfrm>
            <a:off x="4617720" y="4389120"/>
            <a:ext cx="4297680" cy="365760"/>
          </a:xfrm>
          <a:prstGeom prst="rect">
            <a:avLst/>
          </a:prstGeom>
          <a:solidFill>
            <a:srgbClr val="EBF4FD"/>
          </a:solidFill>
          <a:ln/>
        </p:spPr>
      </p:sp>
      <p:sp>
        <p:nvSpPr>
          <p:cNvPr id="35" name="Text 33"/>
          <p:cNvSpPr/>
          <p:nvPr/>
        </p:nvSpPr>
        <p:spPr>
          <a:xfrm>
            <a:off x="4700016" y="4407408"/>
            <a:ext cx="16459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devDependencies</a:t>
            </a:r>
            <a:endParaRPr lang="en-US" sz="1150" dirty="0"/>
          </a:p>
        </p:txBody>
      </p:sp>
      <p:sp>
        <p:nvSpPr>
          <p:cNvPr id="36" name="Text 34"/>
          <p:cNvSpPr/>
          <p:nvPr/>
        </p:nvSpPr>
        <p:spPr>
          <a:xfrm>
            <a:off x="6400800" y="4407408"/>
            <a:ext cx="242316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Packages needed only during development</a:t>
            </a:r>
            <a:endParaRPr lang="en-US" sz="1150" dirty="0"/>
          </a:p>
        </p:txBody>
      </p:sp>
      <p:sp>
        <p:nvSpPr>
          <p:cNvPr id="37" name="Shape 35"/>
          <p:cNvSpPr/>
          <p:nvPr/>
        </p:nvSpPr>
        <p:spPr>
          <a:xfrm>
            <a:off x="4617720" y="4809744"/>
            <a:ext cx="4297680" cy="502920"/>
          </a:xfrm>
          <a:prstGeom prst="rect">
            <a:avLst/>
          </a:prstGeom>
          <a:solidFill>
            <a:srgbClr val="FFF9E6"/>
          </a:solidFill>
          <a:ln/>
          <a:effectLst>
            <a:outerShdw blurRad="88900" dist="38100" dir="8100000" algn="bl" rotWithShape="0">
              <a:srgbClr val="000000">
                <a:alpha val="13000"/>
              </a:srgbClr>
            </a:outerShdw>
          </a:effectLst>
        </p:spPr>
      </p:sp>
      <p:sp>
        <p:nvSpPr>
          <p:cNvPr id="38" name="Shape 36"/>
          <p:cNvSpPr/>
          <p:nvPr/>
        </p:nvSpPr>
        <p:spPr>
          <a:xfrm>
            <a:off x="4617720" y="4809744"/>
            <a:ext cx="91440" cy="502920"/>
          </a:xfrm>
          <a:prstGeom prst="rect">
            <a:avLst/>
          </a:prstGeom>
          <a:solidFill>
            <a:srgbClr val="F4A261"/>
          </a:solidFill>
          <a:ln/>
        </p:spPr>
      </p:sp>
      <p:sp>
        <p:nvSpPr>
          <p:cNvPr id="39" name="Text 37"/>
          <p:cNvSpPr/>
          <p:nvPr/>
        </p:nvSpPr>
        <p:spPr>
          <a:xfrm>
            <a:off x="4782312" y="4809744"/>
            <a:ext cx="4069080" cy="502920"/>
          </a:xfrm>
          <a:prstGeom prst="rect">
            <a:avLst/>
          </a:prstGeom>
          <a:noFill/>
          <a:ln/>
        </p:spPr>
        <p:txBody>
          <a:bodyPr wrap="square" rtlCol="0" anchor="ctr"/>
          <a:lstStyle/>
          <a:p>
            <a:pPr marL="0" indent="0">
              <a:buNone/>
            </a:pPr>
            <a:r>
              <a:rPr lang="en-US" sz="1250" dirty="0">
                <a:solidFill>
                  <a:srgbClr val="5C3A00"/>
                </a:solidFill>
                <a:latin typeface="Calibri" pitchFamily="34" charset="0"/>
                <a:ea typeface="Calibri" pitchFamily="34" charset="-122"/>
                <a:cs typeface="Calibri" pitchFamily="34" charset="-120"/>
              </a:rPr>
              <a:t>💡  Note:  NEVER upload node_modules/ to GitHub! Add it to .gitignore. Others just run 'npm install' to recreate it.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4</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Serving Files with the HTTP Module</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Node.js's built-in way to create web servers</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Built-in HTTP Module</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4 › HTTP Module</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144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1440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http Module</a:t>
            </a:r>
            <a:endParaRPr lang="en-US" sz="1300" dirty="0"/>
          </a:p>
        </p:txBody>
      </p:sp>
      <p:sp>
        <p:nvSpPr>
          <p:cNvPr id="11" name="Text 9"/>
          <p:cNvSpPr/>
          <p:nvPr/>
        </p:nvSpPr>
        <p:spPr>
          <a:xfrm>
            <a:off x="393192" y="1444752"/>
            <a:ext cx="8458200" cy="3474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built-in Node.js core module (no installation needed) that provides low-level functionality to create HTTP web servers and make HTTP requests. It is the foundation on which all Node.js web frameworks including Express are built.</a:t>
            </a:r>
            <a:endParaRPr lang="en-US" sz="1250" dirty="0"/>
          </a:p>
        </p:txBody>
      </p:sp>
      <p:sp>
        <p:nvSpPr>
          <p:cNvPr id="12" name="Shape 10"/>
          <p:cNvSpPr/>
          <p:nvPr/>
        </p:nvSpPr>
        <p:spPr>
          <a:xfrm>
            <a:off x="228600" y="2011679"/>
            <a:ext cx="4846320" cy="3197247"/>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2011680"/>
            <a:ext cx="4846320" cy="256032"/>
          </a:xfrm>
          <a:prstGeom prst="rect">
            <a:avLst/>
          </a:prstGeom>
          <a:solidFill>
            <a:srgbClr val="152232"/>
          </a:solidFill>
          <a:ln/>
        </p:spPr>
      </p:sp>
      <p:sp>
        <p:nvSpPr>
          <p:cNvPr id="14" name="Text 12"/>
          <p:cNvSpPr/>
          <p:nvPr/>
        </p:nvSpPr>
        <p:spPr>
          <a:xfrm>
            <a:off x="228600" y="202996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304288"/>
            <a:ext cx="4617720" cy="278892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const http = require('http');</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server = http.createServer(</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function(request, response)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Runs on EVERY incoming request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response.writeHead(200,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'Content-Type': 'text/html'</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response.write('&lt;h1&gt;Hello!&lt;/h1&gt;');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response.end(); // Must always call end()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server.listen(3000, function()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console.log('Server running!');</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5212080" y="2011680"/>
            <a:ext cx="3703320" cy="310896"/>
          </a:xfrm>
          <a:prstGeom prst="rect">
            <a:avLst/>
          </a:prstGeom>
          <a:solidFill>
            <a:srgbClr val="EBF4FD"/>
          </a:solidFill>
          <a:ln/>
        </p:spPr>
      </p:sp>
      <p:sp>
        <p:nvSpPr>
          <p:cNvPr id="17" name="Text 15"/>
          <p:cNvSpPr/>
          <p:nvPr/>
        </p:nvSpPr>
        <p:spPr>
          <a:xfrm>
            <a:off x="5285232" y="2029968"/>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require('http')</a:t>
            </a:r>
            <a:endParaRPr lang="en-US" sz="1050" dirty="0"/>
          </a:p>
        </p:txBody>
      </p:sp>
      <p:sp>
        <p:nvSpPr>
          <p:cNvPr id="18" name="Text 16"/>
          <p:cNvSpPr/>
          <p:nvPr/>
        </p:nvSpPr>
        <p:spPr>
          <a:xfrm>
            <a:off x="6876288" y="2029968"/>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Import the built-in http module</a:t>
            </a:r>
            <a:endParaRPr lang="en-US" sz="1050" dirty="0"/>
          </a:p>
        </p:txBody>
      </p:sp>
      <p:sp>
        <p:nvSpPr>
          <p:cNvPr id="19" name="Shape 17"/>
          <p:cNvSpPr/>
          <p:nvPr/>
        </p:nvSpPr>
        <p:spPr>
          <a:xfrm>
            <a:off x="5212080" y="2359152"/>
            <a:ext cx="3703320" cy="310896"/>
          </a:xfrm>
          <a:prstGeom prst="rect">
            <a:avLst/>
          </a:prstGeom>
          <a:solidFill>
            <a:srgbClr val="FFFFFF"/>
          </a:solidFill>
          <a:ln/>
        </p:spPr>
      </p:sp>
      <p:sp>
        <p:nvSpPr>
          <p:cNvPr id="20" name="Text 18"/>
          <p:cNvSpPr/>
          <p:nvPr/>
        </p:nvSpPr>
        <p:spPr>
          <a:xfrm>
            <a:off x="5285232" y="2377440"/>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createServer(fn)</a:t>
            </a:r>
            <a:endParaRPr lang="en-US" sz="1050" dirty="0"/>
          </a:p>
        </p:txBody>
      </p:sp>
      <p:sp>
        <p:nvSpPr>
          <p:cNvPr id="21" name="Text 19"/>
          <p:cNvSpPr/>
          <p:nvPr/>
        </p:nvSpPr>
        <p:spPr>
          <a:xfrm>
            <a:off x="6876288" y="2377440"/>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Create server with request handler</a:t>
            </a:r>
            <a:endParaRPr lang="en-US" sz="1050" dirty="0"/>
          </a:p>
        </p:txBody>
      </p:sp>
      <p:sp>
        <p:nvSpPr>
          <p:cNvPr id="22" name="Shape 20"/>
          <p:cNvSpPr/>
          <p:nvPr/>
        </p:nvSpPr>
        <p:spPr>
          <a:xfrm>
            <a:off x="5212080" y="2706624"/>
            <a:ext cx="3703320" cy="310896"/>
          </a:xfrm>
          <a:prstGeom prst="rect">
            <a:avLst/>
          </a:prstGeom>
          <a:solidFill>
            <a:srgbClr val="EBF4FD"/>
          </a:solidFill>
          <a:ln/>
        </p:spPr>
      </p:sp>
      <p:sp>
        <p:nvSpPr>
          <p:cNvPr id="23" name="Text 21"/>
          <p:cNvSpPr/>
          <p:nvPr/>
        </p:nvSpPr>
        <p:spPr>
          <a:xfrm>
            <a:off x="5285232" y="2724912"/>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request (req)</a:t>
            </a:r>
            <a:endParaRPr lang="en-US" sz="1050" dirty="0"/>
          </a:p>
        </p:txBody>
      </p:sp>
      <p:sp>
        <p:nvSpPr>
          <p:cNvPr id="24" name="Text 22"/>
          <p:cNvSpPr/>
          <p:nvPr/>
        </p:nvSpPr>
        <p:spPr>
          <a:xfrm>
            <a:off x="6876288" y="2724912"/>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Contains all info about incoming request</a:t>
            </a:r>
            <a:endParaRPr lang="en-US" sz="1050" dirty="0"/>
          </a:p>
        </p:txBody>
      </p:sp>
      <p:sp>
        <p:nvSpPr>
          <p:cNvPr id="25" name="Shape 23"/>
          <p:cNvSpPr/>
          <p:nvPr/>
        </p:nvSpPr>
        <p:spPr>
          <a:xfrm>
            <a:off x="5212080" y="3054096"/>
            <a:ext cx="3703320" cy="310896"/>
          </a:xfrm>
          <a:prstGeom prst="rect">
            <a:avLst/>
          </a:prstGeom>
          <a:solidFill>
            <a:srgbClr val="FFFFFF"/>
          </a:solidFill>
          <a:ln/>
        </p:spPr>
      </p:sp>
      <p:sp>
        <p:nvSpPr>
          <p:cNvPr id="26" name="Text 24"/>
          <p:cNvSpPr/>
          <p:nvPr/>
        </p:nvSpPr>
        <p:spPr>
          <a:xfrm>
            <a:off x="5285232" y="3072384"/>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response (res)</a:t>
            </a:r>
            <a:endParaRPr lang="en-US" sz="1050" dirty="0"/>
          </a:p>
        </p:txBody>
      </p:sp>
      <p:sp>
        <p:nvSpPr>
          <p:cNvPr id="27" name="Text 25"/>
          <p:cNvSpPr/>
          <p:nvPr/>
        </p:nvSpPr>
        <p:spPr>
          <a:xfrm>
            <a:off x="6876288" y="3072384"/>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Used to send data back to client</a:t>
            </a:r>
            <a:endParaRPr lang="en-US" sz="1050" dirty="0"/>
          </a:p>
        </p:txBody>
      </p:sp>
      <p:sp>
        <p:nvSpPr>
          <p:cNvPr id="28" name="Shape 26"/>
          <p:cNvSpPr/>
          <p:nvPr/>
        </p:nvSpPr>
        <p:spPr>
          <a:xfrm>
            <a:off x="5212080" y="3401568"/>
            <a:ext cx="3703320" cy="310896"/>
          </a:xfrm>
          <a:prstGeom prst="rect">
            <a:avLst/>
          </a:prstGeom>
          <a:solidFill>
            <a:srgbClr val="EBF4FD"/>
          </a:solidFill>
          <a:ln/>
        </p:spPr>
      </p:sp>
      <p:sp>
        <p:nvSpPr>
          <p:cNvPr id="29" name="Text 27"/>
          <p:cNvSpPr/>
          <p:nvPr/>
        </p:nvSpPr>
        <p:spPr>
          <a:xfrm>
            <a:off x="5285232" y="3419856"/>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writeHead(200,{})</a:t>
            </a:r>
            <a:endParaRPr lang="en-US" sz="1050" dirty="0"/>
          </a:p>
        </p:txBody>
      </p:sp>
      <p:sp>
        <p:nvSpPr>
          <p:cNvPr id="30" name="Text 28"/>
          <p:cNvSpPr/>
          <p:nvPr/>
        </p:nvSpPr>
        <p:spPr>
          <a:xfrm>
            <a:off x="6876288" y="3419856"/>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Set status code &amp; response headers</a:t>
            </a:r>
            <a:endParaRPr lang="en-US" sz="1050" dirty="0"/>
          </a:p>
        </p:txBody>
      </p:sp>
      <p:sp>
        <p:nvSpPr>
          <p:cNvPr id="31" name="Shape 29"/>
          <p:cNvSpPr/>
          <p:nvPr/>
        </p:nvSpPr>
        <p:spPr>
          <a:xfrm>
            <a:off x="5212080" y="3749040"/>
            <a:ext cx="3703320" cy="310896"/>
          </a:xfrm>
          <a:prstGeom prst="rect">
            <a:avLst/>
          </a:prstGeom>
          <a:solidFill>
            <a:srgbClr val="FFFFFF"/>
          </a:solidFill>
          <a:ln/>
        </p:spPr>
      </p:sp>
      <p:sp>
        <p:nvSpPr>
          <p:cNvPr id="32" name="Text 30"/>
          <p:cNvSpPr/>
          <p:nvPr/>
        </p:nvSpPr>
        <p:spPr>
          <a:xfrm>
            <a:off x="5285232" y="3767328"/>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response.write()</a:t>
            </a:r>
            <a:endParaRPr lang="en-US" sz="1050" dirty="0"/>
          </a:p>
        </p:txBody>
      </p:sp>
      <p:sp>
        <p:nvSpPr>
          <p:cNvPr id="33" name="Text 31"/>
          <p:cNvSpPr/>
          <p:nvPr/>
        </p:nvSpPr>
        <p:spPr>
          <a:xfrm>
            <a:off x="6876288" y="3767328"/>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Add content to the response body</a:t>
            </a:r>
            <a:endParaRPr lang="en-US" sz="1050" dirty="0"/>
          </a:p>
        </p:txBody>
      </p:sp>
      <p:sp>
        <p:nvSpPr>
          <p:cNvPr id="34" name="Shape 32"/>
          <p:cNvSpPr/>
          <p:nvPr/>
        </p:nvSpPr>
        <p:spPr>
          <a:xfrm>
            <a:off x="5212080" y="4096512"/>
            <a:ext cx="3703320" cy="310896"/>
          </a:xfrm>
          <a:prstGeom prst="rect">
            <a:avLst/>
          </a:prstGeom>
          <a:solidFill>
            <a:srgbClr val="EBF4FD"/>
          </a:solidFill>
          <a:ln/>
        </p:spPr>
      </p:sp>
      <p:sp>
        <p:nvSpPr>
          <p:cNvPr id="35" name="Text 33"/>
          <p:cNvSpPr/>
          <p:nvPr/>
        </p:nvSpPr>
        <p:spPr>
          <a:xfrm>
            <a:off x="5285232" y="4114800"/>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response.end()</a:t>
            </a:r>
            <a:endParaRPr lang="en-US" sz="1050" dirty="0"/>
          </a:p>
        </p:txBody>
      </p:sp>
      <p:sp>
        <p:nvSpPr>
          <p:cNvPr id="36" name="Text 34"/>
          <p:cNvSpPr/>
          <p:nvPr/>
        </p:nvSpPr>
        <p:spPr>
          <a:xfrm>
            <a:off x="6876288" y="4114800"/>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MUST call — signals response is complete</a:t>
            </a:r>
            <a:endParaRPr lang="en-US" sz="1050" dirty="0"/>
          </a:p>
        </p:txBody>
      </p:sp>
      <p:sp>
        <p:nvSpPr>
          <p:cNvPr id="37" name="Shape 35"/>
          <p:cNvSpPr/>
          <p:nvPr/>
        </p:nvSpPr>
        <p:spPr>
          <a:xfrm>
            <a:off x="5212080" y="4443984"/>
            <a:ext cx="3703320" cy="310896"/>
          </a:xfrm>
          <a:prstGeom prst="rect">
            <a:avLst/>
          </a:prstGeom>
          <a:solidFill>
            <a:srgbClr val="FFFFFF"/>
          </a:solidFill>
          <a:ln/>
        </p:spPr>
      </p:sp>
      <p:sp>
        <p:nvSpPr>
          <p:cNvPr id="38" name="Text 36"/>
          <p:cNvSpPr/>
          <p:nvPr/>
        </p:nvSpPr>
        <p:spPr>
          <a:xfrm>
            <a:off x="5285232" y="4462272"/>
            <a:ext cx="1554480" cy="274320"/>
          </a:xfrm>
          <a:prstGeom prst="rect">
            <a:avLst/>
          </a:prstGeom>
          <a:noFill/>
          <a:ln/>
        </p:spPr>
        <p:txBody>
          <a:bodyPr wrap="square" lIns="0" tIns="0" rIns="0" bIns="0" rtlCol="0" anchor="ctr"/>
          <a:lstStyle/>
          <a:p>
            <a:pPr marL="0" indent="0">
              <a:buNone/>
            </a:pPr>
            <a:r>
              <a:rPr lang="en-US" sz="1050" b="1" dirty="0">
                <a:solidFill>
                  <a:srgbClr val="1E6FBF"/>
                </a:solidFill>
                <a:latin typeface="Courier New" pitchFamily="34" charset="0"/>
                <a:ea typeface="Courier New" pitchFamily="34" charset="-122"/>
                <a:cs typeface="Courier New" pitchFamily="34" charset="-120"/>
              </a:rPr>
              <a:t>listen(3000)</a:t>
            </a:r>
            <a:endParaRPr lang="en-US" sz="1050" dirty="0"/>
          </a:p>
        </p:txBody>
      </p:sp>
      <p:sp>
        <p:nvSpPr>
          <p:cNvPr id="39" name="Text 37"/>
          <p:cNvSpPr/>
          <p:nvPr/>
        </p:nvSpPr>
        <p:spPr>
          <a:xfrm>
            <a:off x="6876288" y="4462272"/>
            <a:ext cx="1965960" cy="274320"/>
          </a:xfrm>
          <a:prstGeom prst="rect">
            <a:avLst/>
          </a:prstGeom>
          <a:noFill/>
          <a:ln/>
        </p:spPr>
        <p:txBody>
          <a:bodyPr wrap="square" lIns="0" tIns="0" rIns="0" bIns="0" rtlCol="0" anchor="ctr"/>
          <a:lstStyle/>
          <a:p>
            <a:pPr marL="0" indent="0">
              <a:buNone/>
            </a:pPr>
            <a:r>
              <a:rPr lang="en-US" sz="1050" dirty="0">
                <a:solidFill>
                  <a:srgbClr val="1C1C2E"/>
                </a:solidFill>
                <a:latin typeface="Calibri" pitchFamily="34" charset="0"/>
                <a:ea typeface="Calibri" pitchFamily="34" charset="-122"/>
                <a:cs typeface="Calibri" pitchFamily="34" charset="-120"/>
              </a:rPr>
              <a:t>Start server; listen on port 3000</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Understanding localhost and Port Numbers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4 › HTTP Module</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4251960" cy="141732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417320"/>
          </a:xfrm>
          <a:prstGeom prst="rect">
            <a:avLst/>
          </a:prstGeom>
          <a:solidFill>
            <a:srgbClr val="1E6FBF"/>
          </a:solidFill>
          <a:ln/>
        </p:spPr>
      </p:sp>
      <p:sp>
        <p:nvSpPr>
          <p:cNvPr id="10" name="Text 8"/>
          <p:cNvSpPr/>
          <p:nvPr/>
        </p:nvSpPr>
        <p:spPr>
          <a:xfrm>
            <a:off x="39319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localhost</a:t>
            </a:r>
            <a:endParaRPr lang="en-US" sz="1300" dirty="0"/>
          </a:p>
        </p:txBody>
      </p:sp>
      <p:sp>
        <p:nvSpPr>
          <p:cNvPr id="11" name="Text 9"/>
          <p:cNvSpPr/>
          <p:nvPr/>
        </p:nvSpPr>
        <p:spPr>
          <a:xfrm>
            <a:off x="393192" y="1444752"/>
            <a:ext cx="4023360" cy="85039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special hostname that refers to YOUR OWN computer. It is always mapped to IP address 127.0.0.1. Used to test a server running locally before deploying to the internet.</a:t>
            </a:r>
            <a:endParaRPr lang="en-US" sz="1250" dirty="0"/>
          </a:p>
        </p:txBody>
      </p:sp>
      <p:sp>
        <p:nvSpPr>
          <p:cNvPr id="12" name="Shape 10"/>
          <p:cNvSpPr/>
          <p:nvPr/>
        </p:nvSpPr>
        <p:spPr>
          <a:xfrm>
            <a:off x="4663440" y="987552"/>
            <a:ext cx="4251960" cy="1417320"/>
          </a:xfrm>
          <a:prstGeom prst="rect">
            <a:avLst/>
          </a:prstGeom>
          <a:solidFill>
            <a:srgbClr val="EBF4FD"/>
          </a:solidFill>
          <a:ln/>
          <a:effectLst>
            <a:outerShdw blurRad="88900" dist="38100" dir="8100000" algn="bl" rotWithShape="0">
              <a:srgbClr val="000000">
                <a:alpha val="13000"/>
              </a:srgbClr>
            </a:outerShdw>
          </a:effectLst>
        </p:spPr>
      </p:sp>
      <p:sp>
        <p:nvSpPr>
          <p:cNvPr id="13" name="Shape 11"/>
          <p:cNvSpPr/>
          <p:nvPr/>
        </p:nvSpPr>
        <p:spPr>
          <a:xfrm>
            <a:off x="4663440" y="987552"/>
            <a:ext cx="91440" cy="1417320"/>
          </a:xfrm>
          <a:prstGeom prst="rect">
            <a:avLst/>
          </a:prstGeom>
          <a:solidFill>
            <a:srgbClr val="1E6FBF"/>
          </a:solidFill>
          <a:ln/>
        </p:spPr>
      </p:sp>
      <p:sp>
        <p:nvSpPr>
          <p:cNvPr id="14" name="Text 12"/>
          <p:cNvSpPr/>
          <p:nvPr/>
        </p:nvSpPr>
        <p:spPr>
          <a:xfrm>
            <a:off x="482803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Port Number</a:t>
            </a:r>
            <a:endParaRPr lang="en-US" sz="1300" dirty="0"/>
          </a:p>
        </p:txBody>
      </p:sp>
      <p:sp>
        <p:nvSpPr>
          <p:cNvPr id="15" name="Text 13"/>
          <p:cNvSpPr/>
          <p:nvPr/>
        </p:nvSpPr>
        <p:spPr>
          <a:xfrm>
            <a:off x="4828032" y="1444752"/>
            <a:ext cx="4023360" cy="85039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number (0–65535) identifying a specific service on a computer. Think of it as a door number in a large building — each service has its own door. Port 3000 is used for development.</a:t>
            </a:r>
            <a:endParaRPr lang="en-US" sz="1250" dirty="0"/>
          </a:p>
        </p:txBody>
      </p:sp>
      <p:sp>
        <p:nvSpPr>
          <p:cNvPr id="16" name="Text 14"/>
          <p:cNvSpPr/>
          <p:nvPr/>
        </p:nvSpPr>
        <p:spPr>
          <a:xfrm>
            <a:off x="274320" y="2542032"/>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Important Port Numbers:</a:t>
            </a:r>
            <a:endParaRPr lang="en-US" sz="1300" dirty="0"/>
          </a:p>
        </p:txBody>
      </p:sp>
      <p:sp>
        <p:nvSpPr>
          <p:cNvPr id="17" name="Shape 15"/>
          <p:cNvSpPr/>
          <p:nvPr/>
        </p:nvSpPr>
        <p:spPr>
          <a:xfrm>
            <a:off x="228600" y="2971800"/>
            <a:ext cx="8686800" cy="420624"/>
          </a:xfrm>
          <a:prstGeom prst="rect">
            <a:avLst/>
          </a:prstGeom>
          <a:solidFill>
            <a:srgbClr val="EBF4FD"/>
          </a:solidFill>
          <a:ln/>
        </p:spPr>
      </p:sp>
      <p:sp>
        <p:nvSpPr>
          <p:cNvPr id="18" name="Shape 16"/>
          <p:cNvSpPr/>
          <p:nvPr/>
        </p:nvSpPr>
        <p:spPr>
          <a:xfrm>
            <a:off x="228600" y="2971800"/>
            <a:ext cx="73152" cy="420624"/>
          </a:xfrm>
          <a:prstGeom prst="rect">
            <a:avLst/>
          </a:prstGeom>
          <a:solidFill>
            <a:srgbClr val="1E6FBF"/>
          </a:solidFill>
          <a:ln/>
        </p:spPr>
      </p:sp>
      <p:sp>
        <p:nvSpPr>
          <p:cNvPr id="19" name="Text 17"/>
          <p:cNvSpPr/>
          <p:nvPr/>
        </p:nvSpPr>
        <p:spPr>
          <a:xfrm>
            <a:off x="384048" y="2990088"/>
            <a:ext cx="1005840" cy="384048"/>
          </a:xfrm>
          <a:prstGeom prst="rect">
            <a:avLst/>
          </a:prstGeom>
          <a:noFill/>
          <a:ln/>
        </p:spPr>
        <p:txBody>
          <a:bodyPr wrap="square" lIns="0" tIns="0" rIns="0" bIns="0" rtlCol="0" anchor="ctr"/>
          <a:lstStyle/>
          <a:p>
            <a:pPr marL="0" indent="0">
              <a:buNone/>
            </a:pPr>
            <a:r>
              <a:rPr lang="en-US" sz="1300" b="1" dirty="0">
                <a:solidFill>
                  <a:srgbClr val="1E6FBF"/>
                </a:solidFill>
                <a:latin typeface="Courier New" pitchFamily="34" charset="0"/>
                <a:ea typeface="Courier New" pitchFamily="34" charset="-122"/>
                <a:cs typeface="Courier New" pitchFamily="34" charset="-120"/>
              </a:rPr>
              <a:t>Port 80</a:t>
            </a:r>
            <a:endParaRPr lang="en-US" sz="1300" dirty="0"/>
          </a:p>
        </p:txBody>
      </p:sp>
      <p:sp>
        <p:nvSpPr>
          <p:cNvPr id="20" name="Text 18"/>
          <p:cNvSpPr/>
          <p:nvPr/>
        </p:nvSpPr>
        <p:spPr>
          <a:xfrm>
            <a:off x="1463040" y="2990088"/>
            <a:ext cx="7315200" cy="384048"/>
          </a:xfrm>
          <a:prstGeom prst="rect">
            <a:avLst/>
          </a:prstGeom>
          <a:noFill/>
          <a:ln/>
        </p:spPr>
        <p:txBody>
          <a:bodyPr wrap="square" lIns="0" tIns="0" rIns="0" bIns="0" rtlCol="0" anchor="ctr"/>
          <a:lstStyle/>
          <a:p>
            <a:pPr marL="0" indent="0">
              <a:buNone/>
            </a:pPr>
            <a:r>
              <a:rPr lang="en-US" sz="1250" dirty="0">
                <a:solidFill>
                  <a:srgbClr val="1C1C2E"/>
                </a:solidFill>
                <a:latin typeface="Calibri" pitchFamily="34" charset="0"/>
                <a:ea typeface="Calibri" pitchFamily="34" charset="-122"/>
                <a:cs typeface="Calibri" pitchFamily="34" charset="-120"/>
              </a:rPr>
              <a:t>Default HTTP port — visiting http://www.example.com uses port 80 automatically</a:t>
            </a:r>
            <a:endParaRPr lang="en-US" sz="1250" dirty="0"/>
          </a:p>
        </p:txBody>
      </p:sp>
      <p:sp>
        <p:nvSpPr>
          <p:cNvPr id="21" name="Shape 19"/>
          <p:cNvSpPr/>
          <p:nvPr/>
        </p:nvSpPr>
        <p:spPr>
          <a:xfrm>
            <a:off x="228600" y="3447288"/>
            <a:ext cx="8686800" cy="420624"/>
          </a:xfrm>
          <a:prstGeom prst="rect">
            <a:avLst/>
          </a:prstGeom>
          <a:solidFill>
            <a:srgbClr val="FFFFFF"/>
          </a:solidFill>
          <a:ln/>
        </p:spPr>
      </p:sp>
      <p:sp>
        <p:nvSpPr>
          <p:cNvPr id="22" name="Shape 20"/>
          <p:cNvSpPr/>
          <p:nvPr/>
        </p:nvSpPr>
        <p:spPr>
          <a:xfrm>
            <a:off x="228600" y="3447288"/>
            <a:ext cx="73152" cy="420624"/>
          </a:xfrm>
          <a:prstGeom prst="rect">
            <a:avLst/>
          </a:prstGeom>
          <a:solidFill>
            <a:srgbClr val="06D6A0"/>
          </a:solidFill>
          <a:ln/>
        </p:spPr>
      </p:sp>
      <p:sp>
        <p:nvSpPr>
          <p:cNvPr id="23" name="Text 21"/>
          <p:cNvSpPr/>
          <p:nvPr/>
        </p:nvSpPr>
        <p:spPr>
          <a:xfrm>
            <a:off x="384048" y="3465576"/>
            <a:ext cx="1005840" cy="384048"/>
          </a:xfrm>
          <a:prstGeom prst="rect">
            <a:avLst/>
          </a:prstGeom>
          <a:noFill/>
          <a:ln/>
        </p:spPr>
        <p:txBody>
          <a:bodyPr wrap="square" lIns="0" tIns="0" rIns="0" bIns="0" rtlCol="0" anchor="ctr"/>
          <a:lstStyle/>
          <a:p>
            <a:pPr marL="0" indent="0">
              <a:buNone/>
            </a:pPr>
            <a:r>
              <a:rPr lang="en-US" sz="1300" b="1" dirty="0">
                <a:solidFill>
                  <a:srgbClr val="06D6A0"/>
                </a:solidFill>
                <a:latin typeface="Courier New" pitchFamily="34" charset="0"/>
                <a:ea typeface="Courier New" pitchFamily="34" charset="-122"/>
                <a:cs typeface="Courier New" pitchFamily="34" charset="-120"/>
              </a:rPr>
              <a:t>Port 443</a:t>
            </a:r>
            <a:endParaRPr lang="en-US" sz="1300" dirty="0"/>
          </a:p>
        </p:txBody>
      </p:sp>
      <p:sp>
        <p:nvSpPr>
          <p:cNvPr id="24" name="Text 22"/>
          <p:cNvSpPr/>
          <p:nvPr/>
        </p:nvSpPr>
        <p:spPr>
          <a:xfrm>
            <a:off x="1463040" y="3465576"/>
            <a:ext cx="7315200" cy="384048"/>
          </a:xfrm>
          <a:prstGeom prst="rect">
            <a:avLst/>
          </a:prstGeom>
          <a:noFill/>
          <a:ln/>
        </p:spPr>
        <p:txBody>
          <a:bodyPr wrap="square" lIns="0" tIns="0" rIns="0" bIns="0" rtlCol="0" anchor="ctr"/>
          <a:lstStyle/>
          <a:p>
            <a:pPr marL="0" indent="0">
              <a:buNone/>
            </a:pPr>
            <a:r>
              <a:rPr lang="en-US" sz="1250" dirty="0">
                <a:solidFill>
                  <a:srgbClr val="1C1C2E"/>
                </a:solidFill>
                <a:latin typeface="Calibri" pitchFamily="34" charset="0"/>
                <a:ea typeface="Calibri" pitchFamily="34" charset="-122"/>
                <a:cs typeface="Calibri" pitchFamily="34" charset="-120"/>
              </a:rPr>
              <a:t>Default HTTPS port — used for all encrypted/secure web traffic</a:t>
            </a:r>
            <a:endParaRPr lang="en-US" sz="1250" dirty="0"/>
          </a:p>
        </p:txBody>
      </p:sp>
      <p:sp>
        <p:nvSpPr>
          <p:cNvPr id="25" name="Shape 23"/>
          <p:cNvSpPr/>
          <p:nvPr/>
        </p:nvSpPr>
        <p:spPr>
          <a:xfrm>
            <a:off x="228600" y="3922776"/>
            <a:ext cx="8686800" cy="420624"/>
          </a:xfrm>
          <a:prstGeom prst="rect">
            <a:avLst/>
          </a:prstGeom>
          <a:solidFill>
            <a:srgbClr val="EBF4FD"/>
          </a:solidFill>
          <a:ln/>
        </p:spPr>
      </p:sp>
      <p:sp>
        <p:nvSpPr>
          <p:cNvPr id="26" name="Shape 24"/>
          <p:cNvSpPr/>
          <p:nvPr/>
        </p:nvSpPr>
        <p:spPr>
          <a:xfrm>
            <a:off x="228600" y="3922776"/>
            <a:ext cx="73152" cy="420624"/>
          </a:xfrm>
          <a:prstGeom prst="rect">
            <a:avLst/>
          </a:prstGeom>
          <a:solidFill>
            <a:srgbClr val="F4A261"/>
          </a:solidFill>
          <a:ln/>
        </p:spPr>
      </p:sp>
      <p:sp>
        <p:nvSpPr>
          <p:cNvPr id="27" name="Text 25"/>
          <p:cNvSpPr/>
          <p:nvPr/>
        </p:nvSpPr>
        <p:spPr>
          <a:xfrm>
            <a:off x="384048" y="3941064"/>
            <a:ext cx="1005840" cy="384048"/>
          </a:xfrm>
          <a:prstGeom prst="rect">
            <a:avLst/>
          </a:prstGeom>
          <a:noFill/>
          <a:ln/>
        </p:spPr>
        <p:txBody>
          <a:bodyPr wrap="square" lIns="0" tIns="0" rIns="0" bIns="0" rtlCol="0" anchor="ctr"/>
          <a:lstStyle/>
          <a:p>
            <a:pPr marL="0" indent="0">
              <a:buNone/>
            </a:pPr>
            <a:r>
              <a:rPr lang="en-US" sz="1300" b="1" dirty="0">
                <a:solidFill>
                  <a:srgbClr val="F4A261"/>
                </a:solidFill>
                <a:latin typeface="Courier New" pitchFamily="34" charset="0"/>
                <a:ea typeface="Courier New" pitchFamily="34" charset="-122"/>
                <a:cs typeface="Courier New" pitchFamily="34" charset="-120"/>
              </a:rPr>
              <a:t>Port 3000</a:t>
            </a:r>
            <a:endParaRPr lang="en-US" sz="1300" dirty="0"/>
          </a:p>
        </p:txBody>
      </p:sp>
      <p:sp>
        <p:nvSpPr>
          <p:cNvPr id="28" name="Text 26"/>
          <p:cNvSpPr/>
          <p:nvPr/>
        </p:nvSpPr>
        <p:spPr>
          <a:xfrm>
            <a:off x="1463040" y="3941064"/>
            <a:ext cx="7315200" cy="384048"/>
          </a:xfrm>
          <a:prstGeom prst="rect">
            <a:avLst/>
          </a:prstGeom>
          <a:noFill/>
          <a:ln/>
        </p:spPr>
        <p:txBody>
          <a:bodyPr wrap="square" lIns="0" tIns="0" rIns="0" bIns="0" rtlCol="0" anchor="ctr"/>
          <a:lstStyle/>
          <a:p>
            <a:pPr marL="0" indent="0">
              <a:buNone/>
            </a:pPr>
            <a:r>
              <a:rPr lang="en-US" sz="1250" dirty="0">
                <a:solidFill>
                  <a:srgbClr val="1C1C2E"/>
                </a:solidFill>
                <a:latin typeface="Calibri" pitchFamily="34" charset="0"/>
                <a:ea typeface="Calibri" pitchFamily="34" charset="-122"/>
                <a:cs typeface="Calibri" pitchFamily="34" charset="-120"/>
              </a:rPr>
              <a:t>Most commonly used during Node.js / Express development</a:t>
            </a:r>
            <a:endParaRPr lang="en-US" sz="1250" dirty="0"/>
          </a:p>
        </p:txBody>
      </p:sp>
      <p:sp>
        <p:nvSpPr>
          <p:cNvPr id="29" name="Shape 27"/>
          <p:cNvSpPr/>
          <p:nvPr/>
        </p:nvSpPr>
        <p:spPr>
          <a:xfrm>
            <a:off x="228600" y="4398264"/>
            <a:ext cx="8686800" cy="420624"/>
          </a:xfrm>
          <a:prstGeom prst="rect">
            <a:avLst/>
          </a:prstGeom>
          <a:solidFill>
            <a:srgbClr val="FFFFFF"/>
          </a:solidFill>
          <a:ln/>
        </p:spPr>
      </p:sp>
      <p:sp>
        <p:nvSpPr>
          <p:cNvPr id="30" name="Shape 28"/>
          <p:cNvSpPr/>
          <p:nvPr/>
        </p:nvSpPr>
        <p:spPr>
          <a:xfrm>
            <a:off x="228600" y="4398264"/>
            <a:ext cx="73152" cy="420624"/>
          </a:xfrm>
          <a:prstGeom prst="rect">
            <a:avLst/>
          </a:prstGeom>
          <a:solidFill>
            <a:srgbClr val="EF476F"/>
          </a:solidFill>
          <a:ln/>
        </p:spPr>
      </p:sp>
      <p:sp>
        <p:nvSpPr>
          <p:cNvPr id="31" name="Text 29"/>
          <p:cNvSpPr/>
          <p:nvPr/>
        </p:nvSpPr>
        <p:spPr>
          <a:xfrm>
            <a:off x="384048" y="4416552"/>
            <a:ext cx="1005840" cy="384048"/>
          </a:xfrm>
          <a:prstGeom prst="rect">
            <a:avLst/>
          </a:prstGeom>
          <a:noFill/>
          <a:ln/>
        </p:spPr>
        <p:txBody>
          <a:bodyPr wrap="square" lIns="0" tIns="0" rIns="0" bIns="0" rtlCol="0" anchor="ctr"/>
          <a:lstStyle/>
          <a:p>
            <a:pPr marL="0" indent="0">
              <a:buNone/>
            </a:pPr>
            <a:r>
              <a:rPr lang="en-US" sz="1300" b="1" dirty="0">
                <a:solidFill>
                  <a:srgbClr val="EF476F"/>
                </a:solidFill>
                <a:latin typeface="Courier New" pitchFamily="34" charset="0"/>
                <a:ea typeface="Courier New" pitchFamily="34" charset="-122"/>
                <a:cs typeface="Courier New" pitchFamily="34" charset="-120"/>
              </a:rPr>
              <a:t>Port 27017</a:t>
            </a:r>
            <a:endParaRPr lang="en-US" sz="1300" dirty="0"/>
          </a:p>
        </p:txBody>
      </p:sp>
      <p:sp>
        <p:nvSpPr>
          <p:cNvPr id="32" name="Text 30"/>
          <p:cNvSpPr/>
          <p:nvPr/>
        </p:nvSpPr>
        <p:spPr>
          <a:xfrm>
            <a:off x="1463040" y="4416552"/>
            <a:ext cx="7315200" cy="384048"/>
          </a:xfrm>
          <a:prstGeom prst="rect">
            <a:avLst/>
          </a:prstGeom>
          <a:noFill/>
          <a:ln/>
        </p:spPr>
        <p:txBody>
          <a:bodyPr wrap="square" lIns="0" tIns="0" rIns="0" bIns="0" rtlCol="0" anchor="ctr"/>
          <a:lstStyle/>
          <a:p>
            <a:pPr marL="0" indent="0">
              <a:buNone/>
            </a:pPr>
            <a:r>
              <a:rPr lang="en-US" sz="1250" dirty="0">
                <a:solidFill>
                  <a:srgbClr val="1C1C2E"/>
                </a:solidFill>
                <a:latin typeface="Calibri" pitchFamily="34" charset="0"/>
                <a:ea typeface="Calibri" pitchFamily="34" charset="-122"/>
                <a:cs typeface="Calibri" pitchFamily="34" charset="-120"/>
              </a:rPr>
              <a:t>Default port for MongoDB database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5</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Introduction to Express Framework</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The most popular Node.js web framework</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Express.js?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5 › Express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115568"/>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115568"/>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Express.js</a:t>
            </a:r>
            <a:endParaRPr lang="en-US" sz="1300" dirty="0"/>
          </a:p>
        </p:txBody>
      </p:sp>
      <p:sp>
        <p:nvSpPr>
          <p:cNvPr id="11" name="Text 9"/>
          <p:cNvSpPr/>
          <p:nvPr/>
        </p:nvSpPr>
        <p:spPr>
          <a:xfrm>
            <a:off x="393192" y="1444752"/>
            <a:ext cx="8458200" cy="54864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Express.js is a minimal, fast, and unopinionated web application framework for Node.js. It is built on top of Node.js's built-in http module and provides a higher-level, cleaner API for creating web servers. 'Unopinionated' means it does not force any specific structure — developers have complete freedom to organise their application.</a:t>
            </a:r>
            <a:endParaRPr lang="en-US" sz="1250" dirty="0"/>
          </a:p>
        </p:txBody>
      </p:sp>
      <p:sp>
        <p:nvSpPr>
          <p:cNvPr id="12" name="Text 10"/>
          <p:cNvSpPr/>
          <p:nvPr/>
        </p:nvSpPr>
        <p:spPr>
          <a:xfrm>
            <a:off x="274320" y="2231136"/>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Why Use Express? — HTTP Module vs Express:</a:t>
            </a:r>
            <a:endParaRPr lang="en-US" sz="1300" dirty="0"/>
          </a:p>
        </p:txBody>
      </p:sp>
      <p:sp>
        <p:nvSpPr>
          <p:cNvPr id="13" name="Shape 11"/>
          <p:cNvSpPr/>
          <p:nvPr/>
        </p:nvSpPr>
        <p:spPr>
          <a:xfrm>
            <a:off x="228600" y="2633472"/>
            <a:ext cx="4160520" cy="2322576"/>
          </a:xfrm>
          <a:prstGeom prst="rect">
            <a:avLst/>
          </a:prstGeom>
          <a:solidFill>
            <a:srgbClr val="1E2D3D"/>
          </a:solidFill>
          <a:ln/>
          <a:effectLst>
            <a:outerShdw blurRad="88900" dist="38100" dir="8100000" algn="bl" rotWithShape="0">
              <a:srgbClr val="000000">
                <a:alpha val="13000"/>
              </a:srgbClr>
            </a:outerShdw>
          </a:effectLst>
        </p:spPr>
      </p:sp>
      <p:sp>
        <p:nvSpPr>
          <p:cNvPr id="14" name="Shape 12"/>
          <p:cNvSpPr/>
          <p:nvPr/>
        </p:nvSpPr>
        <p:spPr>
          <a:xfrm>
            <a:off x="228600" y="2633472"/>
            <a:ext cx="4160520" cy="256032"/>
          </a:xfrm>
          <a:prstGeom prst="rect">
            <a:avLst/>
          </a:prstGeom>
          <a:solidFill>
            <a:srgbClr val="152232"/>
          </a:solidFill>
          <a:ln/>
        </p:spPr>
      </p:sp>
      <p:sp>
        <p:nvSpPr>
          <p:cNvPr id="15" name="Text 13"/>
          <p:cNvSpPr/>
          <p:nvPr/>
        </p:nvSpPr>
        <p:spPr>
          <a:xfrm>
            <a:off x="228600" y="265176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6" name="Text 14"/>
          <p:cNvSpPr/>
          <p:nvPr/>
        </p:nvSpPr>
        <p:spPr>
          <a:xfrm>
            <a:off x="365760" y="2926080"/>
            <a:ext cx="3931920" cy="187452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RAW HTTP — messy routing</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if (req.url === '/')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res.end('&lt;h1&gt;Home&lt;/h1&gt;');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else if (req.url==='/about')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res.end('&lt;h1&gt;About&lt;/h1&gt;');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else if (req.url==='/contact'){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res.end('&lt;h1&gt;Contact&lt;/h1&gt;');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else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res.end('404 Not Found');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Gets messy very fast!</a:t>
            </a:r>
            <a:endParaRPr lang="en-US" sz="1150" dirty="0"/>
          </a:p>
        </p:txBody>
      </p:sp>
      <p:sp>
        <p:nvSpPr>
          <p:cNvPr id="17" name="Shape 15"/>
          <p:cNvSpPr/>
          <p:nvPr/>
        </p:nvSpPr>
        <p:spPr>
          <a:xfrm>
            <a:off x="4572000" y="2633472"/>
            <a:ext cx="4343400" cy="2322576"/>
          </a:xfrm>
          <a:prstGeom prst="rect">
            <a:avLst/>
          </a:prstGeom>
          <a:solidFill>
            <a:srgbClr val="1E2D3D"/>
          </a:solidFill>
          <a:ln/>
          <a:effectLst>
            <a:outerShdw blurRad="88900" dist="38100" dir="8100000" algn="bl" rotWithShape="0">
              <a:srgbClr val="000000">
                <a:alpha val="13000"/>
              </a:srgbClr>
            </a:outerShdw>
          </a:effectLst>
        </p:spPr>
      </p:sp>
      <p:sp>
        <p:nvSpPr>
          <p:cNvPr id="18" name="Shape 16"/>
          <p:cNvSpPr/>
          <p:nvPr/>
        </p:nvSpPr>
        <p:spPr>
          <a:xfrm>
            <a:off x="4572000" y="2633472"/>
            <a:ext cx="4343400" cy="256032"/>
          </a:xfrm>
          <a:prstGeom prst="rect">
            <a:avLst/>
          </a:prstGeom>
          <a:solidFill>
            <a:srgbClr val="152232"/>
          </a:solidFill>
          <a:ln/>
        </p:spPr>
      </p:sp>
      <p:sp>
        <p:nvSpPr>
          <p:cNvPr id="19" name="Text 17"/>
          <p:cNvSpPr/>
          <p:nvPr/>
        </p:nvSpPr>
        <p:spPr>
          <a:xfrm>
            <a:off x="4572000" y="265176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20" name="Text 18"/>
          <p:cNvSpPr/>
          <p:nvPr/>
        </p:nvSpPr>
        <p:spPr>
          <a:xfrm>
            <a:off x="4709160" y="2926080"/>
            <a:ext cx="4114800" cy="187452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EXPRESS — clean routing</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app = express();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 (req,res)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res.send('&lt;h1&gt;Home&lt;/h1&gt;');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app.get('/about', (req,res)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res.send('&lt;h1&gt;About&lt;/h1&gt;');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app.listen(3000); // Done!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Routing in Express — Handling Different URLs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5 › Express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804672"/>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804672"/>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Routing</a:t>
            </a:r>
            <a:endParaRPr lang="en-US" sz="1300" dirty="0"/>
          </a:p>
        </p:txBody>
      </p:sp>
      <p:sp>
        <p:nvSpPr>
          <p:cNvPr id="11" name="Text 9"/>
          <p:cNvSpPr/>
          <p:nvPr/>
        </p:nvSpPr>
        <p:spPr>
          <a:xfrm>
            <a:off x="393192" y="1444752"/>
            <a:ext cx="8458200" cy="237744"/>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Routing is the mechanism by which an Express application determines how to respond to a specific client request based on the URL path and HTTP method. Each route = a path + a method + a handler function.</a:t>
            </a:r>
            <a:endParaRPr lang="en-US" sz="1250" dirty="0"/>
          </a:p>
        </p:txBody>
      </p:sp>
      <p:sp>
        <p:nvSpPr>
          <p:cNvPr id="12" name="Shape 10"/>
          <p:cNvSpPr/>
          <p:nvPr/>
        </p:nvSpPr>
        <p:spPr>
          <a:xfrm>
            <a:off x="228600" y="1901952"/>
            <a:ext cx="4846320" cy="3918676"/>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1901952"/>
            <a:ext cx="4846320" cy="256032"/>
          </a:xfrm>
          <a:prstGeom prst="rect">
            <a:avLst/>
          </a:prstGeom>
          <a:solidFill>
            <a:srgbClr val="152232"/>
          </a:solidFill>
          <a:ln/>
        </p:spPr>
      </p:sp>
      <p:sp>
        <p:nvSpPr>
          <p:cNvPr id="14" name="Text 12"/>
          <p:cNvSpPr/>
          <p:nvPr/>
        </p:nvSpPr>
        <p:spPr>
          <a:xfrm>
            <a:off x="228600" y="192024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194559"/>
            <a:ext cx="4617720" cy="3626069"/>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const express = require('express');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app = express();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Basic route — GET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 (req, 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res.send('&lt;h1&gt;Home Page&lt;/h1&gt;');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Route PARAMETER — :id is dynamic</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app.get('/student/:id', (req, 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id = req.params.id;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res.send('Student ID: ' + id);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QUERY string — /search?name=priya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app.get('/search', (req, 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name = req.query.name;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res.send('Searching: ' + name);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app.listen(3000);</a:t>
            </a:r>
            <a:endParaRPr lang="en-US" sz="1150" dirty="0"/>
          </a:p>
        </p:txBody>
      </p:sp>
      <p:sp>
        <p:nvSpPr>
          <p:cNvPr id="16" name="Text 14"/>
          <p:cNvSpPr/>
          <p:nvPr/>
        </p:nvSpPr>
        <p:spPr>
          <a:xfrm>
            <a:off x="5230368" y="1901952"/>
            <a:ext cx="3685032" cy="320040"/>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Quick Reference:</a:t>
            </a:r>
            <a:endParaRPr lang="en-US" sz="1300" dirty="0"/>
          </a:p>
        </p:txBody>
      </p:sp>
      <p:sp>
        <p:nvSpPr>
          <p:cNvPr id="17" name="Shape 15"/>
          <p:cNvSpPr/>
          <p:nvPr/>
        </p:nvSpPr>
        <p:spPr>
          <a:xfrm>
            <a:off x="5230368" y="2267712"/>
            <a:ext cx="3685032" cy="274320"/>
          </a:xfrm>
          <a:prstGeom prst="rect">
            <a:avLst/>
          </a:prstGeom>
          <a:solidFill>
            <a:srgbClr val="EBF4FD"/>
          </a:solidFill>
          <a:ln/>
        </p:spPr>
      </p:sp>
      <p:sp>
        <p:nvSpPr>
          <p:cNvPr id="18" name="Text 16"/>
          <p:cNvSpPr/>
          <p:nvPr/>
        </p:nvSpPr>
        <p:spPr>
          <a:xfrm>
            <a:off x="5303520" y="2286000"/>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app.get(path, fn)</a:t>
            </a:r>
            <a:endParaRPr lang="en-US" sz="1000" dirty="0"/>
          </a:p>
        </p:txBody>
      </p:sp>
      <p:sp>
        <p:nvSpPr>
          <p:cNvPr id="19" name="Text 17"/>
          <p:cNvSpPr/>
          <p:nvPr/>
        </p:nvSpPr>
        <p:spPr>
          <a:xfrm>
            <a:off x="7086600" y="2286000"/>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Handle GET requests for the given path</a:t>
            </a:r>
            <a:endParaRPr lang="en-US" sz="1000" dirty="0"/>
          </a:p>
        </p:txBody>
      </p:sp>
      <p:sp>
        <p:nvSpPr>
          <p:cNvPr id="20" name="Shape 18"/>
          <p:cNvSpPr/>
          <p:nvPr/>
        </p:nvSpPr>
        <p:spPr>
          <a:xfrm>
            <a:off x="5230368" y="2569464"/>
            <a:ext cx="3685032" cy="274320"/>
          </a:xfrm>
          <a:prstGeom prst="rect">
            <a:avLst/>
          </a:prstGeom>
          <a:solidFill>
            <a:srgbClr val="FFFFFF"/>
          </a:solidFill>
          <a:ln/>
        </p:spPr>
      </p:sp>
      <p:sp>
        <p:nvSpPr>
          <p:cNvPr id="21" name="Text 19"/>
          <p:cNvSpPr/>
          <p:nvPr/>
        </p:nvSpPr>
        <p:spPr>
          <a:xfrm>
            <a:off x="5303520" y="2587752"/>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app.post(path, fn)</a:t>
            </a:r>
            <a:endParaRPr lang="en-US" sz="1000" dirty="0"/>
          </a:p>
        </p:txBody>
      </p:sp>
      <p:sp>
        <p:nvSpPr>
          <p:cNvPr id="22" name="Text 20"/>
          <p:cNvSpPr/>
          <p:nvPr/>
        </p:nvSpPr>
        <p:spPr>
          <a:xfrm>
            <a:off x="7086600" y="2587752"/>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Handle POST requests (submit data)</a:t>
            </a:r>
            <a:endParaRPr lang="en-US" sz="1000" dirty="0"/>
          </a:p>
        </p:txBody>
      </p:sp>
      <p:sp>
        <p:nvSpPr>
          <p:cNvPr id="23" name="Shape 21"/>
          <p:cNvSpPr/>
          <p:nvPr/>
        </p:nvSpPr>
        <p:spPr>
          <a:xfrm>
            <a:off x="5230368" y="2871216"/>
            <a:ext cx="3685032" cy="274320"/>
          </a:xfrm>
          <a:prstGeom prst="rect">
            <a:avLst/>
          </a:prstGeom>
          <a:solidFill>
            <a:srgbClr val="EBF4FD"/>
          </a:solidFill>
          <a:ln/>
        </p:spPr>
      </p:sp>
      <p:sp>
        <p:nvSpPr>
          <p:cNvPr id="24" name="Text 22"/>
          <p:cNvSpPr/>
          <p:nvPr/>
        </p:nvSpPr>
        <p:spPr>
          <a:xfrm>
            <a:off x="5303520" y="2889504"/>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app.put(path, fn)</a:t>
            </a:r>
            <a:endParaRPr lang="en-US" sz="1000" dirty="0"/>
          </a:p>
        </p:txBody>
      </p:sp>
      <p:sp>
        <p:nvSpPr>
          <p:cNvPr id="25" name="Text 23"/>
          <p:cNvSpPr/>
          <p:nvPr/>
        </p:nvSpPr>
        <p:spPr>
          <a:xfrm>
            <a:off x="7086600" y="2889504"/>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Handle PUT requests (update data)</a:t>
            </a:r>
            <a:endParaRPr lang="en-US" sz="1000" dirty="0"/>
          </a:p>
        </p:txBody>
      </p:sp>
      <p:sp>
        <p:nvSpPr>
          <p:cNvPr id="26" name="Shape 24"/>
          <p:cNvSpPr/>
          <p:nvPr/>
        </p:nvSpPr>
        <p:spPr>
          <a:xfrm>
            <a:off x="5230368" y="3172968"/>
            <a:ext cx="3685032" cy="274320"/>
          </a:xfrm>
          <a:prstGeom prst="rect">
            <a:avLst/>
          </a:prstGeom>
          <a:solidFill>
            <a:srgbClr val="FFFFFF"/>
          </a:solidFill>
          <a:ln/>
        </p:spPr>
      </p:sp>
      <p:sp>
        <p:nvSpPr>
          <p:cNvPr id="27" name="Text 25"/>
          <p:cNvSpPr/>
          <p:nvPr/>
        </p:nvSpPr>
        <p:spPr>
          <a:xfrm>
            <a:off x="5303520" y="3191256"/>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app.delete(path, fn)</a:t>
            </a:r>
            <a:endParaRPr lang="en-US" sz="1000" dirty="0"/>
          </a:p>
        </p:txBody>
      </p:sp>
      <p:sp>
        <p:nvSpPr>
          <p:cNvPr id="28" name="Text 26"/>
          <p:cNvSpPr/>
          <p:nvPr/>
        </p:nvSpPr>
        <p:spPr>
          <a:xfrm>
            <a:off x="7086600" y="3191256"/>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Handle DELETE requests</a:t>
            </a:r>
            <a:endParaRPr lang="en-US" sz="1000" dirty="0"/>
          </a:p>
        </p:txBody>
      </p:sp>
      <p:sp>
        <p:nvSpPr>
          <p:cNvPr id="29" name="Shape 27"/>
          <p:cNvSpPr/>
          <p:nvPr/>
        </p:nvSpPr>
        <p:spPr>
          <a:xfrm>
            <a:off x="5230368" y="3474720"/>
            <a:ext cx="3685032" cy="274320"/>
          </a:xfrm>
          <a:prstGeom prst="rect">
            <a:avLst/>
          </a:prstGeom>
          <a:solidFill>
            <a:srgbClr val="EBF4FD"/>
          </a:solidFill>
          <a:ln/>
        </p:spPr>
      </p:sp>
      <p:sp>
        <p:nvSpPr>
          <p:cNvPr id="30" name="Text 28"/>
          <p:cNvSpPr/>
          <p:nvPr/>
        </p:nvSpPr>
        <p:spPr>
          <a:xfrm>
            <a:off x="5303520" y="3493008"/>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:id — req.params.id</a:t>
            </a:r>
            <a:endParaRPr lang="en-US" sz="1000" dirty="0"/>
          </a:p>
        </p:txBody>
      </p:sp>
      <p:sp>
        <p:nvSpPr>
          <p:cNvPr id="31" name="Text 29"/>
          <p:cNvSpPr/>
          <p:nvPr/>
        </p:nvSpPr>
        <p:spPr>
          <a:xfrm>
            <a:off x="7086600" y="3493008"/>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Route parameter — dynamic part of URL</a:t>
            </a:r>
            <a:endParaRPr lang="en-US" sz="1000" dirty="0"/>
          </a:p>
        </p:txBody>
      </p:sp>
      <p:sp>
        <p:nvSpPr>
          <p:cNvPr id="32" name="Shape 30"/>
          <p:cNvSpPr/>
          <p:nvPr/>
        </p:nvSpPr>
        <p:spPr>
          <a:xfrm>
            <a:off x="5230368" y="3776472"/>
            <a:ext cx="3685032" cy="274320"/>
          </a:xfrm>
          <a:prstGeom prst="rect">
            <a:avLst/>
          </a:prstGeom>
          <a:solidFill>
            <a:srgbClr val="FFFFFF"/>
          </a:solidFill>
          <a:ln/>
        </p:spPr>
      </p:sp>
      <p:sp>
        <p:nvSpPr>
          <p:cNvPr id="33" name="Text 31"/>
          <p:cNvSpPr/>
          <p:nvPr/>
        </p:nvSpPr>
        <p:spPr>
          <a:xfrm>
            <a:off x="5303520" y="3794760"/>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?name=x — req.query.name</a:t>
            </a:r>
            <a:endParaRPr lang="en-US" sz="1000" dirty="0"/>
          </a:p>
        </p:txBody>
      </p:sp>
      <p:sp>
        <p:nvSpPr>
          <p:cNvPr id="34" name="Text 32"/>
          <p:cNvSpPr/>
          <p:nvPr/>
        </p:nvSpPr>
        <p:spPr>
          <a:xfrm>
            <a:off x="7086600" y="3794760"/>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Query parameter — optional data after ?</a:t>
            </a:r>
            <a:endParaRPr lang="en-US" sz="1000" dirty="0"/>
          </a:p>
        </p:txBody>
      </p:sp>
      <p:sp>
        <p:nvSpPr>
          <p:cNvPr id="35" name="Shape 33"/>
          <p:cNvSpPr/>
          <p:nvPr/>
        </p:nvSpPr>
        <p:spPr>
          <a:xfrm>
            <a:off x="5230368" y="4078224"/>
            <a:ext cx="3685032" cy="274320"/>
          </a:xfrm>
          <a:prstGeom prst="rect">
            <a:avLst/>
          </a:prstGeom>
          <a:solidFill>
            <a:srgbClr val="EBF4FD"/>
          </a:solidFill>
          <a:ln/>
        </p:spPr>
      </p:sp>
      <p:sp>
        <p:nvSpPr>
          <p:cNvPr id="36" name="Text 34"/>
          <p:cNvSpPr/>
          <p:nvPr/>
        </p:nvSpPr>
        <p:spPr>
          <a:xfrm>
            <a:off x="5303520" y="4096512"/>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res.send()</a:t>
            </a:r>
            <a:endParaRPr lang="en-US" sz="1000" dirty="0"/>
          </a:p>
        </p:txBody>
      </p:sp>
      <p:sp>
        <p:nvSpPr>
          <p:cNvPr id="37" name="Text 35"/>
          <p:cNvSpPr/>
          <p:nvPr/>
        </p:nvSpPr>
        <p:spPr>
          <a:xfrm>
            <a:off x="7086600" y="4096512"/>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Send text or HTML back to client</a:t>
            </a:r>
            <a:endParaRPr lang="en-US" sz="1000" dirty="0"/>
          </a:p>
        </p:txBody>
      </p:sp>
      <p:sp>
        <p:nvSpPr>
          <p:cNvPr id="38" name="Shape 36"/>
          <p:cNvSpPr/>
          <p:nvPr/>
        </p:nvSpPr>
        <p:spPr>
          <a:xfrm>
            <a:off x="5230368" y="4379976"/>
            <a:ext cx="3685032" cy="274320"/>
          </a:xfrm>
          <a:prstGeom prst="rect">
            <a:avLst/>
          </a:prstGeom>
          <a:solidFill>
            <a:srgbClr val="FFFFFF"/>
          </a:solidFill>
          <a:ln/>
        </p:spPr>
      </p:sp>
      <p:sp>
        <p:nvSpPr>
          <p:cNvPr id="39" name="Text 37"/>
          <p:cNvSpPr/>
          <p:nvPr/>
        </p:nvSpPr>
        <p:spPr>
          <a:xfrm>
            <a:off x="5303520" y="4398264"/>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res.json()</a:t>
            </a:r>
            <a:endParaRPr lang="en-US" sz="1000" dirty="0"/>
          </a:p>
        </p:txBody>
      </p:sp>
      <p:sp>
        <p:nvSpPr>
          <p:cNvPr id="40" name="Text 38"/>
          <p:cNvSpPr/>
          <p:nvPr/>
        </p:nvSpPr>
        <p:spPr>
          <a:xfrm>
            <a:off x="7086600" y="4398264"/>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Send JSON data back to client</a:t>
            </a:r>
            <a:endParaRPr lang="en-US" sz="1000" dirty="0"/>
          </a:p>
        </p:txBody>
      </p:sp>
      <p:sp>
        <p:nvSpPr>
          <p:cNvPr id="41" name="Shape 39"/>
          <p:cNvSpPr/>
          <p:nvPr/>
        </p:nvSpPr>
        <p:spPr>
          <a:xfrm>
            <a:off x="5230368" y="4681728"/>
            <a:ext cx="3685032" cy="274320"/>
          </a:xfrm>
          <a:prstGeom prst="rect">
            <a:avLst/>
          </a:prstGeom>
          <a:solidFill>
            <a:srgbClr val="EBF4FD"/>
          </a:solidFill>
          <a:ln/>
        </p:spPr>
      </p:sp>
      <p:sp>
        <p:nvSpPr>
          <p:cNvPr id="42" name="Text 40"/>
          <p:cNvSpPr/>
          <p:nvPr/>
        </p:nvSpPr>
        <p:spPr>
          <a:xfrm>
            <a:off x="5303520" y="4700016"/>
            <a:ext cx="1737360" cy="237744"/>
          </a:xfrm>
          <a:prstGeom prst="rect">
            <a:avLst/>
          </a:prstGeom>
          <a:noFill/>
          <a:ln/>
        </p:spPr>
        <p:txBody>
          <a:bodyPr wrap="square" lIns="0" tIns="0" rIns="0" bIns="0" rtlCol="0" anchor="ctr"/>
          <a:lstStyle/>
          <a:p>
            <a:pPr marL="0" indent="0">
              <a:buNone/>
            </a:pPr>
            <a:r>
              <a:rPr lang="en-US" sz="1000" b="1" dirty="0">
                <a:solidFill>
                  <a:srgbClr val="1E6FBF"/>
                </a:solidFill>
                <a:latin typeface="Courier New" pitchFamily="34" charset="0"/>
                <a:ea typeface="Courier New" pitchFamily="34" charset="-122"/>
                <a:cs typeface="Courier New" pitchFamily="34" charset="-120"/>
              </a:rPr>
              <a:t>res.status(404)</a:t>
            </a:r>
            <a:endParaRPr lang="en-US" sz="1000" dirty="0"/>
          </a:p>
        </p:txBody>
      </p:sp>
      <p:sp>
        <p:nvSpPr>
          <p:cNvPr id="43" name="Text 41"/>
          <p:cNvSpPr/>
          <p:nvPr/>
        </p:nvSpPr>
        <p:spPr>
          <a:xfrm>
            <a:off x="7086600" y="4700016"/>
            <a:ext cx="1755648" cy="237744"/>
          </a:xfrm>
          <a:prstGeom prst="rect">
            <a:avLst/>
          </a:prstGeom>
          <a:noFill/>
          <a:ln/>
        </p:spPr>
        <p:txBody>
          <a:bodyPr wrap="square" lIns="0" tIns="0" rIns="0" bIns="0" rtlCol="0" anchor="ctr"/>
          <a:lstStyle/>
          <a:p>
            <a:pPr marL="0" indent="0">
              <a:buNone/>
            </a:pPr>
            <a:r>
              <a:rPr lang="en-US" sz="1000" dirty="0">
                <a:solidFill>
                  <a:srgbClr val="1C1C2E"/>
                </a:solidFill>
                <a:latin typeface="Calibri" pitchFamily="34" charset="0"/>
                <a:ea typeface="Calibri" pitchFamily="34" charset="-122"/>
                <a:cs typeface="Calibri" pitchFamily="34" charset="-120"/>
              </a:rPr>
              <a:t>Set HTTP status code in response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Middleware in Express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5 › Express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100584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00584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Middleware</a:t>
            </a:r>
            <a:endParaRPr lang="en-US" sz="1300" dirty="0"/>
          </a:p>
        </p:txBody>
      </p:sp>
      <p:sp>
        <p:nvSpPr>
          <p:cNvPr id="11" name="Text 9"/>
          <p:cNvSpPr/>
          <p:nvPr/>
        </p:nvSpPr>
        <p:spPr>
          <a:xfrm>
            <a:off x="393192" y="1444752"/>
            <a:ext cx="8458200" cy="43891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middleware is a function in Express that executes during the request-response cycle. It has access to req, res, and a next() function. Middleware can execute code, modify req/res, end the cycle, or call next() to pass control to the next middleware. It is used for logging, authentication, parsing data, etc.</a:t>
            </a:r>
            <a:endParaRPr lang="en-US" sz="1250" dirty="0"/>
          </a:p>
        </p:txBody>
      </p:sp>
      <p:sp>
        <p:nvSpPr>
          <p:cNvPr id="12" name="Text 10"/>
          <p:cNvSpPr/>
          <p:nvPr/>
        </p:nvSpPr>
        <p:spPr>
          <a:xfrm>
            <a:off x="274320" y="2103120"/>
            <a:ext cx="8595360" cy="384048"/>
          </a:xfrm>
          <a:prstGeom prst="rect">
            <a:avLst/>
          </a:prstGeom>
          <a:noFill/>
          <a:ln/>
        </p:spPr>
        <p:txBody>
          <a:bodyPr wrap="square" rtlCol="0" anchor="ctr"/>
          <a:lstStyle/>
          <a:p>
            <a:pPr marL="0" indent="0" algn="ctr">
              <a:buNone/>
            </a:pPr>
            <a:r>
              <a:rPr lang="en-US" sz="1350" b="1" dirty="0">
                <a:solidFill>
                  <a:srgbClr val="1E6FBF"/>
                </a:solidFill>
                <a:latin typeface="Calibri" pitchFamily="34" charset="0"/>
                <a:ea typeface="Calibri" pitchFamily="34" charset="-122"/>
                <a:cs typeface="Calibri" pitchFamily="34" charset="-120"/>
              </a:rPr>
              <a:t>Request → Middleware 1 → Middleware 2 → Route Handler → Response</a:t>
            </a:r>
            <a:endParaRPr lang="en-US" sz="1350" dirty="0"/>
          </a:p>
        </p:txBody>
      </p:sp>
      <p:sp>
        <p:nvSpPr>
          <p:cNvPr id="13" name="Shape 11"/>
          <p:cNvSpPr/>
          <p:nvPr/>
        </p:nvSpPr>
        <p:spPr>
          <a:xfrm>
            <a:off x="228600" y="2578607"/>
            <a:ext cx="8686800" cy="3235715"/>
          </a:xfrm>
          <a:prstGeom prst="rect">
            <a:avLst/>
          </a:prstGeom>
          <a:solidFill>
            <a:srgbClr val="1E2D3D"/>
          </a:solidFill>
          <a:ln/>
          <a:effectLst>
            <a:outerShdw blurRad="88900" dist="38100" dir="8100000" algn="bl" rotWithShape="0">
              <a:srgbClr val="000000">
                <a:alpha val="13000"/>
              </a:srgbClr>
            </a:outerShdw>
          </a:effectLst>
        </p:spPr>
      </p:sp>
      <p:sp>
        <p:nvSpPr>
          <p:cNvPr id="14" name="Shape 12"/>
          <p:cNvSpPr/>
          <p:nvPr/>
        </p:nvSpPr>
        <p:spPr>
          <a:xfrm>
            <a:off x="228600" y="2578608"/>
            <a:ext cx="8686800" cy="256032"/>
          </a:xfrm>
          <a:prstGeom prst="rect">
            <a:avLst/>
          </a:prstGeom>
          <a:solidFill>
            <a:srgbClr val="152232"/>
          </a:solidFill>
          <a:ln/>
        </p:spPr>
      </p:sp>
      <p:sp>
        <p:nvSpPr>
          <p:cNvPr id="15" name="Text 13"/>
          <p:cNvSpPr/>
          <p:nvPr/>
        </p:nvSpPr>
        <p:spPr>
          <a:xfrm>
            <a:off x="228600" y="2596896"/>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6" name="Text 14"/>
          <p:cNvSpPr/>
          <p:nvPr/>
        </p:nvSpPr>
        <p:spPr>
          <a:xfrm>
            <a:off x="365760" y="2871216"/>
            <a:ext cx="8458200" cy="2848514"/>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const express = require('express');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app = express();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MIDDLEWARE 1: Log every request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app.use(function(req, res, next)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console.log(req.method + ' ' + req.url + ' at ' + new Date().toLocaleTimeString());</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next();  // MUST call next() to continue to next middleware/route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MIDDLEWARE 2: Built-in — parse incoming JSON request body</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app.use(express.json());</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 (req, res) =&gt; res.send('Home page'));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app.listen(3000);</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6</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Server-Side Rendering with EJS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Building dynamic HTML pages on the server using templates</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Server-Side Rendering &amp; EJS Explained</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6 › 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grpSp>
        <p:nvGrpSpPr>
          <p:cNvPr id="37" name="Group 36">
            <a:extLst>
              <a:ext uri="{FF2B5EF4-FFF2-40B4-BE49-F238E27FC236}">
                <a16:creationId xmlns:a16="http://schemas.microsoft.com/office/drawing/2014/main" id="{8CEF9B85-B247-2986-70CA-02A31AB6E9D9}"/>
              </a:ext>
            </a:extLst>
          </p:cNvPr>
          <p:cNvGrpSpPr/>
          <p:nvPr/>
        </p:nvGrpSpPr>
        <p:grpSpPr>
          <a:xfrm>
            <a:off x="228600" y="987552"/>
            <a:ext cx="4251960" cy="1371600"/>
            <a:chOff x="228600" y="987552"/>
            <a:chExt cx="4251960" cy="1371600"/>
          </a:xfrm>
        </p:grpSpPr>
        <p:sp>
          <p:nvSpPr>
            <p:cNvPr id="8" name="Shape 6"/>
            <p:cNvSpPr/>
            <p:nvPr/>
          </p:nvSpPr>
          <p:spPr>
            <a:xfrm>
              <a:off x="22860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371600"/>
            </a:xfrm>
            <a:prstGeom prst="rect">
              <a:avLst/>
            </a:prstGeom>
            <a:solidFill>
              <a:srgbClr val="1E6FBF"/>
            </a:solidFill>
            <a:ln/>
          </p:spPr>
        </p:sp>
        <p:sp>
          <p:nvSpPr>
            <p:cNvPr id="10" name="Text 8"/>
            <p:cNvSpPr/>
            <p:nvPr/>
          </p:nvSpPr>
          <p:spPr>
            <a:xfrm>
              <a:off x="39319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Server-Side Rendering (SSR)</a:t>
              </a:r>
              <a:endParaRPr lang="en-US" sz="1300" dirty="0"/>
            </a:p>
          </p:txBody>
        </p:sp>
        <p:sp>
          <p:nvSpPr>
            <p:cNvPr id="11" name="Text 9"/>
            <p:cNvSpPr/>
            <p:nvPr/>
          </p:nvSpPr>
          <p:spPr>
            <a:xfrm>
              <a:off x="393192" y="1444752"/>
              <a:ext cx="4023360" cy="8046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technique where the server generates complete HTML by combining an HTML template with dynamic data before sending it to the browser. The browser receives ready-to-display HTML — no extra processing needed.</a:t>
              </a:r>
              <a:endParaRPr lang="en-US" sz="1250" dirty="0"/>
            </a:p>
          </p:txBody>
        </p:sp>
      </p:grpSp>
      <p:sp>
        <p:nvSpPr>
          <p:cNvPr id="12" name="Shape 10"/>
          <p:cNvSpPr/>
          <p:nvPr/>
        </p:nvSpPr>
        <p:spPr>
          <a:xfrm>
            <a:off x="466344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13" name="Shape 11"/>
          <p:cNvSpPr/>
          <p:nvPr/>
        </p:nvSpPr>
        <p:spPr>
          <a:xfrm>
            <a:off x="4663440" y="987552"/>
            <a:ext cx="91440" cy="1371600"/>
          </a:xfrm>
          <a:prstGeom prst="rect">
            <a:avLst/>
          </a:prstGeom>
          <a:solidFill>
            <a:srgbClr val="1E6FBF"/>
          </a:solidFill>
          <a:ln/>
        </p:spPr>
      </p:sp>
      <p:sp>
        <p:nvSpPr>
          <p:cNvPr id="14" name="Text 12"/>
          <p:cNvSpPr/>
          <p:nvPr/>
        </p:nvSpPr>
        <p:spPr>
          <a:xfrm>
            <a:off x="482803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EJS (Embedded JavaScript Templates)</a:t>
            </a:r>
            <a:endParaRPr lang="en-US" sz="1300" dirty="0"/>
          </a:p>
        </p:txBody>
      </p:sp>
      <p:sp>
        <p:nvSpPr>
          <p:cNvPr id="15" name="Text 13"/>
          <p:cNvSpPr/>
          <p:nvPr/>
        </p:nvSpPr>
        <p:spPr>
          <a:xfrm>
            <a:off x="4828032" y="1444752"/>
            <a:ext cx="4023360" cy="8046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Node.js template engine that allows JavaScript to be embedded inside HTML files using special tags. EJS files look like HTML but have dynamic parts that get filled with real data on the server.</a:t>
            </a:r>
            <a:endParaRPr lang="en-US" sz="1250" dirty="0"/>
          </a:p>
        </p:txBody>
      </p:sp>
      <p:grpSp>
        <p:nvGrpSpPr>
          <p:cNvPr id="38" name="Group 37">
            <a:extLst>
              <a:ext uri="{FF2B5EF4-FFF2-40B4-BE49-F238E27FC236}">
                <a16:creationId xmlns:a16="http://schemas.microsoft.com/office/drawing/2014/main" id="{D1C8BC75-09AF-76B3-BDA9-855362151846}"/>
              </a:ext>
            </a:extLst>
          </p:cNvPr>
          <p:cNvGrpSpPr/>
          <p:nvPr/>
        </p:nvGrpSpPr>
        <p:grpSpPr>
          <a:xfrm>
            <a:off x="242858" y="2516172"/>
            <a:ext cx="9008251" cy="2357579"/>
            <a:chOff x="228600" y="961034"/>
            <a:chExt cx="4416551" cy="1398118"/>
          </a:xfrm>
        </p:grpSpPr>
        <p:sp>
          <p:nvSpPr>
            <p:cNvPr id="39" name="Shape 6">
              <a:extLst>
                <a:ext uri="{FF2B5EF4-FFF2-40B4-BE49-F238E27FC236}">
                  <a16:creationId xmlns:a16="http://schemas.microsoft.com/office/drawing/2014/main" id="{206C845E-7FFE-68BB-A52D-194CBEE9BD20}"/>
                </a:ext>
              </a:extLst>
            </p:cNvPr>
            <p:cNvSpPr/>
            <p:nvPr/>
          </p:nvSpPr>
          <p:spPr>
            <a:xfrm>
              <a:off x="22860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40" name="Shape 7">
              <a:extLst>
                <a:ext uri="{FF2B5EF4-FFF2-40B4-BE49-F238E27FC236}">
                  <a16:creationId xmlns:a16="http://schemas.microsoft.com/office/drawing/2014/main" id="{4E181210-5B21-197B-1D45-3B3A908BAE8D}"/>
                </a:ext>
              </a:extLst>
            </p:cNvPr>
            <p:cNvSpPr/>
            <p:nvPr/>
          </p:nvSpPr>
          <p:spPr>
            <a:xfrm>
              <a:off x="228600" y="987552"/>
              <a:ext cx="91440" cy="1371600"/>
            </a:xfrm>
            <a:prstGeom prst="rect">
              <a:avLst/>
            </a:prstGeom>
            <a:solidFill>
              <a:srgbClr val="1E6FBF"/>
            </a:solidFill>
            <a:ln/>
          </p:spPr>
        </p:sp>
        <p:sp>
          <p:nvSpPr>
            <p:cNvPr id="41" name="Text 8">
              <a:extLst>
                <a:ext uri="{FF2B5EF4-FFF2-40B4-BE49-F238E27FC236}">
                  <a16:creationId xmlns:a16="http://schemas.microsoft.com/office/drawing/2014/main" id="{032E4D4F-5FD7-D52E-7EF5-5A7F5413B557}"/>
                </a:ext>
              </a:extLst>
            </p:cNvPr>
            <p:cNvSpPr/>
            <p:nvPr/>
          </p:nvSpPr>
          <p:spPr>
            <a:xfrm>
              <a:off x="384236" y="961034"/>
              <a:ext cx="4023360" cy="199340"/>
            </a:xfrm>
            <a:prstGeom prst="rect">
              <a:avLst/>
            </a:prstGeom>
            <a:noFill/>
            <a:ln/>
          </p:spPr>
          <p:txBody>
            <a:bodyPr wrap="square" lIns="0" tIns="0" rIns="0" bIns="0" rtlCol="0" anchor="ctr"/>
            <a:lstStyle/>
            <a:p>
              <a:r>
                <a:rPr lang="en-US" sz="1300" b="1" dirty="0">
                  <a:solidFill>
                    <a:srgbClr val="1E6FBF"/>
                  </a:solidFill>
                  <a:latin typeface="Calibri" pitchFamily="34" charset="0"/>
                  <a:ea typeface="Calibri" pitchFamily="34" charset="-122"/>
                  <a:cs typeface="Calibri" pitchFamily="34" charset="-120"/>
                </a:rPr>
                <a:t>📖  </a:t>
              </a:r>
              <a:r>
                <a:rPr lang="en-IN" sz="1300" b="1" dirty="0">
                  <a:solidFill>
                    <a:srgbClr val="1E6FBF"/>
                  </a:solidFill>
                  <a:latin typeface="Calibri" pitchFamily="34" charset="0"/>
                  <a:ea typeface="Calibri" pitchFamily="34" charset="-122"/>
                  <a:cs typeface="Calibri" pitchFamily="34" charset="-120"/>
                </a:rPr>
                <a:t>Template engines</a:t>
              </a:r>
              <a:endParaRPr lang="en-US" sz="1300" b="1" dirty="0">
                <a:solidFill>
                  <a:srgbClr val="1E6FBF"/>
                </a:solidFill>
                <a:latin typeface="Calibri" pitchFamily="34" charset="0"/>
                <a:ea typeface="Calibri" pitchFamily="34" charset="-122"/>
                <a:cs typeface="Calibri" pitchFamily="34" charset="-120"/>
              </a:endParaRPr>
            </a:p>
          </p:txBody>
        </p:sp>
        <p:sp>
          <p:nvSpPr>
            <p:cNvPr id="42" name="Text 9">
              <a:extLst>
                <a:ext uri="{FF2B5EF4-FFF2-40B4-BE49-F238E27FC236}">
                  <a16:creationId xmlns:a16="http://schemas.microsoft.com/office/drawing/2014/main" id="{A6BADEA6-2064-A437-F670-FF4D0D8EED42}"/>
                </a:ext>
              </a:extLst>
            </p:cNvPr>
            <p:cNvSpPr/>
            <p:nvPr/>
          </p:nvSpPr>
          <p:spPr>
            <a:xfrm>
              <a:off x="393191" y="1193199"/>
              <a:ext cx="4251960" cy="1056225"/>
            </a:xfrm>
            <a:prstGeom prst="rect">
              <a:avLst/>
            </a:prstGeom>
            <a:noFill/>
            <a:ln/>
          </p:spPr>
          <p:txBody>
            <a:bodyPr wrap="square" rtlCol="0" anchor="ctr"/>
            <a:lstStyle/>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A template engine in Express.js is used to render dynamic HTML by injecting data into templates.</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Popular engines like </a:t>
              </a:r>
              <a:r>
                <a:rPr lang="en-US" sz="1250" b="1" dirty="0">
                  <a:solidFill>
                    <a:srgbClr val="1C1C2E"/>
                  </a:solidFill>
                  <a:latin typeface="Calibri" pitchFamily="34" charset="0"/>
                  <a:ea typeface="Calibri" pitchFamily="34" charset="-122"/>
                  <a:cs typeface="Calibri" pitchFamily="34" charset="-120"/>
                </a:rPr>
                <a:t>EJS, Pug, or Handlebars </a:t>
              </a:r>
              <a:r>
                <a:rPr lang="en-US" sz="1250" dirty="0">
                  <a:solidFill>
                    <a:srgbClr val="1C1C2E"/>
                  </a:solidFill>
                  <a:latin typeface="Calibri" pitchFamily="34" charset="0"/>
                  <a:ea typeface="Calibri" pitchFamily="34" charset="-122"/>
                  <a:cs typeface="Calibri" pitchFamily="34" charset="-120"/>
                </a:rPr>
                <a:t>can be integrated with Express.</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All engines have different syntax similar to HTML, but it helps to pass down dynamic values from express to HTML.</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Set the engine using </a:t>
              </a:r>
              <a:r>
                <a:rPr lang="en-US" sz="1250" b="1" dirty="0" err="1">
                  <a:solidFill>
                    <a:srgbClr val="1C1C2E"/>
                  </a:solidFill>
                  <a:latin typeface="Calibri" pitchFamily="34" charset="0"/>
                  <a:ea typeface="Calibri" pitchFamily="34" charset="-122"/>
                  <a:cs typeface="Calibri" pitchFamily="34" charset="-120"/>
                </a:rPr>
                <a:t>app.set</a:t>
              </a:r>
              <a:r>
                <a:rPr lang="en-US" sz="1250" b="1" dirty="0">
                  <a:solidFill>
                    <a:srgbClr val="1C1C2E"/>
                  </a:solidFill>
                  <a:latin typeface="Calibri" pitchFamily="34" charset="0"/>
                  <a:ea typeface="Calibri" pitchFamily="34" charset="-122"/>
                  <a:cs typeface="Calibri" pitchFamily="34" charset="-120"/>
                </a:rPr>
                <a:t>('view engine', '</a:t>
              </a:r>
              <a:r>
                <a:rPr lang="en-US" sz="1250" b="1" dirty="0" err="1">
                  <a:solidFill>
                    <a:srgbClr val="1C1C2E"/>
                  </a:solidFill>
                  <a:latin typeface="Calibri" pitchFamily="34" charset="0"/>
                  <a:ea typeface="Calibri" pitchFamily="34" charset="-122"/>
                  <a:cs typeface="Calibri" pitchFamily="34" charset="-120"/>
                </a:rPr>
                <a:t>ejs</a:t>
              </a:r>
              <a:r>
                <a:rPr lang="en-US" sz="1250" b="1" dirty="0">
                  <a:solidFill>
                    <a:srgbClr val="1C1C2E"/>
                  </a:solidFill>
                  <a:latin typeface="Calibri" pitchFamily="34" charset="0"/>
                  <a:ea typeface="Calibri" pitchFamily="34" charset="-122"/>
                  <a:cs typeface="Calibri" pitchFamily="34" charset="-120"/>
                </a:rPr>
                <a:t>') </a:t>
              </a:r>
              <a:r>
                <a:rPr lang="en-US" sz="1250" dirty="0">
                  <a:solidFill>
                    <a:srgbClr val="1C1C2E"/>
                  </a:solidFill>
                  <a:latin typeface="Calibri" pitchFamily="34" charset="0"/>
                  <a:ea typeface="Calibri" pitchFamily="34" charset="-122"/>
                  <a:cs typeface="Calibri" pitchFamily="34" charset="-120"/>
                </a:rPr>
                <a:t>and specify the template folder with </a:t>
              </a:r>
              <a:r>
                <a:rPr lang="en-US" sz="1250" b="1" dirty="0" err="1">
                  <a:solidFill>
                    <a:srgbClr val="1C1C2E"/>
                  </a:solidFill>
                  <a:latin typeface="Calibri" pitchFamily="34" charset="0"/>
                  <a:ea typeface="Calibri" pitchFamily="34" charset="-122"/>
                  <a:cs typeface="Calibri" pitchFamily="34" charset="-120"/>
                </a:rPr>
                <a:t>app.set</a:t>
              </a:r>
              <a:r>
                <a:rPr lang="en-US" sz="1250" b="1" dirty="0">
                  <a:solidFill>
                    <a:srgbClr val="1C1C2E"/>
                  </a:solidFill>
                  <a:latin typeface="Calibri" pitchFamily="34" charset="0"/>
                  <a:ea typeface="Calibri" pitchFamily="34" charset="-122"/>
                  <a:cs typeface="Calibri" pitchFamily="34" charset="-120"/>
                </a:rPr>
                <a:t>('views', './views').</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Render templates using </a:t>
              </a:r>
              <a:r>
                <a:rPr lang="en-US" sz="1250" b="1" dirty="0" err="1">
                  <a:solidFill>
                    <a:srgbClr val="1C1C2E"/>
                  </a:solidFill>
                  <a:latin typeface="Calibri" pitchFamily="34" charset="0"/>
                  <a:ea typeface="Calibri" pitchFamily="34" charset="-122"/>
                  <a:cs typeface="Calibri" pitchFamily="34" charset="-120"/>
                </a:rPr>
                <a:t>res.render</a:t>
              </a:r>
              <a:r>
                <a:rPr lang="en-US" sz="1250" b="1" dirty="0">
                  <a:solidFill>
                    <a:srgbClr val="1C1C2E"/>
                  </a:solidFill>
                  <a:latin typeface="Calibri" pitchFamily="34" charset="0"/>
                  <a:ea typeface="Calibri" pitchFamily="34" charset="-122"/>
                  <a:cs typeface="Calibri" pitchFamily="34" charset="-120"/>
                </a:rPr>
                <a:t>('</a:t>
              </a:r>
              <a:r>
                <a:rPr lang="en-US" sz="1250" b="1" dirty="0" err="1">
                  <a:solidFill>
                    <a:srgbClr val="1C1C2E"/>
                  </a:solidFill>
                  <a:latin typeface="Calibri" pitchFamily="34" charset="0"/>
                  <a:ea typeface="Calibri" pitchFamily="34" charset="-122"/>
                  <a:cs typeface="Calibri" pitchFamily="34" charset="-120"/>
                </a:rPr>
                <a:t>templateName</a:t>
              </a:r>
              <a:r>
                <a:rPr lang="en-US" sz="1250" b="1" dirty="0">
                  <a:solidFill>
                    <a:srgbClr val="1C1C2E"/>
                  </a:solidFill>
                  <a:latin typeface="Calibri" pitchFamily="34" charset="0"/>
                  <a:ea typeface="Calibri" pitchFamily="34" charset="-122"/>
                  <a:cs typeface="Calibri" pitchFamily="34" charset="-120"/>
                </a:rPr>
                <a:t>', { key: value })</a:t>
              </a:r>
              <a:r>
                <a:rPr lang="en-US" sz="1250" dirty="0">
                  <a:solidFill>
                    <a:srgbClr val="1C1C2E"/>
                  </a:solidFill>
                  <a:latin typeface="Calibri" pitchFamily="34" charset="0"/>
                  <a:ea typeface="Calibri" pitchFamily="34" charset="-122"/>
                  <a:cs typeface="Calibri" pitchFamily="34" charset="-120"/>
                </a:rPr>
                <a:t>.</a:t>
              </a:r>
            </a:p>
            <a:p>
              <a:pPr marL="285750" indent="-285750" algn="just">
                <a:lnSpc>
                  <a:spcPct val="150000"/>
                </a:lnSpc>
                <a:buFont typeface="Courier New" panose="02070309020205020404" pitchFamily="49" charset="0"/>
                <a:buChar char="o"/>
              </a:pPr>
              <a:r>
                <a:rPr lang="en-US" sz="1250" b="1" dirty="0" err="1">
                  <a:solidFill>
                    <a:srgbClr val="1C1C2E"/>
                  </a:solidFill>
                  <a:latin typeface="Calibri" pitchFamily="34" charset="0"/>
                  <a:ea typeface="Calibri" pitchFamily="34" charset="-122"/>
                  <a:cs typeface="Calibri" pitchFamily="34" charset="-120"/>
                </a:rPr>
                <a:t>res.render</a:t>
              </a:r>
              <a:r>
                <a:rPr lang="en-US" sz="1250" b="1" dirty="0">
                  <a:solidFill>
                    <a:srgbClr val="1C1C2E"/>
                  </a:solidFill>
                  <a:latin typeface="Calibri" pitchFamily="34" charset="0"/>
                  <a:ea typeface="Calibri" pitchFamily="34" charset="-122"/>
                  <a:cs typeface="Calibri" pitchFamily="34" charset="-120"/>
                </a:rPr>
                <a:t>('index', { title: 'Welcome', message: 'Hello World' });</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Install the engine using </a:t>
              </a:r>
              <a:r>
                <a:rPr lang="en-US" sz="1250" dirty="0" err="1">
                  <a:solidFill>
                    <a:srgbClr val="1C1C2E"/>
                  </a:solidFill>
                  <a:latin typeface="Calibri" pitchFamily="34" charset="0"/>
                  <a:ea typeface="Calibri" pitchFamily="34" charset="-122"/>
                  <a:cs typeface="Calibri" pitchFamily="34" charset="-120"/>
                </a:rPr>
                <a:t>npm</a:t>
              </a:r>
              <a:r>
                <a:rPr lang="en-US" sz="1250" dirty="0">
                  <a:solidFill>
                    <a:srgbClr val="1C1C2E"/>
                  </a:solidFill>
                  <a:latin typeface="Calibri" pitchFamily="34" charset="0"/>
                  <a:ea typeface="Calibri" pitchFamily="34" charset="-122"/>
                  <a:cs typeface="Calibri" pitchFamily="34" charset="-120"/>
                </a:rPr>
                <a:t> (e.g., </a:t>
              </a:r>
              <a:r>
                <a:rPr lang="en-US" sz="1250" b="1" dirty="0" err="1">
                  <a:solidFill>
                    <a:srgbClr val="1C1C2E"/>
                  </a:solidFill>
                  <a:latin typeface="Calibri" pitchFamily="34" charset="0"/>
                  <a:ea typeface="Calibri" pitchFamily="34" charset="-122"/>
                  <a:cs typeface="Calibri" pitchFamily="34" charset="-120"/>
                </a:rPr>
                <a:t>npm</a:t>
              </a:r>
              <a:r>
                <a:rPr lang="en-US" sz="1250" b="1" dirty="0">
                  <a:solidFill>
                    <a:srgbClr val="1C1C2E"/>
                  </a:solidFill>
                  <a:latin typeface="Calibri" pitchFamily="34" charset="0"/>
                  <a:ea typeface="Calibri" pitchFamily="34" charset="-122"/>
                  <a:cs typeface="Calibri" pitchFamily="34" charset="-120"/>
                </a:rPr>
                <a:t> install </a:t>
              </a:r>
              <a:r>
                <a:rPr lang="en-US" sz="1250" b="1" dirty="0" err="1">
                  <a:solidFill>
                    <a:srgbClr val="1C1C2E"/>
                  </a:solidFill>
                  <a:latin typeface="Calibri" pitchFamily="34" charset="0"/>
                  <a:ea typeface="Calibri" pitchFamily="34" charset="-122"/>
                  <a:cs typeface="Calibri" pitchFamily="34" charset="-120"/>
                </a:rPr>
                <a:t>ejs</a:t>
              </a:r>
              <a:r>
                <a:rPr lang="en-US" sz="1250" dirty="0">
                  <a:solidFill>
                    <a:srgbClr val="1C1C2E"/>
                  </a:solidFill>
                  <a:latin typeface="Calibri" pitchFamily="34" charset="0"/>
                  <a:ea typeface="Calibri" pitchFamily="34" charset="-122"/>
                  <a:cs typeface="Calibri" pitchFamily="34" charset="-120"/>
                </a:rPr>
                <a:t>) and create templates with placeholders like </a:t>
              </a:r>
              <a:r>
                <a:rPr lang="en-US" sz="1250" b="1" dirty="0">
                  <a:solidFill>
                    <a:srgbClr val="1C1C2E"/>
                  </a:solidFill>
                  <a:latin typeface="Calibri" pitchFamily="34" charset="0"/>
                  <a:ea typeface="Calibri" pitchFamily="34" charset="-122"/>
                  <a:cs typeface="Calibri" pitchFamily="34" charset="-120"/>
                </a:rPr>
                <a:t>&lt;%= title %&gt;</a:t>
              </a:r>
              <a:r>
                <a:rPr lang="en-US" sz="1250" dirty="0">
                  <a:solidFill>
                    <a:srgbClr val="1C1C2E"/>
                  </a:solidFill>
                  <a:latin typeface="Calibri" pitchFamily="34" charset="0"/>
                  <a:ea typeface="Calibri" pitchFamily="34" charset="-122"/>
                  <a:cs typeface="Calibri" pitchFamily="34" charset="-120"/>
                </a:rPr>
                <a:t> for data insertion.</a:t>
              </a:r>
              <a:endParaRPr lang="en-US" sz="1250"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D1F25644-1A71-F54B-3E34-DAAA7F0D45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ABDAE3-E754-C0CF-D6E5-D4C72D64DC44}"/>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9ABA631F-FB51-E516-C5E0-4A97EECBC9EB}"/>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47D4D743-9F1D-3596-14EE-023CCEFBC70F}"/>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Server-Side Rendering &amp; EJS Explained</a:t>
            </a:r>
            <a:endParaRPr lang="en-US" sz="2400" dirty="0"/>
          </a:p>
        </p:txBody>
      </p:sp>
      <p:sp>
        <p:nvSpPr>
          <p:cNvPr id="5" name="Text 3">
            <a:extLst>
              <a:ext uri="{FF2B5EF4-FFF2-40B4-BE49-F238E27FC236}">
                <a16:creationId xmlns:a16="http://schemas.microsoft.com/office/drawing/2014/main" id="{6D9CD224-B08F-1452-0868-356CF2DF3EC7}"/>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6 › EJS</a:t>
            </a:r>
            <a:endParaRPr lang="en-US" sz="1100" dirty="0"/>
          </a:p>
        </p:txBody>
      </p:sp>
      <p:sp>
        <p:nvSpPr>
          <p:cNvPr id="6" name="Shape 4">
            <a:extLst>
              <a:ext uri="{FF2B5EF4-FFF2-40B4-BE49-F238E27FC236}">
                <a16:creationId xmlns:a16="http://schemas.microsoft.com/office/drawing/2014/main" id="{CD61EB0A-D80C-B673-4B4E-ECE241811AE6}"/>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2612819D-65FB-DEC1-A06D-6586A2AAF11D}"/>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a:extLst>
              <a:ext uri="{FF2B5EF4-FFF2-40B4-BE49-F238E27FC236}">
                <a16:creationId xmlns:a16="http://schemas.microsoft.com/office/drawing/2014/main" id="{58D263C5-CFC0-ECC7-A112-FA4655CB75C9}"/>
              </a:ext>
            </a:extLst>
          </p:cNvPr>
          <p:cNvSpPr/>
          <p:nvPr/>
        </p:nvSpPr>
        <p:spPr>
          <a:xfrm>
            <a:off x="22860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9" name="Shape 7">
            <a:extLst>
              <a:ext uri="{FF2B5EF4-FFF2-40B4-BE49-F238E27FC236}">
                <a16:creationId xmlns:a16="http://schemas.microsoft.com/office/drawing/2014/main" id="{49220591-706A-1670-9800-13737C581AA3}"/>
              </a:ext>
            </a:extLst>
          </p:cNvPr>
          <p:cNvSpPr/>
          <p:nvPr/>
        </p:nvSpPr>
        <p:spPr>
          <a:xfrm>
            <a:off x="228600" y="987552"/>
            <a:ext cx="91440" cy="1371600"/>
          </a:xfrm>
          <a:prstGeom prst="rect">
            <a:avLst/>
          </a:prstGeom>
          <a:solidFill>
            <a:srgbClr val="1E6FBF"/>
          </a:solidFill>
          <a:ln/>
        </p:spPr>
      </p:sp>
      <p:sp>
        <p:nvSpPr>
          <p:cNvPr id="10" name="Text 8">
            <a:extLst>
              <a:ext uri="{FF2B5EF4-FFF2-40B4-BE49-F238E27FC236}">
                <a16:creationId xmlns:a16="http://schemas.microsoft.com/office/drawing/2014/main" id="{2B5B071E-A8AD-9252-8F06-4517659453EC}"/>
              </a:ext>
            </a:extLst>
          </p:cNvPr>
          <p:cNvSpPr/>
          <p:nvPr/>
        </p:nvSpPr>
        <p:spPr>
          <a:xfrm>
            <a:off x="393192" y="921998"/>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EJS</a:t>
            </a:r>
            <a:endParaRPr lang="en-US" sz="1300" dirty="0"/>
          </a:p>
        </p:txBody>
      </p:sp>
      <p:sp>
        <p:nvSpPr>
          <p:cNvPr id="11" name="Text 9">
            <a:extLst>
              <a:ext uri="{FF2B5EF4-FFF2-40B4-BE49-F238E27FC236}">
                <a16:creationId xmlns:a16="http://schemas.microsoft.com/office/drawing/2014/main" id="{4D180C93-60C9-C65E-CE25-1038FE2B1845}"/>
              </a:ext>
            </a:extLst>
          </p:cNvPr>
          <p:cNvSpPr/>
          <p:nvPr/>
        </p:nvSpPr>
        <p:spPr>
          <a:xfrm>
            <a:off x="393192" y="1225296"/>
            <a:ext cx="4023360" cy="1077150"/>
          </a:xfrm>
          <a:prstGeom prst="rect">
            <a:avLst/>
          </a:prstGeom>
          <a:noFill/>
          <a:ln/>
        </p:spPr>
        <p:txBody>
          <a:bodyPr wrap="square" rtlCol="0" anchor="ctr"/>
          <a:lstStyle/>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EJS (Embedded JavaScript) is a simple templating engine for generating dynamic HTML pages.</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It integrates JavaScript logic into HTML using special tags like &lt;%= %&gt;</a:t>
            </a:r>
            <a:endParaRPr lang="en-US" sz="1250" dirty="0"/>
          </a:p>
        </p:txBody>
      </p:sp>
      <p:sp>
        <p:nvSpPr>
          <p:cNvPr id="12" name="Shape 10">
            <a:extLst>
              <a:ext uri="{FF2B5EF4-FFF2-40B4-BE49-F238E27FC236}">
                <a16:creationId xmlns:a16="http://schemas.microsoft.com/office/drawing/2014/main" id="{D51C361A-C552-74BF-5A4B-A246A21C836C}"/>
              </a:ext>
            </a:extLst>
          </p:cNvPr>
          <p:cNvSpPr/>
          <p:nvPr/>
        </p:nvSpPr>
        <p:spPr>
          <a:xfrm>
            <a:off x="466344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13" name="Shape 11">
            <a:extLst>
              <a:ext uri="{FF2B5EF4-FFF2-40B4-BE49-F238E27FC236}">
                <a16:creationId xmlns:a16="http://schemas.microsoft.com/office/drawing/2014/main" id="{ACFED22E-4126-E698-9E98-FDC812B583D8}"/>
              </a:ext>
            </a:extLst>
          </p:cNvPr>
          <p:cNvSpPr/>
          <p:nvPr/>
        </p:nvSpPr>
        <p:spPr>
          <a:xfrm>
            <a:off x="4663440" y="987552"/>
            <a:ext cx="91440" cy="1371600"/>
          </a:xfrm>
          <a:prstGeom prst="rect">
            <a:avLst/>
          </a:prstGeom>
          <a:solidFill>
            <a:srgbClr val="1E6FBF"/>
          </a:solidFill>
          <a:ln/>
        </p:spPr>
      </p:sp>
      <p:sp>
        <p:nvSpPr>
          <p:cNvPr id="14" name="Text 12">
            <a:extLst>
              <a:ext uri="{FF2B5EF4-FFF2-40B4-BE49-F238E27FC236}">
                <a16:creationId xmlns:a16="http://schemas.microsoft.com/office/drawing/2014/main" id="{5446C2C8-1A4F-001B-EFE1-A3D4D515B109}"/>
              </a:ext>
            </a:extLst>
          </p:cNvPr>
          <p:cNvSpPr/>
          <p:nvPr/>
        </p:nvSpPr>
        <p:spPr>
          <a:xfrm>
            <a:off x="4846320" y="921998"/>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EJS</a:t>
            </a:r>
            <a:endParaRPr lang="en-US" sz="1300" dirty="0"/>
          </a:p>
        </p:txBody>
      </p:sp>
      <p:sp>
        <p:nvSpPr>
          <p:cNvPr id="15" name="Text 13">
            <a:extLst>
              <a:ext uri="{FF2B5EF4-FFF2-40B4-BE49-F238E27FC236}">
                <a16:creationId xmlns:a16="http://schemas.microsoft.com/office/drawing/2014/main" id="{1A19CC6F-6964-9363-A69D-3547C1587E71}"/>
              </a:ext>
            </a:extLst>
          </p:cNvPr>
          <p:cNvSpPr/>
          <p:nvPr/>
        </p:nvSpPr>
        <p:spPr>
          <a:xfrm>
            <a:off x="4816191" y="1153624"/>
            <a:ext cx="4144929" cy="1251248"/>
          </a:xfrm>
          <a:prstGeom prst="rect">
            <a:avLst/>
          </a:prstGeom>
          <a:noFill/>
          <a:ln/>
        </p:spPr>
        <p:txBody>
          <a:bodyPr wrap="square" rtlCol="0" anchor="ctr"/>
          <a:lstStyle/>
          <a:p>
            <a:pPr marL="285750" indent="-285750" algn="just">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Supports JavaScript features like loops, conditionals, &amp; partials.</a:t>
            </a:r>
          </a:p>
          <a:p>
            <a:pPr marL="285750" indent="-285750" algn="just">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Escapes HTML by default to prevent injection, with options for unescaped output.</a:t>
            </a:r>
          </a:p>
          <a:p>
            <a:pPr marL="285750" indent="-285750" algn="just">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Widely used with Express.js for rendering views dynamically.</a:t>
            </a:r>
            <a:endParaRPr lang="en-US" sz="1250" dirty="0"/>
          </a:p>
        </p:txBody>
      </p:sp>
      <p:sp>
        <p:nvSpPr>
          <p:cNvPr id="16" name="Text 14">
            <a:extLst>
              <a:ext uri="{FF2B5EF4-FFF2-40B4-BE49-F238E27FC236}">
                <a16:creationId xmlns:a16="http://schemas.microsoft.com/office/drawing/2014/main" id="{6521583A-7BBA-74CA-ED37-02E0808610F0}"/>
              </a:ext>
            </a:extLst>
          </p:cNvPr>
          <p:cNvSpPr/>
          <p:nvPr/>
        </p:nvSpPr>
        <p:spPr>
          <a:xfrm>
            <a:off x="274320" y="2528316"/>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EJS Tags:</a:t>
            </a:r>
            <a:endParaRPr lang="en-US" sz="1300" dirty="0"/>
          </a:p>
        </p:txBody>
      </p:sp>
      <p:sp>
        <p:nvSpPr>
          <p:cNvPr id="17" name="Shape 15">
            <a:extLst>
              <a:ext uri="{FF2B5EF4-FFF2-40B4-BE49-F238E27FC236}">
                <a16:creationId xmlns:a16="http://schemas.microsoft.com/office/drawing/2014/main" id="{4AF47BB5-7D68-DD8B-A252-71626E09CD45}"/>
              </a:ext>
            </a:extLst>
          </p:cNvPr>
          <p:cNvSpPr/>
          <p:nvPr/>
        </p:nvSpPr>
        <p:spPr>
          <a:xfrm>
            <a:off x="228600" y="2907792"/>
            <a:ext cx="8686800" cy="365760"/>
          </a:xfrm>
          <a:prstGeom prst="rect">
            <a:avLst/>
          </a:prstGeom>
          <a:solidFill>
            <a:srgbClr val="EBF4FD"/>
          </a:solidFill>
          <a:ln/>
        </p:spPr>
      </p:sp>
      <p:sp>
        <p:nvSpPr>
          <p:cNvPr id="18" name="Text 16">
            <a:extLst>
              <a:ext uri="{FF2B5EF4-FFF2-40B4-BE49-F238E27FC236}">
                <a16:creationId xmlns:a16="http://schemas.microsoft.com/office/drawing/2014/main" id="{1687D33D-1D23-4710-F4CF-454A92632F17}"/>
              </a:ext>
            </a:extLst>
          </p:cNvPr>
          <p:cNvSpPr/>
          <p:nvPr/>
        </p:nvSpPr>
        <p:spPr>
          <a:xfrm>
            <a:off x="320040" y="2926080"/>
            <a:ext cx="2103120" cy="329184"/>
          </a:xfrm>
          <a:prstGeom prst="rect">
            <a:avLst/>
          </a:prstGeom>
          <a:noFill/>
          <a:ln/>
        </p:spPr>
        <p:txBody>
          <a:bodyPr wrap="square" lIns="0" tIns="0" rIns="0" bIns="0" rtlCol="0" anchor="ctr"/>
          <a:lstStyle/>
          <a:p>
            <a:pPr marL="0" indent="0">
              <a:buNone/>
            </a:pPr>
            <a:r>
              <a:rPr lang="en-US" sz="1150" b="1" dirty="0">
                <a:solidFill>
                  <a:srgbClr val="06D6A0"/>
                </a:solidFill>
                <a:latin typeface="Courier New" pitchFamily="34" charset="0"/>
                <a:ea typeface="Courier New" pitchFamily="34" charset="-122"/>
                <a:cs typeface="Courier New" pitchFamily="34" charset="-120"/>
              </a:rPr>
              <a:t>&lt;%= value %&gt;</a:t>
            </a:r>
            <a:endParaRPr lang="en-US" sz="1150" dirty="0"/>
          </a:p>
        </p:txBody>
      </p:sp>
      <p:sp>
        <p:nvSpPr>
          <p:cNvPr id="19" name="Text 17">
            <a:extLst>
              <a:ext uri="{FF2B5EF4-FFF2-40B4-BE49-F238E27FC236}">
                <a16:creationId xmlns:a16="http://schemas.microsoft.com/office/drawing/2014/main" id="{BE9727D9-97AE-4A7D-0489-1B117B9746D7}"/>
              </a:ext>
            </a:extLst>
          </p:cNvPr>
          <p:cNvSpPr/>
          <p:nvPr/>
        </p:nvSpPr>
        <p:spPr>
          <a:xfrm>
            <a:off x="2468880" y="2926080"/>
            <a:ext cx="1280160" cy="329184"/>
          </a:xfrm>
          <a:prstGeom prst="rect">
            <a:avLst/>
          </a:prstGeom>
          <a:noFill/>
          <a:ln/>
        </p:spPr>
        <p:txBody>
          <a:bodyPr wrap="square" lIns="0" tIns="0" rIns="0" bIns="0" rtlCol="0" anchor="ctr"/>
          <a:lstStyle/>
          <a:p>
            <a:pPr marL="0" indent="0">
              <a:buNone/>
            </a:pPr>
            <a:r>
              <a:rPr lang="en-US" sz="1150" b="1" dirty="0">
                <a:solidFill>
                  <a:srgbClr val="1A3A6B"/>
                </a:solidFill>
                <a:latin typeface="Calibri" pitchFamily="34" charset="0"/>
                <a:ea typeface="Calibri" pitchFamily="34" charset="-122"/>
                <a:cs typeface="Calibri" pitchFamily="34" charset="-120"/>
              </a:rPr>
              <a:t>OUTPUT tag</a:t>
            </a:r>
            <a:endParaRPr lang="en-US" sz="1150" dirty="0"/>
          </a:p>
        </p:txBody>
      </p:sp>
      <p:sp>
        <p:nvSpPr>
          <p:cNvPr id="20" name="Text 18">
            <a:extLst>
              <a:ext uri="{FF2B5EF4-FFF2-40B4-BE49-F238E27FC236}">
                <a16:creationId xmlns:a16="http://schemas.microsoft.com/office/drawing/2014/main" id="{85D2F2EE-A95D-C3D9-7ADA-FC34D60DFD9E}"/>
              </a:ext>
            </a:extLst>
          </p:cNvPr>
          <p:cNvSpPr/>
          <p:nvPr/>
        </p:nvSpPr>
        <p:spPr>
          <a:xfrm>
            <a:off x="3794760" y="2926080"/>
            <a:ext cx="498348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Inserts a value into HTML (HTML-escaped for safety)</a:t>
            </a:r>
            <a:endParaRPr lang="en-US" sz="1150" dirty="0"/>
          </a:p>
        </p:txBody>
      </p:sp>
      <p:sp>
        <p:nvSpPr>
          <p:cNvPr id="21" name="Shape 19">
            <a:extLst>
              <a:ext uri="{FF2B5EF4-FFF2-40B4-BE49-F238E27FC236}">
                <a16:creationId xmlns:a16="http://schemas.microsoft.com/office/drawing/2014/main" id="{CC4030B8-261B-9486-446F-83A2A24FFDA9}"/>
              </a:ext>
            </a:extLst>
          </p:cNvPr>
          <p:cNvSpPr/>
          <p:nvPr/>
        </p:nvSpPr>
        <p:spPr>
          <a:xfrm>
            <a:off x="228600" y="3319272"/>
            <a:ext cx="8686800" cy="365760"/>
          </a:xfrm>
          <a:prstGeom prst="rect">
            <a:avLst/>
          </a:prstGeom>
          <a:solidFill>
            <a:srgbClr val="FFFFFF"/>
          </a:solidFill>
          <a:ln/>
        </p:spPr>
      </p:sp>
      <p:sp>
        <p:nvSpPr>
          <p:cNvPr id="22" name="Text 20">
            <a:extLst>
              <a:ext uri="{FF2B5EF4-FFF2-40B4-BE49-F238E27FC236}">
                <a16:creationId xmlns:a16="http://schemas.microsoft.com/office/drawing/2014/main" id="{6FA6ADBC-950E-25A8-A5C9-4A435BFA6899}"/>
              </a:ext>
            </a:extLst>
          </p:cNvPr>
          <p:cNvSpPr/>
          <p:nvPr/>
        </p:nvSpPr>
        <p:spPr>
          <a:xfrm>
            <a:off x="320040" y="3337560"/>
            <a:ext cx="2103120" cy="329184"/>
          </a:xfrm>
          <a:prstGeom prst="rect">
            <a:avLst/>
          </a:prstGeom>
          <a:noFill/>
          <a:ln/>
        </p:spPr>
        <p:txBody>
          <a:bodyPr wrap="square" lIns="0" tIns="0" rIns="0" bIns="0" rtlCol="0" anchor="ctr"/>
          <a:lstStyle/>
          <a:p>
            <a:pPr marL="0" indent="0">
              <a:buNone/>
            </a:pPr>
            <a:r>
              <a:rPr lang="en-US" sz="1150" b="1" dirty="0">
                <a:solidFill>
                  <a:srgbClr val="1E6FBF"/>
                </a:solidFill>
                <a:latin typeface="Courier New" pitchFamily="34" charset="0"/>
                <a:ea typeface="Courier New" pitchFamily="34" charset="-122"/>
                <a:cs typeface="Courier New" pitchFamily="34" charset="-120"/>
              </a:rPr>
              <a:t>&lt;% code %&gt;</a:t>
            </a:r>
            <a:endParaRPr lang="en-US" sz="1150" dirty="0"/>
          </a:p>
        </p:txBody>
      </p:sp>
      <p:sp>
        <p:nvSpPr>
          <p:cNvPr id="23" name="Text 21">
            <a:extLst>
              <a:ext uri="{FF2B5EF4-FFF2-40B4-BE49-F238E27FC236}">
                <a16:creationId xmlns:a16="http://schemas.microsoft.com/office/drawing/2014/main" id="{E7386605-F584-1F8D-262E-C61C828F2DD5}"/>
              </a:ext>
            </a:extLst>
          </p:cNvPr>
          <p:cNvSpPr/>
          <p:nvPr/>
        </p:nvSpPr>
        <p:spPr>
          <a:xfrm>
            <a:off x="2468880" y="3337560"/>
            <a:ext cx="1280160" cy="329184"/>
          </a:xfrm>
          <a:prstGeom prst="rect">
            <a:avLst/>
          </a:prstGeom>
          <a:noFill/>
          <a:ln/>
        </p:spPr>
        <p:txBody>
          <a:bodyPr wrap="square" lIns="0" tIns="0" rIns="0" bIns="0" rtlCol="0" anchor="ctr"/>
          <a:lstStyle/>
          <a:p>
            <a:pPr marL="0" indent="0">
              <a:buNone/>
            </a:pPr>
            <a:r>
              <a:rPr lang="en-US" sz="1150" b="1" dirty="0">
                <a:solidFill>
                  <a:srgbClr val="1A3A6B"/>
                </a:solidFill>
                <a:latin typeface="Calibri" pitchFamily="34" charset="0"/>
                <a:ea typeface="Calibri" pitchFamily="34" charset="-122"/>
                <a:cs typeface="Calibri" pitchFamily="34" charset="-120"/>
              </a:rPr>
              <a:t>SCRIPTLET tag</a:t>
            </a:r>
            <a:endParaRPr lang="en-US" sz="1150" dirty="0"/>
          </a:p>
        </p:txBody>
      </p:sp>
      <p:sp>
        <p:nvSpPr>
          <p:cNvPr id="24" name="Text 22">
            <a:extLst>
              <a:ext uri="{FF2B5EF4-FFF2-40B4-BE49-F238E27FC236}">
                <a16:creationId xmlns:a16="http://schemas.microsoft.com/office/drawing/2014/main" id="{7DCF326B-AFE4-0434-779B-A7221A6262E7}"/>
              </a:ext>
            </a:extLst>
          </p:cNvPr>
          <p:cNvSpPr/>
          <p:nvPr/>
        </p:nvSpPr>
        <p:spPr>
          <a:xfrm>
            <a:off x="3794760" y="3337560"/>
            <a:ext cx="498348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Runs JavaScript code — no output (loops, if/else, variables)</a:t>
            </a:r>
            <a:endParaRPr lang="en-US" sz="1150" dirty="0"/>
          </a:p>
        </p:txBody>
      </p:sp>
      <p:sp>
        <p:nvSpPr>
          <p:cNvPr id="25" name="Shape 23">
            <a:extLst>
              <a:ext uri="{FF2B5EF4-FFF2-40B4-BE49-F238E27FC236}">
                <a16:creationId xmlns:a16="http://schemas.microsoft.com/office/drawing/2014/main" id="{25FD6883-B57B-592F-9E62-52D958BF0289}"/>
              </a:ext>
            </a:extLst>
          </p:cNvPr>
          <p:cNvSpPr/>
          <p:nvPr/>
        </p:nvSpPr>
        <p:spPr>
          <a:xfrm>
            <a:off x="228600" y="3730752"/>
            <a:ext cx="8686800" cy="365760"/>
          </a:xfrm>
          <a:prstGeom prst="rect">
            <a:avLst/>
          </a:prstGeom>
          <a:solidFill>
            <a:srgbClr val="EBF4FD"/>
          </a:solidFill>
          <a:ln/>
        </p:spPr>
      </p:sp>
      <p:sp>
        <p:nvSpPr>
          <p:cNvPr id="26" name="Text 24">
            <a:extLst>
              <a:ext uri="{FF2B5EF4-FFF2-40B4-BE49-F238E27FC236}">
                <a16:creationId xmlns:a16="http://schemas.microsoft.com/office/drawing/2014/main" id="{ABDEDD44-36E9-323E-D37F-24C68EB39D58}"/>
              </a:ext>
            </a:extLst>
          </p:cNvPr>
          <p:cNvSpPr/>
          <p:nvPr/>
        </p:nvSpPr>
        <p:spPr>
          <a:xfrm>
            <a:off x="320040" y="3749040"/>
            <a:ext cx="2103120" cy="329184"/>
          </a:xfrm>
          <a:prstGeom prst="rect">
            <a:avLst/>
          </a:prstGeom>
          <a:noFill/>
          <a:ln/>
        </p:spPr>
        <p:txBody>
          <a:bodyPr wrap="square" lIns="0" tIns="0" rIns="0" bIns="0" rtlCol="0" anchor="ctr"/>
          <a:lstStyle/>
          <a:p>
            <a:pPr marL="0" indent="0">
              <a:buNone/>
            </a:pPr>
            <a:r>
              <a:rPr lang="en-US" sz="1150" b="1" dirty="0">
                <a:solidFill>
                  <a:srgbClr val="F4A261"/>
                </a:solidFill>
                <a:latin typeface="Courier New" pitchFamily="34" charset="0"/>
                <a:ea typeface="Courier New" pitchFamily="34" charset="-122"/>
                <a:cs typeface="Courier New" pitchFamily="34" charset="-120"/>
              </a:rPr>
              <a:t>&lt;%- html %&gt;</a:t>
            </a:r>
            <a:endParaRPr lang="en-US" sz="1150" dirty="0"/>
          </a:p>
        </p:txBody>
      </p:sp>
      <p:sp>
        <p:nvSpPr>
          <p:cNvPr id="27" name="Text 25">
            <a:extLst>
              <a:ext uri="{FF2B5EF4-FFF2-40B4-BE49-F238E27FC236}">
                <a16:creationId xmlns:a16="http://schemas.microsoft.com/office/drawing/2014/main" id="{752B6F23-8288-8CB1-51C6-5DFFB116BB06}"/>
              </a:ext>
            </a:extLst>
          </p:cNvPr>
          <p:cNvSpPr/>
          <p:nvPr/>
        </p:nvSpPr>
        <p:spPr>
          <a:xfrm>
            <a:off x="2468880" y="3749040"/>
            <a:ext cx="1280160" cy="329184"/>
          </a:xfrm>
          <a:prstGeom prst="rect">
            <a:avLst/>
          </a:prstGeom>
          <a:noFill/>
          <a:ln/>
        </p:spPr>
        <p:txBody>
          <a:bodyPr wrap="square" lIns="0" tIns="0" rIns="0" bIns="0" rtlCol="0" anchor="ctr"/>
          <a:lstStyle/>
          <a:p>
            <a:pPr marL="0" indent="0">
              <a:buNone/>
            </a:pPr>
            <a:r>
              <a:rPr lang="en-US" sz="1150" b="1" dirty="0">
                <a:solidFill>
                  <a:srgbClr val="1A3A6B"/>
                </a:solidFill>
                <a:latin typeface="Calibri" pitchFamily="34" charset="0"/>
                <a:ea typeface="Calibri" pitchFamily="34" charset="-122"/>
                <a:cs typeface="Calibri" pitchFamily="34" charset="-120"/>
              </a:rPr>
              <a:t>RAW HTML tag</a:t>
            </a:r>
            <a:endParaRPr lang="en-US" sz="1150" dirty="0"/>
          </a:p>
        </p:txBody>
      </p:sp>
      <p:sp>
        <p:nvSpPr>
          <p:cNvPr id="28" name="Text 26">
            <a:extLst>
              <a:ext uri="{FF2B5EF4-FFF2-40B4-BE49-F238E27FC236}">
                <a16:creationId xmlns:a16="http://schemas.microsoft.com/office/drawing/2014/main" id="{DFE9206C-1D1B-B882-D32C-2CC8D5FE2ECB}"/>
              </a:ext>
            </a:extLst>
          </p:cNvPr>
          <p:cNvSpPr/>
          <p:nvPr/>
        </p:nvSpPr>
        <p:spPr>
          <a:xfrm>
            <a:off x="3794760" y="3749040"/>
            <a:ext cx="498348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Inserts raw HTML without escaping — use carefully</a:t>
            </a:r>
            <a:endParaRPr lang="en-US" sz="1150" dirty="0"/>
          </a:p>
        </p:txBody>
      </p:sp>
      <p:sp>
        <p:nvSpPr>
          <p:cNvPr id="29" name="Shape 27">
            <a:extLst>
              <a:ext uri="{FF2B5EF4-FFF2-40B4-BE49-F238E27FC236}">
                <a16:creationId xmlns:a16="http://schemas.microsoft.com/office/drawing/2014/main" id="{6BE94649-640D-CACC-C639-E8E3B4F66D5D}"/>
              </a:ext>
            </a:extLst>
          </p:cNvPr>
          <p:cNvSpPr/>
          <p:nvPr/>
        </p:nvSpPr>
        <p:spPr>
          <a:xfrm>
            <a:off x="228600" y="4142232"/>
            <a:ext cx="8686800" cy="365760"/>
          </a:xfrm>
          <a:prstGeom prst="rect">
            <a:avLst/>
          </a:prstGeom>
          <a:solidFill>
            <a:srgbClr val="FFFFFF"/>
          </a:solidFill>
          <a:ln/>
        </p:spPr>
      </p:sp>
      <p:sp>
        <p:nvSpPr>
          <p:cNvPr id="30" name="Text 28">
            <a:extLst>
              <a:ext uri="{FF2B5EF4-FFF2-40B4-BE49-F238E27FC236}">
                <a16:creationId xmlns:a16="http://schemas.microsoft.com/office/drawing/2014/main" id="{EAABB8F0-7200-487D-0DEC-8E1B99E21248}"/>
              </a:ext>
            </a:extLst>
          </p:cNvPr>
          <p:cNvSpPr/>
          <p:nvPr/>
        </p:nvSpPr>
        <p:spPr>
          <a:xfrm>
            <a:off x="320040" y="4160520"/>
            <a:ext cx="2103120" cy="329184"/>
          </a:xfrm>
          <a:prstGeom prst="rect">
            <a:avLst/>
          </a:prstGeom>
          <a:noFill/>
          <a:ln/>
        </p:spPr>
        <p:txBody>
          <a:bodyPr wrap="square" lIns="0" tIns="0" rIns="0" bIns="0" rtlCol="0" anchor="ctr"/>
          <a:lstStyle/>
          <a:p>
            <a:pPr marL="0" indent="0">
              <a:buNone/>
            </a:pPr>
            <a:r>
              <a:rPr lang="en-US" sz="1150" b="1" dirty="0">
                <a:solidFill>
                  <a:srgbClr val="5A6475"/>
                </a:solidFill>
                <a:latin typeface="Courier New" pitchFamily="34" charset="0"/>
                <a:ea typeface="Courier New" pitchFamily="34" charset="-122"/>
                <a:cs typeface="Courier New" pitchFamily="34" charset="-120"/>
              </a:rPr>
              <a:t>&lt;%# comment %&gt;</a:t>
            </a:r>
            <a:endParaRPr lang="en-US" sz="1150" dirty="0"/>
          </a:p>
        </p:txBody>
      </p:sp>
      <p:sp>
        <p:nvSpPr>
          <p:cNvPr id="31" name="Text 29">
            <a:extLst>
              <a:ext uri="{FF2B5EF4-FFF2-40B4-BE49-F238E27FC236}">
                <a16:creationId xmlns:a16="http://schemas.microsoft.com/office/drawing/2014/main" id="{58A87F30-9838-09F8-37CE-3BFEDA4955C1}"/>
              </a:ext>
            </a:extLst>
          </p:cNvPr>
          <p:cNvSpPr/>
          <p:nvPr/>
        </p:nvSpPr>
        <p:spPr>
          <a:xfrm>
            <a:off x="2468880" y="4160520"/>
            <a:ext cx="1280160" cy="329184"/>
          </a:xfrm>
          <a:prstGeom prst="rect">
            <a:avLst/>
          </a:prstGeom>
          <a:noFill/>
          <a:ln/>
        </p:spPr>
        <p:txBody>
          <a:bodyPr wrap="square" lIns="0" tIns="0" rIns="0" bIns="0" rtlCol="0" anchor="ctr"/>
          <a:lstStyle/>
          <a:p>
            <a:pPr marL="0" indent="0">
              <a:buNone/>
            </a:pPr>
            <a:r>
              <a:rPr lang="en-US" sz="1150" b="1" dirty="0">
                <a:solidFill>
                  <a:srgbClr val="1A3A6B"/>
                </a:solidFill>
                <a:latin typeface="Calibri" pitchFamily="34" charset="0"/>
                <a:ea typeface="Calibri" pitchFamily="34" charset="-122"/>
                <a:cs typeface="Calibri" pitchFamily="34" charset="-120"/>
              </a:rPr>
              <a:t>COMMENT tag</a:t>
            </a:r>
            <a:endParaRPr lang="en-US" sz="1150" dirty="0"/>
          </a:p>
        </p:txBody>
      </p:sp>
      <p:sp>
        <p:nvSpPr>
          <p:cNvPr id="32" name="Text 30">
            <a:extLst>
              <a:ext uri="{FF2B5EF4-FFF2-40B4-BE49-F238E27FC236}">
                <a16:creationId xmlns:a16="http://schemas.microsoft.com/office/drawing/2014/main" id="{93E82D4B-7AB6-EA62-E7A2-F7F56B8B157A}"/>
              </a:ext>
            </a:extLst>
          </p:cNvPr>
          <p:cNvSpPr/>
          <p:nvPr/>
        </p:nvSpPr>
        <p:spPr>
          <a:xfrm>
            <a:off x="3794760" y="4160520"/>
            <a:ext cx="498348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Server-side comment — completely removed from output HTML</a:t>
            </a:r>
            <a:endParaRPr lang="en-US" sz="1150" dirty="0"/>
          </a:p>
        </p:txBody>
      </p:sp>
      <p:sp>
        <p:nvSpPr>
          <p:cNvPr id="33" name="Shape 31">
            <a:extLst>
              <a:ext uri="{FF2B5EF4-FFF2-40B4-BE49-F238E27FC236}">
                <a16:creationId xmlns:a16="http://schemas.microsoft.com/office/drawing/2014/main" id="{5504D0EE-858C-F6CB-AC3D-363A02B740FA}"/>
              </a:ext>
            </a:extLst>
          </p:cNvPr>
          <p:cNvSpPr/>
          <p:nvPr/>
        </p:nvSpPr>
        <p:spPr>
          <a:xfrm>
            <a:off x="228600" y="4553712"/>
            <a:ext cx="8686800" cy="365760"/>
          </a:xfrm>
          <a:prstGeom prst="rect">
            <a:avLst/>
          </a:prstGeom>
          <a:solidFill>
            <a:srgbClr val="EBF4FD"/>
          </a:solidFill>
          <a:ln/>
        </p:spPr>
      </p:sp>
      <p:sp>
        <p:nvSpPr>
          <p:cNvPr id="34" name="Text 32">
            <a:extLst>
              <a:ext uri="{FF2B5EF4-FFF2-40B4-BE49-F238E27FC236}">
                <a16:creationId xmlns:a16="http://schemas.microsoft.com/office/drawing/2014/main" id="{AC74DAA7-DDD8-F4F8-437F-F18A089F8C93}"/>
              </a:ext>
            </a:extLst>
          </p:cNvPr>
          <p:cNvSpPr/>
          <p:nvPr/>
        </p:nvSpPr>
        <p:spPr>
          <a:xfrm>
            <a:off x="320040" y="4572000"/>
            <a:ext cx="2103120" cy="329184"/>
          </a:xfrm>
          <a:prstGeom prst="rect">
            <a:avLst/>
          </a:prstGeom>
          <a:noFill/>
          <a:ln/>
        </p:spPr>
        <p:txBody>
          <a:bodyPr wrap="square" lIns="0" tIns="0" rIns="0" bIns="0" rtlCol="0" anchor="ctr"/>
          <a:lstStyle/>
          <a:p>
            <a:pPr marL="0" indent="0">
              <a:buNone/>
            </a:pPr>
            <a:r>
              <a:rPr lang="en-US" sz="1150" b="1" dirty="0">
                <a:solidFill>
                  <a:srgbClr val="EF476F"/>
                </a:solidFill>
                <a:latin typeface="Courier New" pitchFamily="34" charset="0"/>
                <a:ea typeface="Courier New" pitchFamily="34" charset="-122"/>
                <a:cs typeface="Courier New" pitchFamily="34" charset="-120"/>
              </a:rPr>
              <a:t>&lt;%- include('file') %&gt;</a:t>
            </a:r>
            <a:endParaRPr lang="en-US" sz="1150" dirty="0"/>
          </a:p>
        </p:txBody>
      </p:sp>
      <p:sp>
        <p:nvSpPr>
          <p:cNvPr id="35" name="Text 33">
            <a:extLst>
              <a:ext uri="{FF2B5EF4-FFF2-40B4-BE49-F238E27FC236}">
                <a16:creationId xmlns:a16="http://schemas.microsoft.com/office/drawing/2014/main" id="{320444A0-59F0-DDBC-2DAB-495DE4248DD2}"/>
              </a:ext>
            </a:extLst>
          </p:cNvPr>
          <p:cNvSpPr/>
          <p:nvPr/>
        </p:nvSpPr>
        <p:spPr>
          <a:xfrm>
            <a:off x="2468880" y="4572000"/>
            <a:ext cx="1280160" cy="329184"/>
          </a:xfrm>
          <a:prstGeom prst="rect">
            <a:avLst/>
          </a:prstGeom>
          <a:noFill/>
          <a:ln/>
        </p:spPr>
        <p:txBody>
          <a:bodyPr wrap="square" lIns="0" tIns="0" rIns="0" bIns="0" rtlCol="0" anchor="ctr"/>
          <a:lstStyle/>
          <a:p>
            <a:pPr marL="0" indent="0">
              <a:buNone/>
            </a:pPr>
            <a:r>
              <a:rPr lang="en-US" sz="1150" b="1" dirty="0">
                <a:solidFill>
                  <a:srgbClr val="1A3A6B"/>
                </a:solidFill>
                <a:latin typeface="Calibri" pitchFamily="34" charset="0"/>
                <a:ea typeface="Calibri" pitchFamily="34" charset="-122"/>
                <a:cs typeface="Calibri" pitchFamily="34" charset="-120"/>
              </a:rPr>
              <a:t>INCLUDE tag</a:t>
            </a:r>
            <a:endParaRPr lang="en-US" sz="1150" dirty="0"/>
          </a:p>
        </p:txBody>
      </p:sp>
      <p:sp>
        <p:nvSpPr>
          <p:cNvPr id="36" name="Text 34">
            <a:extLst>
              <a:ext uri="{FF2B5EF4-FFF2-40B4-BE49-F238E27FC236}">
                <a16:creationId xmlns:a16="http://schemas.microsoft.com/office/drawing/2014/main" id="{58D99EDE-CFB0-0386-AA60-566371D3F6C5}"/>
              </a:ext>
            </a:extLst>
          </p:cNvPr>
          <p:cNvSpPr/>
          <p:nvPr/>
        </p:nvSpPr>
        <p:spPr>
          <a:xfrm>
            <a:off x="3794760" y="4572000"/>
            <a:ext cx="4983480" cy="329184"/>
          </a:xfrm>
          <a:prstGeom prst="rect">
            <a:avLst/>
          </a:prstGeom>
          <a:noFill/>
          <a:ln/>
        </p:spPr>
        <p:txBody>
          <a:bodyPr wrap="square" lIns="0" tIns="0" rIns="0" bIns="0" rtlCol="0" anchor="ctr"/>
          <a:lstStyle/>
          <a:p>
            <a:pPr marL="0" indent="0">
              <a:buNone/>
            </a:pPr>
            <a:r>
              <a:rPr lang="en-US" sz="1150" dirty="0">
                <a:solidFill>
                  <a:srgbClr val="1C1C2E"/>
                </a:solidFill>
                <a:latin typeface="Calibri" pitchFamily="34" charset="0"/>
                <a:ea typeface="Calibri" pitchFamily="34" charset="-122"/>
                <a:cs typeface="Calibri" pitchFamily="34" charset="-120"/>
              </a:rPr>
              <a:t>Inserts another EJS file (reusable header, footer, etc.)</a:t>
            </a:r>
            <a:endParaRPr lang="en-US" sz="1150" dirty="0"/>
          </a:p>
        </p:txBody>
      </p:sp>
    </p:spTree>
    <p:extLst>
      <p:ext uri="{BB962C8B-B14F-4D97-AF65-F5344CB8AC3E}">
        <p14:creationId xmlns:p14="http://schemas.microsoft.com/office/powerpoint/2010/main" val="1175863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BA58C1-C7FA-3A26-A3ED-9402324FA4D8}"/>
              </a:ext>
            </a:extLst>
          </p:cNvPr>
          <p:cNvPicPr>
            <a:picLocks noChangeAspect="1"/>
          </p:cNvPicPr>
          <p:nvPr/>
        </p:nvPicPr>
        <p:blipFill>
          <a:blip r:embed="rId2"/>
          <a:srcRect l="2158" t="5876" r="5613" b="5664"/>
          <a:stretch>
            <a:fillRect/>
          </a:stretch>
        </p:blipFill>
        <p:spPr>
          <a:xfrm>
            <a:off x="332630" y="904121"/>
            <a:ext cx="8478739" cy="3335257"/>
          </a:xfrm>
          <a:prstGeom prst="rect">
            <a:avLst/>
          </a:prstGeom>
        </p:spPr>
      </p:pic>
    </p:spTree>
    <p:extLst>
      <p:ext uri="{BB962C8B-B14F-4D97-AF65-F5344CB8AC3E}">
        <p14:creationId xmlns:p14="http://schemas.microsoft.com/office/powerpoint/2010/main" val="1644713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4F8F2F5C-13DE-77C0-AE95-C333B1A9C8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13AA81-39E2-3715-30BD-46EA332A270B}"/>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8D47026E-A4EE-C2CD-A58C-1E6F8A084E9F}"/>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6ACF4126-5EBF-6C65-C2E0-E61BB1DB692C}"/>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EJS in Action — Express Route + EJS Template</a:t>
            </a:r>
            <a:endParaRPr lang="en-US" sz="2400" dirty="0"/>
          </a:p>
        </p:txBody>
      </p:sp>
      <p:sp>
        <p:nvSpPr>
          <p:cNvPr id="5" name="Text 3">
            <a:extLst>
              <a:ext uri="{FF2B5EF4-FFF2-40B4-BE49-F238E27FC236}">
                <a16:creationId xmlns:a16="http://schemas.microsoft.com/office/drawing/2014/main" id="{B95B021D-5901-FE09-88F4-FB0FCBDCC8BF}"/>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6 › EJS</a:t>
            </a:r>
            <a:endParaRPr lang="en-US" sz="1100" dirty="0"/>
          </a:p>
        </p:txBody>
      </p:sp>
      <p:sp>
        <p:nvSpPr>
          <p:cNvPr id="6" name="Shape 4">
            <a:extLst>
              <a:ext uri="{FF2B5EF4-FFF2-40B4-BE49-F238E27FC236}">
                <a16:creationId xmlns:a16="http://schemas.microsoft.com/office/drawing/2014/main" id="{665A1247-6949-0662-C4AD-5BE1BAC12CB6}"/>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44BBF505-FE95-0A27-5442-A2BC638FFF56}"/>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Text 6">
            <a:extLst>
              <a:ext uri="{FF2B5EF4-FFF2-40B4-BE49-F238E27FC236}">
                <a16:creationId xmlns:a16="http://schemas.microsoft.com/office/drawing/2014/main" id="{EBFAE469-C3F3-62F6-92E7-D9D617E2E545}"/>
              </a:ext>
            </a:extLst>
          </p:cNvPr>
          <p:cNvSpPr/>
          <p:nvPr/>
        </p:nvSpPr>
        <p:spPr>
          <a:xfrm>
            <a:off x="274320" y="1005840"/>
            <a:ext cx="4114800" cy="320040"/>
          </a:xfrm>
          <a:prstGeom prst="rect">
            <a:avLst/>
          </a:prstGeom>
          <a:noFill/>
          <a:ln/>
        </p:spPr>
        <p:txBody>
          <a:bodyPr wrap="square" lIns="0" tIns="0" rIns="0" bIns="0" rtlCol="0" anchor="ctr"/>
          <a:lstStyle/>
          <a:p>
            <a:pPr marL="0" indent="0">
              <a:buNone/>
            </a:pPr>
            <a:r>
              <a:rPr lang="en-US" sz="1250" b="1" dirty="0">
                <a:solidFill>
                  <a:srgbClr val="1A3A6B"/>
                </a:solidFill>
                <a:latin typeface="Calibri" pitchFamily="34" charset="0"/>
                <a:ea typeface="Calibri" pitchFamily="34" charset="-122"/>
                <a:cs typeface="Calibri" pitchFamily="34" charset="-120"/>
              </a:rPr>
              <a:t>Step 1 — Express Route (app.js):</a:t>
            </a:r>
            <a:endParaRPr lang="en-US" sz="1250" dirty="0"/>
          </a:p>
        </p:txBody>
      </p:sp>
      <p:sp>
        <p:nvSpPr>
          <p:cNvPr id="9" name="Shape 7">
            <a:extLst>
              <a:ext uri="{FF2B5EF4-FFF2-40B4-BE49-F238E27FC236}">
                <a16:creationId xmlns:a16="http://schemas.microsoft.com/office/drawing/2014/main" id="{04FD2A88-34C9-A7E6-0702-F08797755967}"/>
              </a:ext>
            </a:extLst>
          </p:cNvPr>
          <p:cNvSpPr/>
          <p:nvPr/>
        </p:nvSpPr>
        <p:spPr>
          <a:xfrm>
            <a:off x="228600" y="1371599"/>
            <a:ext cx="4251960" cy="3452649"/>
          </a:xfrm>
          <a:prstGeom prst="rect">
            <a:avLst/>
          </a:prstGeom>
          <a:solidFill>
            <a:srgbClr val="1E2D3D"/>
          </a:solidFill>
          <a:ln/>
          <a:effectLst>
            <a:outerShdw blurRad="88900" dist="38100" dir="8100000" algn="bl" rotWithShape="0">
              <a:srgbClr val="000000">
                <a:alpha val="13000"/>
              </a:srgbClr>
            </a:outerShdw>
          </a:effectLst>
        </p:spPr>
      </p:sp>
      <p:sp>
        <p:nvSpPr>
          <p:cNvPr id="10" name="Shape 8">
            <a:extLst>
              <a:ext uri="{FF2B5EF4-FFF2-40B4-BE49-F238E27FC236}">
                <a16:creationId xmlns:a16="http://schemas.microsoft.com/office/drawing/2014/main" id="{AC3B0AE5-D002-7BA3-2CED-673A2F50ECDD}"/>
              </a:ext>
            </a:extLst>
          </p:cNvPr>
          <p:cNvSpPr/>
          <p:nvPr/>
        </p:nvSpPr>
        <p:spPr>
          <a:xfrm>
            <a:off x="228600" y="1371600"/>
            <a:ext cx="4251960" cy="256032"/>
          </a:xfrm>
          <a:prstGeom prst="rect">
            <a:avLst/>
          </a:prstGeom>
          <a:solidFill>
            <a:srgbClr val="152232"/>
          </a:solidFill>
          <a:ln/>
        </p:spPr>
      </p:sp>
      <p:sp>
        <p:nvSpPr>
          <p:cNvPr id="11" name="Text 9">
            <a:extLst>
              <a:ext uri="{FF2B5EF4-FFF2-40B4-BE49-F238E27FC236}">
                <a16:creationId xmlns:a16="http://schemas.microsoft.com/office/drawing/2014/main" id="{4E92AB74-0C24-A6E9-68F7-D035A0BF3539}"/>
              </a:ext>
            </a:extLst>
          </p:cNvPr>
          <p:cNvSpPr/>
          <p:nvPr/>
        </p:nvSpPr>
        <p:spPr>
          <a:xfrm>
            <a:off x="228600" y="138988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2" name="Text 10">
            <a:extLst>
              <a:ext uri="{FF2B5EF4-FFF2-40B4-BE49-F238E27FC236}">
                <a16:creationId xmlns:a16="http://schemas.microsoft.com/office/drawing/2014/main" id="{222098BC-A362-174A-5395-FF9088125291}"/>
              </a:ext>
            </a:extLst>
          </p:cNvPr>
          <p:cNvSpPr/>
          <p:nvPr/>
        </p:nvSpPr>
        <p:spPr>
          <a:xfrm>
            <a:off x="365760" y="1664208"/>
            <a:ext cx="4023360" cy="307806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const express = require('express');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app = express();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Set EJS as template engine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app.set('view engine', 'ejs');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app.set('views', './views');</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app.get('/result', (req, 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res.render('result',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name: 'Priya Sharma',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marks: 88,</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subjects: ['FSD','DBMS','OS']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app.listen(3000);</a:t>
            </a:r>
            <a:endParaRPr lang="en-US" sz="1150" dirty="0"/>
          </a:p>
        </p:txBody>
      </p:sp>
      <p:sp>
        <p:nvSpPr>
          <p:cNvPr id="13" name="Text 11">
            <a:extLst>
              <a:ext uri="{FF2B5EF4-FFF2-40B4-BE49-F238E27FC236}">
                <a16:creationId xmlns:a16="http://schemas.microsoft.com/office/drawing/2014/main" id="{A634659E-BAC4-6EF2-B3A4-C2117427474B}"/>
              </a:ext>
            </a:extLst>
          </p:cNvPr>
          <p:cNvSpPr/>
          <p:nvPr/>
        </p:nvSpPr>
        <p:spPr>
          <a:xfrm>
            <a:off x="4709160" y="1005840"/>
            <a:ext cx="4206240" cy="320040"/>
          </a:xfrm>
          <a:prstGeom prst="rect">
            <a:avLst/>
          </a:prstGeom>
          <a:noFill/>
          <a:ln/>
        </p:spPr>
        <p:txBody>
          <a:bodyPr wrap="square" lIns="0" tIns="0" rIns="0" bIns="0" rtlCol="0" anchor="ctr"/>
          <a:lstStyle/>
          <a:p>
            <a:pPr marL="0" indent="0">
              <a:buNone/>
            </a:pPr>
            <a:r>
              <a:rPr lang="en-US" sz="1250" b="1" dirty="0">
                <a:solidFill>
                  <a:srgbClr val="1A3A6B"/>
                </a:solidFill>
                <a:latin typeface="Calibri" pitchFamily="34" charset="0"/>
                <a:ea typeface="Calibri" pitchFamily="34" charset="-122"/>
                <a:cs typeface="Calibri" pitchFamily="34" charset="-120"/>
              </a:rPr>
              <a:t>Step 2 — EJS Template (views/result.ejs):</a:t>
            </a:r>
            <a:endParaRPr lang="en-US" sz="1250" dirty="0"/>
          </a:p>
        </p:txBody>
      </p:sp>
      <p:sp>
        <p:nvSpPr>
          <p:cNvPr id="14" name="Shape 12">
            <a:extLst>
              <a:ext uri="{FF2B5EF4-FFF2-40B4-BE49-F238E27FC236}">
                <a16:creationId xmlns:a16="http://schemas.microsoft.com/office/drawing/2014/main" id="{9D0FFAE4-26EB-8359-A9D4-852E7556757C}"/>
              </a:ext>
            </a:extLst>
          </p:cNvPr>
          <p:cNvSpPr/>
          <p:nvPr/>
        </p:nvSpPr>
        <p:spPr>
          <a:xfrm>
            <a:off x="4663440" y="1371600"/>
            <a:ext cx="4251960" cy="3452648"/>
          </a:xfrm>
          <a:prstGeom prst="rect">
            <a:avLst/>
          </a:prstGeom>
          <a:solidFill>
            <a:srgbClr val="1E2D3D"/>
          </a:solidFill>
          <a:ln/>
          <a:effectLst>
            <a:outerShdw blurRad="88900" dist="38100" dir="8100000" algn="bl" rotWithShape="0">
              <a:srgbClr val="000000">
                <a:alpha val="13000"/>
              </a:srgbClr>
            </a:outerShdw>
          </a:effectLst>
        </p:spPr>
      </p:sp>
      <p:sp>
        <p:nvSpPr>
          <p:cNvPr id="15" name="Shape 13">
            <a:extLst>
              <a:ext uri="{FF2B5EF4-FFF2-40B4-BE49-F238E27FC236}">
                <a16:creationId xmlns:a16="http://schemas.microsoft.com/office/drawing/2014/main" id="{87A5A303-E65B-7BA2-EC19-51BE348377BF}"/>
              </a:ext>
            </a:extLst>
          </p:cNvPr>
          <p:cNvSpPr/>
          <p:nvPr/>
        </p:nvSpPr>
        <p:spPr>
          <a:xfrm>
            <a:off x="4663440" y="1371600"/>
            <a:ext cx="4251960" cy="256032"/>
          </a:xfrm>
          <a:prstGeom prst="rect">
            <a:avLst/>
          </a:prstGeom>
          <a:solidFill>
            <a:srgbClr val="152232"/>
          </a:solidFill>
          <a:ln/>
        </p:spPr>
      </p:sp>
      <p:sp>
        <p:nvSpPr>
          <p:cNvPr id="16" name="Text 14">
            <a:extLst>
              <a:ext uri="{FF2B5EF4-FFF2-40B4-BE49-F238E27FC236}">
                <a16:creationId xmlns:a16="http://schemas.microsoft.com/office/drawing/2014/main" id="{3C92A387-E0F7-3A14-214F-C795646BBF21}"/>
              </a:ext>
            </a:extLst>
          </p:cNvPr>
          <p:cNvSpPr/>
          <p:nvPr/>
        </p:nvSpPr>
        <p:spPr>
          <a:xfrm>
            <a:off x="4663440" y="138988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7" name="Text 15">
            <a:extLst>
              <a:ext uri="{FF2B5EF4-FFF2-40B4-BE49-F238E27FC236}">
                <a16:creationId xmlns:a16="http://schemas.microsoft.com/office/drawing/2014/main" id="{A78561D6-C135-B3E9-48FC-22D5A143E05C}"/>
              </a:ext>
            </a:extLst>
          </p:cNvPr>
          <p:cNvSpPr/>
          <p:nvPr/>
        </p:nvSpPr>
        <p:spPr>
          <a:xfrm>
            <a:off x="4800600" y="1664208"/>
            <a:ext cx="4023360" cy="307806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&lt;h1&gt;Result: &lt;%= name %&gt;&lt;/h1&gt;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&lt;p&gt;Marks: &lt;%= marks %&gt;/100&lt;/p&gt;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 if (marks &gt;= 70) {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&lt;p style='color:green'&gt;PASS - Distinction&lt;/p&gt;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 } else if (marks &gt;= 35) {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&lt;p style='color:blue'&gt;PASS&lt;/p&gt;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 } else {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&lt;p style='color:red'&gt;FAIL&lt;/p&gt;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 } %&gt;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&lt;ul&gt;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 subjects.forEach(s =&gt; {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&lt;li&gt;&lt;%= s %&gt;&lt;/li&gt;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 });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&lt;/ul&gt;</a:t>
            </a:r>
            <a:endParaRPr lang="en-US" sz="1150" dirty="0"/>
          </a:p>
        </p:txBody>
      </p:sp>
    </p:spTree>
    <p:extLst>
      <p:ext uri="{BB962C8B-B14F-4D97-AF65-F5344CB8AC3E}">
        <p14:creationId xmlns:p14="http://schemas.microsoft.com/office/powerpoint/2010/main" val="1175929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EJS in Action — Express Route + EJS Template</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6 › EJS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19" name="Text 17"/>
          <p:cNvSpPr/>
          <p:nvPr/>
        </p:nvSpPr>
        <p:spPr>
          <a:xfrm>
            <a:off x="274320" y="1881774"/>
            <a:ext cx="8595360" cy="320040"/>
          </a:xfrm>
          <a:prstGeom prst="rect">
            <a:avLst/>
          </a:prstGeom>
          <a:noFill/>
          <a:ln/>
        </p:spPr>
        <p:txBody>
          <a:bodyPr wrap="square" lIns="0" tIns="0" rIns="0" bIns="0" rtlCol="0" anchor="ctr"/>
          <a:lstStyle/>
          <a:p>
            <a:pPr marL="0" indent="0">
              <a:buNone/>
            </a:pPr>
            <a:r>
              <a:rPr lang="en-US" sz="1250" b="1" dirty="0">
                <a:solidFill>
                  <a:srgbClr val="1A3A6B"/>
                </a:solidFill>
                <a:latin typeface="Calibri" pitchFamily="34" charset="0"/>
                <a:ea typeface="Calibri" pitchFamily="34" charset="-122"/>
                <a:cs typeface="Calibri" pitchFamily="34" charset="-120"/>
              </a:rPr>
              <a:t>How it works:</a:t>
            </a:r>
            <a:endParaRPr lang="en-US" sz="1250" dirty="0"/>
          </a:p>
        </p:txBody>
      </p:sp>
      <p:sp>
        <p:nvSpPr>
          <p:cNvPr id="20" name="Shape 18"/>
          <p:cNvSpPr/>
          <p:nvPr/>
        </p:nvSpPr>
        <p:spPr>
          <a:xfrm>
            <a:off x="228600" y="2274966"/>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21" name="Text 19"/>
          <p:cNvSpPr/>
          <p:nvPr/>
        </p:nvSpPr>
        <p:spPr>
          <a:xfrm>
            <a:off x="228600" y="2311542"/>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1</a:t>
            </a:r>
            <a:endParaRPr lang="en-US" sz="1500" dirty="0"/>
          </a:p>
        </p:txBody>
      </p:sp>
      <p:sp>
        <p:nvSpPr>
          <p:cNvPr id="22" name="Text 20"/>
          <p:cNvSpPr/>
          <p:nvPr/>
        </p:nvSpPr>
        <p:spPr>
          <a:xfrm>
            <a:off x="2743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Browser requests /result</a:t>
            </a:r>
            <a:endParaRPr lang="en-US" sz="1100" dirty="0"/>
          </a:p>
        </p:txBody>
      </p:sp>
      <p:sp>
        <p:nvSpPr>
          <p:cNvPr id="23" name="Shape 21"/>
          <p:cNvSpPr/>
          <p:nvPr/>
        </p:nvSpPr>
        <p:spPr>
          <a:xfrm>
            <a:off x="1548384" y="2686446"/>
            <a:ext cx="109728" cy="0"/>
          </a:xfrm>
          <a:prstGeom prst="line">
            <a:avLst/>
          </a:prstGeom>
          <a:noFill/>
          <a:ln w="25400">
            <a:solidFill>
              <a:srgbClr val="FFD166"/>
            </a:solidFill>
            <a:prstDash val="solid"/>
          </a:ln>
        </p:spPr>
      </p:sp>
      <p:sp>
        <p:nvSpPr>
          <p:cNvPr id="24" name="Shape 22"/>
          <p:cNvSpPr/>
          <p:nvPr/>
        </p:nvSpPr>
        <p:spPr>
          <a:xfrm>
            <a:off x="1676400" y="2274966"/>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25" name="Text 23"/>
          <p:cNvSpPr/>
          <p:nvPr/>
        </p:nvSpPr>
        <p:spPr>
          <a:xfrm>
            <a:off x="1676400" y="2280019"/>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2</a:t>
            </a:r>
            <a:endParaRPr lang="en-US" sz="1500" dirty="0"/>
          </a:p>
        </p:txBody>
      </p:sp>
      <p:sp>
        <p:nvSpPr>
          <p:cNvPr id="26" name="Text 24"/>
          <p:cNvSpPr/>
          <p:nvPr/>
        </p:nvSpPr>
        <p:spPr>
          <a:xfrm>
            <a:off x="17221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Express runs the route</a:t>
            </a:r>
            <a:endParaRPr lang="en-US" sz="1100" dirty="0"/>
          </a:p>
        </p:txBody>
      </p:sp>
      <p:sp>
        <p:nvSpPr>
          <p:cNvPr id="27" name="Shape 25"/>
          <p:cNvSpPr/>
          <p:nvPr/>
        </p:nvSpPr>
        <p:spPr>
          <a:xfrm>
            <a:off x="2996184" y="2686446"/>
            <a:ext cx="109728" cy="0"/>
          </a:xfrm>
          <a:prstGeom prst="line">
            <a:avLst/>
          </a:prstGeom>
          <a:noFill/>
          <a:ln w="25400">
            <a:solidFill>
              <a:srgbClr val="FFD166"/>
            </a:solidFill>
            <a:prstDash val="solid"/>
          </a:ln>
        </p:spPr>
      </p:sp>
      <p:sp>
        <p:nvSpPr>
          <p:cNvPr id="28" name="Shape 26"/>
          <p:cNvSpPr/>
          <p:nvPr/>
        </p:nvSpPr>
        <p:spPr>
          <a:xfrm>
            <a:off x="3124200" y="2274966"/>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29" name="Text 27"/>
          <p:cNvSpPr/>
          <p:nvPr/>
        </p:nvSpPr>
        <p:spPr>
          <a:xfrm>
            <a:off x="3124200" y="2311542"/>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3</a:t>
            </a:r>
            <a:endParaRPr lang="en-US" sz="1500" dirty="0"/>
          </a:p>
        </p:txBody>
      </p:sp>
      <p:sp>
        <p:nvSpPr>
          <p:cNvPr id="30" name="Text 28"/>
          <p:cNvSpPr/>
          <p:nvPr/>
        </p:nvSpPr>
        <p:spPr>
          <a:xfrm>
            <a:off x="31699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res.render() called</a:t>
            </a:r>
            <a:endParaRPr lang="en-US" sz="1100" dirty="0"/>
          </a:p>
        </p:txBody>
      </p:sp>
      <p:sp>
        <p:nvSpPr>
          <p:cNvPr id="31" name="Shape 29"/>
          <p:cNvSpPr/>
          <p:nvPr/>
        </p:nvSpPr>
        <p:spPr>
          <a:xfrm>
            <a:off x="4443984" y="2686446"/>
            <a:ext cx="109728" cy="0"/>
          </a:xfrm>
          <a:prstGeom prst="line">
            <a:avLst/>
          </a:prstGeom>
          <a:noFill/>
          <a:ln w="25400">
            <a:solidFill>
              <a:srgbClr val="FFD166"/>
            </a:solidFill>
            <a:prstDash val="solid"/>
          </a:ln>
        </p:spPr>
      </p:sp>
      <p:sp>
        <p:nvSpPr>
          <p:cNvPr id="32" name="Shape 30"/>
          <p:cNvSpPr/>
          <p:nvPr/>
        </p:nvSpPr>
        <p:spPr>
          <a:xfrm>
            <a:off x="4572000" y="2274966"/>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33" name="Text 31"/>
          <p:cNvSpPr/>
          <p:nvPr/>
        </p:nvSpPr>
        <p:spPr>
          <a:xfrm>
            <a:off x="4572000" y="2311542"/>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4</a:t>
            </a:r>
            <a:endParaRPr lang="en-US" sz="1500" dirty="0"/>
          </a:p>
        </p:txBody>
      </p:sp>
      <p:sp>
        <p:nvSpPr>
          <p:cNvPr id="34" name="Text 32"/>
          <p:cNvSpPr/>
          <p:nvPr/>
        </p:nvSpPr>
        <p:spPr>
          <a:xfrm>
            <a:off x="46177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EJS fills in the data</a:t>
            </a:r>
            <a:endParaRPr lang="en-US" sz="1100" dirty="0"/>
          </a:p>
        </p:txBody>
      </p:sp>
      <p:sp>
        <p:nvSpPr>
          <p:cNvPr id="35" name="Shape 33"/>
          <p:cNvSpPr/>
          <p:nvPr/>
        </p:nvSpPr>
        <p:spPr>
          <a:xfrm>
            <a:off x="5891784" y="2686446"/>
            <a:ext cx="109728" cy="0"/>
          </a:xfrm>
          <a:prstGeom prst="line">
            <a:avLst/>
          </a:prstGeom>
          <a:noFill/>
          <a:ln w="25400">
            <a:solidFill>
              <a:srgbClr val="FFD166"/>
            </a:solidFill>
            <a:prstDash val="solid"/>
          </a:ln>
        </p:spPr>
      </p:sp>
      <p:sp>
        <p:nvSpPr>
          <p:cNvPr id="36" name="Shape 34"/>
          <p:cNvSpPr/>
          <p:nvPr/>
        </p:nvSpPr>
        <p:spPr>
          <a:xfrm>
            <a:off x="6019800" y="2274966"/>
            <a:ext cx="1310640" cy="960120"/>
          </a:xfrm>
          <a:prstGeom prst="rect">
            <a:avLst/>
          </a:prstGeom>
          <a:solidFill>
            <a:srgbClr val="1A3A6B"/>
          </a:solidFill>
          <a:ln/>
          <a:effectLst>
            <a:outerShdw blurRad="88900" dist="38100" dir="8100000" algn="bl" rotWithShape="0">
              <a:srgbClr val="000000">
                <a:alpha val="13000"/>
              </a:srgbClr>
            </a:outerShdw>
          </a:effectLst>
        </p:spPr>
      </p:sp>
      <p:sp>
        <p:nvSpPr>
          <p:cNvPr id="37" name="Text 35"/>
          <p:cNvSpPr/>
          <p:nvPr/>
        </p:nvSpPr>
        <p:spPr>
          <a:xfrm>
            <a:off x="6019800" y="2311542"/>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5</a:t>
            </a:r>
            <a:endParaRPr lang="en-US" sz="1500" dirty="0"/>
          </a:p>
        </p:txBody>
      </p:sp>
      <p:sp>
        <p:nvSpPr>
          <p:cNvPr id="38" name="Text 36"/>
          <p:cNvSpPr/>
          <p:nvPr/>
        </p:nvSpPr>
        <p:spPr>
          <a:xfrm>
            <a:off x="60655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Complete HTML generated</a:t>
            </a:r>
            <a:endParaRPr lang="en-US" sz="1100" dirty="0"/>
          </a:p>
        </p:txBody>
      </p:sp>
      <p:sp>
        <p:nvSpPr>
          <p:cNvPr id="39" name="Shape 37"/>
          <p:cNvSpPr/>
          <p:nvPr/>
        </p:nvSpPr>
        <p:spPr>
          <a:xfrm>
            <a:off x="7339584" y="2686446"/>
            <a:ext cx="109728" cy="0"/>
          </a:xfrm>
          <a:prstGeom prst="line">
            <a:avLst/>
          </a:prstGeom>
          <a:noFill/>
          <a:ln w="25400">
            <a:solidFill>
              <a:srgbClr val="FFD166"/>
            </a:solidFill>
            <a:prstDash val="solid"/>
          </a:ln>
        </p:spPr>
      </p:sp>
      <p:sp>
        <p:nvSpPr>
          <p:cNvPr id="40" name="Shape 38"/>
          <p:cNvSpPr/>
          <p:nvPr/>
        </p:nvSpPr>
        <p:spPr>
          <a:xfrm>
            <a:off x="7467600" y="2274966"/>
            <a:ext cx="1310640" cy="960120"/>
          </a:xfrm>
          <a:prstGeom prst="rect">
            <a:avLst/>
          </a:prstGeom>
          <a:solidFill>
            <a:srgbClr val="1E6FBF"/>
          </a:solidFill>
          <a:ln/>
          <a:effectLst>
            <a:outerShdw blurRad="88900" dist="38100" dir="8100000" algn="bl" rotWithShape="0">
              <a:srgbClr val="000000">
                <a:alpha val="13000"/>
              </a:srgbClr>
            </a:outerShdw>
          </a:effectLst>
        </p:spPr>
      </p:sp>
      <p:sp>
        <p:nvSpPr>
          <p:cNvPr id="41" name="Text 39"/>
          <p:cNvSpPr/>
          <p:nvPr/>
        </p:nvSpPr>
        <p:spPr>
          <a:xfrm>
            <a:off x="7467600" y="2311542"/>
            <a:ext cx="347472" cy="347472"/>
          </a:xfrm>
          <a:prstGeom prst="rect">
            <a:avLst/>
          </a:prstGeom>
          <a:noFill/>
          <a:ln/>
        </p:spPr>
        <p:txBody>
          <a:bodyPr wrap="square" rtlCol="0" anchor="ctr"/>
          <a:lstStyle/>
          <a:p>
            <a:pPr marL="0" indent="0" algn="ctr">
              <a:buNone/>
            </a:pPr>
            <a:r>
              <a:rPr lang="en-US" sz="1500" b="1" dirty="0">
                <a:solidFill>
                  <a:srgbClr val="FFD166"/>
                </a:solidFill>
                <a:latin typeface="Calibri" pitchFamily="34" charset="0"/>
                <a:ea typeface="Calibri" pitchFamily="34" charset="-122"/>
                <a:cs typeface="Calibri" pitchFamily="34" charset="-120"/>
              </a:rPr>
              <a:t>6</a:t>
            </a:r>
            <a:endParaRPr lang="en-US" sz="1500" dirty="0"/>
          </a:p>
        </p:txBody>
      </p:sp>
      <p:sp>
        <p:nvSpPr>
          <p:cNvPr id="42" name="Text 40"/>
          <p:cNvSpPr/>
          <p:nvPr/>
        </p:nvSpPr>
        <p:spPr>
          <a:xfrm>
            <a:off x="7513320" y="2677302"/>
            <a:ext cx="1246632"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Sent to browser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7</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Serving Static Files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CSS, images, and JavaScript served directly — no route needed</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45E1E69A-2F27-4BAD-A91C-C89A0C6545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96C445-574D-6349-1D0F-1A2352718402}"/>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29E73A91-8ACA-F066-D8FB-C2DB03873273}"/>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366F1197-270D-0BB1-A0ED-9098B34A1887}"/>
              </a:ext>
            </a:extLst>
          </p:cNvPr>
          <p:cNvSpPr/>
          <p:nvPr/>
        </p:nvSpPr>
        <p:spPr>
          <a:xfrm>
            <a:off x="274320" y="0"/>
            <a:ext cx="7772400" cy="914400"/>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Static Files</a:t>
            </a:r>
            <a:endParaRPr lang="en-US" sz="2400" dirty="0"/>
          </a:p>
        </p:txBody>
      </p:sp>
      <p:sp>
        <p:nvSpPr>
          <p:cNvPr id="5" name="Text 3">
            <a:extLst>
              <a:ext uri="{FF2B5EF4-FFF2-40B4-BE49-F238E27FC236}">
                <a16:creationId xmlns:a16="http://schemas.microsoft.com/office/drawing/2014/main" id="{DD1093A8-6FF2-2FBD-7982-9418E8426829}"/>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6 › EJS</a:t>
            </a:r>
            <a:endParaRPr lang="en-US" sz="1100" dirty="0"/>
          </a:p>
        </p:txBody>
      </p:sp>
      <p:sp>
        <p:nvSpPr>
          <p:cNvPr id="6" name="Shape 4">
            <a:extLst>
              <a:ext uri="{FF2B5EF4-FFF2-40B4-BE49-F238E27FC236}">
                <a16:creationId xmlns:a16="http://schemas.microsoft.com/office/drawing/2014/main" id="{F615A734-DDA3-A279-29F7-5496F7AD5AC7}"/>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3AE7B51A-2520-8697-9569-12608F7818E3}"/>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grpSp>
        <p:nvGrpSpPr>
          <p:cNvPr id="38" name="Group 37">
            <a:extLst>
              <a:ext uri="{FF2B5EF4-FFF2-40B4-BE49-F238E27FC236}">
                <a16:creationId xmlns:a16="http://schemas.microsoft.com/office/drawing/2014/main" id="{9127C1F0-7A6D-15CA-4474-339525D955D4}"/>
              </a:ext>
            </a:extLst>
          </p:cNvPr>
          <p:cNvGrpSpPr/>
          <p:nvPr/>
        </p:nvGrpSpPr>
        <p:grpSpPr>
          <a:xfrm>
            <a:off x="274321" y="1382098"/>
            <a:ext cx="8275038" cy="2689942"/>
            <a:chOff x="228600" y="987552"/>
            <a:chExt cx="4251960" cy="1371600"/>
          </a:xfrm>
        </p:grpSpPr>
        <p:sp>
          <p:nvSpPr>
            <p:cNvPr id="39" name="Shape 6">
              <a:extLst>
                <a:ext uri="{FF2B5EF4-FFF2-40B4-BE49-F238E27FC236}">
                  <a16:creationId xmlns:a16="http://schemas.microsoft.com/office/drawing/2014/main" id="{13F843F9-C96B-FE41-FFD4-A49DB17E3CC1}"/>
                </a:ext>
              </a:extLst>
            </p:cNvPr>
            <p:cNvSpPr/>
            <p:nvPr/>
          </p:nvSpPr>
          <p:spPr>
            <a:xfrm>
              <a:off x="228600" y="987552"/>
              <a:ext cx="4251960" cy="1371600"/>
            </a:xfrm>
            <a:prstGeom prst="rect">
              <a:avLst/>
            </a:prstGeom>
            <a:solidFill>
              <a:srgbClr val="EBF4FD"/>
            </a:solidFill>
            <a:ln/>
            <a:effectLst>
              <a:outerShdw blurRad="88900" dist="38100" dir="8100000" algn="bl" rotWithShape="0">
                <a:srgbClr val="000000">
                  <a:alpha val="13000"/>
                </a:srgbClr>
              </a:outerShdw>
            </a:effectLst>
          </p:spPr>
        </p:sp>
        <p:sp>
          <p:nvSpPr>
            <p:cNvPr id="40" name="Shape 7">
              <a:extLst>
                <a:ext uri="{FF2B5EF4-FFF2-40B4-BE49-F238E27FC236}">
                  <a16:creationId xmlns:a16="http://schemas.microsoft.com/office/drawing/2014/main" id="{ADD10B10-4AA8-679B-3542-B34AC579320A}"/>
                </a:ext>
              </a:extLst>
            </p:cNvPr>
            <p:cNvSpPr/>
            <p:nvPr/>
          </p:nvSpPr>
          <p:spPr>
            <a:xfrm>
              <a:off x="228600" y="987552"/>
              <a:ext cx="91440" cy="1371600"/>
            </a:xfrm>
            <a:prstGeom prst="rect">
              <a:avLst/>
            </a:prstGeom>
            <a:solidFill>
              <a:srgbClr val="1E6FBF"/>
            </a:solidFill>
            <a:ln/>
          </p:spPr>
        </p:sp>
        <p:sp>
          <p:nvSpPr>
            <p:cNvPr id="42" name="Text 9">
              <a:extLst>
                <a:ext uri="{FF2B5EF4-FFF2-40B4-BE49-F238E27FC236}">
                  <a16:creationId xmlns:a16="http://schemas.microsoft.com/office/drawing/2014/main" id="{48ECBFC1-6E23-A6EB-9E3C-90F27205A5EB}"/>
                </a:ext>
              </a:extLst>
            </p:cNvPr>
            <p:cNvSpPr/>
            <p:nvPr/>
          </p:nvSpPr>
          <p:spPr>
            <a:xfrm>
              <a:off x="393191" y="1041303"/>
              <a:ext cx="3855464" cy="1317849"/>
            </a:xfrm>
            <a:prstGeom prst="rect">
              <a:avLst/>
            </a:prstGeom>
            <a:noFill/>
            <a:ln/>
          </p:spPr>
          <p:txBody>
            <a:bodyPr wrap="square" rtlCol="0" anchor="ctr"/>
            <a:lstStyle/>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Static files, as the name mentions, are files which don't change; these can be assets like images, </a:t>
              </a:r>
              <a:r>
                <a:rPr lang="en-US" sz="1250" dirty="0" err="1">
                  <a:solidFill>
                    <a:srgbClr val="1C1C2E"/>
                  </a:solidFill>
                  <a:latin typeface="Calibri" pitchFamily="34" charset="0"/>
                  <a:ea typeface="Calibri" pitchFamily="34" charset="-122"/>
                  <a:cs typeface="Calibri" pitchFamily="34" charset="-120"/>
                </a:rPr>
                <a:t>css</a:t>
              </a:r>
              <a:r>
                <a:rPr lang="en-US" sz="1250" dirty="0">
                  <a:solidFill>
                    <a:srgbClr val="1C1C2E"/>
                  </a:solidFill>
                  <a:latin typeface="Calibri" pitchFamily="34" charset="0"/>
                  <a:ea typeface="Calibri" pitchFamily="34" charset="-122"/>
                  <a:cs typeface="Calibri" pitchFamily="34" charset="-120"/>
                </a:rPr>
                <a:t>, html, font, etc.</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Express has middleware named </a:t>
              </a:r>
              <a:r>
                <a:rPr lang="en-US" sz="1250" b="1" dirty="0" err="1">
                  <a:solidFill>
                    <a:srgbClr val="1C1C2E"/>
                  </a:solidFill>
                  <a:latin typeface="Calibri" pitchFamily="34" charset="0"/>
                  <a:ea typeface="Calibri" pitchFamily="34" charset="-122"/>
                  <a:cs typeface="Calibri" pitchFamily="34" charset="-120"/>
                </a:rPr>
                <a:t>express.static</a:t>
              </a:r>
              <a:r>
                <a:rPr lang="en-US" sz="1250" b="1" dirty="0">
                  <a:solidFill>
                    <a:srgbClr val="1C1C2E"/>
                  </a:solidFill>
                  <a:latin typeface="Calibri" pitchFamily="34" charset="0"/>
                  <a:ea typeface="Calibri" pitchFamily="34" charset="-122"/>
                  <a:cs typeface="Calibri" pitchFamily="34" charset="-120"/>
                </a:rPr>
                <a:t>("public") </a:t>
              </a:r>
              <a:r>
                <a:rPr lang="en-US" sz="1250" dirty="0">
                  <a:solidFill>
                    <a:srgbClr val="1C1C2E"/>
                  </a:solidFill>
                  <a:latin typeface="Calibri" pitchFamily="34" charset="0"/>
                  <a:ea typeface="Calibri" pitchFamily="34" charset="-122"/>
                  <a:cs typeface="Calibri" pitchFamily="34" charset="-120"/>
                </a:rPr>
                <a:t>which we can use to serve static files.</a:t>
              </a:r>
            </a:p>
            <a:p>
              <a:pPr marL="285750" indent="-285750" algn="just">
                <a:lnSpc>
                  <a:spcPct val="150000"/>
                </a:lnSpc>
                <a:buFont typeface="Courier New" panose="02070309020205020404" pitchFamily="49" charset="0"/>
                <a:buChar char="o"/>
              </a:pPr>
              <a:r>
                <a:rPr lang="en-US" sz="1250">
                  <a:solidFill>
                    <a:srgbClr val="1C1C2E"/>
                  </a:solidFill>
                  <a:latin typeface="Calibri" pitchFamily="34" charset="0"/>
                  <a:ea typeface="Calibri" pitchFamily="34" charset="-122"/>
                  <a:cs typeface="Calibri" pitchFamily="34" charset="-120"/>
                </a:rPr>
                <a:t>Files </a:t>
              </a:r>
              <a:r>
                <a:rPr lang="en-US" sz="1250" dirty="0">
                  <a:solidFill>
                    <a:srgbClr val="1C1C2E"/>
                  </a:solidFill>
                  <a:latin typeface="Calibri" pitchFamily="34" charset="0"/>
                  <a:ea typeface="Calibri" pitchFamily="34" charset="-122"/>
                  <a:cs typeface="Calibri" pitchFamily="34" charset="-120"/>
                </a:rPr>
                <a:t>in the static directory are accessible via their URL. For instance, if you have an image logo.png in the public folder, you can access it in the browser with </a:t>
              </a:r>
              <a:r>
                <a:rPr lang="en-US" sz="1250" b="1" dirty="0">
                  <a:solidFill>
                    <a:srgbClr val="1C1C2E"/>
                  </a:solidFill>
                  <a:latin typeface="Calibri" pitchFamily="34" charset="0"/>
                  <a:ea typeface="Calibri" pitchFamily="34" charset="-122"/>
                  <a:cs typeface="Calibri" pitchFamily="34" charset="-120"/>
                </a:rPr>
                <a:t>http://localhost:3000/logo.png</a:t>
              </a:r>
              <a:r>
                <a:rPr lang="en-US" sz="1250" dirty="0">
                  <a:solidFill>
                    <a:srgbClr val="1C1C2E"/>
                  </a:solidFill>
                  <a:latin typeface="Calibri" pitchFamily="34" charset="0"/>
                  <a:ea typeface="Calibri" pitchFamily="34" charset="-122"/>
                  <a:cs typeface="Calibri" pitchFamily="34" charset="-120"/>
                </a:rPr>
                <a:t>.</a:t>
              </a:r>
            </a:p>
            <a:p>
              <a:pPr marL="285750" indent="-285750" algn="just">
                <a:lnSpc>
                  <a:spcPct val="150000"/>
                </a:lnSpc>
                <a:buFont typeface="Courier New" panose="02070309020205020404" pitchFamily="49" charset="0"/>
                <a:buChar char="o"/>
              </a:pPr>
              <a:r>
                <a:rPr lang="en-US" sz="1250" dirty="0">
                  <a:solidFill>
                    <a:srgbClr val="1C1C2E"/>
                  </a:solidFill>
                  <a:latin typeface="Calibri" pitchFamily="34" charset="0"/>
                  <a:ea typeface="Calibri" pitchFamily="34" charset="-122"/>
                  <a:cs typeface="Calibri" pitchFamily="34" charset="-120"/>
                </a:rPr>
                <a:t>It will handle all files inside the directory provided.</a:t>
              </a:r>
              <a:endParaRPr lang="en-US" sz="1250" dirty="0"/>
            </a:p>
          </p:txBody>
        </p:sp>
      </p:grpSp>
    </p:spTree>
    <p:extLst>
      <p:ext uri="{BB962C8B-B14F-4D97-AF65-F5344CB8AC3E}">
        <p14:creationId xmlns:p14="http://schemas.microsoft.com/office/powerpoint/2010/main" val="2862150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Static Files — What &amp; How</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7 › Static Files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144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1440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Static Files</a:t>
            </a:r>
            <a:endParaRPr lang="en-US" sz="1300" dirty="0"/>
          </a:p>
        </p:txBody>
      </p:sp>
      <p:sp>
        <p:nvSpPr>
          <p:cNvPr id="11" name="Text 9"/>
          <p:cNvSpPr/>
          <p:nvPr/>
        </p:nvSpPr>
        <p:spPr>
          <a:xfrm>
            <a:off x="393192" y="1444752"/>
            <a:ext cx="8458200" cy="3474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Files served directly to the client without any modification on the server. They are 'static' because the content is the same for every request. Examples: CSS stylesheets, client-side JavaScript files, images (PNG, JPG), fonts, PDF documents.</a:t>
            </a:r>
            <a:endParaRPr lang="en-US" sz="1250" dirty="0"/>
          </a:p>
        </p:txBody>
      </p:sp>
      <p:sp>
        <p:nvSpPr>
          <p:cNvPr id="12" name="Shape 10"/>
          <p:cNvSpPr/>
          <p:nvPr/>
        </p:nvSpPr>
        <p:spPr>
          <a:xfrm>
            <a:off x="228600" y="1993392"/>
            <a:ext cx="4251960" cy="2389422"/>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1993392"/>
            <a:ext cx="4251960" cy="256032"/>
          </a:xfrm>
          <a:prstGeom prst="rect">
            <a:avLst/>
          </a:prstGeom>
          <a:solidFill>
            <a:srgbClr val="152232"/>
          </a:solidFill>
          <a:ln/>
        </p:spPr>
      </p:sp>
      <p:sp>
        <p:nvSpPr>
          <p:cNvPr id="14" name="Text 12"/>
          <p:cNvSpPr/>
          <p:nvPr/>
        </p:nvSpPr>
        <p:spPr>
          <a:xfrm>
            <a:off x="228600" y="201168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286000"/>
            <a:ext cx="4023360" cy="2096814"/>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One line serves ALL files in public/</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app.use(express.static('public'));</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Files become accessible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public/css/style.css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http://localhost:3000/css/style.css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public/images/logo.png</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http://localhost:3000/images/logo.png</a:t>
            </a:r>
            <a:endParaRPr lang="en-US" sz="1150" dirty="0"/>
          </a:p>
        </p:txBody>
      </p:sp>
      <p:sp>
        <p:nvSpPr>
          <p:cNvPr id="16" name="Shape 14"/>
          <p:cNvSpPr/>
          <p:nvPr/>
        </p:nvSpPr>
        <p:spPr>
          <a:xfrm>
            <a:off x="4663440" y="1993392"/>
            <a:ext cx="4251960" cy="2389422"/>
          </a:xfrm>
          <a:prstGeom prst="rect">
            <a:avLst/>
          </a:prstGeom>
          <a:solidFill>
            <a:srgbClr val="1E2D3D"/>
          </a:solidFill>
          <a:ln/>
          <a:effectLst>
            <a:outerShdw blurRad="88900" dist="38100" dir="8100000" algn="bl" rotWithShape="0">
              <a:srgbClr val="000000">
                <a:alpha val="13000"/>
              </a:srgbClr>
            </a:outerShdw>
          </a:effectLst>
        </p:spPr>
      </p:sp>
      <p:sp>
        <p:nvSpPr>
          <p:cNvPr id="17" name="Shape 15"/>
          <p:cNvSpPr/>
          <p:nvPr/>
        </p:nvSpPr>
        <p:spPr>
          <a:xfrm>
            <a:off x="4663440" y="1993392"/>
            <a:ext cx="4251960" cy="256032"/>
          </a:xfrm>
          <a:prstGeom prst="rect">
            <a:avLst/>
          </a:prstGeom>
          <a:solidFill>
            <a:srgbClr val="152232"/>
          </a:solidFill>
          <a:ln/>
        </p:spPr>
      </p:sp>
      <p:sp>
        <p:nvSpPr>
          <p:cNvPr id="18" name="Text 16"/>
          <p:cNvSpPr/>
          <p:nvPr/>
        </p:nvSpPr>
        <p:spPr>
          <a:xfrm>
            <a:off x="4663440" y="201168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9" name="Text 17"/>
          <p:cNvSpPr/>
          <p:nvPr/>
        </p:nvSpPr>
        <p:spPr>
          <a:xfrm>
            <a:off x="4800600" y="2286000"/>
            <a:ext cx="4023360" cy="1970532"/>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&lt;!-- Link static files in EJS --&gt;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&lt;head&gt;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&lt;link rel='stylesheet'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href='/css/style.css'&gt;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&lt;/head&gt;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&lt;body&gt;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&lt;img src='/images/logo.png'&gt;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&lt;script src='/js/app.js'&gt;&lt;/script&gt;</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B7181843-AFC5-38B6-6859-50721BA8C0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945A87-D3ED-698E-F3A2-64C4BC339B3F}"/>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C2211CAD-DCE5-0B7D-B3E2-B199222C1C64}"/>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CAD32287-7F45-F7AC-34BC-3B38963A914E}"/>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Static Files — What &amp; How</a:t>
            </a:r>
            <a:endParaRPr lang="en-US" sz="2400" dirty="0"/>
          </a:p>
        </p:txBody>
      </p:sp>
      <p:sp>
        <p:nvSpPr>
          <p:cNvPr id="5" name="Text 3">
            <a:extLst>
              <a:ext uri="{FF2B5EF4-FFF2-40B4-BE49-F238E27FC236}">
                <a16:creationId xmlns:a16="http://schemas.microsoft.com/office/drawing/2014/main" id="{BE5CD767-BE43-C572-6AF7-037DD1AE637F}"/>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7 › Static Files</a:t>
            </a:r>
            <a:endParaRPr lang="en-US" sz="1100" dirty="0"/>
          </a:p>
        </p:txBody>
      </p:sp>
      <p:sp>
        <p:nvSpPr>
          <p:cNvPr id="6" name="Shape 4">
            <a:extLst>
              <a:ext uri="{FF2B5EF4-FFF2-40B4-BE49-F238E27FC236}">
                <a16:creationId xmlns:a16="http://schemas.microsoft.com/office/drawing/2014/main" id="{9ED91ACA-789D-230A-2BFF-16BA36177C0C}"/>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C484C8B7-2318-A988-09B4-18505F3E57A2}"/>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20" name="Text 18">
            <a:extLst>
              <a:ext uri="{FF2B5EF4-FFF2-40B4-BE49-F238E27FC236}">
                <a16:creationId xmlns:a16="http://schemas.microsoft.com/office/drawing/2014/main" id="{147DA38C-B995-D5B3-D674-0E60B2C7E02F}"/>
              </a:ext>
            </a:extLst>
          </p:cNvPr>
          <p:cNvSpPr/>
          <p:nvPr/>
        </p:nvSpPr>
        <p:spPr>
          <a:xfrm>
            <a:off x="274320" y="1652865"/>
            <a:ext cx="8595360" cy="320040"/>
          </a:xfrm>
          <a:prstGeom prst="rect">
            <a:avLst/>
          </a:prstGeom>
          <a:noFill/>
          <a:ln/>
        </p:spPr>
        <p:txBody>
          <a:bodyPr wrap="square" lIns="0" tIns="0" rIns="0" bIns="0" rtlCol="0" anchor="ctr"/>
          <a:lstStyle/>
          <a:p>
            <a:pPr marL="0" indent="0">
              <a:buNone/>
            </a:pPr>
            <a:r>
              <a:rPr lang="en-US" sz="1250" b="1" dirty="0">
                <a:solidFill>
                  <a:srgbClr val="1A3A6B"/>
                </a:solidFill>
                <a:latin typeface="Calibri" pitchFamily="34" charset="0"/>
                <a:ea typeface="Calibri" pitchFamily="34" charset="-122"/>
                <a:cs typeface="Calibri" pitchFamily="34" charset="-120"/>
              </a:rPr>
              <a:t>Recommended Project Folder Structure:</a:t>
            </a:r>
            <a:endParaRPr lang="en-US" sz="1250" dirty="0"/>
          </a:p>
        </p:txBody>
      </p:sp>
      <p:sp>
        <p:nvSpPr>
          <p:cNvPr id="21" name="Shape 19">
            <a:extLst>
              <a:ext uri="{FF2B5EF4-FFF2-40B4-BE49-F238E27FC236}">
                <a16:creationId xmlns:a16="http://schemas.microsoft.com/office/drawing/2014/main" id="{DA39ECC9-BBDE-C189-39E8-D14722AC3644}"/>
              </a:ext>
            </a:extLst>
          </p:cNvPr>
          <p:cNvSpPr/>
          <p:nvPr/>
        </p:nvSpPr>
        <p:spPr>
          <a:xfrm>
            <a:off x="228600" y="2018625"/>
            <a:ext cx="8686800" cy="777240"/>
          </a:xfrm>
          <a:prstGeom prst="rect">
            <a:avLst/>
          </a:prstGeom>
          <a:solidFill>
            <a:srgbClr val="1E2D3D"/>
          </a:solidFill>
          <a:ln/>
          <a:effectLst>
            <a:outerShdw blurRad="88900" dist="38100" dir="8100000" algn="bl" rotWithShape="0">
              <a:srgbClr val="000000">
                <a:alpha val="13000"/>
              </a:srgbClr>
            </a:outerShdw>
          </a:effectLst>
        </p:spPr>
      </p:sp>
      <p:sp>
        <p:nvSpPr>
          <p:cNvPr id="22" name="Shape 20">
            <a:extLst>
              <a:ext uri="{FF2B5EF4-FFF2-40B4-BE49-F238E27FC236}">
                <a16:creationId xmlns:a16="http://schemas.microsoft.com/office/drawing/2014/main" id="{E6103BD9-EE0E-7DF3-0C74-987B305831E2}"/>
              </a:ext>
            </a:extLst>
          </p:cNvPr>
          <p:cNvSpPr/>
          <p:nvPr/>
        </p:nvSpPr>
        <p:spPr>
          <a:xfrm>
            <a:off x="228600" y="2018625"/>
            <a:ext cx="8686800" cy="256032"/>
          </a:xfrm>
          <a:prstGeom prst="rect">
            <a:avLst/>
          </a:prstGeom>
          <a:solidFill>
            <a:srgbClr val="152232"/>
          </a:solidFill>
          <a:ln/>
        </p:spPr>
      </p:sp>
      <p:sp>
        <p:nvSpPr>
          <p:cNvPr id="23" name="Text 21">
            <a:extLst>
              <a:ext uri="{FF2B5EF4-FFF2-40B4-BE49-F238E27FC236}">
                <a16:creationId xmlns:a16="http://schemas.microsoft.com/office/drawing/2014/main" id="{C2C2E9EB-7638-E9E2-81AF-1963ABED1A10}"/>
              </a:ext>
            </a:extLst>
          </p:cNvPr>
          <p:cNvSpPr/>
          <p:nvPr/>
        </p:nvSpPr>
        <p:spPr>
          <a:xfrm>
            <a:off x="228600" y="2036913"/>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24" name="Text 22">
            <a:extLst>
              <a:ext uri="{FF2B5EF4-FFF2-40B4-BE49-F238E27FC236}">
                <a16:creationId xmlns:a16="http://schemas.microsoft.com/office/drawing/2014/main" id="{4E2EA869-D15B-05C2-4949-6AD84E1CCD93}"/>
              </a:ext>
            </a:extLst>
          </p:cNvPr>
          <p:cNvSpPr/>
          <p:nvPr/>
        </p:nvSpPr>
        <p:spPr>
          <a:xfrm>
            <a:off x="365760" y="2311233"/>
            <a:ext cx="8458200" cy="41148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my-project/  ├── public/  │   ├── css/styles.css  │   ├── js/script.js  │   └── images/logo.png  ├── views/  │   └── index.ejs  ├── app.js  └── package.json</a:t>
            </a:r>
            <a:endParaRPr lang="en-US" sz="1150" dirty="0"/>
          </a:p>
        </p:txBody>
      </p:sp>
    </p:spTree>
    <p:extLst>
      <p:ext uri="{BB962C8B-B14F-4D97-AF65-F5344CB8AC3E}">
        <p14:creationId xmlns:p14="http://schemas.microsoft.com/office/powerpoint/2010/main" val="4120511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E3E43A-AA56-E2EE-260A-970ABDF8ACDE}"/>
              </a:ext>
            </a:extLst>
          </p:cNvPr>
          <p:cNvPicPr>
            <a:picLocks noChangeAspect="1"/>
          </p:cNvPicPr>
          <p:nvPr/>
        </p:nvPicPr>
        <p:blipFill>
          <a:blip r:embed="rId2"/>
          <a:stretch>
            <a:fillRect/>
          </a:stretch>
        </p:blipFill>
        <p:spPr>
          <a:xfrm>
            <a:off x="195048" y="0"/>
            <a:ext cx="4330904" cy="4993019"/>
          </a:xfrm>
          <a:prstGeom prst="rect">
            <a:avLst/>
          </a:prstGeom>
        </p:spPr>
      </p:pic>
      <p:pic>
        <p:nvPicPr>
          <p:cNvPr id="5" name="Picture 4">
            <a:extLst>
              <a:ext uri="{FF2B5EF4-FFF2-40B4-BE49-F238E27FC236}">
                <a16:creationId xmlns:a16="http://schemas.microsoft.com/office/drawing/2014/main" id="{A536558F-3195-9784-A1D4-79996AC4F2B4}"/>
              </a:ext>
            </a:extLst>
          </p:cNvPr>
          <p:cNvPicPr>
            <a:picLocks noChangeAspect="1"/>
          </p:cNvPicPr>
          <p:nvPr/>
        </p:nvPicPr>
        <p:blipFill>
          <a:blip r:embed="rId3"/>
          <a:stretch>
            <a:fillRect/>
          </a:stretch>
        </p:blipFill>
        <p:spPr>
          <a:xfrm>
            <a:off x="4808823" y="26074"/>
            <a:ext cx="4032570" cy="4966945"/>
          </a:xfrm>
          <a:prstGeom prst="rect">
            <a:avLst/>
          </a:prstGeom>
        </p:spPr>
      </p:pic>
    </p:spTree>
    <p:extLst>
      <p:ext uri="{BB962C8B-B14F-4D97-AF65-F5344CB8AC3E}">
        <p14:creationId xmlns:p14="http://schemas.microsoft.com/office/powerpoint/2010/main" val="2448131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8</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async/await in Node.js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Writing clean, readable asynchronous code</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Synchronous vs Asynchronous Programming</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8 › async/await</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4251960" cy="1298448"/>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1298448"/>
          </a:xfrm>
          <a:prstGeom prst="rect">
            <a:avLst/>
          </a:prstGeom>
          <a:solidFill>
            <a:srgbClr val="1E6FBF"/>
          </a:solidFill>
          <a:ln/>
        </p:spPr>
      </p:sp>
      <p:sp>
        <p:nvSpPr>
          <p:cNvPr id="10" name="Text 8"/>
          <p:cNvSpPr/>
          <p:nvPr/>
        </p:nvSpPr>
        <p:spPr>
          <a:xfrm>
            <a:off x="39319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Synchronous (Blocking)</a:t>
            </a:r>
            <a:endParaRPr lang="en-US" sz="1300" dirty="0"/>
          </a:p>
        </p:txBody>
      </p:sp>
      <p:sp>
        <p:nvSpPr>
          <p:cNvPr id="11" name="Text 9"/>
          <p:cNvSpPr/>
          <p:nvPr/>
        </p:nvSpPr>
        <p:spPr>
          <a:xfrm>
            <a:off x="393192" y="1444752"/>
            <a:ext cx="4023360" cy="73152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Code runs one statement at a time. Each statement WAITS for the previous one to finish before starting. Simple but slow — if one operation is slow, everything else has to wait.</a:t>
            </a:r>
            <a:endParaRPr lang="en-US" sz="1250" dirty="0"/>
          </a:p>
        </p:txBody>
      </p:sp>
      <p:sp>
        <p:nvSpPr>
          <p:cNvPr id="12" name="Shape 10"/>
          <p:cNvSpPr/>
          <p:nvPr/>
        </p:nvSpPr>
        <p:spPr>
          <a:xfrm>
            <a:off x="4663440" y="987552"/>
            <a:ext cx="4251960" cy="1298448"/>
          </a:xfrm>
          <a:prstGeom prst="rect">
            <a:avLst/>
          </a:prstGeom>
          <a:solidFill>
            <a:srgbClr val="EBF4FD"/>
          </a:solidFill>
          <a:ln/>
          <a:effectLst>
            <a:outerShdw blurRad="88900" dist="38100" dir="8100000" algn="bl" rotWithShape="0">
              <a:srgbClr val="000000">
                <a:alpha val="13000"/>
              </a:srgbClr>
            </a:outerShdw>
          </a:effectLst>
        </p:spPr>
      </p:sp>
      <p:sp>
        <p:nvSpPr>
          <p:cNvPr id="13" name="Shape 11"/>
          <p:cNvSpPr/>
          <p:nvPr/>
        </p:nvSpPr>
        <p:spPr>
          <a:xfrm>
            <a:off x="4663440" y="987552"/>
            <a:ext cx="91440" cy="1298448"/>
          </a:xfrm>
          <a:prstGeom prst="rect">
            <a:avLst/>
          </a:prstGeom>
          <a:solidFill>
            <a:srgbClr val="1E6FBF"/>
          </a:solidFill>
          <a:ln/>
        </p:spPr>
      </p:sp>
      <p:sp>
        <p:nvSpPr>
          <p:cNvPr id="14" name="Text 12"/>
          <p:cNvSpPr/>
          <p:nvPr/>
        </p:nvSpPr>
        <p:spPr>
          <a:xfrm>
            <a:off x="4828032" y="1060704"/>
            <a:ext cx="402336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Asynchronous (Non-Blocking)</a:t>
            </a:r>
            <a:endParaRPr lang="en-US" sz="1300" dirty="0"/>
          </a:p>
        </p:txBody>
      </p:sp>
      <p:sp>
        <p:nvSpPr>
          <p:cNvPr id="15" name="Text 13"/>
          <p:cNvSpPr/>
          <p:nvPr/>
        </p:nvSpPr>
        <p:spPr>
          <a:xfrm>
            <a:off x="4828032" y="1444752"/>
            <a:ext cx="4023360" cy="731520"/>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Code starts an operation and moves on WITHOUT waiting for it to finish. When the operation completes, a callback or Promise handles the result. Node.js is built around this approach.</a:t>
            </a:r>
            <a:endParaRPr lang="en-US" sz="1250" dirty="0"/>
          </a:p>
        </p:txBody>
      </p:sp>
      <p:sp>
        <p:nvSpPr>
          <p:cNvPr id="16" name="Shape 14"/>
          <p:cNvSpPr/>
          <p:nvPr/>
        </p:nvSpPr>
        <p:spPr>
          <a:xfrm>
            <a:off x="228600" y="2395728"/>
            <a:ext cx="8686800" cy="1106424"/>
          </a:xfrm>
          <a:prstGeom prst="rect">
            <a:avLst/>
          </a:prstGeom>
          <a:solidFill>
            <a:srgbClr val="EAFAF1"/>
          </a:solidFill>
          <a:ln/>
          <a:effectLst>
            <a:outerShdw blurRad="88900" dist="38100" dir="8100000" algn="bl" rotWithShape="0">
              <a:srgbClr val="000000">
                <a:alpha val="13000"/>
              </a:srgbClr>
            </a:outerShdw>
          </a:effectLst>
        </p:spPr>
      </p:sp>
      <p:sp>
        <p:nvSpPr>
          <p:cNvPr id="17" name="Shape 15"/>
          <p:cNvSpPr/>
          <p:nvPr/>
        </p:nvSpPr>
        <p:spPr>
          <a:xfrm>
            <a:off x="228600" y="2395728"/>
            <a:ext cx="91440" cy="1106424"/>
          </a:xfrm>
          <a:prstGeom prst="rect">
            <a:avLst/>
          </a:prstGeom>
          <a:solidFill>
            <a:srgbClr val="06D6A0"/>
          </a:solidFill>
          <a:ln/>
        </p:spPr>
      </p:sp>
      <p:sp>
        <p:nvSpPr>
          <p:cNvPr id="18" name="Text 16"/>
          <p:cNvSpPr/>
          <p:nvPr/>
        </p:nvSpPr>
        <p:spPr>
          <a:xfrm>
            <a:off x="393192" y="2402982"/>
            <a:ext cx="8458200" cy="329184"/>
          </a:xfrm>
          <a:prstGeom prst="rect">
            <a:avLst/>
          </a:prstGeom>
          <a:noFill/>
          <a:ln/>
        </p:spPr>
        <p:txBody>
          <a:bodyPr wrap="square" lIns="0" tIns="0" rIns="0" bIns="0" rtlCol="0" anchor="ctr"/>
          <a:lstStyle/>
          <a:p>
            <a:pPr marL="0" indent="0">
              <a:buNone/>
            </a:pPr>
            <a:r>
              <a:rPr lang="en-US" sz="1300" b="1" dirty="0">
                <a:solidFill>
                  <a:srgbClr val="1A6344"/>
                </a:solidFill>
                <a:latin typeface="Calibri" pitchFamily="34" charset="0"/>
                <a:ea typeface="Calibri" pitchFamily="34" charset="-122"/>
                <a:cs typeface="Calibri" pitchFamily="34" charset="-120"/>
              </a:rPr>
              <a:t>🌍  Analogy — Cooking:</a:t>
            </a:r>
            <a:endParaRPr lang="en-US" sz="1300" dirty="0"/>
          </a:p>
        </p:txBody>
      </p:sp>
      <p:sp>
        <p:nvSpPr>
          <p:cNvPr id="19" name="Text 17"/>
          <p:cNvSpPr/>
          <p:nvPr/>
        </p:nvSpPr>
        <p:spPr>
          <a:xfrm>
            <a:off x="393192" y="2797434"/>
            <a:ext cx="8458200" cy="621792"/>
          </a:xfrm>
          <a:prstGeom prst="rect">
            <a:avLst/>
          </a:prstGeom>
          <a:noFill/>
          <a:ln/>
        </p:spPr>
        <p:txBody>
          <a:bodyPr wrap="square" rtlCol="0" anchor="ctr"/>
          <a:lstStyle/>
          <a:p>
            <a:pPr marL="0" indent="0">
              <a:buNone/>
            </a:pPr>
            <a:r>
              <a:rPr lang="en-US" sz="1200" dirty="0">
                <a:solidFill>
                  <a:srgbClr val="1A4A33"/>
                </a:solidFill>
                <a:latin typeface="Calibri" pitchFamily="34" charset="0"/>
                <a:ea typeface="Calibri" pitchFamily="34" charset="-122"/>
                <a:cs typeface="Calibri" pitchFamily="34" charset="-120"/>
              </a:rPr>
              <a:t>SYNCHRONOUS: Put rice on stove → stand and stare at it for 10 minutes → when done, start vegetables → when done, start curry. Very slow!</a:t>
            </a:r>
            <a:endParaRPr lang="en-US" sz="1200" dirty="0"/>
          </a:p>
          <a:p>
            <a:pPr marL="0" indent="0">
              <a:buNone/>
            </a:pPr>
            <a:r>
              <a:rPr lang="en-US" sz="1200" dirty="0">
                <a:solidFill>
                  <a:srgbClr val="1A4A33"/>
                </a:solidFill>
                <a:latin typeface="Calibri" pitchFamily="34" charset="0"/>
                <a:ea typeface="Calibri" pitchFamily="34" charset="-122"/>
                <a:cs typeface="Calibri" pitchFamily="34" charset="-120"/>
              </a:rPr>
              <a:t>ASYNCHRONOUS (Node.js): Put rice on stove → immediately start cutting vegetables → start curry → when rice finishes (event), handle it. All done much faster!</a:t>
            </a:r>
            <a:endParaRPr lang="en-US" sz="1200" dirty="0"/>
          </a:p>
        </p:txBody>
      </p:sp>
      <p:sp>
        <p:nvSpPr>
          <p:cNvPr id="20" name="Text 18"/>
          <p:cNvSpPr/>
          <p:nvPr/>
        </p:nvSpPr>
        <p:spPr>
          <a:xfrm>
            <a:off x="274320" y="3502152"/>
            <a:ext cx="859536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Three Ways to Handle Async Code in JavaScript:</a:t>
            </a:r>
            <a:endParaRPr lang="en-US" sz="1300" dirty="0"/>
          </a:p>
        </p:txBody>
      </p:sp>
      <p:sp>
        <p:nvSpPr>
          <p:cNvPr id="21" name="Shape 19"/>
          <p:cNvSpPr/>
          <p:nvPr/>
        </p:nvSpPr>
        <p:spPr>
          <a:xfrm>
            <a:off x="228600" y="3913632"/>
            <a:ext cx="2834640" cy="932688"/>
          </a:xfrm>
          <a:prstGeom prst="rect">
            <a:avLst/>
          </a:prstGeom>
          <a:solidFill>
            <a:srgbClr val="FFFFFF"/>
          </a:solidFill>
          <a:ln/>
          <a:effectLst>
            <a:outerShdw blurRad="88900" dist="38100" dir="8100000" algn="bl" rotWithShape="0">
              <a:srgbClr val="000000">
                <a:alpha val="13000"/>
              </a:srgbClr>
            </a:outerShdw>
          </a:effectLst>
        </p:spPr>
      </p:sp>
      <p:sp>
        <p:nvSpPr>
          <p:cNvPr id="22" name="Shape 20"/>
          <p:cNvSpPr/>
          <p:nvPr/>
        </p:nvSpPr>
        <p:spPr>
          <a:xfrm>
            <a:off x="228600" y="3913632"/>
            <a:ext cx="2834640" cy="73152"/>
          </a:xfrm>
          <a:prstGeom prst="rect">
            <a:avLst/>
          </a:prstGeom>
          <a:solidFill>
            <a:srgbClr val="EF476F"/>
          </a:solidFill>
          <a:ln/>
        </p:spPr>
      </p:sp>
      <p:sp>
        <p:nvSpPr>
          <p:cNvPr id="23" name="Text 21"/>
          <p:cNvSpPr/>
          <p:nvPr/>
        </p:nvSpPr>
        <p:spPr>
          <a:xfrm>
            <a:off x="320040" y="4023360"/>
            <a:ext cx="2651760" cy="274320"/>
          </a:xfrm>
          <a:prstGeom prst="rect">
            <a:avLst/>
          </a:prstGeom>
          <a:noFill/>
          <a:ln/>
        </p:spPr>
        <p:txBody>
          <a:bodyPr wrap="square" rtlCol="0" anchor="ctr"/>
          <a:lstStyle/>
          <a:p>
            <a:pPr marL="0" indent="0">
              <a:buNone/>
            </a:pPr>
            <a:r>
              <a:rPr lang="en-US" sz="1100" b="1" dirty="0">
                <a:solidFill>
                  <a:srgbClr val="EF476F"/>
                </a:solidFill>
                <a:latin typeface="Calibri" pitchFamily="34" charset="0"/>
                <a:ea typeface="Calibri" pitchFamily="34" charset="-122"/>
                <a:cs typeface="Calibri" pitchFamily="34" charset="-120"/>
              </a:rPr>
              <a:t>Generation 1</a:t>
            </a:r>
            <a:endParaRPr lang="en-US" sz="1100" dirty="0"/>
          </a:p>
        </p:txBody>
      </p:sp>
      <p:sp>
        <p:nvSpPr>
          <p:cNvPr id="24" name="Text 22"/>
          <p:cNvSpPr/>
          <p:nvPr/>
        </p:nvSpPr>
        <p:spPr>
          <a:xfrm>
            <a:off x="320040" y="4297680"/>
            <a:ext cx="2651760" cy="274320"/>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Callbacks</a:t>
            </a:r>
            <a:endParaRPr lang="en-US" sz="1250" dirty="0"/>
          </a:p>
        </p:txBody>
      </p:sp>
      <p:sp>
        <p:nvSpPr>
          <p:cNvPr id="25" name="Text 23"/>
          <p:cNvSpPr/>
          <p:nvPr/>
        </p:nvSpPr>
        <p:spPr>
          <a:xfrm>
            <a:off x="320040" y="4553712"/>
            <a:ext cx="2651760" cy="256032"/>
          </a:xfrm>
          <a:prstGeom prst="rect">
            <a:avLst/>
          </a:prstGeom>
          <a:noFill/>
          <a:ln/>
        </p:spPr>
        <p:txBody>
          <a:bodyPr wrap="square" rtlCol="0" anchor="ctr"/>
          <a:lstStyle/>
          <a:p>
            <a:pPr marL="0" indent="0">
              <a:buNone/>
            </a:pPr>
            <a:r>
              <a:rPr lang="en-US" sz="1050" dirty="0">
                <a:solidFill>
                  <a:srgbClr val="5A6475"/>
                </a:solidFill>
                <a:latin typeface="Calibri" pitchFamily="34" charset="0"/>
                <a:ea typeface="Calibri" pitchFamily="34" charset="-122"/>
                <a:cs typeface="Calibri" pitchFamily="34" charset="-120"/>
              </a:rPr>
              <a:t>Functions passed as arguments — gets messy (Callback Hell)</a:t>
            </a:r>
            <a:endParaRPr lang="en-US" sz="1050" dirty="0"/>
          </a:p>
        </p:txBody>
      </p:sp>
      <p:sp>
        <p:nvSpPr>
          <p:cNvPr id="26" name="Shape 24"/>
          <p:cNvSpPr/>
          <p:nvPr/>
        </p:nvSpPr>
        <p:spPr>
          <a:xfrm>
            <a:off x="3200400" y="3913632"/>
            <a:ext cx="2834640" cy="932688"/>
          </a:xfrm>
          <a:prstGeom prst="rect">
            <a:avLst/>
          </a:prstGeom>
          <a:solidFill>
            <a:srgbClr val="FFFFFF"/>
          </a:solidFill>
          <a:ln/>
          <a:effectLst>
            <a:outerShdw blurRad="88900" dist="38100" dir="8100000" algn="bl" rotWithShape="0">
              <a:srgbClr val="000000">
                <a:alpha val="13000"/>
              </a:srgbClr>
            </a:outerShdw>
          </a:effectLst>
        </p:spPr>
      </p:sp>
      <p:sp>
        <p:nvSpPr>
          <p:cNvPr id="27" name="Shape 25"/>
          <p:cNvSpPr/>
          <p:nvPr/>
        </p:nvSpPr>
        <p:spPr>
          <a:xfrm>
            <a:off x="3200400" y="3913632"/>
            <a:ext cx="2834640" cy="73152"/>
          </a:xfrm>
          <a:prstGeom prst="rect">
            <a:avLst/>
          </a:prstGeom>
          <a:solidFill>
            <a:srgbClr val="F4A261"/>
          </a:solidFill>
          <a:ln/>
        </p:spPr>
      </p:sp>
      <p:sp>
        <p:nvSpPr>
          <p:cNvPr id="28" name="Text 26"/>
          <p:cNvSpPr/>
          <p:nvPr/>
        </p:nvSpPr>
        <p:spPr>
          <a:xfrm>
            <a:off x="3291840" y="4023360"/>
            <a:ext cx="2651760" cy="274320"/>
          </a:xfrm>
          <a:prstGeom prst="rect">
            <a:avLst/>
          </a:prstGeom>
          <a:noFill/>
          <a:ln/>
        </p:spPr>
        <p:txBody>
          <a:bodyPr wrap="square"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Generation 2</a:t>
            </a:r>
            <a:endParaRPr lang="en-US" sz="1100" dirty="0"/>
          </a:p>
        </p:txBody>
      </p:sp>
      <p:sp>
        <p:nvSpPr>
          <p:cNvPr id="29" name="Text 27"/>
          <p:cNvSpPr/>
          <p:nvPr/>
        </p:nvSpPr>
        <p:spPr>
          <a:xfrm>
            <a:off x="3291840" y="4297680"/>
            <a:ext cx="2651760" cy="274320"/>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Promises (.then/.catch)</a:t>
            </a:r>
            <a:endParaRPr lang="en-US" sz="1250" dirty="0"/>
          </a:p>
        </p:txBody>
      </p:sp>
      <p:sp>
        <p:nvSpPr>
          <p:cNvPr id="30" name="Text 28"/>
          <p:cNvSpPr/>
          <p:nvPr/>
        </p:nvSpPr>
        <p:spPr>
          <a:xfrm>
            <a:off x="3291840" y="4553712"/>
            <a:ext cx="2651760" cy="256032"/>
          </a:xfrm>
          <a:prstGeom prst="rect">
            <a:avLst/>
          </a:prstGeom>
          <a:noFill/>
          <a:ln/>
        </p:spPr>
        <p:txBody>
          <a:bodyPr wrap="square" rtlCol="0" anchor="ctr"/>
          <a:lstStyle/>
          <a:p>
            <a:pPr marL="0" indent="0">
              <a:buNone/>
            </a:pPr>
            <a:r>
              <a:rPr lang="en-US" sz="1050" dirty="0">
                <a:solidFill>
                  <a:srgbClr val="5A6475"/>
                </a:solidFill>
                <a:latin typeface="Calibri" pitchFamily="34" charset="0"/>
                <a:ea typeface="Calibri" pitchFamily="34" charset="-122"/>
                <a:cs typeface="Calibri" pitchFamily="34" charset="-120"/>
              </a:rPr>
              <a:t>Chainable approach — cleaner but still verbose</a:t>
            </a:r>
            <a:endParaRPr lang="en-US" sz="1050" dirty="0"/>
          </a:p>
        </p:txBody>
      </p:sp>
      <p:sp>
        <p:nvSpPr>
          <p:cNvPr id="31" name="Shape 29"/>
          <p:cNvSpPr/>
          <p:nvPr/>
        </p:nvSpPr>
        <p:spPr>
          <a:xfrm>
            <a:off x="6172200" y="3913632"/>
            <a:ext cx="2834640" cy="932688"/>
          </a:xfrm>
          <a:prstGeom prst="rect">
            <a:avLst/>
          </a:prstGeom>
          <a:solidFill>
            <a:srgbClr val="FFFFFF"/>
          </a:solidFill>
          <a:ln/>
          <a:effectLst>
            <a:outerShdw blurRad="88900" dist="38100" dir="8100000" algn="bl" rotWithShape="0">
              <a:srgbClr val="000000">
                <a:alpha val="13000"/>
              </a:srgbClr>
            </a:outerShdw>
          </a:effectLst>
        </p:spPr>
      </p:sp>
      <p:sp>
        <p:nvSpPr>
          <p:cNvPr id="32" name="Shape 30"/>
          <p:cNvSpPr/>
          <p:nvPr/>
        </p:nvSpPr>
        <p:spPr>
          <a:xfrm>
            <a:off x="6172200" y="3913632"/>
            <a:ext cx="2834640" cy="73152"/>
          </a:xfrm>
          <a:prstGeom prst="rect">
            <a:avLst/>
          </a:prstGeom>
          <a:solidFill>
            <a:srgbClr val="06D6A0"/>
          </a:solidFill>
          <a:ln/>
        </p:spPr>
      </p:sp>
      <p:sp>
        <p:nvSpPr>
          <p:cNvPr id="33" name="Text 31"/>
          <p:cNvSpPr/>
          <p:nvPr/>
        </p:nvSpPr>
        <p:spPr>
          <a:xfrm>
            <a:off x="6263640" y="4023360"/>
            <a:ext cx="2651760" cy="274320"/>
          </a:xfrm>
          <a:prstGeom prst="rect">
            <a:avLst/>
          </a:prstGeom>
          <a:noFill/>
          <a:ln/>
        </p:spPr>
        <p:txBody>
          <a:bodyPr wrap="square"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Generation 3</a:t>
            </a:r>
            <a:endParaRPr lang="en-US" sz="1100" dirty="0"/>
          </a:p>
        </p:txBody>
      </p:sp>
      <p:sp>
        <p:nvSpPr>
          <p:cNvPr id="34" name="Text 32"/>
          <p:cNvSpPr/>
          <p:nvPr/>
        </p:nvSpPr>
        <p:spPr>
          <a:xfrm>
            <a:off x="6263640" y="4297680"/>
            <a:ext cx="2651760" cy="274320"/>
          </a:xfrm>
          <a:prstGeom prst="rect">
            <a:avLst/>
          </a:prstGeom>
          <a:noFill/>
          <a:ln/>
        </p:spPr>
        <p:txBody>
          <a:bodyPr wrap="square" rtlCol="0" anchor="ctr"/>
          <a:lstStyle/>
          <a:p>
            <a:pPr marL="0" indent="0">
              <a:buNone/>
            </a:pPr>
            <a:r>
              <a:rPr lang="en-US" sz="1250" b="1" dirty="0">
                <a:solidFill>
                  <a:srgbClr val="1C1C2E"/>
                </a:solidFill>
                <a:latin typeface="Calibri" pitchFamily="34" charset="0"/>
                <a:ea typeface="Calibri" pitchFamily="34" charset="-122"/>
                <a:cs typeface="Calibri" pitchFamily="34" charset="-120"/>
              </a:rPr>
              <a:t>async/await</a:t>
            </a:r>
            <a:endParaRPr lang="en-US" sz="1250" dirty="0"/>
          </a:p>
        </p:txBody>
      </p:sp>
      <p:sp>
        <p:nvSpPr>
          <p:cNvPr id="35" name="Text 33"/>
          <p:cNvSpPr/>
          <p:nvPr/>
        </p:nvSpPr>
        <p:spPr>
          <a:xfrm>
            <a:off x="6263640" y="4553712"/>
            <a:ext cx="2651760" cy="256032"/>
          </a:xfrm>
          <a:prstGeom prst="rect">
            <a:avLst/>
          </a:prstGeom>
          <a:noFill/>
          <a:ln/>
        </p:spPr>
        <p:txBody>
          <a:bodyPr wrap="square" rtlCol="0" anchor="ctr"/>
          <a:lstStyle/>
          <a:p>
            <a:pPr marL="0" indent="0">
              <a:buNone/>
            </a:pPr>
            <a:r>
              <a:rPr lang="en-US" sz="1050" dirty="0">
                <a:solidFill>
                  <a:srgbClr val="5A6475"/>
                </a:solidFill>
                <a:latin typeface="Calibri" pitchFamily="34" charset="0"/>
                <a:ea typeface="Calibri" pitchFamily="34" charset="-122"/>
                <a:cs typeface="Calibri" pitchFamily="34" charset="-120"/>
              </a:rPr>
              <a:t>Looks like synchronous code — cleanest and modern approach</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async/await — Definition, Rules &amp; Example</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8 › async/await</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1440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1440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async/await</a:t>
            </a:r>
            <a:endParaRPr lang="en-US" sz="1300" dirty="0"/>
          </a:p>
        </p:txBody>
      </p:sp>
      <p:sp>
        <p:nvSpPr>
          <p:cNvPr id="11" name="Text 9"/>
          <p:cNvSpPr/>
          <p:nvPr/>
        </p:nvSpPr>
        <p:spPr>
          <a:xfrm>
            <a:off x="393192" y="1444752"/>
            <a:ext cx="8458200" cy="34747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Syntactic sugar built on top of Promises that allows asynchronous code to be written in a style that looks like synchronous code. 'async' before a function makes it return a Promise. 'await' inside an async function pauses execution until a Promise resolves.</a:t>
            </a:r>
            <a:endParaRPr lang="en-US" sz="1250" dirty="0"/>
          </a:p>
        </p:txBody>
      </p:sp>
      <p:sp>
        <p:nvSpPr>
          <p:cNvPr id="12" name="Shape 10"/>
          <p:cNvSpPr/>
          <p:nvPr/>
        </p:nvSpPr>
        <p:spPr>
          <a:xfrm>
            <a:off x="228600" y="2011680"/>
            <a:ext cx="4206240" cy="2788920"/>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2011680"/>
            <a:ext cx="4206240" cy="256032"/>
          </a:xfrm>
          <a:prstGeom prst="rect">
            <a:avLst/>
          </a:prstGeom>
          <a:solidFill>
            <a:srgbClr val="152232"/>
          </a:solidFill>
          <a:ln/>
        </p:spPr>
      </p:sp>
      <p:sp>
        <p:nvSpPr>
          <p:cNvPr id="14" name="Text 12"/>
          <p:cNvSpPr/>
          <p:nvPr/>
        </p:nvSpPr>
        <p:spPr>
          <a:xfrm>
            <a:off x="228600" y="202996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304288"/>
            <a:ext cx="3977640" cy="242316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OLD WAY — using .then()/.catch()</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Hard to read, deeply nested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getData()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.then(data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return processData(data);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.then(result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return saveData(result);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.catch(error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console.log('Error:', error);</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p:txBody>
      </p:sp>
      <p:sp>
        <p:nvSpPr>
          <p:cNvPr id="16" name="Shape 14"/>
          <p:cNvSpPr/>
          <p:nvPr/>
        </p:nvSpPr>
        <p:spPr>
          <a:xfrm>
            <a:off x="4663440" y="2011680"/>
            <a:ext cx="4251960" cy="2788920"/>
          </a:xfrm>
          <a:prstGeom prst="rect">
            <a:avLst/>
          </a:prstGeom>
          <a:solidFill>
            <a:srgbClr val="1E2D3D"/>
          </a:solidFill>
          <a:ln/>
          <a:effectLst>
            <a:outerShdw blurRad="88900" dist="38100" dir="8100000" algn="bl" rotWithShape="0">
              <a:srgbClr val="000000">
                <a:alpha val="13000"/>
              </a:srgbClr>
            </a:outerShdw>
          </a:effectLst>
        </p:spPr>
      </p:sp>
      <p:sp>
        <p:nvSpPr>
          <p:cNvPr id="17" name="Shape 15"/>
          <p:cNvSpPr/>
          <p:nvPr/>
        </p:nvSpPr>
        <p:spPr>
          <a:xfrm>
            <a:off x="4663440" y="2011680"/>
            <a:ext cx="4251960" cy="256032"/>
          </a:xfrm>
          <a:prstGeom prst="rect">
            <a:avLst/>
          </a:prstGeom>
          <a:solidFill>
            <a:srgbClr val="152232"/>
          </a:solidFill>
          <a:ln/>
        </p:spPr>
      </p:sp>
      <p:sp>
        <p:nvSpPr>
          <p:cNvPr id="18" name="Text 16"/>
          <p:cNvSpPr/>
          <p:nvPr/>
        </p:nvSpPr>
        <p:spPr>
          <a:xfrm>
            <a:off x="4663440" y="202996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9" name="Text 17"/>
          <p:cNvSpPr/>
          <p:nvPr/>
        </p:nvSpPr>
        <p:spPr>
          <a:xfrm>
            <a:off x="4800600" y="2304288"/>
            <a:ext cx="4023360" cy="242316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NEW WAY — async/await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Clean, readable, easy!</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async function run()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try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data = await getData();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result = await processData(data);</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await saveData(result);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console.log('Done!');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catch (error)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console.log('Error:', error);</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run();</a:t>
            </a:r>
            <a:endParaRPr lang="en-US" sz="1150" dirty="0"/>
          </a:p>
        </p:txBody>
      </p:sp>
      <p:sp>
        <p:nvSpPr>
          <p:cNvPr id="20" name="Shape 18"/>
          <p:cNvSpPr/>
          <p:nvPr/>
        </p:nvSpPr>
        <p:spPr>
          <a:xfrm>
            <a:off x="228600" y="4706736"/>
            <a:ext cx="8686800" cy="502920"/>
          </a:xfrm>
          <a:prstGeom prst="rect">
            <a:avLst/>
          </a:prstGeom>
          <a:solidFill>
            <a:srgbClr val="FFF9E6"/>
          </a:solidFill>
          <a:ln/>
          <a:effectLst>
            <a:outerShdw blurRad="88900" dist="38100" dir="8100000" algn="bl" rotWithShape="0">
              <a:srgbClr val="000000">
                <a:alpha val="13000"/>
              </a:srgbClr>
            </a:outerShdw>
          </a:effectLst>
        </p:spPr>
      </p:sp>
      <p:sp>
        <p:nvSpPr>
          <p:cNvPr id="21" name="Shape 19"/>
          <p:cNvSpPr/>
          <p:nvPr/>
        </p:nvSpPr>
        <p:spPr>
          <a:xfrm>
            <a:off x="228600" y="4706736"/>
            <a:ext cx="91440" cy="502920"/>
          </a:xfrm>
          <a:prstGeom prst="rect">
            <a:avLst/>
          </a:prstGeom>
          <a:solidFill>
            <a:srgbClr val="F4A261"/>
          </a:solidFill>
          <a:ln/>
        </p:spPr>
      </p:sp>
      <p:sp>
        <p:nvSpPr>
          <p:cNvPr id="22" name="Text 20"/>
          <p:cNvSpPr/>
          <p:nvPr/>
        </p:nvSpPr>
        <p:spPr>
          <a:xfrm>
            <a:off x="393192" y="4682462"/>
            <a:ext cx="8458200" cy="502920"/>
          </a:xfrm>
          <a:prstGeom prst="rect">
            <a:avLst/>
          </a:prstGeom>
          <a:noFill/>
          <a:ln/>
        </p:spPr>
        <p:txBody>
          <a:bodyPr wrap="square" rtlCol="0" anchor="ctr"/>
          <a:lstStyle/>
          <a:p>
            <a:pPr marL="0" indent="0">
              <a:buNone/>
            </a:pPr>
            <a:r>
              <a:rPr lang="en-US" sz="1250" dirty="0">
                <a:solidFill>
                  <a:srgbClr val="5C3A00"/>
                </a:solidFill>
                <a:latin typeface="Calibri" pitchFamily="34" charset="0"/>
                <a:ea typeface="Calibri" pitchFamily="34" charset="-122"/>
                <a:cs typeface="Calibri" pitchFamily="34" charset="-120"/>
              </a:rPr>
              <a:t>💡  Note:  RULES: (1) 'async' must be placed before the function keyword. (2) 'await' can ONLY be used inside an async function. (3) Always use try/catch to handle errors with async/await.</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166"/>
          </a:solidFill>
          <a:ln/>
        </p:spPr>
      </p:sp>
      <p:sp>
        <p:nvSpPr>
          <p:cNvPr id="3" name="Shape 1"/>
          <p:cNvSpPr/>
          <p:nvPr/>
        </p:nvSpPr>
        <p:spPr>
          <a:xfrm>
            <a:off x="164592" y="4526280"/>
            <a:ext cx="8979408" cy="621792"/>
          </a:xfrm>
          <a:prstGeom prst="rect">
            <a:avLst/>
          </a:prstGeom>
          <a:solidFill>
            <a:srgbClr val="1A3A6B"/>
          </a:solidFill>
          <a:ln/>
        </p:spPr>
      </p:sp>
      <p:sp>
        <p:nvSpPr>
          <p:cNvPr id="4" name="Text 2"/>
          <p:cNvSpPr/>
          <p:nvPr/>
        </p:nvSpPr>
        <p:spPr>
          <a:xfrm>
            <a:off x="365760" y="502920"/>
            <a:ext cx="8412480" cy="457200"/>
          </a:xfrm>
          <a:prstGeom prst="rect">
            <a:avLst/>
          </a:prstGeom>
          <a:noFill/>
          <a:ln/>
        </p:spPr>
        <p:txBody>
          <a:bodyPr wrap="square" rtlCol="0" anchor="ctr"/>
          <a:lstStyle/>
          <a:p>
            <a:pPr marL="0" indent="0">
              <a:buNone/>
            </a:pPr>
            <a:r>
              <a:rPr lang="en-US" sz="1300" b="1" kern="0" spc="400" dirty="0">
                <a:solidFill>
                  <a:srgbClr val="FFD166"/>
                </a:solidFill>
                <a:latin typeface="Calibri" pitchFamily="34" charset="0"/>
                <a:ea typeface="Calibri" pitchFamily="34" charset="-122"/>
                <a:cs typeface="Calibri" pitchFamily="34" charset="-120"/>
              </a:rPr>
              <a:t>UNIT 2  |  Topic 9</a:t>
            </a:r>
            <a:endParaRPr lang="en-US" sz="1300" dirty="0"/>
          </a:p>
        </p:txBody>
      </p:sp>
      <p:sp>
        <p:nvSpPr>
          <p:cNvPr id="5" name="Text 3"/>
          <p:cNvSpPr/>
          <p:nvPr/>
        </p:nvSpPr>
        <p:spPr>
          <a:xfrm>
            <a:off x="365760" y="1051560"/>
            <a:ext cx="8412480" cy="16459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Fetching JSON Data from Express</a:t>
            </a:r>
            <a:endParaRPr lang="en-US" sz="4000" dirty="0"/>
          </a:p>
        </p:txBody>
      </p:sp>
      <p:sp>
        <p:nvSpPr>
          <p:cNvPr id="6" name="Text 4"/>
          <p:cNvSpPr/>
          <p:nvPr/>
        </p:nvSpPr>
        <p:spPr>
          <a:xfrm>
            <a:off x="365760" y="2743200"/>
            <a:ext cx="8412480" cy="640080"/>
          </a:xfrm>
          <a:prstGeom prst="rect">
            <a:avLst/>
          </a:prstGeom>
          <a:noFill/>
          <a:ln/>
        </p:spPr>
        <p:txBody>
          <a:bodyPr wrap="square" rtlCol="0" anchor="ctr"/>
          <a:lstStyle/>
          <a:p>
            <a:pPr marL="0" indent="0">
              <a:buNone/>
            </a:pPr>
            <a:r>
              <a:rPr lang="en-US" sz="1800" dirty="0">
                <a:solidFill>
                  <a:srgbClr val="AACCEE"/>
                </a:solidFill>
                <a:latin typeface="Calibri" pitchFamily="34" charset="0"/>
                <a:ea typeface="Calibri" pitchFamily="34" charset="-122"/>
                <a:cs typeface="Calibri" pitchFamily="34" charset="-120"/>
              </a:rPr>
              <a:t>Building APIs that exchange structured data between client and server</a:t>
            </a:r>
            <a:endParaRPr lang="en-US" sz="1800" dirty="0"/>
          </a:p>
        </p:txBody>
      </p:sp>
      <p:sp>
        <p:nvSpPr>
          <p:cNvPr id="7" name="Text 5"/>
          <p:cNvSpPr/>
          <p:nvPr/>
        </p:nvSpPr>
        <p:spPr>
          <a:xfrm>
            <a:off x="365760" y="4572000"/>
            <a:ext cx="8412480" cy="457200"/>
          </a:xfrm>
          <a:prstGeom prst="rect">
            <a:avLst/>
          </a:prstGeom>
          <a:noFill/>
          <a:ln/>
        </p:spPr>
        <p:txBody>
          <a:bodyPr wrap="square" rtlCol="0" anchor="ctr"/>
          <a:lstStyle/>
          <a:p>
            <a:pPr marL="0" indent="0" algn="ctr">
              <a:buNone/>
            </a:pPr>
            <a:r>
              <a:rPr lang="en-US" sz="1000" dirty="0">
                <a:solidFill>
                  <a:srgbClr val="556677"/>
                </a:solidFill>
                <a:latin typeface="Calibri" pitchFamily="34" charset="0"/>
                <a:ea typeface="Calibri" pitchFamily="34" charset="-122"/>
                <a:cs typeface="Calibri" pitchFamily="34" charset="-120"/>
              </a:rPr>
              <a:t>MC02094041 – Full Stack Development  |  MCA Sem 2  |  GTU</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JSON?</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9 › JSON APIs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87552"/>
            <a:ext cx="8686800" cy="960120"/>
          </a:xfrm>
          <a:prstGeom prst="rect">
            <a:avLst/>
          </a:prstGeom>
          <a:solidFill>
            <a:srgbClr val="EBF4FD"/>
          </a:solidFill>
          <a:ln/>
          <a:effectLst>
            <a:outerShdw blurRad="88900" dist="38100" dir="8100000" algn="bl" rotWithShape="0">
              <a:srgbClr val="000000">
                <a:alpha val="13000"/>
              </a:srgbClr>
            </a:outerShdw>
          </a:effectLst>
        </p:spPr>
      </p:sp>
      <p:sp>
        <p:nvSpPr>
          <p:cNvPr id="9" name="Shape 7"/>
          <p:cNvSpPr/>
          <p:nvPr/>
        </p:nvSpPr>
        <p:spPr>
          <a:xfrm>
            <a:off x="228600" y="987552"/>
            <a:ext cx="91440" cy="960120"/>
          </a:xfrm>
          <a:prstGeom prst="rect">
            <a:avLst/>
          </a:prstGeom>
          <a:solidFill>
            <a:srgbClr val="1E6FBF"/>
          </a:solidFill>
          <a:ln/>
        </p:spPr>
      </p:sp>
      <p:sp>
        <p:nvSpPr>
          <p:cNvPr id="10" name="Text 8"/>
          <p:cNvSpPr/>
          <p:nvPr/>
        </p:nvSpPr>
        <p:spPr>
          <a:xfrm>
            <a:off x="393192" y="1060704"/>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JSON (JavaScript Object Notation)</a:t>
            </a:r>
            <a:endParaRPr lang="en-US" sz="1300" dirty="0"/>
          </a:p>
        </p:txBody>
      </p:sp>
      <p:sp>
        <p:nvSpPr>
          <p:cNvPr id="11" name="Text 9"/>
          <p:cNvSpPr/>
          <p:nvPr/>
        </p:nvSpPr>
        <p:spPr>
          <a:xfrm>
            <a:off x="393192" y="1444752"/>
            <a:ext cx="8458200" cy="39319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lightweight, human-readable data interchange format used to transmit structured data between a server and client. JSON uses key-value pairs in curly braces {}. Keys must be strings in double quotes. Values can be string, number, boolean, array, object, or null. JSON has become the universal standard for web APIs.</a:t>
            </a:r>
            <a:endParaRPr lang="en-US" sz="1250" dirty="0"/>
          </a:p>
        </p:txBody>
      </p:sp>
      <p:sp>
        <p:nvSpPr>
          <p:cNvPr id="12" name="Shape 10"/>
          <p:cNvSpPr/>
          <p:nvPr/>
        </p:nvSpPr>
        <p:spPr>
          <a:xfrm>
            <a:off x="228600" y="2057400"/>
            <a:ext cx="4206240" cy="2606040"/>
          </a:xfrm>
          <a:prstGeom prst="rect">
            <a:avLst/>
          </a:prstGeom>
          <a:solidFill>
            <a:srgbClr val="1E2D3D"/>
          </a:solidFill>
          <a:ln/>
          <a:effectLst>
            <a:outerShdw blurRad="88900" dist="38100" dir="8100000" algn="bl" rotWithShape="0">
              <a:srgbClr val="000000">
                <a:alpha val="13000"/>
              </a:srgbClr>
            </a:outerShdw>
          </a:effectLst>
        </p:spPr>
      </p:sp>
      <p:sp>
        <p:nvSpPr>
          <p:cNvPr id="13" name="Shape 11"/>
          <p:cNvSpPr/>
          <p:nvPr/>
        </p:nvSpPr>
        <p:spPr>
          <a:xfrm>
            <a:off x="228600" y="2057400"/>
            <a:ext cx="4206240" cy="256032"/>
          </a:xfrm>
          <a:prstGeom prst="rect">
            <a:avLst/>
          </a:prstGeom>
          <a:solidFill>
            <a:srgbClr val="152232"/>
          </a:solidFill>
          <a:ln/>
        </p:spPr>
      </p:sp>
      <p:sp>
        <p:nvSpPr>
          <p:cNvPr id="14" name="Text 12"/>
          <p:cNvSpPr/>
          <p:nvPr/>
        </p:nvSpPr>
        <p:spPr>
          <a:xfrm>
            <a:off x="228600" y="207568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5" name="Text 13"/>
          <p:cNvSpPr/>
          <p:nvPr/>
        </p:nvSpPr>
        <p:spPr>
          <a:xfrm>
            <a:off x="365760" y="2350008"/>
            <a:ext cx="3977640" cy="224028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A JSON object (student record)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"name": “Abhi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"semester": 2,</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"cgpa": 8.75,</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"isActive": true,</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"address":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"city": "Surat",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"state": "Gujarat"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"subjects": ["FSD","DBMS","OS"]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p:txBody>
      </p:sp>
      <p:sp>
        <p:nvSpPr>
          <p:cNvPr id="16" name="Text 14"/>
          <p:cNvSpPr/>
          <p:nvPr/>
        </p:nvSpPr>
        <p:spPr>
          <a:xfrm>
            <a:off x="4709160" y="2057400"/>
            <a:ext cx="420624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JSON Data Types:</a:t>
            </a:r>
            <a:endParaRPr lang="en-US" sz="1300" dirty="0"/>
          </a:p>
        </p:txBody>
      </p:sp>
      <p:sp>
        <p:nvSpPr>
          <p:cNvPr id="17" name="Shape 15"/>
          <p:cNvSpPr/>
          <p:nvPr/>
        </p:nvSpPr>
        <p:spPr>
          <a:xfrm>
            <a:off x="4681728" y="2468880"/>
            <a:ext cx="4233672" cy="347472"/>
          </a:xfrm>
          <a:prstGeom prst="rect">
            <a:avLst/>
          </a:prstGeom>
          <a:solidFill>
            <a:srgbClr val="EBF4FD"/>
          </a:solidFill>
          <a:ln/>
        </p:spPr>
      </p:sp>
      <p:sp>
        <p:nvSpPr>
          <p:cNvPr id="18" name="Text 16"/>
          <p:cNvSpPr/>
          <p:nvPr/>
        </p:nvSpPr>
        <p:spPr>
          <a:xfrm>
            <a:off x="4754880" y="2487168"/>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String</a:t>
            </a:r>
            <a:endParaRPr lang="en-US" sz="1200" dirty="0"/>
          </a:p>
        </p:txBody>
      </p:sp>
      <p:sp>
        <p:nvSpPr>
          <p:cNvPr id="19" name="Text 17"/>
          <p:cNvSpPr/>
          <p:nvPr/>
        </p:nvSpPr>
        <p:spPr>
          <a:xfrm>
            <a:off x="5623560" y="2487168"/>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"name": “Abhi"</a:t>
            </a:r>
            <a:endParaRPr lang="en-US" sz="1100" dirty="0"/>
          </a:p>
        </p:txBody>
      </p:sp>
      <p:sp>
        <p:nvSpPr>
          <p:cNvPr id="20" name="Text 18"/>
          <p:cNvSpPr/>
          <p:nvPr/>
        </p:nvSpPr>
        <p:spPr>
          <a:xfrm>
            <a:off x="7040880" y="2487168"/>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Text in double quotes</a:t>
            </a:r>
            <a:endParaRPr lang="en-US" sz="1100" dirty="0"/>
          </a:p>
        </p:txBody>
      </p:sp>
      <p:sp>
        <p:nvSpPr>
          <p:cNvPr id="21" name="Shape 19"/>
          <p:cNvSpPr/>
          <p:nvPr/>
        </p:nvSpPr>
        <p:spPr>
          <a:xfrm>
            <a:off x="4681728" y="2852928"/>
            <a:ext cx="4233672" cy="347472"/>
          </a:xfrm>
          <a:prstGeom prst="rect">
            <a:avLst/>
          </a:prstGeom>
          <a:solidFill>
            <a:srgbClr val="FFFFFF"/>
          </a:solidFill>
          <a:ln/>
        </p:spPr>
      </p:sp>
      <p:sp>
        <p:nvSpPr>
          <p:cNvPr id="22" name="Text 20"/>
          <p:cNvSpPr/>
          <p:nvPr/>
        </p:nvSpPr>
        <p:spPr>
          <a:xfrm>
            <a:off x="4754880" y="2871216"/>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Number</a:t>
            </a:r>
            <a:endParaRPr lang="en-US" sz="1200" dirty="0"/>
          </a:p>
        </p:txBody>
      </p:sp>
      <p:sp>
        <p:nvSpPr>
          <p:cNvPr id="23" name="Text 21"/>
          <p:cNvSpPr/>
          <p:nvPr/>
        </p:nvSpPr>
        <p:spPr>
          <a:xfrm>
            <a:off x="5623560" y="2871216"/>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"age": 22</a:t>
            </a:r>
            <a:endParaRPr lang="en-US" sz="1100" dirty="0"/>
          </a:p>
        </p:txBody>
      </p:sp>
      <p:sp>
        <p:nvSpPr>
          <p:cNvPr id="24" name="Text 22"/>
          <p:cNvSpPr/>
          <p:nvPr/>
        </p:nvSpPr>
        <p:spPr>
          <a:xfrm>
            <a:off x="7040880" y="2871216"/>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Integer or decimal, no quotes</a:t>
            </a:r>
            <a:endParaRPr lang="en-US" sz="1100" dirty="0"/>
          </a:p>
        </p:txBody>
      </p:sp>
      <p:sp>
        <p:nvSpPr>
          <p:cNvPr id="25" name="Shape 23"/>
          <p:cNvSpPr/>
          <p:nvPr/>
        </p:nvSpPr>
        <p:spPr>
          <a:xfrm>
            <a:off x="4681728" y="3236976"/>
            <a:ext cx="4233672" cy="347472"/>
          </a:xfrm>
          <a:prstGeom prst="rect">
            <a:avLst/>
          </a:prstGeom>
          <a:solidFill>
            <a:srgbClr val="EBF4FD"/>
          </a:solidFill>
          <a:ln/>
        </p:spPr>
      </p:sp>
      <p:sp>
        <p:nvSpPr>
          <p:cNvPr id="26" name="Text 24"/>
          <p:cNvSpPr/>
          <p:nvPr/>
        </p:nvSpPr>
        <p:spPr>
          <a:xfrm>
            <a:off x="4754880" y="3255264"/>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Boolean</a:t>
            </a:r>
            <a:endParaRPr lang="en-US" sz="1200" dirty="0"/>
          </a:p>
        </p:txBody>
      </p:sp>
      <p:sp>
        <p:nvSpPr>
          <p:cNvPr id="27" name="Text 25"/>
          <p:cNvSpPr/>
          <p:nvPr/>
        </p:nvSpPr>
        <p:spPr>
          <a:xfrm>
            <a:off x="5623560" y="3255264"/>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"active": true</a:t>
            </a:r>
            <a:endParaRPr lang="en-US" sz="1100" dirty="0"/>
          </a:p>
        </p:txBody>
      </p:sp>
      <p:sp>
        <p:nvSpPr>
          <p:cNvPr id="28" name="Text 26"/>
          <p:cNvSpPr/>
          <p:nvPr/>
        </p:nvSpPr>
        <p:spPr>
          <a:xfrm>
            <a:off x="7040880" y="3255264"/>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true or false only</a:t>
            </a:r>
            <a:endParaRPr lang="en-US" sz="1100" dirty="0"/>
          </a:p>
        </p:txBody>
      </p:sp>
      <p:sp>
        <p:nvSpPr>
          <p:cNvPr id="29" name="Shape 27"/>
          <p:cNvSpPr/>
          <p:nvPr/>
        </p:nvSpPr>
        <p:spPr>
          <a:xfrm>
            <a:off x="4681728" y="3621024"/>
            <a:ext cx="4233672" cy="347472"/>
          </a:xfrm>
          <a:prstGeom prst="rect">
            <a:avLst/>
          </a:prstGeom>
          <a:solidFill>
            <a:srgbClr val="FFFFFF"/>
          </a:solidFill>
          <a:ln/>
        </p:spPr>
      </p:sp>
      <p:sp>
        <p:nvSpPr>
          <p:cNvPr id="30" name="Text 28"/>
          <p:cNvSpPr/>
          <p:nvPr/>
        </p:nvSpPr>
        <p:spPr>
          <a:xfrm>
            <a:off x="4754880" y="3639312"/>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null</a:t>
            </a:r>
            <a:endParaRPr lang="en-US" sz="1200" dirty="0"/>
          </a:p>
        </p:txBody>
      </p:sp>
      <p:sp>
        <p:nvSpPr>
          <p:cNvPr id="31" name="Text 29"/>
          <p:cNvSpPr/>
          <p:nvPr/>
        </p:nvSpPr>
        <p:spPr>
          <a:xfrm>
            <a:off x="5623560" y="3639312"/>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"middle": null</a:t>
            </a:r>
            <a:endParaRPr lang="en-US" sz="1100" dirty="0"/>
          </a:p>
        </p:txBody>
      </p:sp>
      <p:sp>
        <p:nvSpPr>
          <p:cNvPr id="32" name="Text 30"/>
          <p:cNvSpPr/>
          <p:nvPr/>
        </p:nvSpPr>
        <p:spPr>
          <a:xfrm>
            <a:off x="7040880" y="3639312"/>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Empty / unknown value</a:t>
            </a:r>
            <a:endParaRPr lang="en-US" sz="1100" dirty="0"/>
          </a:p>
        </p:txBody>
      </p:sp>
      <p:sp>
        <p:nvSpPr>
          <p:cNvPr id="33" name="Shape 31"/>
          <p:cNvSpPr/>
          <p:nvPr/>
        </p:nvSpPr>
        <p:spPr>
          <a:xfrm>
            <a:off x="4681728" y="4005072"/>
            <a:ext cx="4233672" cy="347472"/>
          </a:xfrm>
          <a:prstGeom prst="rect">
            <a:avLst/>
          </a:prstGeom>
          <a:solidFill>
            <a:srgbClr val="EBF4FD"/>
          </a:solidFill>
          <a:ln/>
        </p:spPr>
      </p:sp>
      <p:sp>
        <p:nvSpPr>
          <p:cNvPr id="34" name="Text 32"/>
          <p:cNvSpPr/>
          <p:nvPr/>
        </p:nvSpPr>
        <p:spPr>
          <a:xfrm>
            <a:off x="4754880" y="4023360"/>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Array</a:t>
            </a:r>
            <a:endParaRPr lang="en-US" sz="1200" dirty="0"/>
          </a:p>
        </p:txBody>
      </p:sp>
      <p:sp>
        <p:nvSpPr>
          <p:cNvPr id="35" name="Text 33"/>
          <p:cNvSpPr/>
          <p:nvPr/>
        </p:nvSpPr>
        <p:spPr>
          <a:xfrm>
            <a:off x="5623560" y="4023360"/>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"list": [1,2,3]</a:t>
            </a:r>
            <a:endParaRPr lang="en-US" sz="1100" dirty="0"/>
          </a:p>
        </p:txBody>
      </p:sp>
      <p:sp>
        <p:nvSpPr>
          <p:cNvPr id="36" name="Text 34"/>
          <p:cNvSpPr/>
          <p:nvPr/>
        </p:nvSpPr>
        <p:spPr>
          <a:xfrm>
            <a:off x="7040880" y="4023360"/>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Ordered list in [ ]</a:t>
            </a:r>
            <a:endParaRPr lang="en-US" sz="1100" dirty="0"/>
          </a:p>
        </p:txBody>
      </p:sp>
      <p:sp>
        <p:nvSpPr>
          <p:cNvPr id="37" name="Shape 35"/>
          <p:cNvSpPr/>
          <p:nvPr/>
        </p:nvSpPr>
        <p:spPr>
          <a:xfrm>
            <a:off x="4681728" y="4389120"/>
            <a:ext cx="4233672" cy="347472"/>
          </a:xfrm>
          <a:prstGeom prst="rect">
            <a:avLst/>
          </a:prstGeom>
          <a:solidFill>
            <a:srgbClr val="FFFFFF"/>
          </a:solidFill>
          <a:ln/>
        </p:spPr>
      </p:sp>
      <p:sp>
        <p:nvSpPr>
          <p:cNvPr id="38" name="Text 36"/>
          <p:cNvSpPr/>
          <p:nvPr/>
        </p:nvSpPr>
        <p:spPr>
          <a:xfrm>
            <a:off x="4754880" y="4407408"/>
            <a:ext cx="822960" cy="310896"/>
          </a:xfrm>
          <a:prstGeom prst="rect">
            <a:avLst/>
          </a:prstGeom>
          <a:noFill/>
          <a:ln/>
        </p:spPr>
        <p:txBody>
          <a:bodyPr wrap="square" lIns="0" tIns="0" rIns="0" bIns="0" rtlCol="0" anchor="ctr"/>
          <a:lstStyle/>
          <a:p>
            <a:pPr marL="0" indent="0">
              <a:buNone/>
            </a:pPr>
            <a:r>
              <a:rPr lang="en-US" sz="1200" b="1" dirty="0">
                <a:solidFill>
                  <a:srgbClr val="1E6FBF"/>
                </a:solidFill>
                <a:latin typeface="Calibri" pitchFamily="34" charset="0"/>
                <a:ea typeface="Calibri" pitchFamily="34" charset="-122"/>
                <a:cs typeface="Calibri" pitchFamily="34" charset="-120"/>
              </a:rPr>
              <a:t>Object</a:t>
            </a:r>
            <a:endParaRPr lang="en-US" sz="1200" dirty="0"/>
          </a:p>
        </p:txBody>
      </p:sp>
      <p:sp>
        <p:nvSpPr>
          <p:cNvPr id="39" name="Text 37"/>
          <p:cNvSpPr/>
          <p:nvPr/>
        </p:nvSpPr>
        <p:spPr>
          <a:xfrm>
            <a:off x="5623560" y="4407408"/>
            <a:ext cx="1371600" cy="310896"/>
          </a:xfrm>
          <a:prstGeom prst="rect">
            <a:avLst/>
          </a:prstGeom>
          <a:noFill/>
          <a:ln/>
        </p:spPr>
        <p:txBody>
          <a:bodyPr wrap="square" lIns="0" tIns="0" rIns="0" bIns="0" rtlCol="0" anchor="ctr"/>
          <a:lstStyle/>
          <a:p>
            <a:pPr marL="0" indent="0">
              <a:buNone/>
            </a:pPr>
            <a:r>
              <a:rPr lang="en-US" sz="1100" dirty="0">
                <a:solidFill>
                  <a:srgbClr val="F4A261"/>
                </a:solidFill>
                <a:latin typeface="Courier New" pitchFamily="34" charset="0"/>
                <a:ea typeface="Courier New" pitchFamily="34" charset="-122"/>
                <a:cs typeface="Courier New" pitchFamily="34" charset="-120"/>
              </a:rPr>
              <a:t>"addr": {}</a:t>
            </a:r>
            <a:endParaRPr lang="en-US" sz="1100" dirty="0"/>
          </a:p>
        </p:txBody>
      </p:sp>
      <p:sp>
        <p:nvSpPr>
          <p:cNvPr id="40" name="Text 38"/>
          <p:cNvSpPr/>
          <p:nvPr/>
        </p:nvSpPr>
        <p:spPr>
          <a:xfrm>
            <a:off x="7040880" y="4407408"/>
            <a:ext cx="1737360" cy="310896"/>
          </a:xfrm>
          <a:prstGeom prst="rect">
            <a:avLst/>
          </a:prstGeom>
          <a:noFill/>
          <a:ln/>
        </p:spPr>
        <p:txBody>
          <a:bodyPr wrap="square" lIns="0" tIns="0" rIns="0" bIns="0" rtlCol="0" anchor="ctr"/>
          <a:lstStyle/>
          <a:p>
            <a:pPr marL="0" indent="0">
              <a:buNone/>
            </a:pPr>
            <a:r>
              <a:rPr lang="en-US" sz="1100" dirty="0">
                <a:solidFill>
                  <a:srgbClr val="1C1C2E"/>
                </a:solidFill>
                <a:latin typeface="Calibri" pitchFamily="34" charset="0"/>
                <a:ea typeface="Calibri" pitchFamily="34" charset="-122"/>
                <a:cs typeface="Calibri" pitchFamily="34" charset="-120"/>
              </a:rPr>
              <a:t>Nested object in { }</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8297F784-4DA8-E8A5-7138-CBD5B8997A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2E49E0-AC49-39A6-64EF-F16E74F78D1D}"/>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98F98D62-59AA-2013-FA2E-731D6DAEDDEF}"/>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77B45CF0-F264-4D04-3062-A0CC83689B66}"/>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JSON?</a:t>
            </a:r>
            <a:endParaRPr lang="en-US" sz="2400" dirty="0"/>
          </a:p>
        </p:txBody>
      </p:sp>
      <p:sp>
        <p:nvSpPr>
          <p:cNvPr id="5" name="Text 3">
            <a:extLst>
              <a:ext uri="{FF2B5EF4-FFF2-40B4-BE49-F238E27FC236}">
                <a16:creationId xmlns:a16="http://schemas.microsoft.com/office/drawing/2014/main" id="{3AE95460-BBC4-B8E1-5095-CD07C28FE016}"/>
              </a:ext>
            </a:extLst>
          </p:cNvPr>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9 › JSON APIs</a:t>
            </a:r>
            <a:endParaRPr lang="en-US" sz="1100" dirty="0"/>
          </a:p>
        </p:txBody>
      </p:sp>
      <p:sp>
        <p:nvSpPr>
          <p:cNvPr id="6" name="Shape 4">
            <a:extLst>
              <a:ext uri="{FF2B5EF4-FFF2-40B4-BE49-F238E27FC236}">
                <a16:creationId xmlns:a16="http://schemas.microsoft.com/office/drawing/2014/main" id="{663692D9-7E74-8982-CBFB-B6B2397D5D45}"/>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AF1F68C4-E20B-1CA7-9B27-FD194752A524}"/>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41" name="Shape 39">
            <a:extLst>
              <a:ext uri="{FF2B5EF4-FFF2-40B4-BE49-F238E27FC236}">
                <a16:creationId xmlns:a16="http://schemas.microsoft.com/office/drawing/2014/main" id="{BDD44B3C-737B-64F0-C12D-EF3FCBBB818D}"/>
              </a:ext>
            </a:extLst>
          </p:cNvPr>
          <p:cNvSpPr/>
          <p:nvPr/>
        </p:nvSpPr>
        <p:spPr>
          <a:xfrm>
            <a:off x="228600" y="1865842"/>
            <a:ext cx="8686800" cy="1094445"/>
          </a:xfrm>
          <a:prstGeom prst="rect">
            <a:avLst/>
          </a:prstGeom>
          <a:solidFill>
            <a:srgbClr val="EBF4FD"/>
          </a:solidFill>
          <a:ln/>
          <a:effectLst>
            <a:outerShdw blurRad="88900" dist="38100" dir="8100000" algn="bl" rotWithShape="0">
              <a:srgbClr val="000000">
                <a:alpha val="13000"/>
              </a:srgbClr>
            </a:outerShdw>
          </a:effectLst>
        </p:spPr>
      </p:sp>
      <p:sp>
        <p:nvSpPr>
          <p:cNvPr id="42" name="Shape 40">
            <a:extLst>
              <a:ext uri="{FF2B5EF4-FFF2-40B4-BE49-F238E27FC236}">
                <a16:creationId xmlns:a16="http://schemas.microsoft.com/office/drawing/2014/main" id="{B3F2AE1B-9E1A-3963-DFD8-1D8FDB1D7709}"/>
              </a:ext>
            </a:extLst>
          </p:cNvPr>
          <p:cNvSpPr/>
          <p:nvPr/>
        </p:nvSpPr>
        <p:spPr>
          <a:xfrm>
            <a:off x="228600" y="1865843"/>
            <a:ext cx="100584" cy="1094444"/>
          </a:xfrm>
          <a:prstGeom prst="rect">
            <a:avLst/>
          </a:prstGeom>
          <a:solidFill>
            <a:srgbClr val="1E6FBF"/>
          </a:solidFill>
          <a:ln/>
        </p:spPr>
      </p:sp>
      <p:sp>
        <p:nvSpPr>
          <p:cNvPr id="43" name="Text 41">
            <a:extLst>
              <a:ext uri="{FF2B5EF4-FFF2-40B4-BE49-F238E27FC236}">
                <a16:creationId xmlns:a16="http://schemas.microsoft.com/office/drawing/2014/main" id="{8FD2BD40-BF04-E0CA-6E5C-55A6DB47953B}"/>
              </a:ext>
            </a:extLst>
          </p:cNvPr>
          <p:cNvSpPr/>
          <p:nvPr/>
        </p:nvSpPr>
        <p:spPr>
          <a:xfrm>
            <a:off x="393192" y="1938995"/>
            <a:ext cx="8458200" cy="347472"/>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  Definition: API (Application Programming Interface)</a:t>
            </a:r>
            <a:endParaRPr lang="en-US" sz="1300" dirty="0"/>
          </a:p>
        </p:txBody>
      </p:sp>
      <p:sp>
        <p:nvSpPr>
          <p:cNvPr id="44" name="Text 42">
            <a:extLst>
              <a:ext uri="{FF2B5EF4-FFF2-40B4-BE49-F238E27FC236}">
                <a16:creationId xmlns:a16="http://schemas.microsoft.com/office/drawing/2014/main" id="{97B6E2AD-D9FE-FA21-22B6-61E7098AB320}"/>
              </a:ext>
            </a:extLst>
          </p:cNvPr>
          <p:cNvSpPr/>
          <p:nvPr/>
        </p:nvSpPr>
        <p:spPr>
          <a:xfrm>
            <a:off x="393192" y="2323043"/>
            <a:ext cx="8458200" cy="533992"/>
          </a:xfrm>
          <a:prstGeom prst="rect">
            <a:avLst/>
          </a:prstGeom>
          <a:noFill/>
          <a:ln/>
        </p:spPr>
        <p:txBody>
          <a:bodyPr wrap="square" rtlCol="0" anchor="ctr"/>
          <a:lstStyle/>
          <a:p>
            <a:pPr marL="0" indent="0" algn="just">
              <a:buNone/>
            </a:pPr>
            <a:r>
              <a:rPr lang="en-US" sz="1250" dirty="0">
                <a:solidFill>
                  <a:srgbClr val="1C1C2E"/>
                </a:solidFill>
                <a:latin typeface="Calibri" pitchFamily="34" charset="0"/>
                <a:ea typeface="Calibri" pitchFamily="34" charset="-122"/>
                <a:cs typeface="Calibri" pitchFamily="34" charset="-120"/>
              </a:rPr>
              <a:t>A set of URL endpoints exposed by a server that clients can use to request data (GET), create records (POST), update records (PUT), or delete records (DELETE). APIs typically exchange data in JSON format.</a:t>
            </a:r>
            <a:endParaRPr lang="en-US" sz="1250" dirty="0"/>
          </a:p>
        </p:txBody>
      </p:sp>
    </p:spTree>
    <p:extLst>
      <p:ext uri="{BB962C8B-B14F-4D97-AF65-F5344CB8AC3E}">
        <p14:creationId xmlns:p14="http://schemas.microsoft.com/office/powerpoint/2010/main" val="869466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Building a Complete JSON API with Express</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Topic 9 › JSON APIs</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28600" y="908616"/>
            <a:ext cx="4846320" cy="6277198"/>
          </a:xfrm>
          <a:prstGeom prst="rect">
            <a:avLst/>
          </a:prstGeom>
          <a:solidFill>
            <a:srgbClr val="1E2D3D"/>
          </a:solidFill>
          <a:ln/>
          <a:effectLst>
            <a:outerShdw blurRad="88900" dist="38100" dir="8100000" algn="bl" rotWithShape="0">
              <a:srgbClr val="000000">
                <a:alpha val="13000"/>
              </a:srgbClr>
            </a:outerShdw>
          </a:effectLst>
        </p:spPr>
      </p:sp>
      <p:sp>
        <p:nvSpPr>
          <p:cNvPr id="9" name="Shape 7"/>
          <p:cNvSpPr/>
          <p:nvPr/>
        </p:nvSpPr>
        <p:spPr>
          <a:xfrm>
            <a:off x="228600" y="908616"/>
            <a:ext cx="4846320" cy="256032"/>
          </a:xfrm>
          <a:prstGeom prst="rect">
            <a:avLst/>
          </a:prstGeom>
          <a:solidFill>
            <a:srgbClr val="152232"/>
          </a:solidFill>
          <a:ln/>
        </p:spPr>
      </p:sp>
      <p:sp>
        <p:nvSpPr>
          <p:cNvPr id="10" name="Text 8"/>
          <p:cNvSpPr/>
          <p:nvPr/>
        </p:nvSpPr>
        <p:spPr>
          <a:xfrm>
            <a:off x="228600" y="1005840"/>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11" name="Text 9"/>
          <p:cNvSpPr/>
          <p:nvPr/>
        </p:nvSpPr>
        <p:spPr>
          <a:xfrm>
            <a:off x="365760" y="1201224"/>
            <a:ext cx="4617720" cy="3916154"/>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const express = require('express');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app = express();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app.use(express.json()); // parse body</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students =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id:1, name:'Priya', cgpa:8.75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id:2, name:'Ravi',  cgpa:7.90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GET all students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app.get('/api/students', (req,res)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res.json(students);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GET one student by ID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app.get('/api/students/:id', (req,res) =&gt;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s = students.find(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 =&gt; s.id === +req.params.id);</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 ? res.json(s)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res.status(404).json(</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 error:'Not found' });</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POST — add a new student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app.post('/api/students',(req,res)=&gt;{</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const s = req.body;</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s.id = students.length + 1;</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students.push(s);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  res.status(201).json(s);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app.listen(3000);</a:t>
            </a:r>
            <a:endParaRPr lang="en-US" sz="1150" dirty="0"/>
          </a:p>
        </p:txBody>
      </p:sp>
      <p:sp>
        <p:nvSpPr>
          <p:cNvPr id="12" name="Text 10"/>
          <p:cNvSpPr/>
          <p:nvPr/>
        </p:nvSpPr>
        <p:spPr>
          <a:xfrm>
            <a:off x="5257800" y="987552"/>
            <a:ext cx="3657600" cy="347472"/>
          </a:xfrm>
          <a:prstGeom prst="rect">
            <a:avLst/>
          </a:prstGeom>
          <a:noFill/>
          <a:ln/>
        </p:spPr>
        <p:txBody>
          <a:bodyPr wrap="square" lIns="0" tIns="0" rIns="0" bIns="0"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API Endpoints Created:</a:t>
            </a:r>
            <a:endParaRPr lang="en-US" sz="1300" dirty="0"/>
          </a:p>
        </p:txBody>
      </p:sp>
      <p:sp>
        <p:nvSpPr>
          <p:cNvPr id="13" name="Shape 11"/>
          <p:cNvSpPr/>
          <p:nvPr/>
        </p:nvSpPr>
        <p:spPr>
          <a:xfrm>
            <a:off x="5230368" y="1417320"/>
            <a:ext cx="3685032" cy="685800"/>
          </a:xfrm>
          <a:prstGeom prst="rect">
            <a:avLst/>
          </a:prstGeom>
          <a:solidFill>
            <a:srgbClr val="FFFFFF"/>
          </a:solidFill>
          <a:ln/>
          <a:effectLst>
            <a:outerShdw blurRad="88900" dist="38100" dir="8100000" algn="bl" rotWithShape="0">
              <a:srgbClr val="000000">
                <a:alpha val="13000"/>
              </a:srgbClr>
            </a:outerShdw>
          </a:effectLst>
        </p:spPr>
      </p:sp>
      <p:sp>
        <p:nvSpPr>
          <p:cNvPr id="14" name="Shape 12"/>
          <p:cNvSpPr/>
          <p:nvPr/>
        </p:nvSpPr>
        <p:spPr>
          <a:xfrm>
            <a:off x="5230368" y="1417320"/>
            <a:ext cx="685800" cy="685800"/>
          </a:xfrm>
          <a:prstGeom prst="rect">
            <a:avLst/>
          </a:prstGeom>
          <a:solidFill>
            <a:srgbClr val="1E6FBF"/>
          </a:solidFill>
          <a:ln/>
        </p:spPr>
      </p:sp>
      <p:sp>
        <p:nvSpPr>
          <p:cNvPr id="15" name="Text 13"/>
          <p:cNvSpPr/>
          <p:nvPr/>
        </p:nvSpPr>
        <p:spPr>
          <a:xfrm>
            <a:off x="5230368" y="1417320"/>
            <a:ext cx="685800" cy="6858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GET</a:t>
            </a:r>
            <a:endParaRPr lang="en-US" sz="1200" dirty="0"/>
          </a:p>
        </p:txBody>
      </p:sp>
      <p:sp>
        <p:nvSpPr>
          <p:cNvPr id="16" name="Text 14"/>
          <p:cNvSpPr/>
          <p:nvPr/>
        </p:nvSpPr>
        <p:spPr>
          <a:xfrm>
            <a:off x="5989320" y="1444752"/>
            <a:ext cx="2852928" cy="301752"/>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/api/students</a:t>
            </a:r>
            <a:endParaRPr lang="en-US" sz="1200" dirty="0"/>
          </a:p>
        </p:txBody>
      </p:sp>
      <p:sp>
        <p:nvSpPr>
          <p:cNvPr id="17" name="Text 15"/>
          <p:cNvSpPr/>
          <p:nvPr/>
        </p:nvSpPr>
        <p:spPr>
          <a:xfrm>
            <a:off x="5989320" y="1755648"/>
            <a:ext cx="2852928" cy="274320"/>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Returns ALL students as JSON array</a:t>
            </a:r>
            <a:endParaRPr lang="en-US" sz="1100" dirty="0"/>
          </a:p>
        </p:txBody>
      </p:sp>
      <p:sp>
        <p:nvSpPr>
          <p:cNvPr id="18" name="Shape 16"/>
          <p:cNvSpPr/>
          <p:nvPr/>
        </p:nvSpPr>
        <p:spPr>
          <a:xfrm>
            <a:off x="5230368" y="2167128"/>
            <a:ext cx="3685032" cy="685800"/>
          </a:xfrm>
          <a:prstGeom prst="rect">
            <a:avLst/>
          </a:prstGeom>
          <a:solidFill>
            <a:srgbClr val="FFFFFF"/>
          </a:solidFill>
          <a:ln/>
          <a:effectLst>
            <a:outerShdw blurRad="88900" dist="38100" dir="8100000" algn="bl" rotWithShape="0">
              <a:srgbClr val="000000">
                <a:alpha val="13000"/>
              </a:srgbClr>
            </a:outerShdw>
          </a:effectLst>
        </p:spPr>
      </p:sp>
      <p:sp>
        <p:nvSpPr>
          <p:cNvPr id="19" name="Shape 17"/>
          <p:cNvSpPr/>
          <p:nvPr/>
        </p:nvSpPr>
        <p:spPr>
          <a:xfrm>
            <a:off x="5230368" y="2167128"/>
            <a:ext cx="685800" cy="685800"/>
          </a:xfrm>
          <a:prstGeom prst="rect">
            <a:avLst/>
          </a:prstGeom>
          <a:solidFill>
            <a:srgbClr val="1E6FBF"/>
          </a:solidFill>
          <a:ln/>
        </p:spPr>
      </p:sp>
      <p:sp>
        <p:nvSpPr>
          <p:cNvPr id="20" name="Text 18"/>
          <p:cNvSpPr/>
          <p:nvPr/>
        </p:nvSpPr>
        <p:spPr>
          <a:xfrm>
            <a:off x="5230368" y="2167128"/>
            <a:ext cx="685800" cy="6858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GET</a:t>
            </a:r>
            <a:endParaRPr lang="en-US" sz="1200" dirty="0"/>
          </a:p>
        </p:txBody>
      </p:sp>
      <p:sp>
        <p:nvSpPr>
          <p:cNvPr id="21" name="Text 19"/>
          <p:cNvSpPr/>
          <p:nvPr/>
        </p:nvSpPr>
        <p:spPr>
          <a:xfrm>
            <a:off x="5989320" y="2194560"/>
            <a:ext cx="2852928" cy="301752"/>
          </a:xfrm>
          <a:prstGeom prst="rect">
            <a:avLst/>
          </a:prstGeom>
          <a:noFill/>
          <a:ln/>
        </p:spPr>
        <p:txBody>
          <a:bodyPr wrap="square" lIns="0" tIns="0" rIns="0" bIns="0" rtlCol="0" anchor="ctr"/>
          <a:lstStyle/>
          <a:p>
            <a:pPr marL="0" indent="0">
              <a:buNone/>
            </a:pPr>
            <a:r>
              <a:rPr lang="en-US" sz="1200" b="1" dirty="0">
                <a:solidFill>
                  <a:srgbClr val="1E6FBF"/>
                </a:solidFill>
                <a:latin typeface="Courier New" pitchFamily="34" charset="0"/>
                <a:ea typeface="Courier New" pitchFamily="34" charset="-122"/>
                <a:cs typeface="Courier New" pitchFamily="34" charset="-120"/>
              </a:rPr>
              <a:t>/api/students/:id</a:t>
            </a:r>
            <a:endParaRPr lang="en-US" sz="1200" dirty="0"/>
          </a:p>
        </p:txBody>
      </p:sp>
      <p:sp>
        <p:nvSpPr>
          <p:cNvPr id="22" name="Text 20"/>
          <p:cNvSpPr/>
          <p:nvPr/>
        </p:nvSpPr>
        <p:spPr>
          <a:xfrm>
            <a:off x="5989320" y="2505456"/>
            <a:ext cx="2852928" cy="274320"/>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Returns ONE student by ID</a:t>
            </a:r>
            <a:endParaRPr lang="en-US" sz="1100" dirty="0"/>
          </a:p>
        </p:txBody>
      </p:sp>
      <p:sp>
        <p:nvSpPr>
          <p:cNvPr id="23" name="Shape 21"/>
          <p:cNvSpPr/>
          <p:nvPr/>
        </p:nvSpPr>
        <p:spPr>
          <a:xfrm>
            <a:off x="5230368" y="2916936"/>
            <a:ext cx="3685032" cy="685800"/>
          </a:xfrm>
          <a:prstGeom prst="rect">
            <a:avLst/>
          </a:prstGeom>
          <a:solidFill>
            <a:srgbClr val="FFFFFF"/>
          </a:solidFill>
          <a:ln/>
          <a:effectLst>
            <a:outerShdw blurRad="88900" dist="38100" dir="8100000" algn="bl" rotWithShape="0">
              <a:srgbClr val="000000">
                <a:alpha val="13000"/>
              </a:srgbClr>
            </a:outerShdw>
          </a:effectLst>
        </p:spPr>
      </p:sp>
      <p:sp>
        <p:nvSpPr>
          <p:cNvPr id="24" name="Shape 22"/>
          <p:cNvSpPr/>
          <p:nvPr/>
        </p:nvSpPr>
        <p:spPr>
          <a:xfrm>
            <a:off x="5230368" y="2916936"/>
            <a:ext cx="685800" cy="685800"/>
          </a:xfrm>
          <a:prstGeom prst="rect">
            <a:avLst/>
          </a:prstGeom>
          <a:solidFill>
            <a:srgbClr val="06D6A0"/>
          </a:solidFill>
          <a:ln/>
        </p:spPr>
      </p:sp>
      <p:sp>
        <p:nvSpPr>
          <p:cNvPr id="25" name="Text 23"/>
          <p:cNvSpPr/>
          <p:nvPr/>
        </p:nvSpPr>
        <p:spPr>
          <a:xfrm>
            <a:off x="5230368" y="2916936"/>
            <a:ext cx="685800" cy="6858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POST</a:t>
            </a:r>
            <a:endParaRPr lang="en-US" sz="1200" dirty="0"/>
          </a:p>
        </p:txBody>
      </p:sp>
      <p:sp>
        <p:nvSpPr>
          <p:cNvPr id="26" name="Text 24"/>
          <p:cNvSpPr/>
          <p:nvPr/>
        </p:nvSpPr>
        <p:spPr>
          <a:xfrm>
            <a:off x="5989320" y="2944368"/>
            <a:ext cx="2852928" cy="301752"/>
          </a:xfrm>
          <a:prstGeom prst="rect">
            <a:avLst/>
          </a:prstGeom>
          <a:noFill/>
          <a:ln/>
        </p:spPr>
        <p:txBody>
          <a:bodyPr wrap="square" lIns="0" tIns="0" rIns="0" bIns="0" rtlCol="0" anchor="ctr"/>
          <a:lstStyle/>
          <a:p>
            <a:pPr marL="0" indent="0">
              <a:buNone/>
            </a:pPr>
            <a:r>
              <a:rPr lang="en-US" sz="1200" b="1" dirty="0">
                <a:solidFill>
                  <a:srgbClr val="06D6A0"/>
                </a:solidFill>
                <a:latin typeface="Courier New" pitchFamily="34" charset="0"/>
                <a:ea typeface="Courier New" pitchFamily="34" charset="-122"/>
                <a:cs typeface="Courier New" pitchFamily="34" charset="-120"/>
              </a:rPr>
              <a:t>/api/students</a:t>
            </a:r>
            <a:endParaRPr lang="en-US" sz="1200" dirty="0"/>
          </a:p>
        </p:txBody>
      </p:sp>
      <p:sp>
        <p:nvSpPr>
          <p:cNvPr id="27" name="Text 25"/>
          <p:cNvSpPr/>
          <p:nvPr/>
        </p:nvSpPr>
        <p:spPr>
          <a:xfrm>
            <a:off x="5989320" y="3255264"/>
            <a:ext cx="2852928" cy="274320"/>
          </a:xfrm>
          <a:prstGeom prst="rect">
            <a:avLst/>
          </a:prstGeom>
          <a:noFill/>
          <a:ln/>
        </p:spPr>
        <p:txBody>
          <a:bodyPr wrap="square" rtlCol="0" anchor="ctr"/>
          <a:lstStyle/>
          <a:p>
            <a:pPr marL="0" indent="0">
              <a:buNone/>
            </a:pPr>
            <a:r>
              <a:rPr lang="en-US" sz="1100" dirty="0">
                <a:solidFill>
                  <a:srgbClr val="1C1C2E"/>
                </a:solidFill>
                <a:latin typeface="Calibri" pitchFamily="34" charset="0"/>
                <a:ea typeface="Calibri" pitchFamily="34" charset="-122"/>
                <a:cs typeface="Calibri" pitchFamily="34" charset="-120"/>
              </a:rPr>
              <a:t>Creates and adds a new student</a:t>
            </a:r>
            <a:endParaRPr lang="en-US" sz="1100" dirty="0"/>
          </a:p>
        </p:txBody>
      </p:sp>
      <p:sp>
        <p:nvSpPr>
          <p:cNvPr id="28" name="Shape 26"/>
          <p:cNvSpPr/>
          <p:nvPr/>
        </p:nvSpPr>
        <p:spPr>
          <a:xfrm>
            <a:off x="5230368" y="3703320"/>
            <a:ext cx="3685032" cy="1440180"/>
          </a:xfrm>
          <a:prstGeom prst="rect">
            <a:avLst/>
          </a:prstGeom>
          <a:solidFill>
            <a:srgbClr val="1E2D3D"/>
          </a:solidFill>
          <a:ln/>
          <a:effectLst>
            <a:outerShdw blurRad="88900" dist="38100" dir="8100000" algn="bl" rotWithShape="0">
              <a:srgbClr val="000000">
                <a:alpha val="13000"/>
              </a:srgbClr>
            </a:outerShdw>
          </a:effectLst>
        </p:spPr>
      </p:sp>
      <p:sp>
        <p:nvSpPr>
          <p:cNvPr id="29" name="Shape 27"/>
          <p:cNvSpPr/>
          <p:nvPr/>
        </p:nvSpPr>
        <p:spPr>
          <a:xfrm>
            <a:off x="5230368" y="3703320"/>
            <a:ext cx="3685032" cy="256032"/>
          </a:xfrm>
          <a:prstGeom prst="rect">
            <a:avLst/>
          </a:prstGeom>
          <a:solidFill>
            <a:srgbClr val="152232"/>
          </a:solidFill>
          <a:ln/>
        </p:spPr>
      </p:sp>
      <p:sp>
        <p:nvSpPr>
          <p:cNvPr id="30" name="Text 28"/>
          <p:cNvSpPr/>
          <p:nvPr/>
        </p:nvSpPr>
        <p:spPr>
          <a:xfrm>
            <a:off x="5230368" y="3721608"/>
            <a:ext cx="2743200" cy="237744"/>
          </a:xfrm>
          <a:prstGeom prst="rect">
            <a:avLst/>
          </a:prstGeom>
          <a:noFill/>
          <a:ln/>
        </p:spPr>
        <p:txBody>
          <a:bodyPr wrap="square" rtlCol="0" anchor="ctr"/>
          <a:lstStyle/>
          <a:p>
            <a:pPr marL="0" indent="0">
              <a:buNone/>
            </a:pPr>
            <a:r>
              <a:rPr lang="en-US" sz="1000" dirty="0">
                <a:solidFill>
                  <a:srgbClr val="FFD166"/>
                </a:solidFill>
                <a:latin typeface="Courier New" pitchFamily="34" charset="0"/>
                <a:ea typeface="Courier New" pitchFamily="34" charset="-122"/>
                <a:cs typeface="Courier New" pitchFamily="34" charset="-120"/>
              </a:rPr>
              <a:t>  Code Example</a:t>
            </a:r>
            <a:endParaRPr lang="en-US" sz="1000" dirty="0"/>
          </a:p>
        </p:txBody>
      </p:sp>
      <p:sp>
        <p:nvSpPr>
          <p:cNvPr id="31" name="Text 29"/>
          <p:cNvSpPr/>
          <p:nvPr/>
        </p:nvSpPr>
        <p:spPr>
          <a:xfrm>
            <a:off x="5367528" y="3995928"/>
            <a:ext cx="3456432" cy="731520"/>
          </a:xfrm>
          <a:prstGeom prst="rect">
            <a:avLst/>
          </a:prstGeom>
          <a:noFill/>
          <a:ln/>
        </p:spPr>
        <p:txBody>
          <a:bodyPr wrap="square" rtlCol="0" anchor="t"/>
          <a:lstStyle/>
          <a:p>
            <a:pPr marL="0" indent="0">
              <a:buNone/>
            </a:pPr>
            <a:r>
              <a:rPr lang="en-US" sz="1150" dirty="0">
                <a:solidFill>
                  <a:srgbClr val="A8D8EA"/>
                </a:solidFill>
                <a:latin typeface="Courier New" pitchFamily="34" charset="0"/>
                <a:ea typeface="Courier New" pitchFamily="34" charset="-122"/>
                <a:cs typeface="Courier New" pitchFamily="34" charset="-120"/>
              </a:rPr>
              <a:t>// Browser: fetch the API</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res = await fetch('/api/students');</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const data = await res.json();</a:t>
            </a:r>
            <a:endParaRPr lang="en-US" sz="1150" dirty="0"/>
          </a:p>
          <a:p>
            <a:pPr marL="0" indent="0">
              <a:buNone/>
            </a:pPr>
            <a:r>
              <a:rPr lang="en-US" sz="1150" dirty="0">
                <a:solidFill>
                  <a:srgbClr val="A8D8EA"/>
                </a:solidFill>
                <a:latin typeface="Courier New" pitchFamily="34" charset="0"/>
                <a:ea typeface="Courier New" pitchFamily="34" charset="-122"/>
                <a:cs typeface="Courier New" pitchFamily="34" charset="-120"/>
              </a:rPr>
              <a:t>console.log(data); // JS array</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Unit 2 — Complete Summary</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Summary</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28600" y="987552"/>
          <a:ext cx="8686800" cy="2590800"/>
        </p:xfrm>
        <a:graphic>
          <a:graphicData uri="http://schemas.openxmlformats.org/drawingml/2006/table">
            <a:tbl>
              <a:tblPr/>
              <a:tblGrid>
                <a:gridCol w="320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0">
                <a:tc>
                  <a:txBody>
                    <a:bodyPr/>
                    <a:lstStyle/>
                    <a:p>
                      <a:pPr marL="0" indent="0" algn="ctr">
                        <a:buNone/>
                      </a:pPr>
                      <a:r>
                        <a:rPr lang="en-US" sz="1100" b="1" dirty="0">
                          <a:solidFill>
                            <a:srgbClr val="FFFFFF"/>
                          </a:solidFill>
                        </a:rPr>
                        <a:t>#</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6B"/>
                    </a:solidFill>
                  </a:tcPr>
                </a:tc>
                <a:tc>
                  <a:txBody>
                    <a:bodyPr/>
                    <a:lstStyle/>
                    <a:p>
                      <a:pPr marL="0" indent="0">
                        <a:buNone/>
                      </a:pPr>
                      <a:r>
                        <a:rPr lang="en-US" sz="1100" b="1" dirty="0">
                          <a:solidFill>
                            <a:srgbClr val="FFFFFF"/>
                          </a:solidFill>
                        </a:rPr>
                        <a:t>Topic</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6B"/>
                    </a:solidFill>
                  </a:tcPr>
                </a:tc>
                <a:tc>
                  <a:txBody>
                    <a:bodyPr/>
                    <a:lstStyle/>
                    <a:p>
                      <a:pPr marL="0" indent="0">
                        <a:buNone/>
                      </a:pPr>
                      <a:r>
                        <a:rPr lang="en-US" sz="1100" b="1" dirty="0">
                          <a:solidFill>
                            <a:srgbClr val="FFFFFF"/>
                          </a:solidFill>
                        </a:rPr>
                        <a:t>What It Does</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6B"/>
                    </a:solidFill>
                  </a:tcPr>
                </a:tc>
                <a:tc>
                  <a:txBody>
                    <a:bodyPr/>
                    <a:lstStyle/>
                    <a:p>
                      <a:pPr marL="0" indent="0">
                        <a:buNone/>
                      </a:pPr>
                      <a:r>
                        <a:rPr lang="en-US" sz="1100" b="1" dirty="0">
                          <a:solidFill>
                            <a:srgbClr val="FFFFFF"/>
                          </a:solidFill>
                        </a:rPr>
                        <a:t>Key Code / Command</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Web Server</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Accepts HTTP requests, sends responses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http.createServer() or app.listen()</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extLst>
                  <a:ext uri="{0D108BD9-81ED-4DB2-BD59-A6C34878D82A}">
                    <a16:rowId xmlns:a16="http://schemas.microsoft.com/office/drawing/2014/main" val="10001"/>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Node.js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Run JavaScript on the server side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node filename.js</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NPM</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Install &amp; manage packages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npm install &lt;package-name&gt;</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extLst>
                  <a:ext uri="{0D108BD9-81ED-4DB2-BD59-A6C34878D82A}">
                    <a16:rowId xmlns:a16="http://schemas.microsoft.com/office/drawing/2014/main" val="10003"/>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HTTP Module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Built-in basic server creation</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require('http')</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Express.js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Framework for clean routing &amp; APIs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app.get(), app.post(), app.use()</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extLst>
                  <a:ext uri="{0D108BD9-81ED-4DB2-BD59-A6C34878D82A}">
                    <a16:rowId xmlns:a16="http://schemas.microsoft.com/office/drawing/2014/main" val="10005"/>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EJS Templates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Dynamic HTML with server data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res.render('view', { data })</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Static Files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Serve CSS, JS, images directly</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app.use(express.static('public'))</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extLst>
                  <a:ext uri="{0D108BD9-81ED-4DB2-BD59-A6C34878D82A}">
                    <a16:rowId xmlns:a16="http://schemas.microsoft.com/office/drawing/2014/main" val="10007"/>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async/await</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Clean asynchronous code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async function + await + try/catch</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lgn="ctr">
                        <a:buNone/>
                      </a:pPr>
                      <a:r>
                        <a:rPr lang="en-US" sz="1100" b="1" dirty="0">
                          <a:solidFill>
                            <a:srgbClr val="1C1C2E"/>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JSON APIs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1100" dirty="0">
                          <a:solidFill>
                            <a:srgbClr val="1C1C2E"/>
                          </a:solidFill>
                          <a:latin typeface="Calibri" pitchFamily="34" charset="0"/>
                          <a:ea typeface="Calibri" pitchFamily="34" charset="-122"/>
                          <a:cs typeface="Calibri" pitchFamily="34" charset="-120"/>
                        </a:rPr>
                        <a:t>Data exchange between client &amp; server</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tc>
                  <a:txBody>
                    <a:bodyPr/>
                    <a:lstStyle/>
                    <a:p>
                      <a:pPr marL="0" indent="0" algn="l">
                        <a:buNone/>
                      </a:pPr>
                      <a:r>
                        <a:rPr lang="en-US" sz="950" dirty="0">
                          <a:solidFill>
                            <a:srgbClr val="1A3A6B"/>
                          </a:solidFill>
                          <a:latin typeface="Courier New" pitchFamily="34" charset="0"/>
                          <a:ea typeface="Courier New" pitchFamily="34" charset="-122"/>
                          <a:cs typeface="Courier New" pitchFamily="34" charset="-120"/>
                        </a:rPr>
                        <a:t>res.json(data) + fetch('/api/...')</a:t>
                      </a:r>
                      <a:endParaRPr lang="en-US" sz="950" dirty="0">
                        <a:latin typeface="Courier New" charset="0"/>
                        <a:ea typeface="Courier New" charset="0"/>
                        <a:cs typeface="Courier New"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4FD"/>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B"/>
          </a:solidFill>
          <a:ln/>
        </p:spPr>
      </p:sp>
      <p:sp>
        <p:nvSpPr>
          <p:cNvPr id="3" name="Shape 1"/>
          <p:cNvSpPr/>
          <p:nvPr/>
        </p:nvSpPr>
        <p:spPr>
          <a:xfrm>
            <a:off x="0" y="886968"/>
            <a:ext cx="9144000" cy="54864"/>
          </a:xfrm>
          <a:prstGeom prst="rect">
            <a:avLst/>
          </a:prstGeom>
          <a:solidFill>
            <a:srgbClr val="FFD166"/>
          </a:solidFill>
          <a:ln/>
        </p:spPr>
      </p:sp>
      <p:sp>
        <p:nvSpPr>
          <p:cNvPr id="4" name="Text 2"/>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Important Definitions — Exam Preparation</a:t>
            </a:r>
            <a:endParaRPr lang="en-US" sz="2400" dirty="0"/>
          </a:p>
        </p:txBody>
      </p:sp>
      <p:sp>
        <p:nvSpPr>
          <p:cNvPr id="5" name="Text 3"/>
          <p:cNvSpPr/>
          <p:nvPr/>
        </p:nvSpPr>
        <p:spPr>
          <a:xfrm>
            <a:off x="7589520" y="73152"/>
            <a:ext cx="1463040" cy="502920"/>
          </a:xfrm>
          <a:prstGeom prst="rect">
            <a:avLst/>
          </a:prstGeom>
          <a:noFill/>
          <a:ln/>
        </p:spPr>
        <p:txBody>
          <a:bodyPr wrap="square" rtlCol="0" anchor="ctr"/>
          <a:lstStyle/>
          <a:p>
            <a:pPr marL="0" indent="0" algn="r">
              <a:buNone/>
            </a:pPr>
            <a:r>
              <a:rPr lang="en-US" sz="1100" b="1" dirty="0">
                <a:solidFill>
                  <a:srgbClr val="FFD166"/>
                </a:solidFill>
                <a:latin typeface="Calibri" pitchFamily="34" charset="0"/>
                <a:ea typeface="Calibri" pitchFamily="34" charset="-122"/>
                <a:cs typeface="Calibri" pitchFamily="34" charset="-120"/>
              </a:rPr>
              <a:t>Exam Prep</a:t>
            </a:r>
            <a:endParaRPr lang="en-US" sz="1100" dirty="0"/>
          </a:p>
        </p:txBody>
      </p:sp>
      <p:sp>
        <p:nvSpPr>
          <p:cNvPr id="6" name="Shape 4"/>
          <p:cNvSpPr/>
          <p:nvPr/>
        </p:nvSpPr>
        <p:spPr>
          <a:xfrm>
            <a:off x="0" y="4983480"/>
            <a:ext cx="9144000" cy="160020"/>
          </a:xfrm>
          <a:prstGeom prst="rect">
            <a:avLst/>
          </a:prstGeom>
          <a:solidFill>
            <a:srgbClr val="162032"/>
          </a:solidFill>
          <a:ln/>
        </p:spPr>
      </p:sp>
      <p:sp>
        <p:nvSpPr>
          <p:cNvPr id="7" name="Text 5"/>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8" name="Shape 6"/>
          <p:cNvSpPr/>
          <p:nvPr/>
        </p:nvSpPr>
        <p:spPr>
          <a:xfrm>
            <a:off x="201168" y="1005840"/>
            <a:ext cx="4370832" cy="228600"/>
          </a:xfrm>
          <a:prstGeom prst="rect">
            <a:avLst/>
          </a:prstGeom>
          <a:solidFill>
            <a:srgbClr val="EBF4FD"/>
          </a:solidFill>
          <a:ln/>
        </p:spPr>
      </p:sp>
      <p:sp>
        <p:nvSpPr>
          <p:cNvPr id="9" name="Text 7"/>
          <p:cNvSpPr/>
          <p:nvPr/>
        </p:nvSpPr>
        <p:spPr>
          <a:xfrm>
            <a:off x="274320" y="1024128"/>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Web Server:</a:t>
            </a:r>
            <a:endParaRPr lang="en-US" sz="1000" dirty="0"/>
          </a:p>
        </p:txBody>
      </p:sp>
      <p:sp>
        <p:nvSpPr>
          <p:cNvPr id="10" name="Text 8"/>
          <p:cNvSpPr/>
          <p:nvPr/>
        </p:nvSpPr>
        <p:spPr>
          <a:xfrm>
            <a:off x="1618488" y="1024128"/>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Software that accepts HTTP requests and sends responses (HTML, JSON, files)</a:t>
            </a:r>
            <a:endParaRPr lang="en-US" sz="980" dirty="0"/>
          </a:p>
        </p:txBody>
      </p:sp>
      <p:sp>
        <p:nvSpPr>
          <p:cNvPr id="11" name="Shape 9"/>
          <p:cNvSpPr/>
          <p:nvPr/>
        </p:nvSpPr>
        <p:spPr>
          <a:xfrm>
            <a:off x="201168" y="1261872"/>
            <a:ext cx="4370832" cy="228600"/>
          </a:xfrm>
          <a:prstGeom prst="rect">
            <a:avLst/>
          </a:prstGeom>
          <a:solidFill>
            <a:srgbClr val="FFFFFF"/>
          </a:solidFill>
          <a:ln/>
        </p:spPr>
      </p:sp>
      <p:sp>
        <p:nvSpPr>
          <p:cNvPr id="12" name="Text 10"/>
          <p:cNvSpPr/>
          <p:nvPr/>
        </p:nvSpPr>
        <p:spPr>
          <a:xfrm>
            <a:off x="274320" y="1280160"/>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HTTP:</a:t>
            </a:r>
            <a:endParaRPr lang="en-US" sz="1000" dirty="0"/>
          </a:p>
        </p:txBody>
      </p:sp>
      <p:sp>
        <p:nvSpPr>
          <p:cNvPr id="13" name="Text 11"/>
          <p:cNvSpPr/>
          <p:nvPr/>
        </p:nvSpPr>
        <p:spPr>
          <a:xfrm>
            <a:off x="1618488" y="1280160"/>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HyperText Transfer Protocol — rules for client-server communication on the web</a:t>
            </a:r>
            <a:endParaRPr lang="en-US" sz="980" dirty="0"/>
          </a:p>
        </p:txBody>
      </p:sp>
      <p:sp>
        <p:nvSpPr>
          <p:cNvPr id="14" name="Shape 12"/>
          <p:cNvSpPr/>
          <p:nvPr/>
        </p:nvSpPr>
        <p:spPr>
          <a:xfrm>
            <a:off x="201168" y="1517904"/>
            <a:ext cx="4370832" cy="228600"/>
          </a:xfrm>
          <a:prstGeom prst="rect">
            <a:avLst/>
          </a:prstGeom>
          <a:solidFill>
            <a:srgbClr val="EBF4FD"/>
          </a:solidFill>
          <a:ln/>
        </p:spPr>
      </p:sp>
      <p:sp>
        <p:nvSpPr>
          <p:cNvPr id="15" name="Text 13"/>
          <p:cNvSpPr/>
          <p:nvPr/>
        </p:nvSpPr>
        <p:spPr>
          <a:xfrm>
            <a:off x="274320" y="1536192"/>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Node.js:</a:t>
            </a:r>
            <a:endParaRPr lang="en-US" sz="1000" dirty="0"/>
          </a:p>
        </p:txBody>
      </p:sp>
      <p:sp>
        <p:nvSpPr>
          <p:cNvPr id="16" name="Text 14"/>
          <p:cNvSpPr/>
          <p:nvPr/>
        </p:nvSpPr>
        <p:spPr>
          <a:xfrm>
            <a:off x="1618488" y="1536192"/>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Open-source, server-side JavaScript runtime built on Chrome's V8 engine</a:t>
            </a:r>
            <a:endParaRPr lang="en-US" sz="980" dirty="0"/>
          </a:p>
        </p:txBody>
      </p:sp>
      <p:sp>
        <p:nvSpPr>
          <p:cNvPr id="17" name="Shape 15"/>
          <p:cNvSpPr/>
          <p:nvPr/>
        </p:nvSpPr>
        <p:spPr>
          <a:xfrm>
            <a:off x="201168" y="1773936"/>
            <a:ext cx="4370832" cy="228600"/>
          </a:xfrm>
          <a:prstGeom prst="rect">
            <a:avLst/>
          </a:prstGeom>
          <a:solidFill>
            <a:srgbClr val="FFFFFF"/>
          </a:solidFill>
          <a:ln/>
        </p:spPr>
      </p:sp>
      <p:sp>
        <p:nvSpPr>
          <p:cNvPr id="18" name="Text 16"/>
          <p:cNvSpPr/>
          <p:nvPr/>
        </p:nvSpPr>
        <p:spPr>
          <a:xfrm>
            <a:off x="274320" y="1792224"/>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NPM:</a:t>
            </a:r>
            <a:endParaRPr lang="en-US" sz="1000" dirty="0"/>
          </a:p>
        </p:txBody>
      </p:sp>
      <p:sp>
        <p:nvSpPr>
          <p:cNvPr id="19" name="Text 17"/>
          <p:cNvSpPr/>
          <p:nvPr/>
        </p:nvSpPr>
        <p:spPr>
          <a:xfrm>
            <a:off x="1618488" y="1792224"/>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Node Package Manager — installs and manages JavaScript libraries/packages</a:t>
            </a:r>
            <a:endParaRPr lang="en-US" sz="980" dirty="0"/>
          </a:p>
        </p:txBody>
      </p:sp>
      <p:sp>
        <p:nvSpPr>
          <p:cNvPr id="20" name="Shape 18"/>
          <p:cNvSpPr/>
          <p:nvPr/>
        </p:nvSpPr>
        <p:spPr>
          <a:xfrm>
            <a:off x="201168" y="2029968"/>
            <a:ext cx="4370832" cy="228600"/>
          </a:xfrm>
          <a:prstGeom prst="rect">
            <a:avLst/>
          </a:prstGeom>
          <a:solidFill>
            <a:srgbClr val="EBF4FD"/>
          </a:solidFill>
          <a:ln/>
        </p:spPr>
      </p:sp>
      <p:sp>
        <p:nvSpPr>
          <p:cNvPr id="21" name="Text 19"/>
          <p:cNvSpPr/>
          <p:nvPr/>
        </p:nvSpPr>
        <p:spPr>
          <a:xfrm>
            <a:off x="274320" y="2048256"/>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package.json:</a:t>
            </a:r>
            <a:endParaRPr lang="en-US" sz="1000" dirty="0"/>
          </a:p>
        </p:txBody>
      </p:sp>
      <p:sp>
        <p:nvSpPr>
          <p:cNvPr id="22" name="Text 20"/>
          <p:cNvSpPr/>
          <p:nvPr/>
        </p:nvSpPr>
        <p:spPr>
          <a:xfrm>
            <a:off x="1618488" y="2048256"/>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Project config file that stores name, version, and all dependencies list</a:t>
            </a:r>
            <a:endParaRPr lang="en-US" sz="980" dirty="0"/>
          </a:p>
        </p:txBody>
      </p:sp>
      <p:sp>
        <p:nvSpPr>
          <p:cNvPr id="23" name="Shape 21"/>
          <p:cNvSpPr/>
          <p:nvPr/>
        </p:nvSpPr>
        <p:spPr>
          <a:xfrm>
            <a:off x="201168" y="2286000"/>
            <a:ext cx="4370832" cy="228600"/>
          </a:xfrm>
          <a:prstGeom prst="rect">
            <a:avLst/>
          </a:prstGeom>
          <a:solidFill>
            <a:srgbClr val="FFFFFF"/>
          </a:solidFill>
          <a:ln/>
        </p:spPr>
      </p:sp>
      <p:sp>
        <p:nvSpPr>
          <p:cNvPr id="24" name="Text 22"/>
          <p:cNvSpPr/>
          <p:nvPr/>
        </p:nvSpPr>
        <p:spPr>
          <a:xfrm>
            <a:off x="274320" y="2304288"/>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Express.js:</a:t>
            </a:r>
            <a:endParaRPr lang="en-US" sz="1000" dirty="0"/>
          </a:p>
        </p:txBody>
      </p:sp>
      <p:sp>
        <p:nvSpPr>
          <p:cNvPr id="25" name="Text 23"/>
          <p:cNvSpPr/>
          <p:nvPr/>
        </p:nvSpPr>
        <p:spPr>
          <a:xfrm>
            <a:off x="1618488" y="2304288"/>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Minimal, fast Node.js web framework for routing, middleware, and APIs</a:t>
            </a:r>
            <a:endParaRPr lang="en-US" sz="980" dirty="0"/>
          </a:p>
        </p:txBody>
      </p:sp>
      <p:sp>
        <p:nvSpPr>
          <p:cNvPr id="26" name="Shape 24"/>
          <p:cNvSpPr/>
          <p:nvPr/>
        </p:nvSpPr>
        <p:spPr>
          <a:xfrm>
            <a:off x="201168" y="2542032"/>
            <a:ext cx="4370832" cy="228600"/>
          </a:xfrm>
          <a:prstGeom prst="rect">
            <a:avLst/>
          </a:prstGeom>
          <a:solidFill>
            <a:srgbClr val="EBF4FD"/>
          </a:solidFill>
          <a:ln/>
        </p:spPr>
      </p:sp>
      <p:sp>
        <p:nvSpPr>
          <p:cNvPr id="27" name="Text 25"/>
          <p:cNvSpPr/>
          <p:nvPr/>
        </p:nvSpPr>
        <p:spPr>
          <a:xfrm>
            <a:off x="274320" y="2560320"/>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Routing:</a:t>
            </a:r>
            <a:endParaRPr lang="en-US" sz="1000" dirty="0"/>
          </a:p>
        </p:txBody>
      </p:sp>
      <p:sp>
        <p:nvSpPr>
          <p:cNvPr id="28" name="Text 26"/>
          <p:cNvSpPr/>
          <p:nvPr/>
        </p:nvSpPr>
        <p:spPr>
          <a:xfrm>
            <a:off x="1618488" y="2560320"/>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Deciding how the server responds to a request based on URL path and HTTP method</a:t>
            </a:r>
            <a:endParaRPr lang="en-US" sz="980" dirty="0"/>
          </a:p>
        </p:txBody>
      </p:sp>
      <p:sp>
        <p:nvSpPr>
          <p:cNvPr id="29" name="Shape 27"/>
          <p:cNvSpPr/>
          <p:nvPr/>
        </p:nvSpPr>
        <p:spPr>
          <a:xfrm>
            <a:off x="201168" y="2798064"/>
            <a:ext cx="4370832" cy="228600"/>
          </a:xfrm>
          <a:prstGeom prst="rect">
            <a:avLst/>
          </a:prstGeom>
          <a:solidFill>
            <a:srgbClr val="FFFFFF"/>
          </a:solidFill>
          <a:ln/>
        </p:spPr>
      </p:sp>
      <p:sp>
        <p:nvSpPr>
          <p:cNvPr id="30" name="Text 28"/>
          <p:cNvSpPr/>
          <p:nvPr/>
        </p:nvSpPr>
        <p:spPr>
          <a:xfrm>
            <a:off x="274320" y="2816352"/>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Middleware:</a:t>
            </a:r>
            <a:endParaRPr lang="en-US" sz="1000" dirty="0"/>
          </a:p>
        </p:txBody>
      </p:sp>
      <p:sp>
        <p:nvSpPr>
          <p:cNvPr id="31" name="Text 29"/>
          <p:cNvSpPr/>
          <p:nvPr/>
        </p:nvSpPr>
        <p:spPr>
          <a:xfrm>
            <a:off x="1618488" y="2816352"/>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Function in Express that processes requests between receiving and responding</a:t>
            </a:r>
            <a:endParaRPr lang="en-US" sz="980" dirty="0"/>
          </a:p>
        </p:txBody>
      </p:sp>
      <p:sp>
        <p:nvSpPr>
          <p:cNvPr id="32" name="Shape 30"/>
          <p:cNvSpPr/>
          <p:nvPr/>
        </p:nvSpPr>
        <p:spPr>
          <a:xfrm>
            <a:off x="4754880" y="1005840"/>
            <a:ext cx="4370832" cy="228600"/>
          </a:xfrm>
          <a:prstGeom prst="rect">
            <a:avLst/>
          </a:prstGeom>
          <a:solidFill>
            <a:srgbClr val="EBF4FD"/>
          </a:solidFill>
          <a:ln/>
        </p:spPr>
      </p:sp>
      <p:sp>
        <p:nvSpPr>
          <p:cNvPr id="33" name="Text 31"/>
          <p:cNvSpPr/>
          <p:nvPr/>
        </p:nvSpPr>
        <p:spPr>
          <a:xfrm>
            <a:off x="4828032" y="1024128"/>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EJS:</a:t>
            </a:r>
            <a:endParaRPr lang="en-US" sz="1000" dirty="0"/>
          </a:p>
        </p:txBody>
      </p:sp>
      <p:sp>
        <p:nvSpPr>
          <p:cNvPr id="34" name="Text 32"/>
          <p:cNvSpPr/>
          <p:nvPr/>
        </p:nvSpPr>
        <p:spPr>
          <a:xfrm>
            <a:off x="6172200" y="1024128"/>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Embedded JavaScript — template engine for generating dynamic HTML on the server</a:t>
            </a:r>
            <a:endParaRPr lang="en-US" sz="980" dirty="0"/>
          </a:p>
        </p:txBody>
      </p:sp>
      <p:sp>
        <p:nvSpPr>
          <p:cNvPr id="35" name="Shape 33"/>
          <p:cNvSpPr/>
          <p:nvPr/>
        </p:nvSpPr>
        <p:spPr>
          <a:xfrm>
            <a:off x="4754880" y="1261872"/>
            <a:ext cx="4370832" cy="228600"/>
          </a:xfrm>
          <a:prstGeom prst="rect">
            <a:avLst/>
          </a:prstGeom>
          <a:solidFill>
            <a:srgbClr val="FFFFFF"/>
          </a:solidFill>
          <a:ln/>
        </p:spPr>
      </p:sp>
      <p:sp>
        <p:nvSpPr>
          <p:cNvPr id="36" name="Text 34"/>
          <p:cNvSpPr/>
          <p:nvPr/>
        </p:nvSpPr>
        <p:spPr>
          <a:xfrm>
            <a:off x="4828032" y="1280160"/>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SSR:</a:t>
            </a:r>
            <a:endParaRPr lang="en-US" sz="1000" dirty="0"/>
          </a:p>
        </p:txBody>
      </p:sp>
      <p:sp>
        <p:nvSpPr>
          <p:cNvPr id="37" name="Text 35"/>
          <p:cNvSpPr/>
          <p:nvPr/>
        </p:nvSpPr>
        <p:spPr>
          <a:xfrm>
            <a:off x="6172200" y="1280160"/>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Server-Side Rendering — HTML is built on the server before being sent to browser</a:t>
            </a:r>
            <a:endParaRPr lang="en-US" sz="980" dirty="0"/>
          </a:p>
        </p:txBody>
      </p:sp>
      <p:sp>
        <p:nvSpPr>
          <p:cNvPr id="38" name="Shape 36"/>
          <p:cNvSpPr/>
          <p:nvPr/>
        </p:nvSpPr>
        <p:spPr>
          <a:xfrm>
            <a:off x="4754880" y="1517904"/>
            <a:ext cx="4370832" cy="228600"/>
          </a:xfrm>
          <a:prstGeom prst="rect">
            <a:avLst/>
          </a:prstGeom>
          <a:solidFill>
            <a:srgbClr val="EBF4FD"/>
          </a:solidFill>
          <a:ln/>
        </p:spPr>
      </p:sp>
      <p:sp>
        <p:nvSpPr>
          <p:cNvPr id="39" name="Text 37"/>
          <p:cNvSpPr/>
          <p:nvPr/>
        </p:nvSpPr>
        <p:spPr>
          <a:xfrm>
            <a:off x="4828032" y="1536192"/>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Static Files:</a:t>
            </a:r>
            <a:endParaRPr lang="en-US" sz="1000" dirty="0"/>
          </a:p>
        </p:txBody>
      </p:sp>
      <p:sp>
        <p:nvSpPr>
          <p:cNvPr id="40" name="Text 38"/>
          <p:cNvSpPr/>
          <p:nvPr/>
        </p:nvSpPr>
        <p:spPr>
          <a:xfrm>
            <a:off x="6172200" y="1536192"/>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Files (CSS, images, JS) served as-is without any server-side processing</a:t>
            </a:r>
            <a:endParaRPr lang="en-US" sz="980" dirty="0"/>
          </a:p>
        </p:txBody>
      </p:sp>
      <p:sp>
        <p:nvSpPr>
          <p:cNvPr id="41" name="Shape 39"/>
          <p:cNvSpPr/>
          <p:nvPr/>
        </p:nvSpPr>
        <p:spPr>
          <a:xfrm>
            <a:off x="4754880" y="1773936"/>
            <a:ext cx="4370832" cy="228600"/>
          </a:xfrm>
          <a:prstGeom prst="rect">
            <a:avLst/>
          </a:prstGeom>
          <a:solidFill>
            <a:srgbClr val="FFFFFF"/>
          </a:solidFill>
          <a:ln/>
        </p:spPr>
      </p:sp>
      <p:sp>
        <p:nvSpPr>
          <p:cNvPr id="42" name="Text 40"/>
          <p:cNvSpPr/>
          <p:nvPr/>
        </p:nvSpPr>
        <p:spPr>
          <a:xfrm>
            <a:off x="4828032" y="1792224"/>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async/await:</a:t>
            </a:r>
            <a:endParaRPr lang="en-US" sz="1000" dirty="0"/>
          </a:p>
        </p:txBody>
      </p:sp>
      <p:sp>
        <p:nvSpPr>
          <p:cNvPr id="43" name="Text 41"/>
          <p:cNvSpPr/>
          <p:nvPr/>
        </p:nvSpPr>
        <p:spPr>
          <a:xfrm>
            <a:off x="6172200" y="1792224"/>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Modern syntax to write asynchronous code that reads like synchronous code</a:t>
            </a:r>
            <a:endParaRPr lang="en-US" sz="980" dirty="0"/>
          </a:p>
        </p:txBody>
      </p:sp>
      <p:sp>
        <p:nvSpPr>
          <p:cNvPr id="44" name="Shape 42"/>
          <p:cNvSpPr/>
          <p:nvPr/>
        </p:nvSpPr>
        <p:spPr>
          <a:xfrm>
            <a:off x="4754880" y="2029968"/>
            <a:ext cx="4370832" cy="228600"/>
          </a:xfrm>
          <a:prstGeom prst="rect">
            <a:avLst/>
          </a:prstGeom>
          <a:solidFill>
            <a:srgbClr val="EBF4FD"/>
          </a:solidFill>
          <a:ln/>
        </p:spPr>
      </p:sp>
      <p:sp>
        <p:nvSpPr>
          <p:cNvPr id="45" name="Text 43"/>
          <p:cNvSpPr/>
          <p:nvPr/>
        </p:nvSpPr>
        <p:spPr>
          <a:xfrm>
            <a:off x="4828032" y="2048256"/>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Promise:</a:t>
            </a:r>
            <a:endParaRPr lang="en-US" sz="1000" dirty="0"/>
          </a:p>
        </p:txBody>
      </p:sp>
      <p:sp>
        <p:nvSpPr>
          <p:cNvPr id="46" name="Text 44"/>
          <p:cNvSpPr/>
          <p:nvPr/>
        </p:nvSpPr>
        <p:spPr>
          <a:xfrm>
            <a:off x="6172200" y="2048256"/>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Object representing the eventual result (success or failure) of an async operation</a:t>
            </a:r>
            <a:endParaRPr lang="en-US" sz="980" dirty="0"/>
          </a:p>
        </p:txBody>
      </p:sp>
      <p:sp>
        <p:nvSpPr>
          <p:cNvPr id="47" name="Shape 45"/>
          <p:cNvSpPr/>
          <p:nvPr/>
        </p:nvSpPr>
        <p:spPr>
          <a:xfrm>
            <a:off x="4754880" y="2286000"/>
            <a:ext cx="4370832" cy="228600"/>
          </a:xfrm>
          <a:prstGeom prst="rect">
            <a:avLst/>
          </a:prstGeom>
          <a:solidFill>
            <a:srgbClr val="FFFFFF"/>
          </a:solidFill>
          <a:ln/>
        </p:spPr>
      </p:sp>
      <p:sp>
        <p:nvSpPr>
          <p:cNvPr id="48" name="Text 46"/>
          <p:cNvSpPr/>
          <p:nvPr/>
        </p:nvSpPr>
        <p:spPr>
          <a:xfrm>
            <a:off x="4828032" y="2304288"/>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JSON:</a:t>
            </a:r>
            <a:endParaRPr lang="en-US" sz="1000" dirty="0"/>
          </a:p>
        </p:txBody>
      </p:sp>
      <p:sp>
        <p:nvSpPr>
          <p:cNvPr id="49" name="Text 47"/>
          <p:cNvSpPr/>
          <p:nvPr/>
        </p:nvSpPr>
        <p:spPr>
          <a:xfrm>
            <a:off x="6172200" y="2304288"/>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JavaScript Object Notation — lightweight key-value data format for web APIs</a:t>
            </a:r>
            <a:endParaRPr lang="en-US" sz="980" dirty="0"/>
          </a:p>
        </p:txBody>
      </p:sp>
      <p:sp>
        <p:nvSpPr>
          <p:cNvPr id="50" name="Shape 48"/>
          <p:cNvSpPr/>
          <p:nvPr/>
        </p:nvSpPr>
        <p:spPr>
          <a:xfrm>
            <a:off x="4754880" y="2542032"/>
            <a:ext cx="4370832" cy="228600"/>
          </a:xfrm>
          <a:prstGeom prst="rect">
            <a:avLst/>
          </a:prstGeom>
          <a:solidFill>
            <a:srgbClr val="EBF4FD"/>
          </a:solidFill>
          <a:ln/>
        </p:spPr>
      </p:sp>
      <p:sp>
        <p:nvSpPr>
          <p:cNvPr id="51" name="Text 49"/>
          <p:cNvSpPr/>
          <p:nvPr/>
        </p:nvSpPr>
        <p:spPr>
          <a:xfrm>
            <a:off x="4828032" y="2560320"/>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API:</a:t>
            </a:r>
            <a:endParaRPr lang="en-US" sz="1000" dirty="0"/>
          </a:p>
        </p:txBody>
      </p:sp>
      <p:sp>
        <p:nvSpPr>
          <p:cNvPr id="52" name="Text 50"/>
          <p:cNvSpPr/>
          <p:nvPr/>
        </p:nvSpPr>
        <p:spPr>
          <a:xfrm>
            <a:off x="6172200" y="2560320"/>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Set of URL endpoints a server exposes for clients to request or send data</a:t>
            </a:r>
            <a:endParaRPr lang="en-US" sz="980" dirty="0"/>
          </a:p>
        </p:txBody>
      </p:sp>
      <p:sp>
        <p:nvSpPr>
          <p:cNvPr id="53" name="Shape 51"/>
          <p:cNvSpPr/>
          <p:nvPr/>
        </p:nvSpPr>
        <p:spPr>
          <a:xfrm>
            <a:off x="4754880" y="2798064"/>
            <a:ext cx="4370832" cy="228600"/>
          </a:xfrm>
          <a:prstGeom prst="rect">
            <a:avLst/>
          </a:prstGeom>
          <a:solidFill>
            <a:srgbClr val="FFFFFF"/>
          </a:solidFill>
          <a:ln/>
        </p:spPr>
      </p:sp>
      <p:sp>
        <p:nvSpPr>
          <p:cNvPr id="54" name="Text 52"/>
          <p:cNvSpPr/>
          <p:nvPr/>
        </p:nvSpPr>
        <p:spPr>
          <a:xfrm>
            <a:off x="4828032" y="2816352"/>
            <a:ext cx="1325880" cy="201168"/>
          </a:xfrm>
          <a:prstGeom prst="rect">
            <a:avLst/>
          </a:prstGeom>
          <a:noFill/>
          <a:ln/>
        </p:spPr>
        <p:txBody>
          <a:bodyPr wrap="square" lIns="0" tIns="0" rIns="0" bIns="0" rtlCol="0" anchor="ctr"/>
          <a:lstStyle/>
          <a:p>
            <a:pPr marL="0" indent="0">
              <a:buNone/>
            </a:pPr>
            <a:r>
              <a:rPr lang="en-US" sz="1000" b="1" dirty="0">
                <a:solidFill>
                  <a:srgbClr val="1E6FBF"/>
                </a:solidFill>
                <a:latin typeface="Calibri" pitchFamily="34" charset="0"/>
                <a:ea typeface="Calibri" pitchFamily="34" charset="-122"/>
                <a:cs typeface="Calibri" pitchFamily="34" charset="-120"/>
              </a:rPr>
              <a:t>Port:</a:t>
            </a:r>
            <a:endParaRPr lang="en-US" sz="1000" dirty="0"/>
          </a:p>
        </p:txBody>
      </p:sp>
      <p:sp>
        <p:nvSpPr>
          <p:cNvPr id="55" name="Text 53"/>
          <p:cNvSpPr/>
          <p:nvPr/>
        </p:nvSpPr>
        <p:spPr>
          <a:xfrm>
            <a:off x="6172200" y="2816352"/>
            <a:ext cx="2880360" cy="201168"/>
          </a:xfrm>
          <a:prstGeom prst="rect">
            <a:avLst/>
          </a:prstGeom>
          <a:noFill/>
          <a:ln/>
        </p:spPr>
        <p:txBody>
          <a:bodyPr wrap="square" lIns="0" tIns="0" rIns="0" bIns="0" rtlCol="0" anchor="ctr"/>
          <a:lstStyle/>
          <a:p>
            <a:pPr marL="0" indent="0">
              <a:buNone/>
            </a:pPr>
            <a:r>
              <a:rPr lang="en-US" sz="980" dirty="0">
                <a:solidFill>
                  <a:srgbClr val="1C1C2E"/>
                </a:solidFill>
                <a:latin typeface="Calibri" pitchFamily="34" charset="0"/>
                <a:ea typeface="Calibri" pitchFamily="34" charset="-122"/>
                <a:cs typeface="Calibri" pitchFamily="34" charset="-120"/>
              </a:rPr>
              <a:t>Number (0–65535) identifying a specific service/process on a computer</a:t>
            </a:r>
            <a:endParaRPr lang="en-US" sz="9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9CD8C9BB-8291-0547-9806-8575FB2141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2D134B-00C4-2EC2-265D-AF3CF31A06F7}"/>
              </a:ext>
            </a:extLst>
          </p:cNvPr>
          <p:cNvSpPr/>
          <p:nvPr/>
        </p:nvSpPr>
        <p:spPr>
          <a:xfrm>
            <a:off x="0" y="0"/>
            <a:ext cx="9144000" cy="914400"/>
          </a:xfrm>
          <a:prstGeom prst="rect">
            <a:avLst/>
          </a:prstGeom>
          <a:solidFill>
            <a:srgbClr val="1A3A6B"/>
          </a:solidFill>
          <a:ln/>
        </p:spPr>
      </p:sp>
      <p:sp>
        <p:nvSpPr>
          <p:cNvPr id="3" name="Shape 1">
            <a:extLst>
              <a:ext uri="{FF2B5EF4-FFF2-40B4-BE49-F238E27FC236}">
                <a16:creationId xmlns:a16="http://schemas.microsoft.com/office/drawing/2014/main" id="{F9FA76B2-AE32-6BC3-4BDB-9EC56EC42410}"/>
              </a:ext>
            </a:extLst>
          </p:cNvPr>
          <p:cNvSpPr/>
          <p:nvPr/>
        </p:nvSpPr>
        <p:spPr>
          <a:xfrm>
            <a:off x="0" y="886968"/>
            <a:ext cx="9144000" cy="54864"/>
          </a:xfrm>
          <a:prstGeom prst="rect">
            <a:avLst/>
          </a:prstGeom>
          <a:solidFill>
            <a:srgbClr val="FFD166"/>
          </a:solidFill>
          <a:ln/>
        </p:spPr>
      </p:sp>
      <p:sp>
        <p:nvSpPr>
          <p:cNvPr id="4" name="Text 2">
            <a:extLst>
              <a:ext uri="{FF2B5EF4-FFF2-40B4-BE49-F238E27FC236}">
                <a16:creationId xmlns:a16="http://schemas.microsoft.com/office/drawing/2014/main" id="{7CB8500F-DDD1-0109-0AB5-584418FDE865}"/>
              </a:ext>
            </a:extLst>
          </p:cNvPr>
          <p:cNvSpPr/>
          <p:nvPr/>
        </p:nvSpPr>
        <p:spPr>
          <a:xfrm>
            <a:off x="274320" y="0"/>
            <a:ext cx="777240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REFERENCES </a:t>
            </a:r>
            <a:endParaRPr lang="en-US" sz="2400" dirty="0"/>
          </a:p>
        </p:txBody>
      </p:sp>
      <p:sp>
        <p:nvSpPr>
          <p:cNvPr id="5" name="Text 3">
            <a:extLst>
              <a:ext uri="{FF2B5EF4-FFF2-40B4-BE49-F238E27FC236}">
                <a16:creationId xmlns:a16="http://schemas.microsoft.com/office/drawing/2014/main" id="{211AE1C1-4F0C-66E1-7AC5-7F6D8A6C5691}"/>
              </a:ext>
            </a:extLst>
          </p:cNvPr>
          <p:cNvSpPr/>
          <p:nvPr/>
        </p:nvSpPr>
        <p:spPr>
          <a:xfrm>
            <a:off x="7589520" y="73152"/>
            <a:ext cx="1463040" cy="502920"/>
          </a:xfrm>
          <a:prstGeom prst="rect">
            <a:avLst/>
          </a:prstGeom>
          <a:noFill/>
          <a:ln/>
        </p:spPr>
        <p:txBody>
          <a:bodyPr wrap="square" rtlCol="0" anchor="ctr"/>
          <a:lstStyle/>
          <a:p>
            <a:pPr marL="0" indent="0" algn="r">
              <a:buNone/>
            </a:pPr>
            <a:endParaRPr lang="en-US" sz="1100" dirty="0"/>
          </a:p>
        </p:txBody>
      </p:sp>
      <p:sp>
        <p:nvSpPr>
          <p:cNvPr id="6" name="Shape 4">
            <a:extLst>
              <a:ext uri="{FF2B5EF4-FFF2-40B4-BE49-F238E27FC236}">
                <a16:creationId xmlns:a16="http://schemas.microsoft.com/office/drawing/2014/main" id="{07A1D071-53BA-9915-AD01-1935A23E03F5}"/>
              </a:ext>
            </a:extLst>
          </p:cNvPr>
          <p:cNvSpPr/>
          <p:nvPr/>
        </p:nvSpPr>
        <p:spPr>
          <a:xfrm>
            <a:off x="0" y="4983480"/>
            <a:ext cx="9144000" cy="160020"/>
          </a:xfrm>
          <a:prstGeom prst="rect">
            <a:avLst/>
          </a:prstGeom>
          <a:solidFill>
            <a:srgbClr val="162032"/>
          </a:solidFill>
          <a:ln/>
        </p:spPr>
      </p:sp>
      <p:sp>
        <p:nvSpPr>
          <p:cNvPr id="7" name="Text 5">
            <a:extLst>
              <a:ext uri="{FF2B5EF4-FFF2-40B4-BE49-F238E27FC236}">
                <a16:creationId xmlns:a16="http://schemas.microsoft.com/office/drawing/2014/main" id="{730C736E-B963-A89A-760A-A64010054992}"/>
              </a:ext>
            </a:extLst>
          </p:cNvPr>
          <p:cNvSpPr/>
          <p:nvPr/>
        </p:nvSpPr>
        <p:spPr>
          <a:xfrm>
            <a:off x="274320" y="4983480"/>
            <a:ext cx="8595360" cy="1600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MC02094041 – Full Stack Development  |  MCA Sem 2  |  GTU</a:t>
            </a:r>
            <a:endParaRPr lang="en-US" sz="900" dirty="0"/>
          </a:p>
        </p:txBody>
      </p:sp>
      <p:sp>
        <p:nvSpPr>
          <p:cNvPr id="41" name="Shape 39">
            <a:extLst>
              <a:ext uri="{FF2B5EF4-FFF2-40B4-BE49-F238E27FC236}">
                <a16:creationId xmlns:a16="http://schemas.microsoft.com/office/drawing/2014/main" id="{C6D5EB89-CA2E-519A-1C10-42112083154A}"/>
              </a:ext>
            </a:extLst>
          </p:cNvPr>
          <p:cNvSpPr/>
          <p:nvPr/>
        </p:nvSpPr>
        <p:spPr>
          <a:xfrm>
            <a:off x="228600" y="1559086"/>
            <a:ext cx="8686800" cy="1401202"/>
          </a:xfrm>
          <a:prstGeom prst="rect">
            <a:avLst/>
          </a:prstGeom>
          <a:solidFill>
            <a:srgbClr val="EBF4FD"/>
          </a:solidFill>
          <a:ln/>
          <a:effectLst>
            <a:outerShdw blurRad="88900" dist="38100" dir="8100000" algn="bl" rotWithShape="0">
              <a:srgbClr val="000000">
                <a:alpha val="13000"/>
              </a:srgbClr>
            </a:outerShdw>
          </a:effectLst>
        </p:spPr>
        <p:txBody>
          <a:bodyPr/>
          <a:lstStyle/>
          <a:p>
            <a:endParaRPr lang="en-IN" dirty="0"/>
          </a:p>
        </p:txBody>
      </p:sp>
      <p:sp>
        <p:nvSpPr>
          <p:cNvPr id="42" name="Shape 40">
            <a:extLst>
              <a:ext uri="{FF2B5EF4-FFF2-40B4-BE49-F238E27FC236}">
                <a16:creationId xmlns:a16="http://schemas.microsoft.com/office/drawing/2014/main" id="{74FE3E3B-17F7-8AC7-28DD-E538767949FB}"/>
              </a:ext>
            </a:extLst>
          </p:cNvPr>
          <p:cNvSpPr/>
          <p:nvPr/>
        </p:nvSpPr>
        <p:spPr>
          <a:xfrm>
            <a:off x="228600" y="1559086"/>
            <a:ext cx="100584" cy="1401201"/>
          </a:xfrm>
          <a:prstGeom prst="rect">
            <a:avLst/>
          </a:prstGeom>
          <a:solidFill>
            <a:srgbClr val="1E6FBF"/>
          </a:solidFill>
          <a:ln/>
        </p:spPr>
      </p:sp>
      <p:sp>
        <p:nvSpPr>
          <p:cNvPr id="43" name="Text 41">
            <a:extLst>
              <a:ext uri="{FF2B5EF4-FFF2-40B4-BE49-F238E27FC236}">
                <a16:creationId xmlns:a16="http://schemas.microsoft.com/office/drawing/2014/main" id="{E64B111C-6839-96D3-65A5-BDCD5C608A3F}"/>
              </a:ext>
            </a:extLst>
          </p:cNvPr>
          <p:cNvSpPr/>
          <p:nvPr/>
        </p:nvSpPr>
        <p:spPr>
          <a:xfrm>
            <a:off x="393192" y="1559086"/>
            <a:ext cx="8458200" cy="1486721"/>
          </a:xfrm>
          <a:prstGeom prst="rect">
            <a:avLst/>
          </a:prstGeom>
          <a:noFill/>
          <a:ln/>
        </p:spPr>
        <p:txBody>
          <a:bodyPr wrap="square" lIns="0" tIns="0" rIns="0" bIns="0" rtlCol="0" anchor="ctr"/>
          <a:lstStyle/>
          <a:p>
            <a:r>
              <a:rPr lang="en-US" sz="1400" dirty="0">
                <a:hlinkClick r:id="rId3"/>
              </a:rPr>
              <a:t>https://www.codecademy.com/article/what-is-express-js</a:t>
            </a:r>
            <a:endParaRPr lang="en-US" sz="1400" dirty="0"/>
          </a:p>
          <a:p>
            <a:r>
              <a:rPr lang="en-US" sz="1400" dirty="0">
                <a:hlinkClick r:id="rId4"/>
              </a:rPr>
              <a:t>https://www.codecademy.com/resources/docs/general/node-js</a:t>
            </a:r>
            <a:r>
              <a:rPr lang="en-US" sz="1400" dirty="0"/>
              <a:t> </a:t>
            </a:r>
            <a:br>
              <a:rPr lang="en-US" sz="1400" dirty="0"/>
            </a:br>
            <a:r>
              <a:rPr lang="en-US" sz="1400" dirty="0">
                <a:hlinkClick r:id="rId5"/>
              </a:rPr>
              <a:t>https://www.codecademy.com/article/node-package-manager</a:t>
            </a:r>
            <a:r>
              <a:rPr lang="en-US" sz="1400" dirty="0"/>
              <a:t> </a:t>
            </a:r>
          </a:p>
          <a:p>
            <a:r>
              <a:rPr lang="en-US" sz="1400" dirty="0">
                <a:hlinkClick r:id="rId6"/>
              </a:rPr>
              <a:t>https://www.npmjs.com/</a:t>
            </a:r>
            <a:r>
              <a:rPr lang="en-US" sz="1400" dirty="0"/>
              <a:t>  </a:t>
            </a:r>
          </a:p>
          <a:p>
            <a:r>
              <a:rPr lang="en-US" sz="1400" dirty="0">
                <a:hlinkClick r:id="rId7"/>
              </a:rPr>
              <a:t>https://ejs.co/</a:t>
            </a:r>
            <a:r>
              <a:rPr lang="en-US" sz="1400" dirty="0"/>
              <a:t> </a:t>
            </a:r>
          </a:p>
          <a:p>
            <a:r>
              <a:rPr lang="en-US" sz="1400" dirty="0">
                <a:hlinkClick r:id="rId8"/>
              </a:rPr>
              <a:t>https://github.com/mde/ejs/wiki/Using-EJS-with-Express</a:t>
            </a:r>
            <a:r>
              <a:rPr lang="en-US" sz="1400" dirty="0"/>
              <a:t> </a:t>
            </a:r>
          </a:p>
        </p:txBody>
      </p:sp>
      <p:sp>
        <p:nvSpPr>
          <p:cNvPr id="44" name="Text 42">
            <a:extLst>
              <a:ext uri="{FF2B5EF4-FFF2-40B4-BE49-F238E27FC236}">
                <a16:creationId xmlns:a16="http://schemas.microsoft.com/office/drawing/2014/main" id="{0A8DBF51-1B27-2584-3ED4-8363D87D1A47}"/>
              </a:ext>
            </a:extLst>
          </p:cNvPr>
          <p:cNvSpPr/>
          <p:nvPr/>
        </p:nvSpPr>
        <p:spPr>
          <a:xfrm>
            <a:off x="393192" y="2323043"/>
            <a:ext cx="8458200" cy="533992"/>
          </a:xfrm>
          <a:prstGeom prst="rect">
            <a:avLst/>
          </a:prstGeom>
          <a:noFill/>
          <a:ln/>
        </p:spPr>
        <p:txBody>
          <a:bodyPr wrap="square" rtlCol="0" anchor="ctr"/>
          <a:lstStyle/>
          <a:p>
            <a:pPr marL="0" indent="0" algn="just">
              <a:buNone/>
            </a:pPr>
            <a:endParaRPr lang="en-US" sz="1250" dirty="0"/>
          </a:p>
        </p:txBody>
      </p:sp>
    </p:spTree>
    <p:extLst>
      <p:ext uri="{BB962C8B-B14F-4D97-AF65-F5344CB8AC3E}">
        <p14:creationId xmlns:p14="http://schemas.microsoft.com/office/powerpoint/2010/main" val="332793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D166"/>
          </a:solidFill>
          <a:ln/>
        </p:spPr>
      </p:sp>
      <p:sp>
        <p:nvSpPr>
          <p:cNvPr id="3" name="Shape 1"/>
          <p:cNvSpPr/>
          <p:nvPr/>
        </p:nvSpPr>
        <p:spPr>
          <a:xfrm>
            <a:off x="201168" y="4956048"/>
            <a:ext cx="8942832" cy="182880"/>
          </a:xfrm>
          <a:prstGeom prst="rect">
            <a:avLst/>
          </a:prstGeom>
          <a:solidFill>
            <a:srgbClr val="1E6FBF"/>
          </a:solidFill>
          <a:ln/>
        </p:spPr>
      </p:sp>
      <p:sp>
        <p:nvSpPr>
          <p:cNvPr id="4" name="Text 2"/>
          <p:cNvSpPr/>
          <p:nvPr/>
        </p:nvSpPr>
        <p:spPr>
          <a:xfrm>
            <a:off x="457200" y="822960"/>
            <a:ext cx="822960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UNIT 2 👍</a:t>
            </a:r>
            <a:endParaRPr lang="en-US" sz="5200" dirty="0"/>
          </a:p>
        </p:txBody>
      </p:sp>
      <p:sp>
        <p:nvSpPr>
          <p:cNvPr id="5" name="Text 3"/>
          <p:cNvSpPr/>
          <p:nvPr/>
        </p:nvSpPr>
        <p:spPr>
          <a:xfrm>
            <a:off x="457200" y="1920240"/>
            <a:ext cx="8229600" cy="640080"/>
          </a:xfrm>
          <a:prstGeom prst="rect">
            <a:avLst/>
          </a:prstGeom>
          <a:noFill/>
          <a:ln/>
        </p:spPr>
        <p:txBody>
          <a:bodyPr wrap="square" rtlCol="0" anchor="ctr"/>
          <a:lstStyle/>
          <a:p>
            <a:pPr marL="0" indent="0" algn="ctr">
              <a:buNone/>
            </a:pPr>
            <a:r>
              <a:rPr lang="en-US" sz="2800" dirty="0">
                <a:solidFill>
                  <a:srgbClr val="FFD166"/>
                </a:solidFill>
                <a:latin typeface="Calibri" pitchFamily="34" charset="0"/>
                <a:ea typeface="Calibri" pitchFamily="34" charset="-122"/>
                <a:cs typeface="Calibri" pitchFamily="34" charset="-120"/>
              </a:rPr>
              <a:t>Any Questions?</a:t>
            </a:r>
            <a:endParaRPr lang="en-US" sz="2800" dirty="0"/>
          </a:p>
        </p:txBody>
      </p:sp>
      <p:sp>
        <p:nvSpPr>
          <p:cNvPr id="6" name="Shape 4"/>
          <p:cNvSpPr/>
          <p:nvPr/>
        </p:nvSpPr>
        <p:spPr>
          <a:xfrm>
            <a:off x="1828800" y="2743200"/>
            <a:ext cx="5486400" cy="36576"/>
          </a:xfrm>
          <a:prstGeom prst="rect">
            <a:avLst/>
          </a:prstGeom>
          <a:solidFill>
            <a:srgbClr val="334455"/>
          </a:solidFill>
          <a:ln/>
        </p:spPr>
      </p:sp>
      <p:sp>
        <p:nvSpPr>
          <p:cNvPr id="7" name="Text 5"/>
          <p:cNvSpPr/>
          <p:nvPr/>
        </p:nvSpPr>
        <p:spPr>
          <a:xfrm>
            <a:off x="457200" y="2880360"/>
            <a:ext cx="8229600" cy="502920"/>
          </a:xfrm>
          <a:prstGeom prst="rect">
            <a:avLst/>
          </a:prstGeom>
          <a:noFill/>
          <a:ln/>
        </p:spPr>
        <p:txBody>
          <a:bodyPr wrap="square" rtlCol="0" anchor="ctr"/>
          <a:lstStyle/>
          <a:p>
            <a:pPr marL="0" indent="0" algn="ctr">
              <a:buNone/>
            </a:pPr>
            <a:r>
              <a:rPr lang="en-US" sz="1400" dirty="0">
                <a:solidFill>
                  <a:srgbClr val="AABBCC"/>
                </a:solidFill>
                <a:latin typeface="Calibri" pitchFamily="34" charset="0"/>
                <a:ea typeface="Calibri" pitchFamily="34" charset="-122"/>
                <a:cs typeface="Calibri" pitchFamily="34" charset="-120"/>
              </a:rPr>
              <a:t>Practice every code example in your terminal. Programming is learned by doing, not by reading or watching.</a:t>
            </a:r>
            <a:endParaRPr lang="en-US" sz="1400" dirty="0"/>
          </a:p>
        </p:txBody>
      </p:sp>
      <p:sp>
        <p:nvSpPr>
          <p:cNvPr id="8" name="Text 6"/>
          <p:cNvSpPr/>
          <p:nvPr/>
        </p:nvSpPr>
        <p:spPr>
          <a:xfrm>
            <a:off x="457200" y="4160520"/>
            <a:ext cx="8229600" cy="411480"/>
          </a:xfrm>
          <a:prstGeom prst="rect">
            <a:avLst/>
          </a:prstGeom>
          <a:noFill/>
          <a:ln/>
        </p:spPr>
        <p:txBody>
          <a:bodyPr wrap="square" rtlCol="0" anchor="ctr"/>
          <a:lstStyle/>
          <a:p>
            <a:pPr marL="0" indent="0" algn="ctr">
              <a:buNone/>
            </a:pPr>
            <a:r>
              <a:rPr lang="en-US" sz="1100" dirty="0">
                <a:solidFill>
                  <a:srgbClr val="556677"/>
                </a:solidFill>
                <a:latin typeface="Calibri" pitchFamily="34" charset="0"/>
                <a:ea typeface="Calibri" pitchFamily="34" charset="-122"/>
                <a:cs typeface="Calibri" pitchFamily="34" charset="-120"/>
              </a:rPr>
              <a:t>MC02094041 – Full Stack Development  |  MCA Semester 2  |  GTU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TotalTime>
  <Words>6421</Words>
  <Application>Microsoft Office PowerPoint</Application>
  <PresentationFormat>On-screen Show (16:9)</PresentationFormat>
  <Paragraphs>862</Paragraphs>
  <Slides>46</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 Web Servers &amp; Node.js</dc:title>
  <dc:subject>PptxGenJS Presentation</dc:subject>
  <dc:creator>PptxGenJS</dc:creator>
  <cp:lastModifiedBy>Mitul Rathod</cp:lastModifiedBy>
  <cp:revision>17</cp:revision>
  <dcterms:created xsi:type="dcterms:W3CDTF">2026-02-26T17:52:55Z</dcterms:created>
  <dcterms:modified xsi:type="dcterms:W3CDTF">2026-03-10T20:05:16Z</dcterms:modified>
</cp:coreProperties>
</file>