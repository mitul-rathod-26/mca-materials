
<file path=[Content_Types].xml><?xml version="1.0" encoding="utf-8"?>
<Types xmlns="http://schemas.openxmlformats.org/package/2006/content-types">
  <Default Extension="gif" ContentType="image/gi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96" r:id="rId19"/>
    <p:sldId id="297" r:id="rId20"/>
    <p:sldId id="298" r:id="rId21"/>
    <p:sldId id="274" r:id="rId22"/>
    <p:sldId id="275" r:id="rId23"/>
    <p:sldId id="276" r:id="rId24"/>
    <p:sldId id="277" r:id="rId25"/>
    <p:sldId id="278" r:id="rId26"/>
    <p:sldId id="299" r:id="rId27"/>
    <p:sldId id="279" r:id="rId28"/>
    <p:sldId id="300" r:id="rId29"/>
    <p:sldId id="280" r:id="rId30"/>
    <p:sldId id="281" r:id="rId31"/>
    <p:sldId id="282" r:id="rId32"/>
    <p:sldId id="301"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121" d="100"/>
          <a:sy n="121" d="100"/>
        </p:scale>
        <p:origin x="33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29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A8EDD-D94F-948A-651C-00E6922E0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67889-80F8-7A7C-F943-B8143B83E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E1AC6-81F8-BD65-2466-B289DBA776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93D15D-17F1-4BB6-21CF-EE3008EF0477}"/>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559868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850A3-EA72-4737-73FE-251F7A2372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AA7CD-969B-C8FA-188E-E37EF8B989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55FBB-6E34-85B6-F919-8B81E65360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C045DE-5B62-6FFE-67BC-7B7B9D93E09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99988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7A5C6-83D2-D772-E6E3-1258A786D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A3373-EDAB-864A-5B5B-F06BA6F759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58C8F-3C8D-C139-8E49-EB1E54F153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D265F3-769E-7AAD-CC6B-CD711205EEE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5974917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871B5-D2EE-4C6D-DE53-CCF839B12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ACEF1-7A6D-9C8A-CBFD-21503A426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7E44B-932B-9BF3-21C1-3B8606DEA7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EE8431-6844-375E-2AB0-CA81C581BE4B}"/>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6160612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B6825-B36D-597E-D4A5-E8302DE1C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45C03-DD41-E4F0-22D3-1335C76925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99F08-D9DF-00D5-A9F1-8D9C949E53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A49E15-8139-F844-974D-BF13F6671878}"/>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8366156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2F417-088C-01E9-5CA9-37A934F3F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11BCF9-A7B5-D0E1-5BB9-1BD36B9E8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9445A-F9E4-0026-414A-9317D353FD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2545F0-6336-66A6-1A95-555C30E681FE}"/>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4696777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Shape 2"/>
          <p:cNvSpPr/>
          <p:nvPr/>
        </p:nvSpPr>
        <p:spPr>
          <a:xfrm>
            <a:off x="1097280" y="1097280"/>
            <a:ext cx="6949440" cy="2926080"/>
          </a:xfrm>
          <a:prstGeom prst="rect">
            <a:avLst/>
          </a:prstGeom>
          <a:solidFill>
            <a:srgbClr val="1B3A5C">
              <a:alpha val="80000"/>
            </a:srgbClr>
          </a:solidFill>
          <a:ln w="25400">
            <a:solidFill>
              <a:srgbClr val="0EA5E9"/>
            </a:solidFill>
            <a:prstDash val="solid"/>
          </a:ln>
          <a:effectLst>
            <a:outerShdw blurRad="101600" dist="38100" dir="8100000" algn="bl" rotWithShape="0">
              <a:srgbClr val="000000">
                <a:alpha val="12000"/>
              </a:srgbClr>
            </a:outerShdw>
          </a:effectLst>
        </p:spPr>
      </p:sp>
      <p:sp>
        <p:nvSpPr>
          <p:cNvPr id="5" name="Text 3"/>
          <p:cNvSpPr/>
          <p:nvPr/>
        </p:nvSpPr>
        <p:spPr>
          <a:xfrm>
            <a:off x="1280160" y="1234440"/>
            <a:ext cx="6583680" cy="457200"/>
          </a:xfrm>
          <a:prstGeom prst="rect">
            <a:avLst/>
          </a:prstGeom>
          <a:noFill/>
          <a:ln/>
        </p:spPr>
        <p:txBody>
          <a:bodyPr wrap="square" rtlCol="0" anchor="ctr"/>
          <a:lstStyle/>
          <a:p>
            <a:pPr marL="0" indent="0" algn="ctr">
              <a:buNone/>
            </a:pPr>
            <a:r>
              <a:rPr lang="en-US" sz="1800" b="1" dirty="0">
                <a:solidFill>
                  <a:srgbClr val="0EA5E9"/>
                </a:solidFill>
                <a:latin typeface="Trebuchet MS" pitchFamily="34" charset="0"/>
                <a:ea typeface="Trebuchet MS" pitchFamily="34" charset="-122"/>
                <a:cs typeface="Trebuchet MS" pitchFamily="34" charset="-120"/>
              </a:rPr>
              <a:t>Unit 4</a:t>
            </a:r>
            <a:endParaRPr lang="en-US" sz="1800" dirty="0"/>
          </a:p>
        </p:txBody>
      </p:sp>
      <p:sp>
        <p:nvSpPr>
          <p:cNvPr id="6" name="Text 4"/>
          <p:cNvSpPr/>
          <p:nvPr/>
        </p:nvSpPr>
        <p:spPr>
          <a:xfrm>
            <a:off x="1280160" y="1691640"/>
            <a:ext cx="6583680" cy="54864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Advanced Client Side Programming</a:t>
            </a:r>
            <a:endParaRPr lang="en-US" sz="2200" dirty="0"/>
          </a:p>
        </p:txBody>
      </p:sp>
      <p:sp>
        <p:nvSpPr>
          <p:cNvPr id="7" name="Shape 5"/>
          <p:cNvSpPr/>
          <p:nvPr/>
        </p:nvSpPr>
        <p:spPr>
          <a:xfrm>
            <a:off x="2743200" y="2286000"/>
            <a:ext cx="3657600" cy="36576"/>
          </a:xfrm>
          <a:prstGeom prst="rect">
            <a:avLst/>
          </a:prstGeom>
          <a:solidFill>
            <a:srgbClr val="0EA5E9"/>
          </a:solidFill>
          <a:ln w="12700">
            <a:solidFill>
              <a:srgbClr val="0EA5E9"/>
            </a:solidFill>
            <a:prstDash val="solid"/>
          </a:ln>
        </p:spPr>
      </p:sp>
      <p:sp>
        <p:nvSpPr>
          <p:cNvPr id="8" name="Text 6"/>
          <p:cNvSpPr/>
          <p:nvPr/>
        </p:nvSpPr>
        <p:spPr>
          <a:xfrm>
            <a:off x="1280160" y="2377440"/>
            <a:ext cx="6583680" cy="731520"/>
          </a:xfrm>
          <a:prstGeom prst="rect">
            <a:avLst/>
          </a:prstGeom>
          <a:noFill/>
          <a:ln/>
        </p:spPr>
        <p:txBody>
          <a:bodyPr wrap="square" rtlCol="0" anchor="ctr"/>
          <a:lstStyle/>
          <a:p>
            <a:pPr marL="0" indent="0" algn="ctr">
              <a:buNone/>
            </a:pPr>
            <a:r>
              <a:rPr lang="en-US" sz="4000" b="1" dirty="0">
                <a:solidFill>
                  <a:srgbClr val="0EA5E9"/>
                </a:solidFill>
                <a:latin typeface="Trebuchet MS" pitchFamily="34" charset="0"/>
                <a:ea typeface="Trebuchet MS" pitchFamily="34" charset="-122"/>
                <a:cs typeface="Trebuchet MS" pitchFamily="34" charset="-120"/>
              </a:rPr>
              <a:t>React JS</a:t>
            </a:r>
            <a:endParaRPr lang="en-US" sz="4000" dirty="0"/>
          </a:p>
        </p:txBody>
      </p:sp>
      <p:sp>
        <p:nvSpPr>
          <p:cNvPr id="9" name="Text 7"/>
          <p:cNvSpPr/>
          <p:nvPr/>
        </p:nvSpPr>
        <p:spPr>
          <a:xfrm>
            <a:off x="1280160" y="3246120"/>
            <a:ext cx="6583680" cy="365760"/>
          </a:xfrm>
          <a:prstGeom prst="rect">
            <a:avLst/>
          </a:prstGeom>
          <a:noFill/>
          <a:ln/>
        </p:spPr>
        <p:txBody>
          <a:bodyPr wrap="square" rtlCol="0" anchor="ctr"/>
          <a:lstStyle/>
          <a:p>
            <a:pPr marL="0" indent="0" algn="ctr">
              <a:buNone/>
            </a:pPr>
            <a:r>
              <a:rPr lang="en-US" sz="1300" dirty="0">
                <a:solidFill>
                  <a:srgbClr val="A0C4E8"/>
                </a:solidFill>
                <a:latin typeface="Calibri" pitchFamily="34" charset="0"/>
                <a:ea typeface="Calibri" pitchFamily="34" charset="-122"/>
                <a:cs typeface="Calibri" pitchFamily="34" charset="-120"/>
              </a:rPr>
              <a:t>Full Stack Development (MC02094041)</a:t>
            </a:r>
            <a:endParaRPr lang="en-US" sz="1300" dirty="0"/>
          </a:p>
        </p:txBody>
      </p:sp>
      <p:sp>
        <p:nvSpPr>
          <p:cNvPr id="10" name="Text 8"/>
          <p:cNvSpPr/>
          <p:nvPr/>
        </p:nvSpPr>
        <p:spPr>
          <a:xfrm>
            <a:off x="1280160" y="4526280"/>
            <a:ext cx="6583680" cy="320040"/>
          </a:xfrm>
          <a:prstGeom prst="rect">
            <a:avLst/>
          </a:prstGeom>
          <a:noFill/>
          <a:ln/>
        </p:spPr>
        <p:txBody>
          <a:bodyPr wrap="square" rtlCol="0" anchor="ctr"/>
          <a:lstStyle/>
          <a:p>
            <a:pPr marL="0" indent="0" algn="ctr">
              <a:buNone/>
            </a:pPr>
            <a:r>
              <a:rPr lang="en-US" sz="1200" dirty="0">
                <a:solidFill>
                  <a:srgbClr val="6A9FC0"/>
                </a:solidFill>
                <a:latin typeface="Calibri" pitchFamily="34" charset="0"/>
                <a:ea typeface="Calibri" pitchFamily="34" charset="-122"/>
                <a:cs typeface="Calibri" pitchFamily="34" charset="-120"/>
              </a:rPr>
              <a:t>MR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Unit 4 – Overview</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640080"/>
          </a:xfrm>
          <a:prstGeom prst="rect">
            <a:avLst/>
          </a:prstGeom>
          <a:noFill/>
          <a:ln/>
        </p:spPr>
        <p:txBody>
          <a:bodyPr wrap="square" rtlCol="0" anchor="ctr"/>
          <a:lstStyle/>
          <a:p>
            <a:pPr marL="0" indent="0">
              <a:spcAft>
                <a:spcPts val="500"/>
              </a:spcAft>
              <a:buNone/>
            </a:pPr>
            <a:r>
              <a:rPr lang="en-US" sz="1400" dirty="0">
                <a:solidFill>
                  <a:srgbClr val="1E293B"/>
                </a:solidFill>
                <a:latin typeface="Calibri" pitchFamily="34" charset="0"/>
                <a:ea typeface="Calibri" pitchFamily="34" charset="-122"/>
                <a:cs typeface="Calibri" pitchFamily="34" charset="-120"/>
              </a:rPr>
              <a:t>Unit 4 focuses on Advanced Client-Side Programming using React JS — the most popular JavaScript library used to build dynamic, fast, and interactive user interfaces.</a:t>
            </a:r>
            <a:endParaRPr lang="en-US" sz="1400" dirty="0"/>
          </a:p>
        </p:txBody>
      </p:sp>
      <p:sp>
        <p:nvSpPr>
          <p:cNvPr id="6" name="Shape 4"/>
          <p:cNvSpPr/>
          <p:nvPr/>
        </p:nvSpPr>
        <p:spPr>
          <a:xfrm>
            <a:off x="274320" y="1508760"/>
            <a:ext cx="4297680" cy="713232"/>
          </a:xfrm>
          <a:prstGeom prst="rect">
            <a:avLst/>
          </a:prstGeom>
          <a:solidFill>
            <a:srgbClr val="EBF4FB"/>
          </a:solidFill>
          <a:ln w="12700">
            <a:solidFill>
              <a:srgbClr val="0284C7"/>
            </a:solidFill>
            <a:prstDash val="solid"/>
          </a:ln>
          <a:effectLst>
            <a:outerShdw blurRad="101600" dist="38100" dir="8100000" algn="bl" rotWithShape="0">
              <a:srgbClr val="000000">
                <a:alpha val="12000"/>
              </a:srgbClr>
            </a:outerShdw>
          </a:effectLst>
        </p:spPr>
      </p:sp>
      <p:sp>
        <p:nvSpPr>
          <p:cNvPr id="7" name="Shape 5"/>
          <p:cNvSpPr/>
          <p:nvPr/>
        </p:nvSpPr>
        <p:spPr>
          <a:xfrm>
            <a:off x="274320" y="1508760"/>
            <a:ext cx="54864" cy="713232"/>
          </a:xfrm>
          <a:prstGeom prst="rect">
            <a:avLst/>
          </a:prstGeom>
          <a:solidFill>
            <a:srgbClr val="0EA5E9"/>
          </a:solidFill>
          <a:ln w="12700">
            <a:solidFill>
              <a:srgbClr val="0EA5E9"/>
            </a:solidFill>
            <a:prstDash val="solid"/>
          </a:ln>
        </p:spPr>
      </p:sp>
      <p:sp>
        <p:nvSpPr>
          <p:cNvPr id="8" name="Text 6"/>
          <p:cNvSpPr/>
          <p:nvPr/>
        </p:nvSpPr>
        <p:spPr>
          <a:xfrm>
            <a:off x="411480" y="1572768"/>
            <a:ext cx="4069080" cy="274320"/>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  React JS Introduction</a:t>
            </a:r>
            <a:endParaRPr lang="en-US" sz="1300" dirty="0"/>
          </a:p>
        </p:txBody>
      </p:sp>
      <p:sp>
        <p:nvSpPr>
          <p:cNvPr id="9" name="Text 7"/>
          <p:cNvSpPr/>
          <p:nvPr/>
        </p:nvSpPr>
        <p:spPr>
          <a:xfrm>
            <a:off x="411480" y="1856232"/>
            <a:ext cx="406908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What is React, why use it, features</a:t>
            </a:r>
            <a:endParaRPr lang="en-US" sz="1100" dirty="0"/>
          </a:p>
        </p:txBody>
      </p:sp>
      <p:sp>
        <p:nvSpPr>
          <p:cNvPr id="10" name="Shape 8"/>
          <p:cNvSpPr/>
          <p:nvPr/>
        </p:nvSpPr>
        <p:spPr>
          <a:xfrm>
            <a:off x="4754880" y="1508760"/>
            <a:ext cx="4297680" cy="713232"/>
          </a:xfrm>
          <a:prstGeom prst="rect">
            <a:avLst/>
          </a:prstGeom>
          <a:solidFill>
            <a:srgbClr val="EBF4FB"/>
          </a:solidFill>
          <a:ln w="12700">
            <a:solidFill>
              <a:srgbClr val="0284C7"/>
            </a:solidFill>
            <a:prstDash val="solid"/>
          </a:ln>
          <a:effectLst>
            <a:outerShdw blurRad="101600" dist="38100" dir="8100000" algn="bl" rotWithShape="0">
              <a:srgbClr val="000000">
                <a:alpha val="12000"/>
              </a:srgbClr>
            </a:outerShdw>
          </a:effectLst>
        </p:spPr>
      </p:sp>
      <p:sp>
        <p:nvSpPr>
          <p:cNvPr id="11" name="Shape 9"/>
          <p:cNvSpPr/>
          <p:nvPr/>
        </p:nvSpPr>
        <p:spPr>
          <a:xfrm>
            <a:off x="4754880" y="1508760"/>
            <a:ext cx="54864" cy="713232"/>
          </a:xfrm>
          <a:prstGeom prst="rect">
            <a:avLst/>
          </a:prstGeom>
          <a:solidFill>
            <a:srgbClr val="0EA5E9"/>
          </a:solidFill>
          <a:ln w="12700">
            <a:solidFill>
              <a:srgbClr val="0EA5E9"/>
            </a:solidFill>
            <a:prstDash val="solid"/>
          </a:ln>
        </p:spPr>
      </p:sp>
      <p:sp>
        <p:nvSpPr>
          <p:cNvPr id="12" name="Text 10"/>
          <p:cNvSpPr/>
          <p:nvPr/>
        </p:nvSpPr>
        <p:spPr>
          <a:xfrm>
            <a:off x="4892040" y="1572768"/>
            <a:ext cx="4069080" cy="274320"/>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  ReactDOM &amp; JSX</a:t>
            </a:r>
            <a:endParaRPr lang="en-US" sz="1300" dirty="0"/>
          </a:p>
        </p:txBody>
      </p:sp>
      <p:sp>
        <p:nvSpPr>
          <p:cNvPr id="13" name="Text 11"/>
          <p:cNvSpPr/>
          <p:nvPr/>
        </p:nvSpPr>
        <p:spPr>
          <a:xfrm>
            <a:off x="4892040" y="1856232"/>
            <a:ext cx="406908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How React renders to the browser and JSX syntax</a:t>
            </a:r>
            <a:endParaRPr lang="en-US" sz="1100" dirty="0"/>
          </a:p>
        </p:txBody>
      </p:sp>
      <p:sp>
        <p:nvSpPr>
          <p:cNvPr id="14" name="Shape 12"/>
          <p:cNvSpPr/>
          <p:nvPr/>
        </p:nvSpPr>
        <p:spPr>
          <a:xfrm>
            <a:off x="274320" y="2350008"/>
            <a:ext cx="4297680" cy="713232"/>
          </a:xfrm>
          <a:prstGeom prst="rect">
            <a:avLst/>
          </a:prstGeom>
          <a:solidFill>
            <a:srgbClr val="EBF4FB"/>
          </a:solidFill>
          <a:ln w="12700">
            <a:solidFill>
              <a:srgbClr val="0284C7"/>
            </a:solidFill>
            <a:prstDash val="solid"/>
          </a:ln>
          <a:effectLst>
            <a:outerShdw blurRad="101600" dist="38100" dir="8100000" algn="bl" rotWithShape="0">
              <a:srgbClr val="000000">
                <a:alpha val="12000"/>
              </a:srgbClr>
            </a:outerShdw>
          </a:effectLst>
        </p:spPr>
      </p:sp>
      <p:sp>
        <p:nvSpPr>
          <p:cNvPr id="15" name="Shape 13"/>
          <p:cNvSpPr/>
          <p:nvPr/>
        </p:nvSpPr>
        <p:spPr>
          <a:xfrm>
            <a:off x="274320" y="2350008"/>
            <a:ext cx="54864" cy="713232"/>
          </a:xfrm>
          <a:prstGeom prst="rect">
            <a:avLst/>
          </a:prstGeom>
          <a:solidFill>
            <a:srgbClr val="0EA5E9"/>
          </a:solidFill>
          <a:ln w="12700">
            <a:solidFill>
              <a:srgbClr val="0EA5E9"/>
            </a:solidFill>
            <a:prstDash val="solid"/>
          </a:ln>
        </p:spPr>
      </p:sp>
      <p:sp>
        <p:nvSpPr>
          <p:cNvPr id="16" name="Text 14"/>
          <p:cNvSpPr/>
          <p:nvPr/>
        </p:nvSpPr>
        <p:spPr>
          <a:xfrm>
            <a:off x="411480" y="2414016"/>
            <a:ext cx="4069080" cy="274320"/>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  Components &amp; Props</a:t>
            </a:r>
            <a:endParaRPr lang="en-US" sz="1300" dirty="0"/>
          </a:p>
        </p:txBody>
      </p:sp>
      <p:sp>
        <p:nvSpPr>
          <p:cNvPr id="17" name="Text 15"/>
          <p:cNvSpPr/>
          <p:nvPr/>
        </p:nvSpPr>
        <p:spPr>
          <a:xfrm>
            <a:off x="411480" y="2697480"/>
            <a:ext cx="406908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Building blocks of React, passing data between components</a:t>
            </a:r>
            <a:endParaRPr lang="en-US" sz="1100" dirty="0"/>
          </a:p>
        </p:txBody>
      </p:sp>
      <p:sp>
        <p:nvSpPr>
          <p:cNvPr id="18" name="Shape 16"/>
          <p:cNvSpPr/>
          <p:nvPr/>
        </p:nvSpPr>
        <p:spPr>
          <a:xfrm>
            <a:off x="4754880" y="2350008"/>
            <a:ext cx="4297680" cy="713232"/>
          </a:xfrm>
          <a:prstGeom prst="rect">
            <a:avLst/>
          </a:prstGeom>
          <a:solidFill>
            <a:srgbClr val="EBF4FB"/>
          </a:solidFill>
          <a:ln w="12700">
            <a:solidFill>
              <a:srgbClr val="0284C7"/>
            </a:solidFill>
            <a:prstDash val="solid"/>
          </a:ln>
          <a:effectLst>
            <a:outerShdw blurRad="101600" dist="38100" dir="8100000" algn="bl" rotWithShape="0">
              <a:srgbClr val="000000">
                <a:alpha val="12000"/>
              </a:srgbClr>
            </a:outerShdw>
          </a:effectLst>
        </p:spPr>
      </p:sp>
      <p:sp>
        <p:nvSpPr>
          <p:cNvPr id="19" name="Shape 17"/>
          <p:cNvSpPr/>
          <p:nvPr/>
        </p:nvSpPr>
        <p:spPr>
          <a:xfrm>
            <a:off x="4754880" y="2350008"/>
            <a:ext cx="54864" cy="713232"/>
          </a:xfrm>
          <a:prstGeom prst="rect">
            <a:avLst/>
          </a:prstGeom>
          <a:solidFill>
            <a:srgbClr val="0EA5E9"/>
          </a:solidFill>
          <a:ln w="12700">
            <a:solidFill>
              <a:srgbClr val="0EA5E9"/>
            </a:solidFill>
            <a:prstDash val="solid"/>
          </a:ln>
        </p:spPr>
      </p:sp>
      <p:sp>
        <p:nvSpPr>
          <p:cNvPr id="20" name="Text 18"/>
          <p:cNvSpPr/>
          <p:nvPr/>
        </p:nvSpPr>
        <p:spPr>
          <a:xfrm>
            <a:off x="4892040" y="2414016"/>
            <a:ext cx="4069080" cy="274320"/>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  State &amp; Lifecycle</a:t>
            </a:r>
            <a:endParaRPr lang="en-US" sz="1300" dirty="0"/>
          </a:p>
        </p:txBody>
      </p:sp>
      <p:sp>
        <p:nvSpPr>
          <p:cNvPr id="21" name="Text 19"/>
          <p:cNvSpPr/>
          <p:nvPr/>
        </p:nvSpPr>
        <p:spPr>
          <a:xfrm>
            <a:off x="4892040" y="2697480"/>
            <a:ext cx="406908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Managing dynamic data and component lifecycle stages</a:t>
            </a:r>
            <a:endParaRPr lang="en-US" sz="1100" dirty="0"/>
          </a:p>
        </p:txBody>
      </p:sp>
      <p:sp>
        <p:nvSpPr>
          <p:cNvPr id="22" name="Shape 20"/>
          <p:cNvSpPr/>
          <p:nvPr/>
        </p:nvSpPr>
        <p:spPr>
          <a:xfrm>
            <a:off x="274320" y="3191256"/>
            <a:ext cx="4297680" cy="713232"/>
          </a:xfrm>
          <a:prstGeom prst="rect">
            <a:avLst/>
          </a:prstGeom>
          <a:solidFill>
            <a:srgbClr val="EBF4FB"/>
          </a:solidFill>
          <a:ln w="12700">
            <a:solidFill>
              <a:srgbClr val="0284C7"/>
            </a:solidFill>
            <a:prstDash val="solid"/>
          </a:ln>
          <a:effectLst>
            <a:outerShdw blurRad="101600" dist="38100" dir="8100000" algn="bl" rotWithShape="0">
              <a:srgbClr val="000000">
                <a:alpha val="12000"/>
              </a:srgbClr>
            </a:outerShdw>
          </a:effectLst>
        </p:spPr>
      </p:sp>
      <p:sp>
        <p:nvSpPr>
          <p:cNvPr id="23" name="Shape 21"/>
          <p:cNvSpPr/>
          <p:nvPr/>
        </p:nvSpPr>
        <p:spPr>
          <a:xfrm>
            <a:off x="274320" y="3191256"/>
            <a:ext cx="54864" cy="713232"/>
          </a:xfrm>
          <a:prstGeom prst="rect">
            <a:avLst/>
          </a:prstGeom>
          <a:solidFill>
            <a:srgbClr val="0EA5E9"/>
          </a:solidFill>
          <a:ln w="12700">
            <a:solidFill>
              <a:srgbClr val="0EA5E9"/>
            </a:solidFill>
            <a:prstDash val="solid"/>
          </a:ln>
        </p:spPr>
      </p:sp>
      <p:sp>
        <p:nvSpPr>
          <p:cNvPr id="24" name="Text 22"/>
          <p:cNvSpPr/>
          <p:nvPr/>
        </p:nvSpPr>
        <p:spPr>
          <a:xfrm>
            <a:off x="411480" y="3255264"/>
            <a:ext cx="4069080" cy="274320"/>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  Events &amp; Fetch API</a:t>
            </a:r>
            <a:endParaRPr lang="en-US" sz="1300" dirty="0"/>
          </a:p>
        </p:txBody>
      </p:sp>
      <p:sp>
        <p:nvSpPr>
          <p:cNvPr id="25" name="Text 23"/>
          <p:cNvSpPr/>
          <p:nvPr/>
        </p:nvSpPr>
        <p:spPr>
          <a:xfrm>
            <a:off x="411480" y="3538728"/>
            <a:ext cx="406908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Handling user actions and calling external APIs</a:t>
            </a:r>
            <a:endParaRPr lang="en-US" sz="1100" dirty="0"/>
          </a:p>
        </p:txBody>
      </p:sp>
      <p:sp>
        <p:nvSpPr>
          <p:cNvPr id="26" name="Shape 24"/>
          <p:cNvSpPr/>
          <p:nvPr/>
        </p:nvSpPr>
        <p:spPr>
          <a:xfrm>
            <a:off x="4754880" y="3191256"/>
            <a:ext cx="4297680" cy="713232"/>
          </a:xfrm>
          <a:prstGeom prst="rect">
            <a:avLst/>
          </a:prstGeom>
          <a:solidFill>
            <a:srgbClr val="EBF4FB"/>
          </a:solidFill>
          <a:ln w="12700">
            <a:solidFill>
              <a:srgbClr val="0284C7"/>
            </a:solidFill>
            <a:prstDash val="solid"/>
          </a:ln>
          <a:effectLst>
            <a:outerShdw blurRad="101600" dist="38100" dir="8100000" algn="bl" rotWithShape="0">
              <a:srgbClr val="000000">
                <a:alpha val="12000"/>
              </a:srgbClr>
            </a:outerShdw>
          </a:effectLst>
        </p:spPr>
      </p:sp>
      <p:sp>
        <p:nvSpPr>
          <p:cNvPr id="27" name="Shape 25"/>
          <p:cNvSpPr/>
          <p:nvPr/>
        </p:nvSpPr>
        <p:spPr>
          <a:xfrm>
            <a:off x="4754880" y="3191256"/>
            <a:ext cx="54864" cy="713232"/>
          </a:xfrm>
          <a:prstGeom prst="rect">
            <a:avLst/>
          </a:prstGeom>
          <a:solidFill>
            <a:srgbClr val="0EA5E9"/>
          </a:solidFill>
          <a:ln w="12700">
            <a:solidFill>
              <a:srgbClr val="0EA5E9"/>
            </a:solidFill>
            <a:prstDash val="solid"/>
          </a:ln>
        </p:spPr>
      </p:sp>
      <p:sp>
        <p:nvSpPr>
          <p:cNvPr id="28" name="Text 26"/>
          <p:cNvSpPr/>
          <p:nvPr/>
        </p:nvSpPr>
        <p:spPr>
          <a:xfrm>
            <a:off x="4892040" y="3255264"/>
            <a:ext cx="4069080" cy="274320"/>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  Local Storage</a:t>
            </a:r>
            <a:endParaRPr lang="en-US" sz="1300" dirty="0"/>
          </a:p>
        </p:txBody>
      </p:sp>
      <p:sp>
        <p:nvSpPr>
          <p:cNvPr id="29" name="Text 27"/>
          <p:cNvSpPr/>
          <p:nvPr/>
        </p:nvSpPr>
        <p:spPr>
          <a:xfrm>
            <a:off x="4892040" y="3538728"/>
            <a:ext cx="406908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Storing data in the browser persistently</a:t>
            </a:r>
            <a:endParaRPr lang="en-US" sz="1100" dirty="0"/>
          </a:p>
        </p:txBody>
      </p:sp>
      <p:sp>
        <p:nvSpPr>
          <p:cNvPr id="30" name="Shape 28"/>
          <p:cNvSpPr/>
          <p:nvPr/>
        </p:nvSpPr>
        <p:spPr>
          <a:xfrm>
            <a:off x="274320" y="4032504"/>
            <a:ext cx="4297680" cy="713232"/>
          </a:xfrm>
          <a:prstGeom prst="rect">
            <a:avLst/>
          </a:prstGeom>
          <a:solidFill>
            <a:srgbClr val="EBF4FB"/>
          </a:solidFill>
          <a:ln w="12700">
            <a:solidFill>
              <a:srgbClr val="0284C7"/>
            </a:solidFill>
            <a:prstDash val="solid"/>
          </a:ln>
          <a:effectLst>
            <a:outerShdw blurRad="101600" dist="38100" dir="8100000" algn="bl" rotWithShape="0">
              <a:srgbClr val="000000">
                <a:alpha val="12000"/>
              </a:srgbClr>
            </a:outerShdw>
          </a:effectLst>
        </p:spPr>
      </p:sp>
      <p:sp>
        <p:nvSpPr>
          <p:cNvPr id="31" name="Shape 29"/>
          <p:cNvSpPr/>
          <p:nvPr/>
        </p:nvSpPr>
        <p:spPr>
          <a:xfrm>
            <a:off x="274320" y="4032504"/>
            <a:ext cx="54864" cy="713232"/>
          </a:xfrm>
          <a:prstGeom prst="rect">
            <a:avLst/>
          </a:prstGeom>
          <a:solidFill>
            <a:srgbClr val="0EA5E9"/>
          </a:solidFill>
          <a:ln w="12700">
            <a:solidFill>
              <a:srgbClr val="0EA5E9"/>
            </a:solidFill>
            <a:prstDash val="solid"/>
          </a:ln>
        </p:spPr>
      </p:sp>
      <p:sp>
        <p:nvSpPr>
          <p:cNvPr id="32" name="Text 30"/>
          <p:cNvSpPr/>
          <p:nvPr/>
        </p:nvSpPr>
        <p:spPr>
          <a:xfrm>
            <a:off x="411480" y="4096512"/>
            <a:ext cx="4069080" cy="274320"/>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  Lifting State Up</a:t>
            </a:r>
            <a:endParaRPr lang="en-US" sz="1300" dirty="0"/>
          </a:p>
        </p:txBody>
      </p:sp>
      <p:sp>
        <p:nvSpPr>
          <p:cNvPr id="33" name="Text 31"/>
          <p:cNvSpPr/>
          <p:nvPr/>
        </p:nvSpPr>
        <p:spPr>
          <a:xfrm>
            <a:off x="411480" y="4379976"/>
            <a:ext cx="406908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Sharing state between sibling components via parent</a:t>
            </a:r>
            <a:endParaRPr lang="en-US" sz="1100" dirty="0"/>
          </a:p>
        </p:txBody>
      </p:sp>
      <p:sp>
        <p:nvSpPr>
          <p:cNvPr id="34" name="Shape 32"/>
          <p:cNvSpPr/>
          <p:nvPr/>
        </p:nvSpPr>
        <p:spPr>
          <a:xfrm>
            <a:off x="4754880" y="4032504"/>
            <a:ext cx="4297680" cy="713232"/>
          </a:xfrm>
          <a:prstGeom prst="rect">
            <a:avLst/>
          </a:prstGeom>
          <a:solidFill>
            <a:srgbClr val="EBF4FB"/>
          </a:solidFill>
          <a:ln w="12700">
            <a:solidFill>
              <a:srgbClr val="0284C7"/>
            </a:solidFill>
            <a:prstDash val="solid"/>
          </a:ln>
          <a:effectLst>
            <a:outerShdw blurRad="101600" dist="38100" dir="8100000" algn="bl" rotWithShape="0">
              <a:srgbClr val="000000">
                <a:alpha val="12000"/>
              </a:srgbClr>
            </a:outerShdw>
          </a:effectLst>
        </p:spPr>
      </p:sp>
      <p:sp>
        <p:nvSpPr>
          <p:cNvPr id="35" name="Shape 33"/>
          <p:cNvSpPr/>
          <p:nvPr/>
        </p:nvSpPr>
        <p:spPr>
          <a:xfrm>
            <a:off x="4754880" y="4032504"/>
            <a:ext cx="54864" cy="713232"/>
          </a:xfrm>
          <a:prstGeom prst="rect">
            <a:avLst/>
          </a:prstGeom>
          <a:solidFill>
            <a:srgbClr val="0EA5E9"/>
          </a:solidFill>
          <a:ln w="12700">
            <a:solidFill>
              <a:srgbClr val="0EA5E9"/>
            </a:solidFill>
            <a:prstDash val="solid"/>
          </a:ln>
        </p:spPr>
      </p:sp>
      <p:sp>
        <p:nvSpPr>
          <p:cNvPr id="36" name="Text 34"/>
          <p:cNvSpPr/>
          <p:nvPr/>
        </p:nvSpPr>
        <p:spPr>
          <a:xfrm>
            <a:off x="4892040" y="4096512"/>
            <a:ext cx="4069080" cy="274320"/>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  Composition &amp; Inheritance</a:t>
            </a:r>
            <a:endParaRPr lang="en-US" sz="1300" dirty="0"/>
          </a:p>
        </p:txBody>
      </p:sp>
      <p:sp>
        <p:nvSpPr>
          <p:cNvPr id="37" name="Text 35"/>
          <p:cNvSpPr/>
          <p:nvPr/>
        </p:nvSpPr>
        <p:spPr>
          <a:xfrm>
            <a:off x="4892040" y="4379976"/>
            <a:ext cx="406908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Composing components – the React way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Learning Objectives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32004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By the end of Unit 4, students will be able to:</a:t>
            </a:r>
            <a:endParaRPr lang="en-US" sz="1400" dirty="0"/>
          </a:p>
        </p:txBody>
      </p:sp>
      <p:sp>
        <p:nvSpPr>
          <p:cNvPr id="6" name="Shape 4"/>
          <p:cNvSpPr/>
          <p:nvPr/>
        </p:nvSpPr>
        <p:spPr>
          <a:xfrm>
            <a:off x="201168" y="1207008"/>
            <a:ext cx="8741664" cy="777240"/>
          </a:xfrm>
          <a:prstGeom prst="rect">
            <a:avLst/>
          </a:prstGeom>
          <a:solidFill>
            <a:srgbClr val="EBF4FB"/>
          </a:solidFill>
          <a:ln w="12700">
            <a:solidFill>
              <a:srgbClr val="0EA5E9"/>
            </a:solidFill>
            <a:prstDash val="solid"/>
          </a:ln>
          <a:effectLst>
            <a:outerShdw blurRad="101600" dist="38100" dir="8100000" algn="bl" rotWithShape="0">
              <a:srgbClr val="000000">
                <a:alpha val="12000"/>
              </a:srgbClr>
            </a:outerShdw>
          </a:effectLst>
        </p:spPr>
      </p:sp>
      <p:sp>
        <p:nvSpPr>
          <p:cNvPr id="7" name="Shape 5"/>
          <p:cNvSpPr/>
          <p:nvPr/>
        </p:nvSpPr>
        <p:spPr>
          <a:xfrm>
            <a:off x="201168" y="1207008"/>
            <a:ext cx="1371600" cy="777240"/>
          </a:xfrm>
          <a:prstGeom prst="rect">
            <a:avLst/>
          </a:prstGeom>
          <a:solidFill>
            <a:srgbClr val="1B3A5C"/>
          </a:solidFill>
          <a:ln w="12700">
            <a:solidFill>
              <a:srgbClr val="1B3A5C"/>
            </a:solidFill>
            <a:prstDash val="solid"/>
          </a:ln>
        </p:spPr>
      </p:sp>
      <p:sp>
        <p:nvSpPr>
          <p:cNvPr id="8" name="Text 6"/>
          <p:cNvSpPr/>
          <p:nvPr/>
        </p:nvSpPr>
        <p:spPr>
          <a:xfrm>
            <a:off x="246888" y="1389888"/>
            <a:ext cx="1280160" cy="41148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CO4 – Analyze</a:t>
            </a:r>
            <a:endParaRPr lang="en-US" sz="1200" dirty="0"/>
          </a:p>
        </p:txBody>
      </p:sp>
      <p:sp>
        <p:nvSpPr>
          <p:cNvPr id="9" name="Text 7"/>
          <p:cNvSpPr/>
          <p:nvPr/>
        </p:nvSpPr>
        <p:spPr>
          <a:xfrm>
            <a:off x="1691640" y="1298448"/>
            <a:ext cx="7132320" cy="59436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Explain principles of React including ReactDOM and JSX. Understand component properties and composition.</a:t>
            </a:r>
            <a:endParaRPr lang="en-US" sz="1300" dirty="0"/>
          </a:p>
        </p:txBody>
      </p:sp>
      <p:sp>
        <p:nvSpPr>
          <p:cNvPr id="10" name="Shape 8"/>
          <p:cNvSpPr/>
          <p:nvPr/>
        </p:nvSpPr>
        <p:spPr>
          <a:xfrm>
            <a:off x="201168" y="2103120"/>
            <a:ext cx="8741664" cy="77724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11" name="Shape 9"/>
          <p:cNvSpPr/>
          <p:nvPr/>
        </p:nvSpPr>
        <p:spPr>
          <a:xfrm>
            <a:off x="201168" y="2103120"/>
            <a:ext cx="1371600" cy="777240"/>
          </a:xfrm>
          <a:prstGeom prst="rect">
            <a:avLst/>
          </a:prstGeom>
          <a:solidFill>
            <a:srgbClr val="1B3A5C"/>
          </a:solidFill>
          <a:ln w="12700">
            <a:solidFill>
              <a:srgbClr val="1B3A5C"/>
            </a:solidFill>
            <a:prstDash val="solid"/>
          </a:ln>
        </p:spPr>
      </p:sp>
      <p:sp>
        <p:nvSpPr>
          <p:cNvPr id="12" name="Text 10"/>
          <p:cNvSpPr/>
          <p:nvPr/>
        </p:nvSpPr>
        <p:spPr>
          <a:xfrm>
            <a:off x="246888" y="2286000"/>
            <a:ext cx="1280160" cy="41148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CO4 – Apply</a:t>
            </a:r>
            <a:endParaRPr lang="en-US" sz="1200" dirty="0"/>
          </a:p>
        </p:txBody>
      </p:sp>
      <p:sp>
        <p:nvSpPr>
          <p:cNvPr id="13" name="Text 11"/>
          <p:cNvSpPr/>
          <p:nvPr/>
        </p:nvSpPr>
        <p:spPr>
          <a:xfrm>
            <a:off x="1691640" y="2194560"/>
            <a:ext cx="7132320" cy="59436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Develop dynamic user interfaces by managing state, handling events, and enabling component communication.</a:t>
            </a:r>
            <a:endParaRPr lang="en-US" sz="1300" dirty="0"/>
          </a:p>
        </p:txBody>
      </p:sp>
      <p:sp>
        <p:nvSpPr>
          <p:cNvPr id="14" name="Shape 12"/>
          <p:cNvSpPr/>
          <p:nvPr/>
        </p:nvSpPr>
        <p:spPr>
          <a:xfrm>
            <a:off x="201168" y="2999232"/>
            <a:ext cx="8741664" cy="777240"/>
          </a:xfrm>
          <a:prstGeom prst="rect">
            <a:avLst/>
          </a:prstGeom>
          <a:solidFill>
            <a:srgbClr val="EBF4FB"/>
          </a:solidFill>
          <a:ln w="12700">
            <a:solidFill>
              <a:srgbClr val="0EA5E9"/>
            </a:solidFill>
            <a:prstDash val="solid"/>
          </a:ln>
          <a:effectLst>
            <a:outerShdw blurRad="101600" dist="38100" dir="8100000" algn="bl" rotWithShape="0">
              <a:srgbClr val="000000">
                <a:alpha val="12000"/>
              </a:srgbClr>
            </a:outerShdw>
          </a:effectLst>
        </p:spPr>
      </p:sp>
      <p:sp>
        <p:nvSpPr>
          <p:cNvPr id="15" name="Shape 13"/>
          <p:cNvSpPr/>
          <p:nvPr/>
        </p:nvSpPr>
        <p:spPr>
          <a:xfrm>
            <a:off x="201168" y="2999232"/>
            <a:ext cx="1371600" cy="777240"/>
          </a:xfrm>
          <a:prstGeom prst="rect">
            <a:avLst/>
          </a:prstGeom>
          <a:solidFill>
            <a:srgbClr val="1B3A5C"/>
          </a:solidFill>
          <a:ln w="12700">
            <a:solidFill>
              <a:srgbClr val="1B3A5C"/>
            </a:solidFill>
            <a:prstDash val="solid"/>
          </a:ln>
        </p:spPr>
      </p:sp>
      <p:sp>
        <p:nvSpPr>
          <p:cNvPr id="16" name="Text 14"/>
          <p:cNvSpPr/>
          <p:nvPr/>
        </p:nvSpPr>
        <p:spPr>
          <a:xfrm>
            <a:off x="246888" y="3182112"/>
            <a:ext cx="1280160" cy="41148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CO4 – Apply</a:t>
            </a:r>
            <a:endParaRPr lang="en-US" sz="1200" dirty="0"/>
          </a:p>
        </p:txBody>
      </p:sp>
      <p:sp>
        <p:nvSpPr>
          <p:cNvPr id="17" name="Text 15"/>
          <p:cNvSpPr/>
          <p:nvPr/>
        </p:nvSpPr>
        <p:spPr>
          <a:xfrm>
            <a:off x="1691640" y="3090672"/>
            <a:ext cx="7132320" cy="59436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Use JS LocalStorage in React and build applications that persist data in the browser.</a:t>
            </a:r>
            <a:endParaRPr lang="en-US" sz="1300" dirty="0"/>
          </a:p>
        </p:txBody>
      </p:sp>
      <p:sp>
        <p:nvSpPr>
          <p:cNvPr id="18" name="Shape 16"/>
          <p:cNvSpPr/>
          <p:nvPr/>
        </p:nvSpPr>
        <p:spPr>
          <a:xfrm>
            <a:off x="201168" y="3895344"/>
            <a:ext cx="8741664" cy="77724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19" name="Shape 17"/>
          <p:cNvSpPr/>
          <p:nvPr/>
        </p:nvSpPr>
        <p:spPr>
          <a:xfrm>
            <a:off x="201168" y="3895344"/>
            <a:ext cx="1371600" cy="777240"/>
          </a:xfrm>
          <a:prstGeom prst="rect">
            <a:avLst/>
          </a:prstGeom>
          <a:solidFill>
            <a:srgbClr val="1B3A5C"/>
          </a:solidFill>
          <a:ln w="12700">
            <a:solidFill>
              <a:srgbClr val="1B3A5C"/>
            </a:solidFill>
            <a:prstDash val="solid"/>
          </a:ln>
        </p:spPr>
      </p:sp>
      <p:sp>
        <p:nvSpPr>
          <p:cNvPr id="20" name="Text 18"/>
          <p:cNvSpPr/>
          <p:nvPr/>
        </p:nvSpPr>
        <p:spPr>
          <a:xfrm>
            <a:off x="246888" y="4078224"/>
            <a:ext cx="1280160" cy="41148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CO5 – Create</a:t>
            </a:r>
            <a:endParaRPr lang="en-US" sz="1200" dirty="0"/>
          </a:p>
        </p:txBody>
      </p:sp>
      <p:sp>
        <p:nvSpPr>
          <p:cNvPr id="21" name="Text 19"/>
          <p:cNvSpPr/>
          <p:nvPr/>
        </p:nvSpPr>
        <p:spPr>
          <a:xfrm>
            <a:off x="1691640" y="3986784"/>
            <a:ext cx="7132320" cy="59436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Implement a full-stack Single Page Application using React and deploy it on Cloud.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01</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React JS – Introduction</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What is React? Why use it? Real-world applications.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What is React JS?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964059"/>
            <a:ext cx="8741664" cy="1005840"/>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React JS is an open-source JavaScript library developed by Facebook (Meta) in 2013. It is specifically designed for building fast, interactive User Interfaces (UI) for web applications.</a:t>
            </a:r>
            <a:endParaRPr lang="en-US" sz="14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React does NOT handle the full web application — it only manages the View layer (what the user sees). For routing, data, and backend you need additional tools.</a:t>
            </a:r>
            <a:endParaRPr lang="en-US" sz="1400" dirty="0"/>
          </a:p>
        </p:txBody>
      </p:sp>
      <p:sp>
        <p:nvSpPr>
          <p:cNvPr id="6" name="Shape 4"/>
          <p:cNvSpPr/>
          <p:nvPr/>
        </p:nvSpPr>
        <p:spPr>
          <a:xfrm>
            <a:off x="201168" y="2248157"/>
            <a:ext cx="4297680" cy="118872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7" name="Shape 5"/>
          <p:cNvSpPr/>
          <p:nvPr/>
        </p:nvSpPr>
        <p:spPr>
          <a:xfrm>
            <a:off x="201168" y="2248157"/>
            <a:ext cx="4297680" cy="320040"/>
          </a:xfrm>
          <a:prstGeom prst="rect">
            <a:avLst/>
          </a:prstGeom>
          <a:solidFill>
            <a:srgbClr val="1B3A5C"/>
          </a:solidFill>
          <a:ln w="12700">
            <a:solidFill>
              <a:srgbClr val="1B3A5C"/>
            </a:solidFill>
            <a:prstDash val="solid"/>
          </a:ln>
        </p:spPr>
      </p:sp>
      <p:sp>
        <p:nvSpPr>
          <p:cNvPr id="8" name="Text 6"/>
          <p:cNvSpPr/>
          <p:nvPr/>
        </p:nvSpPr>
        <p:spPr>
          <a:xfrm>
            <a:off x="292608" y="2293877"/>
            <a:ext cx="4114800" cy="25603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Library, Not a Framework</a:t>
            </a:r>
            <a:endParaRPr lang="en-US" sz="1300" dirty="0"/>
          </a:p>
        </p:txBody>
      </p:sp>
      <p:sp>
        <p:nvSpPr>
          <p:cNvPr id="9" name="Text 7"/>
          <p:cNvSpPr/>
          <p:nvPr/>
        </p:nvSpPr>
        <p:spPr>
          <a:xfrm>
            <a:off x="292608" y="2613917"/>
            <a:ext cx="4114800" cy="73152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React is a library — it gives you tools but does not force a strict structure. You choose other libraries for routing, state management, etc.</a:t>
            </a:r>
            <a:endParaRPr lang="en-US" sz="1200" dirty="0"/>
          </a:p>
        </p:txBody>
      </p:sp>
      <p:sp>
        <p:nvSpPr>
          <p:cNvPr id="10" name="Shape 8"/>
          <p:cNvSpPr/>
          <p:nvPr/>
        </p:nvSpPr>
        <p:spPr>
          <a:xfrm>
            <a:off x="4681728" y="2248157"/>
            <a:ext cx="4297680" cy="118872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11" name="Shape 9"/>
          <p:cNvSpPr/>
          <p:nvPr/>
        </p:nvSpPr>
        <p:spPr>
          <a:xfrm>
            <a:off x="4681728" y="2248157"/>
            <a:ext cx="4297680" cy="320040"/>
          </a:xfrm>
          <a:prstGeom prst="rect">
            <a:avLst/>
          </a:prstGeom>
          <a:solidFill>
            <a:srgbClr val="1B3A5C"/>
          </a:solidFill>
          <a:ln w="12700">
            <a:solidFill>
              <a:srgbClr val="1B3A5C"/>
            </a:solidFill>
            <a:prstDash val="solid"/>
          </a:ln>
        </p:spPr>
      </p:sp>
      <p:sp>
        <p:nvSpPr>
          <p:cNvPr id="12" name="Text 10"/>
          <p:cNvSpPr/>
          <p:nvPr/>
        </p:nvSpPr>
        <p:spPr>
          <a:xfrm>
            <a:off x="4773168" y="2293877"/>
            <a:ext cx="4114800" cy="25603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Component-Based</a:t>
            </a:r>
            <a:endParaRPr lang="en-US" sz="1300" dirty="0"/>
          </a:p>
        </p:txBody>
      </p:sp>
      <p:sp>
        <p:nvSpPr>
          <p:cNvPr id="13" name="Text 11"/>
          <p:cNvSpPr/>
          <p:nvPr/>
        </p:nvSpPr>
        <p:spPr>
          <a:xfrm>
            <a:off x="4773168" y="2613917"/>
            <a:ext cx="4114800" cy="73152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Every part of a React application (button, form, header) is a Component — a reusable piece of UI with its own logic.</a:t>
            </a:r>
            <a:endParaRPr lang="en-US" sz="1200" dirty="0"/>
          </a:p>
        </p:txBody>
      </p:sp>
      <p:sp>
        <p:nvSpPr>
          <p:cNvPr id="14" name="Shape 12"/>
          <p:cNvSpPr/>
          <p:nvPr/>
        </p:nvSpPr>
        <p:spPr>
          <a:xfrm>
            <a:off x="201168" y="3574037"/>
            <a:ext cx="4297680" cy="118872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15" name="Shape 13"/>
          <p:cNvSpPr/>
          <p:nvPr/>
        </p:nvSpPr>
        <p:spPr>
          <a:xfrm>
            <a:off x="201168" y="3574037"/>
            <a:ext cx="4297680" cy="320040"/>
          </a:xfrm>
          <a:prstGeom prst="rect">
            <a:avLst/>
          </a:prstGeom>
          <a:solidFill>
            <a:srgbClr val="1B3A5C"/>
          </a:solidFill>
          <a:ln w="12700">
            <a:solidFill>
              <a:srgbClr val="1B3A5C"/>
            </a:solidFill>
            <a:prstDash val="solid"/>
          </a:ln>
        </p:spPr>
      </p:sp>
      <p:sp>
        <p:nvSpPr>
          <p:cNvPr id="16" name="Text 14"/>
          <p:cNvSpPr/>
          <p:nvPr/>
        </p:nvSpPr>
        <p:spPr>
          <a:xfrm>
            <a:off x="292608" y="3619757"/>
            <a:ext cx="4114800" cy="25603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Declarative Style</a:t>
            </a:r>
            <a:endParaRPr lang="en-US" sz="1300" dirty="0"/>
          </a:p>
        </p:txBody>
      </p:sp>
      <p:sp>
        <p:nvSpPr>
          <p:cNvPr id="17" name="Text 15"/>
          <p:cNvSpPr/>
          <p:nvPr/>
        </p:nvSpPr>
        <p:spPr>
          <a:xfrm>
            <a:off x="292608" y="3939797"/>
            <a:ext cx="4114800" cy="73152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You describe what the UI should look like; React handles the how. You don't manually update the DOM.</a:t>
            </a:r>
            <a:endParaRPr lang="en-US" sz="1200" dirty="0"/>
          </a:p>
        </p:txBody>
      </p:sp>
      <p:sp>
        <p:nvSpPr>
          <p:cNvPr id="18" name="Shape 16"/>
          <p:cNvSpPr/>
          <p:nvPr/>
        </p:nvSpPr>
        <p:spPr>
          <a:xfrm>
            <a:off x="4681728" y="3574037"/>
            <a:ext cx="4297680" cy="118872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19" name="Shape 17"/>
          <p:cNvSpPr/>
          <p:nvPr/>
        </p:nvSpPr>
        <p:spPr>
          <a:xfrm>
            <a:off x="4681728" y="3574037"/>
            <a:ext cx="4297680" cy="320040"/>
          </a:xfrm>
          <a:prstGeom prst="rect">
            <a:avLst/>
          </a:prstGeom>
          <a:solidFill>
            <a:srgbClr val="1B3A5C"/>
          </a:solidFill>
          <a:ln w="12700">
            <a:solidFill>
              <a:srgbClr val="1B3A5C"/>
            </a:solidFill>
            <a:prstDash val="solid"/>
          </a:ln>
        </p:spPr>
      </p:sp>
      <p:sp>
        <p:nvSpPr>
          <p:cNvPr id="20" name="Text 18"/>
          <p:cNvSpPr/>
          <p:nvPr/>
        </p:nvSpPr>
        <p:spPr>
          <a:xfrm>
            <a:off x="4773168" y="3619757"/>
            <a:ext cx="4114800" cy="25603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Virtual DOM</a:t>
            </a:r>
            <a:endParaRPr lang="en-US" sz="1300" dirty="0"/>
          </a:p>
        </p:txBody>
      </p:sp>
      <p:sp>
        <p:nvSpPr>
          <p:cNvPr id="21" name="Text 19"/>
          <p:cNvSpPr/>
          <p:nvPr/>
        </p:nvSpPr>
        <p:spPr>
          <a:xfrm>
            <a:off x="4773168" y="3939797"/>
            <a:ext cx="4114800" cy="73152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React keeps a lightweight copy of the actual DOM in memory. It compares changes and updates only what is necessary — making it very fast.</a:t>
            </a:r>
            <a:endParaRPr lang="en-US" sz="1200" dirty="0"/>
          </a:p>
        </p:txBody>
      </p:sp>
      <p:pic>
        <p:nvPicPr>
          <p:cNvPr id="23" name="Picture 22">
            <a:extLst>
              <a:ext uri="{FF2B5EF4-FFF2-40B4-BE49-F238E27FC236}">
                <a16:creationId xmlns:a16="http://schemas.microsoft.com/office/drawing/2014/main" id="{75743B31-2A31-27ED-0F77-46888F0E7DBD}"/>
              </a:ext>
            </a:extLst>
          </p:cNvPr>
          <p:cNvPicPr>
            <a:picLocks noChangeAspect="1"/>
          </p:cNvPicPr>
          <p:nvPr/>
        </p:nvPicPr>
        <p:blipFill>
          <a:blip r:embed="rId3"/>
          <a:stretch>
            <a:fillRect/>
          </a:stretch>
        </p:blipFill>
        <p:spPr>
          <a:xfrm>
            <a:off x="7403486" y="-204209"/>
            <a:ext cx="1223404" cy="10996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Why React? – Advantages &amp; Real-World Use</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1270699"/>
            <a:ext cx="4206240" cy="320040"/>
          </a:xfrm>
          <a:prstGeom prst="rect">
            <a:avLst/>
          </a:prstGeom>
          <a:noFill/>
          <a:ln/>
        </p:spPr>
        <p:txBody>
          <a:bodyPr wrap="square" rtlCol="0" anchor="ctr"/>
          <a:lstStyle/>
          <a:p>
            <a:pPr marL="0" indent="0">
              <a:buNone/>
            </a:pPr>
            <a:r>
              <a:rPr lang="en-US" sz="1500" b="1" dirty="0">
                <a:solidFill>
                  <a:srgbClr val="0284C7"/>
                </a:solidFill>
                <a:latin typeface="Trebuchet MS" pitchFamily="34" charset="0"/>
                <a:ea typeface="Trebuchet MS" pitchFamily="34" charset="-122"/>
                <a:cs typeface="Trebuchet MS" pitchFamily="34" charset="-120"/>
              </a:rPr>
              <a:t>Advantages of React JS</a:t>
            </a:r>
            <a:endParaRPr lang="en-US" sz="1500" dirty="0"/>
          </a:p>
        </p:txBody>
      </p:sp>
      <p:sp>
        <p:nvSpPr>
          <p:cNvPr id="6" name="Text 4"/>
          <p:cNvSpPr/>
          <p:nvPr/>
        </p:nvSpPr>
        <p:spPr>
          <a:xfrm>
            <a:off x="201168" y="1188720"/>
            <a:ext cx="4206240" cy="3200400"/>
          </a:xfrm>
          <a:prstGeom prst="rect">
            <a:avLst/>
          </a:prstGeom>
          <a:noFill/>
          <a:ln/>
        </p:spPr>
        <p:txBody>
          <a:bodyPr wrap="square" rtlCol="0" anchor="ctr"/>
          <a:lstStyle/>
          <a:p>
            <a:pPr marL="342900" indent="-342900">
              <a:spcAft>
                <a:spcPts val="400"/>
              </a:spcAft>
              <a:buSzPct val="100000"/>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Fast rendering using Virtual DOM</a:t>
            </a:r>
            <a:endParaRPr lang="en-US" sz="1400" dirty="0"/>
          </a:p>
          <a:p>
            <a:pPr marL="342900" indent="-342900">
              <a:spcAft>
                <a:spcPts val="400"/>
              </a:spcAft>
              <a:buSzPct val="100000"/>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Reusable components save development time</a:t>
            </a:r>
            <a:endParaRPr lang="en-US" sz="1400" dirty="0"/>
          </a:p>
          <a:p>
            <a:pPr marL="342900" indent="-342900">
              <a:spcAft>
                <a:spcPts val="400"/>
              </a:spcAft>
              <a:buSzPct val="100000"/>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Strong community support &amp; rich ecosystem</a:t>
            </a:r>
            <a:endParaRPr lang="en-US" sz="1400" dirty="0"/>
          </a:p>
          <a:p>
            <a:pPr marL="342900" indent="-342900">
              <a:spcAft>
                <a:spcPts val="400"/>
              </a:spcAft>
              <a:buSzPct val="100000"/>
              <a:buFont typeface="Courier New" panose="02070309020205020404" pitchFamily="49" charset="0"/>
              <a:buChar char="o"/>
            </a:pPr>
            <a:r>
              <a:rPr lang="en-US" sz="1400" b="1" i="1" dirty="0">
                <a:solidFill>
                  <a:srgbClr val="1E293B"/>
                </a:solidFill>
                <a:latin typeface="Calibri" pitchFamily="34" charset="0"/>
                <a:ea typeface="Calibri" pitchFamily="34" charset="-122"/>
                <a:cs typeface="Calibri" pitchFamily="34" charset="-120"/>
              </a:rPr>
              <a:t>React Native </a:t>
            </a:r>
            <a:r>
              <a:rPr lang="en-US" sz="1400" dirty="0">
                <a:solidFill>
                  <a:srgbClr val="1E293B"/>
                </a:solidFill>
                <a:latin typeface="Calibri" pitchFamily="34" charset="0"/>
                <a:ea typeface="Calibri" pitchFamily="34" charset="-122"/>
                <a:cs typeface="Calibri" pitchFamily="34" charset="-120"/>
              </a:rPr>
              <a:t>allows mobile app development with same skills</a:t>
            </a:r>
            <a:endParaRPr lang="en-US" sz="1400" dirty="0"/>
          </a:p>
          <a:p>
            <a:pPr marL="342900" indent="-342900">
              <a:spcAft>
                <a:spcPts val="400"/>
              </a:spcAft>
              <a:buSzPct val="100000"/>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Easy integration with REST APIs</a:t>
            </a:r>
            <a:endParaRPr lang="en-US" sz="1400" dirty="0"/>
          </a:p>
        </p:txBody>
      </p:sp>
      <p:sp>
        <p:nvSpPr>
          <p:cNvPr id="7" name="Shape 5"/>
          <p:cNvSpPr/>
          <p:nvPr/>
        </p:nvSpPr>
        <p:spPr>
          <a:xfrm>
            <a:off x="4663440" y="942774"/>
            <a:ext cx="4297680" cy="3200400"/>
          </a:xfrm>
          <a:prstGeom prst="rect">
            <a:avLst/>
          </a:prstGeom>
          <a:solidFill>
            <a:srgbClr val="1B3A5C"/>
          </a:solidFill>
          <a:ln w="12700">
            <a:solidFill>
              <a:srgbClr val="1B3A5C"/>
            </a:solidFill>
            <a:prstDash val="solid"/>
          </a:ln>
          <a:effectLst>
            <a:outerShdw blurRad="101600" dist="38100" dir="8100000" algn="bl" rotWithShape="0">
              <a:srgbClr val="000000">
                <a:alpha val="12000"/>
              </a:srgbClr>
            </a:outerShdw>
          </a:effectLst>
        </p:spPr>
      </p:sp>
      <p:sp>
        <p:nvSpPr>
          <p:cNvPr id="8" name="Text 6"/>
          <p:cNvSpPr/>
          <p:nvPr/>
        </p:nvSpPr>
        <p:spPr>
          <a:xfrm>
            <a:off x="4754880" y="988494"/>
            <a:ext cx="4114800" cy="347575"/>
          </a:xfrm>
          <a:prstGeom prst="rect">
            <a:avLst/>
          </a:prstGeom>
          <a:noFill/>
          <a:ln/>
        </p:spPr>
        <p:txBody>
          <a:bodyPr wrap="square" rtlCol="0" anchor="ctr"/>
          <a:lstStyle/>
          <a:p>
            <a:pPr marL="0" indent="0" algn="ctr">
              <a:buNone/>
            </a:pPr>
            <a:r>
              <a:rPr lang="en-US" sz="1400" b="1" dirty="0">
                <a:solidFill>
                  <a:srgbClr val="0EA5E9"/>
                </a:solidFill>
                <a:latin typeface="Trebuchet MS" pitchFamily="34" charset="0"/>
                <a:ea typeface="Trebuchet MS" pitchFamily="34" charset="-122"/>
                <a:cs typeface="Trebuchet MS" pitchFamily="34" charset="-120"/>
              </a:rPr>
              <a:t>Real-World Applications Using React</a:t>
            </a:r>
            <a:endParaRPr lang="en-US" sz="1400" dirty="0"/>
          </a:p>
        </p:txBody>
      </p:sp>
      <p:sp>
        <p:nvSpPr>
          <p:cNvPr id="9" name="Shape 7"/>
          <p:cNvSpPr/>
          <p:nvPr/>
        </p:nvSpPr>
        <p:spPr>
          <a:xfrm>
            <a:off x="4754880" y="1601142"/>
            <a:ext cx="4114800" cy="457200"/>
          </a:xfrm>
          <a:prstGeom prst="rect">
            <a:avLst/>
          </a:prstGeom>
          <a:solidFill>
            <a:srgbClr val="1D4E7A"/>
          </a:solidFill>
          <a:ln w="12700">
            <a:solidFill>
              <a:srgbClr val="2563A8"/>
            </a:solidFill>
            <a:prstDash val="solid"/>
          </a:ln>
        </p:spPr>
      </p:sp>
      <p:sp>
        <p:nvSpPr>
          <p:cNvPr id="10" name="Text 8"/>
          <p:cNvSpPr/>
          <p:nvPr/>
        </p:nvSpPr>
        <p:spPr>
          <a:xfrm>
            <a:off x="4846320" y="1646862"/>
            <a:ext cx="1828800" cy="347472"/>
          </a:xfrm>
          <a:prstGeom prst="rect">
            <a:avLst/>
          </a:prstGeom>
          <a:noFill/>
          <a:ln/>
        </p:spPr>
        <p:txBody>
          <a:bodyPr wrap="square" rtlCol="0" anchor="ctr"/>
          <a:lstStyle/>
          <a:p>
            <a:pPr marL="0" indent="0">
              <a:buNone/>
            </a:pPr>
            <a:r>
              <a:rPr lang="en-US" sz="1200" b="1" dirty="0">
                <a:solidFill>
                  <a:srgbClr val="0EA5E9"/>
                </a:solidFill>
                <a:latin typeface="Calibri" pitchFamily="34" charset="0"/>
                <a:ea typeface="Calibri" pitchFamily="34" charset="-122"/>
                <a:cs typeface="Calibri" pitchFamily="34" charset="-120"/>
              </a:rPr>
              <a:t>Facebook &amp; Instagram</a:t>
            </a:r>
            <a:endParaRPr lang="en-US" sz="1200" dirty="0"/>
          </a:p>
        </p:txBody>
      </p:sp>
      <p:sp>
        <p:nvSpPr>
          <p:cNvPr id="11" name="Text 9"/>
          <p:cNvSpPr/>
          <p:nvPr/>
        </p:nvSpPr>
        <p:spPr>
          <a:xfrm>
            <a:off x="6693408" y="1646862"/>
            <a:ext cx="210312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Social media giants — built with React</a:t>
            </a:r>
            <a:endParaRPr lang="en-US" sz="1100" dirty="0"/>
          </a:p>
        </p:txBody>
      </p:sp>
      <p:sp>
        <p:nvSpPr>
          <p:cNvPr id="12" name="Shape 10"/>
          <p:cNvSpPr/>
          <p:nvPr/>
        </p:nvSpPr>
        <p:spPr>
          <a:xfrm>
            <a:off x="4754880" y="2149782"/>
            <a:ext cx="4114800" cy="457200"/>
          </a:xfrm>
          <a:prstGeom prst="rect">
            <a:avLst/>
          </a:prstGeom>
          <a:solidFill>
            <a:srgbClr val="1D4E7A"/>
          </a:solidFill>
          <a:ln w="12700">
            <a:solidFill>
              <a:srgbClr val="2563A8"/>
            </a:solidFill>
            <a:prstDash val="solid"/>
          </a:ln>
        </p:spPr>
      </p:sp>
      <p:sp>
        <p:nvSpPr>
          <p:cNvPr id="13" name="Text 11"/>
          <p:cNvSpPr/>
          <p:nvPr/>
        </p:nvSpPr>
        <p:spPr>
          <a:xfrm>
            <a:off x="4846320" y="2195502"/>
            <a:ext cx="1828800" cy="347472"/>
          </a:xfrm>
          <a:prstGeom prst="rect">
            <a:avLst/>
          </a:prstGeom>
          <a:noFill/>
          <a:ln/>
        </p:spPr>
        <p:txBody>
          <a:bodyPr wrap="square" rtlCol="0" anchor="ctr"/>
          <a:lstStyle/>
          <a:p>
            <a:pPr marL="0" indent="0">
              <a:buNone/>
            </a:pPr>
            <a:r>
              <a:rPr lang="en-US" sz="1200" b="1" dirty="0">
                <a:solidFill>
                  <a:srgbClr val="0EA5E9"/>
                </a:solidFill>
                <a:latin typeface="Calibri" pitchFamily="34" charset="0"/>
                <a:ea typeface="Calibri" pitchFamily="34" charset="-122"/>
                <a:cs typeface="Calibri" pitchFamily="34" charset="-120"/>
              </a:rPr>
              <a:t>Netflix</a:t>
            </a:r>
            <a:endParaRPr lang="en-US" sz="1200" dirty="0"/>
          </a:p>
        </p:txBody>
      </p:sp>
      <p:sp>
        <p:nvSpPr>
          <p:cNvPr id="14" name="Text 12"/>
          <p:cNvSpPr/>
          <p:nvPr/>
        </p:nvSpPr>
        <p:spPr>
          <a:xfrm>
            <a:off x="6693408" y="2195502"/>
            <a:ext cx="210312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Their UI was rebuilt with React for performance</a:t>
            </a:r>
            <a:endParaRPr lang="en-US" sz="1100" dirty="0"/>
          </a:p>
        </p:txBody>
      </p:sp>
      <p:sp>
        <p:nvSpPr>
          <p:cNvPr id="21" name="Shape 19"/>
          <p:cNvSpPr/>
          <p:nvPr/>
        </p:nvSpPr>
        <p:spPr>
          <a:xfrm>
            <a:off x="4754880" y="2717353"/>
            <a:ext cx="4114800" cy="457200"/>
          </a:xfrm>
          <a:prstGeom prst="rect">
            <a:avLst/>
          </a:prstGeom>
          <a:solidFill>
            <a:srgbClr val="1D4E7A"/>
          </a:solidFill>
          <a:ln w="12700">
            <a:solidFill>
              <a:srgbClr val="2563A8"/>
            </a:solidFill>
            <a:prstDash val="solid"/>
          </a:ln>
        </p:spPr>
      </p:sp>
      <p:sp>
        <p:nvSpPr>
          <p:cNvPr id="22" name="Text 20"/>
          <p:cNvSpPr/>
          <p:nvPr/>
        </p:nvSpPr>
        <p:spPr>
          <a:xfrm>
            <a:off x="4846320" y="2763073"/>
            <a:ext cx="1828800" cy="347472"/>
          </a:xfrm>
          <a:prstGeom prst="rect">
            <a:avLst/>
          </a:prstGeom>
          <a:noFill/>
          <a:ln/>
        </p:spPr>
        <p:txBody>
          <a:bodyPr wrap="square" rtlCol="0" anchor="ctr"/>
          <a:lstStyle/>
          <a:p>
            <a:pPr marL="0" indent="0">
              <a:buNone/>
            </a:pPr>
            <a:r>
              <a:rPr lang="en-US" sz="1200" b="1" dirty="0">
                <a:solidFill>
                  <a:srgbClr val="0EA5E9"/>
                </a:solidFill>
                <a:latin typeface="Calibri" pitchFamily="34" charset="0"/>
                <a:ea typeface="Calibri" pitchFamily="34" charset="-122"/>
                <a:cs typeface="Calibri" pitchFamily="34" charset="-120"/>
              </a:rPr>
              <a:t>Notion</a:t>
            </a:r>
            <a:endParaRPr lang="en-US" sz="1200" dirty="0"/>
          </a:p>
        </p:txBody>
      </p:sp>
      <p:sp>
        <p:nvSpPr>
          <p:cNvPr id="23" name="Text 21"/>
          <p:cNvSpPr/>
          <p:nvPr/>
        </p:nvSpPr>
        <p:spPr>
          <a:xfrm>
            <a:off x="6693408" y="2763073"/>
            <a:ext cx="210312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Popular productivity tool built on React</a:t>
            </a:r>
            <a:endParaRPr lang="en-US" sz="1100" dirty="0"/>
          </a:p>
        </p:txBody>
      </p:sp>
      <p:sp>
        <p:nvSpPr>
          <p:cNvPr id="24" name="Shape 22"/>
          <p:cNvSpPr/>
          <p:nvPr/>
        </p:nvSpPr>
        <p:spPr>
          <a:xfrm>
            <a:off x="4754880" y="3265993"/>
            <a:ext cx="4114800" cy="457200"/>
          </a:xfrm>
          <a:prstGeom prst="rect">
            <a:avLst/>
          </a:prstGeom>
          <a:solidFill>
            <a:srgbClr val="1D4E7A"/>
          </a:solidFill>
          <a:ln w="12700">
            <a:solidFill>
              <a:srgbClr val="2563A8"/>
            </a:solidFill>
            <a:prstDash val="solid"/>
          </a:ln>
        </p:spPr>
      </p:sp>
      <p:sp>
        <p:nvSpPr>
          <p:cNvPr id="25" name="Text 23"/>
          <p:cNvSpPr/>
          <p:nvPr/>
        </p:nvSpPr>
        <p:spPr>
          <a:xfrm>
            <a:off x="4846320" y="3311713"/>
            <a:ext cx="1828800" cy="347472"/>
          </a:xfrm>
          <a:prstGeom prst="rect">
            <a:avLst/>
          </a:prstGeom>
          <a:noFill/>
          <a:ln/>
        </p:spPr>
        <p:txBody>
          <a:bodyPr wrap="square" rtlCol="0" anchor="ctr"/>
          <a:lstStyle/>
          <a:p>
            <a:pPr marL="0" indent="0">
              <a:buNone/>
            </a:pPr>
            <a:r>
              <a:rPr lang="en-US" sz="1200" b="1" dirty="0">
                <a:solidFill>
                  <a:srgbClr val="0EA5E9"/>
                </a:solidFill>
                <a:latin typeface="Calibri" pitchFamily="34" charset="0"/>
                <a:ea typeface="Calibri" pitchFamily="34" charset="-122"/>
                <a:cs typeface="Calibri" pitchFamily="34" charset="-120"/>
              </a:rPr>
              <a:t>Flipkart / Swiggy</a:t>
            </a:r>
            <a:endParaRPr lang="en-US" sz="1200" dirty="0"/>
          </a:p>
        </p:txBody>
      </p:sp>
      <p:sp>
        <p:nvSpPr>
          <p:cNvPr id="26" name="Text 24"/>
          <p:cNvSpPr/>
          <p:nvPr/>
        </p:nvSpPr>
        <p:spPr>
          <a:xfrm>
            <a:off x="6693408" y="3311713"/>
            <a:ext cx="2176272"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Indian apps using React for fast UI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02</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ReactDOM</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Connecting React components to the actual browser DOM.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ReactDOM – Concept &amp; Role</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68680"/>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ReactDOM is a separate package from React that provides methods to render React components into the actual browser DOM (Document Object Model).</a:t>
            </a:r>
            <a:endParaRPr lang="en-US" sz="14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Think of it this way: React creates the component tree (in memory), and ReactDOM is the bridge that puts it on the real webpage the user sees.</a:t>
            </a:r>
            <a:endParaRPr lang="en-US" sz="1400" dirty="0"/>
          </a:p>
        </p:txBody>
      </p:sp>
      <p:sp>
        <p:nvSpPr>
          <p:cNvPr id="6" name="Shape 4"/>
          <p:cNvSpPr/>
          <p:nvPr/>
        </p:nvSpPr>
        <p:spPr>
          <a:xfrm>
            <a:off x="457200" y="1783080"/>
            <a:ext cx="1737360" cy="629990"/>
          </a:xfrm>
          <a:prstGeom prst="rect">
            <a:avLst/>
          </a:prstGeom>
          <a:solidFill>
            <a:srgbClr val="1B3A5C"/>
          </a:solidFill>
          <a:ln w="12700">
            <a:solidFill>
              <a:srgbClr val="1B3A5C"/>
            </a:solidFill>
            <a:prstDash val="solid"/>
          </a:ln>
          <a:effectLst>
            <a:outerShdw blurRad="101600" dist="38100" dir="8100000" algn="bl" rotWithShape="0">
              <a:srgbClr val="000000">
                <a:alpha val="12000"/>
              </a:srgbClr>
            </a:outerShdw>
          </a:effectLst>
        </p:spPr>
      </p:sp>
      <p:sp>
        <p:nvSpPr>
          <p:cNvPr id="7" name="Text 5"/>
          <p:cNvSpPr/>
          <p:nvPr/>
        </p:nvSpPr>
        <p:spPr>
          <a:xfrm>
            <a:off x="457200" y="1828800"/>
            <a:ext cx="1737360" cy="58427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Your React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p>
        </p:txBody>
      </p:sp>
      <p:sp>
        <p:nvSpPr>
          <p:cNvPr id="8" name="Text 6"/>
          <p:cNvSpPr/>
          <p:nvPr/>
        </p:nvSpPr>
        <p:spPr>
          <a:xfrm>
            <a:off x="2221992" y="1920240"/>
            <a:ext cx="320040" cy="457200"/>
          </a:xfrm>
          <a:prstGeom prst="rect">
            <a:avLst/>
          </a:prstGeom>
          <a:noFill/>
          <a:ln/>
        </p:spPr>
        <p:txBody>
          <a:bodyPr wrap="square" rtlCol="0" anchor="ctr"/>
          <a:lstStyle/>
          <a:p>
            <a:pPr marL="0" indent="0" algn="ctr">
              <a:buNone/>
            </a:pPr>
            <a:r>
              <a:rPr lang="en-US" sz="2200" b="1" dirty="0">
                <a:solidFill>
                  <a:srgbClr val="0EA5E9"/>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2560320" y="1783080"/>
            <a:ext cx="1737360" cy="640080"/>
          </a:xfrm>
          <a:prstGeom prst="rect">
            <a:avLst/>
          </a:prstGeom>
          <a:solidFill>
            <a:srgbClr val="0284C7"/>
          </a:solidFill>
          <a:ln w="12700">
            <a:solidFill>
              <a:srgbClr val="0284C7"/>
            </a:solidFill>
            <a:prstDash val="solid"/>
          </a:ln>
          <a:effectLst>
            <a:outerShdw blurRad="101600" dist="38100" dir="8100000" algn="bl" rotWithShape="0">
              <a:srgbClr val="000000">
                <a:alpha val="12000"/>
              </a:srgbClr>
            </a:outerShdw>
          </a:effectLst>
        </p:spPr>
      </p:sp>
      <p:sp>
        <p:nvSpPr>
          <p:cNvPr id="10" name="Text 8"/>
          <p:cNvSpPr/>
          <p:nvPr/>
        </p:nvSpPr>
        <p:spPr>
          <a:xfrm>
            <a:off x="2560320" y="1828800"/>
            <a:ext cx="173736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Virtual DOM</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(Memory)</a:t>
            </a:r>
            <a:endParaRPr lang="en-US" sz="1200" dirty="0"/>
          </a:p>
        </p:txBody>
      </p:sp>
      <p:sp>
        <p:nvSpPr>
          <p:cNvPr id="11" name="Text 9"/>
          <p:cNvSpPr/>
          <p:nvPr/>
        </p:nvSpPr>
        <p:spPr>
          <a:xfrm>
            <a:off x="4325112" y="1920240"/>
            <a:ext cx="320040" cy="457200"/>
          </a:xfrm>
          <a:prstGeom prst="rect">
            <a:avLst/>
          </a:prstGeom>
          <a:noFill/>
          <a:ln/>
        </p:spPr>
        <p:txBody>
          <a:bodyPr wrap="square" rtlCol="0" anchor="ctr"/>
          <a:lstStyle/>
          <a:p>
            <a:pPr marL="0" indent="0" algn="ctr">
              <a:buNone/>
            </a:pPr>
            <a:r>
              <a:rPr lang="en-US" sz="2200" b="1" dirty="0">
                <a:solidFill>
                  <a:srgbClr val="0EA5E9"/>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4663440" y="1783080"/>
            <a:ext cx="1737360" cy="662940"/>
          </a:xfrm>
          <a:prstGeom prst="rect">
            <a:avLst/>
          </a:prstGeom>
          <a:solidFill>
            <a:srgbClr val="F59E0B"/>
          </a:solidFill>
          <a:ln w="12700">
            <a:solidFill>
              <a:srgbClr val="F59E0B"/>
            </a:solidFill>
            <a:prstDash val="solid"/>
          </a:ln>
          <a:effectLst>
            <a:outerShdw blurRad="101600" dist="38100" dir="8100000" algn="bl" rotWithShape="0">
              <a:srgbClr val="000000">
                <a:alpha val="12000"/>
              </a:srgbClr>
            </a:outerShdw>
          </a:effectLst>
        </p:spPr>
      </p:sp>
      <p:sp>
        <p:nvSpPr>
          <p:cNvPr id="13" name="Text 11"/>
          <p:cNvSpPr/>
          <p:nvPr/>
        </p:nvSpPr>
        <p:spPr>
          <a:xfrm>
            <a:off x="4663440" y="1828800"/>
            <a:ext cx="173736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ReactDOM</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.render()</a:t>
            </a:r>
            <a:endParaRPr lang="en-US" sz="1200" dirty="0"/>
          </a:p>
        </p:txBody>
      </p:sp>
      <p:sp>
        <p:nvSpPr>
          <p:cNvPr id="14" name="Text 12"/>
          <p:cNvSpPr/>
          <p:nvPr/>
        </p:nvSpPr>
        <p:spPr>
          <a:xfrm>
            <a:off x="6428232" y="1920240"/>
            <a:ext cx="320040" cy="457200"/>
          </a:xfrm>
          <a:prstGeom prst="rect">
            <a:avLst/>
          </a:prstGeom>
          <a:noFill/>
          <a:ln/>
        </p:spPr>
        <p:txBody>
          <a:bodyPr wrap="square" rtlCol="0" anchor="ctr"/>
          <a:lstStyle/>
          <a:p>
            <a:pPr marL="0" indent="0" algn="ctr">
              <a:buNone/>
            </a:pPr>
            <a:r>
              <a:rPr lang="en-US" sz="2200" b="1" dirty="0">
                <a:solidFill>
                  <a:srgbClr val="0EA5E9"/>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6766560" y="1783080"/>
            <a:ext cx="1737360" cy="662940"/>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sp>
      <p:sp>
        <p:nvSpPr>
          <p:cNvPr id="16" name="Text 14"/>
          <p:cNvSpPr/>
          <p:nvPr/>
        </p:nvSpPr>
        <p:spPr>
          <a:xfrm>
            <a:off x="6766560" y="1828800"/>
            <a:ext cx="173736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Browser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DOM (UI)</a:t>
            </a:r>
            <a:endParaRPr lang="en-US" sz="1200" dirty="0"/>
          </a:p>
        </p:txBody>
      </p:sp>
      <p:sp>
        <p:nvSpPr>
          <p:cNvPr id="17" name="Text 15"/>
          <p:cNvSpPr/>
          <p:nvPr/>
        </p:nvSpPr>
        <p:spPr>
          <a:xfrm>
            <a:off x="201168" y="2533524"/>
            <a:ext cx="8741664" cy="320040"/>
          </a:xfrm>
          <a:prstGeom prst="rect">
            <a:avLst/>
          </a:prstGeom>
          <a:noFill/>
          <a:ln/>
        </p:spPr>
        <p:txBody>
          <a:bodyPr wrap="square" rtlCol="0" anchor="ctr"/>
          <a:lstStyle/>
          <a:p>
            <a:pPr marL="0" indent="0">
              <a:buNone/>
            </a:pPr>
            <a:r>
              <a:rPr lang="en-US" sz="1500" b="1" dirty="0">
                <a:solidFill>
                  <a:srgbClr val="0284C7"/>
                </a:solidFill>
                <a:latin typeface="Trebuchet MS" pitchFamily="34" charset="0"/>
                <a:ea typeface="Trebuchet MS" pitchFamily="34" charset="-122"/>
                <a:cs typeface="Trebuchet MS" pitchFamily="34" charset="-120"/>
              </a:rPr>
              <a:t>Key Methods:</a:t>
            </a:r>
            <a:endParaRPr lang="en-US" sz="1500" dirty="0"/>
          </a:p>
        </p:txBody>
      </p:sp>
      <p:sp>
        <p:nvSpPr>
          <p:cNvPr id="18" name="Shape 16"/>
          <p:cNvSpPr/>
          <p:nvPr/>
        </p:nvSpPr>
        <p:spPr>
          <a:xfrm>
            <a:off x="201168" y="2871852"/>
            <a:ext cx="8741664" cy="2185726"/>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9" name="Text 17"/>
          <p:cNvSpPr/>
          <p:nvPr/>
        </p:nvSpPr>
        <p:spPr>
          <a:xfrm>
            <a:off x="310896" y="2963292"/>
            <a:ext cx="8522208" cy="1974468"/>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index.js – entry point of every React app</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import React from 'react';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import ReactDOM from 'react-dom/client';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import App from './App';</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createRoot() is the modern React 18 approach</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const root = ReactDOM.createRoot(document.getElementById('root'));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root.render(&lt;App /&gt;);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The 'root' div is defined in public/index.html</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ReactDOM mounts the entire React app inside that &lt;div id='root'&gt;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ReactDOM – Virtual DOM Explained</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320040"/>
          </a:xfrm>
          <a:prstGeom prst="rect">
            <a:avLst/>
          </a:prstGeom>
          <a:noFill/>
          <a:ln/>
        </p:spPr>
        <p:txBody>
          <a:bodyPr wrap="square" rtlCol="0" anchor="ctr"/>
          <a:lstStyle/>
          <a:p>
            <a:pPr marL="0" indent="0">
              <a:buNone/>
            </a:pPr>
            <a:r>
              <a:rPr lang="en-US" sz="1500" b="1" dirty="0">
                <a:solidFill>
                  <a:srgbClr val="0284C7"/>
                </a:solidFill>
                <a:latin typeface="Trebuchet MS" pitchFamily="34" charset="0"/>
                <a:ea typeface="Trebuchet MS" pitchFamily="34" charset="-122"/>
                <a:cs typeface="Trebuchet MS" pitchFamily="34" charset="-120"/>
              </a:rPr>
              <a:t>What is the Virtual DOM?</a:t>
            </a:r>
            <a:endParaRPr lang="en-US" sz="1500" dirty="0"/>
          </a:p>
        </p:txBody>
      </p:sp>
      <p:sp>
        <p:nvSpPr>
          <p:cNvPr id="6" name="Text 4"/>
          <p:cNvSpPr/>
          <p:nvPr/>
        </p:nvSpPr>
        <p:spPr>
          <a:xfrm>
            <a:off x="201168" y="1170432"/>
            <a:ext cx="5029200" cy="2103120"/>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The Virtual DOM is a lightweight JavaScript representation of the actual browser DOM. React keeps this virtual copy in memory.</a:t>
            </a:r>
            <a:endParaRPr lang="en-US" sz="14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When your data changes, React updates the Virtual DOM first. Then it compares the old and new Virtual DOM (called Diffing). Only the changed parts are updated in the real DOM — this is called Reconciliation.</a:t>
            </a:r>
            <a:endParaRPr lang="en-US" sz="1400" dirty="0"/>
          </a:p>
          <a:p>
            <a:pPr marL="285750" indent="-285750" algn="just">
              <a:spcAft>
                <a:spcPts val="500"/>
              </a:spcAft>
              <a:buFont typeface="Courier New" panose="02070309020205020404" pitchFamily="49" charset="0"/>
              <a:buChar char="o"/>
            </a:pPr>
            <a:r>
              <a:rPr lang="en-US" sz="1400" b="1" dirty="0">
                <a:solidFill>
                  <a:srgbClr val="1E293B"/>
                </a:solidFill>
                <a:latin typeface="Calibri" pitchFamily="34" charset="0"/>
                <a:ea typeface="Calibri" pitchFamily="34" charset="-122"/>
                <a:cs typeface="Calibri" pitchFamily="34" charset="-120"/>
              </a:rPr>
              <a:t>Result: </a:t>
            </a:r>
            <a:r>
              <a:rPr lang="en-US" sz="1400" dirty="0">
                <a:solidFill>
                  <a:srgbClr val="1E293B"/>
                </a:solidFill>
                <a:latin typeface="Calibri" pitchFamily="34" charset="0"/>
                <a:ea typeface="Calibri" pitchFamily="34" charset="-122"/>
                <a:cs typeface="Calibri" pitchFamily="34" charset="-120"/>
              </a:rPr>
              <a:t>React apps are much faster than traditional apps that re-render the whole page on every change.</a:t>
            </a:r>
            <a:endParaRPr lang="en-US" sz="1400" dirty="0"/>
          </a:p>
        </p:txBody>
      </p:sp>
      <p:sp>
        <p:nvSpPr>
          <p:cNvPr id="7" name="Shape 5"/>
          <p:cNvSpPr/>
          <p:nvPr/>
        </p:nvSpPr>
        <p:spPr>
          <a:xfrm>
            <a:off x="5486400" y="822960"/>
            <a:ext cx="3474720" cy="3931920"/>
          </a:xfrm>
          <a:prstGeom prst="rect">
            <a:avLst/>
          </a:prstGeom>
          <a:solidFill>
            <a:srgbClr val="0D1B2A"/>
          </a:solidFill>
          <a:ln w="12700">
            <a:solidFill>
              <a:srgbClr val="0EA5E9"/>
            </a:solidFill>
            <a:prstDash val="solid"/>
          </a:ln>
          <a:effectLst>
            <a:outerShdw blurRad="101600" dist="38100" dir="8100000" algn="bl" rotWithShape="0">
              <a:srgbClr val="000000">
                <a:alpha val="12000"/>
              </a:srgbClr>
            </a:outerShdw>
          </a:effectLst>
        </p:spPr>
      </p:sp>
      <p:sp>
        <p:nvSpPr>
          <p:cNvPr id="8" name="Text 6"/>
          <p:cNvSpPr/>
          <p:nvPr/>
        </p:nvSpPr>
        <p:spPr>
          <a:xfrm>
            <a:off x="5577840" y="868680"/>
            <a:ext cx="3291840" cy="320040"/>
          </a:xfrm>
          <a:prstGeom prst="rect">
            <a:avLst/>
          </a:prstGeom>
          <a:noFill/>
          <a:ln/>
        </p:spPr>
        <p:txBody>
          <a:bodyPr wrap="square" rtlCol="0" anchor="ctr"/>
          <a:lstStyle/>
          <a:p>
            <a:pPr marL="0" indent="0" algn="ctr">
              <a:buNone/>
            </a:pPr>
            <a:r>
              <a:rPr lang="en-US" sz="1300" b="1" dirty="0">
                <a:solidFill>
                  <a:srgbClr val="0EA5E9"/>
                </a:solidFill>
                <a:latin typeface="Trebuchet MS" pitchFamily="34" charset="0"/>
                <a:ea typeface="Trebuchet MS" pitchFamily="34" charset="-122"/>
                <a:cs typeface="Trebuchet MS" pitchFamily="34" charset="-120"/>
              </a:rPr>
              <a:t>Step-by-Step</a:t>
            </a:r>
            <a:endParaRPr lang="en-US" sz="1300" dirty="0"/>
          </a:p>
        </p:txBody>
      </p:sp>
      <p:sp>
        <p:nvSpPr>
          <p:cNvPr id="9" name="Shape 7"/>
          <p:cNvSpPr/>
          <p:nvPr/>
        </p:nvSpPr>
        <p:spPr>
          <a:xfrm>
            <a:off x="5577840" y="1261872"/>
            <a:ext cx="3291840" cy="420624"/>
          </a:xfrm>
          <a:prstGeom prst="rect">
            <a:avLst/>
          </a:prstGeom>
          <a:solidFill>
            <a:srgbClr val="1B3A5C"/>
          </a:solidFill>
          <a:ln w="12700">
            <a:solidFill>
              <a:srgbClr val="2A5080"/>
            </a:solidFill>
            <a:prstDash val="solid"/>
          </a:ln>
        </p:spPr>
      </p:sp>
      <p:sp>
        <p:nvSpPr>
          <p:cNvPr id="10" name="Text 8"/>
          <p:cNvSpPr/>
          <p:nvPr/>
        </p:nvSpPr>
        <p:spPr>
          <a:xfrm>
            <a:off x="5623560" y="1335024"/>
            <a:ext cx="320040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 State/data changes</a:t>
            </a:r>
            <a:endParaRPr lang="en-US" sz="1200" dirty="0"/>
          </a:p>
        </p:txBody>
      </p:sp>
      <p:sp>
        <p:nvSpPr>
          <p:cNvPr id="11" name="Shape 9"/>
          <p:cNvSpPr/>
          <p:nvPr/>
        </p:nvSpPr>
        <p:spPr>
          <a:xfrm>
            <a:off x="5577840" y="1792224"/>
            <a:ext cx="3291840" cy="420624"/>
          </a:xfrm>
          <a:prstGeom prst="rect">
            <a:avLst/>
          </a:prstGeom>
          <a:solidFill>
            <a:srgbClr val="16325A"/>
          </a:solidFill>
          <a:ln w="12700">
            <a:solidFill>
              <a:srgbClr val="2A5080"/>
            </a:solidFill>
            <a:prstDash val="solid"/>
          </a:ln>
        </p:spPr>
      </p:sp>
      <p:sp>
        <p:nvSpPr>
          <p:cNvPr id="12" name="Text 10"/>
          <p:cNvSpPr/>
          <p:nvPr/>
        </p:nvSpPr>
        <p:spPr>
          <a:xfrm>
            <a:off x="5623560" y="1865376"/>
            <a:ext cx="320040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 Virtual DOM updated</a:t>
            </a:r>
            <a:endParaRPr lang="en-US" sz="1200" dirty="0"/>
          </a:p>
        </p:txBody>
      </p:sp>
      <p:sp>
        <p:nvSpPr>
          <p:cNvPr id="13" name="Shape 11"/>
          <p:cNvSpPr/>
          <p:nvPr/>
        </p:nvSpPr>
        <p:spPr>
          <a:xfrm>
            <a:off x="5577840" y="2322576"/>
            <a:ext cx="3291840" cy="420624"/>
          </a:xfrm>
          <a:prstGeom prst="rect">
            <a:avLst/>
          </a:prstGeom>
          <a:solidFill>
            <a:srgbClr val="1B3A5C"/>
          </a:solidFill>
          <a:ln w="12700">
            <a:solidFill>
              <a:srgbClr val="2A5080"/>
            </a:solidFill>
            <a:prstDash val="solid"/>
          </a:ln>
        </p:spPr>
      </p:sp>
      <p:sp>
        <p:nvSpPr>
          <p:cNvPr id="14" name="Text 12"/>
          <p:cNvSpPr/>
          <p:nvPr/>
        </p:nvSpPr>
        <p:spPr>
          <a:xfrm>
            <a:off x="5623560" y="2395728"/>
            <a:ext cx="320040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 Diff with old VDOM</a:t>
            </a:r>
            <a:endParaRPr lang="en-US" sz="1200" dirty="0"/>
          </a:p>
        </p:txBody>
      </p:sp>
      <p:sp>
        <p:nvSpPr>
          <p:cNvPr id="15" name="Shape 13"/>
          <p:cNvSpPr/>
          <p:nvPr/>
        </p:nvSpPr>
        <p:spPr>
          <a:xfrm>
            <a:off x="5577840" y="2852928"/>
            <a:ext cx="3291840" cy="420624"/>
          </a:xfrm>
          <a:prstGeom prst="rect">
            <a:avLst/>
          </a:prstGeom>
          <a:solidFill>
            <a:srgbClr val="16325A"/>
          </a:solidFill>
          <a:ln w="12700">
            <a:solidFill>
              <a:srgbClr val="2A5080"/>
            </a:solidFill>
            <a:prstDash val="solid"/>
          </a:ln>
        </p:spPr>
      </p:sp>
      <p:sp>
        <p:nvSpPr>
          <p:cNvPr id="16" name="Text 14"/>
          <p:cNvSpPr/>
          <p:nvPr/>
        </p:nvSpPr>
        <p:spPr>
          <a:xfrm>
            <a:off x="5623560" y="2926080"/>
            <a:ext cx="320040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 Find changed nodes</a:t>
            </a:r>
            <a:endParaRPr lang="en-US" sz="1200" dirty="0"/>
          </a:p>
        </p:txBody>
      </p:sp>
      <p:sp>
        <p:nvSpPr>
          <p:cNvPr id="17" name="Shape 15"/>
          <p:cNvSpPr/>
          <p:nvPr/>
        </p:nvSpPr>
        <p:spPr>
          <a:xfrm>
            <a:off x="5577840" y="3383280"/>
            <a:ext cx="3291840" cy="420624"/>
          </a:xfrm>
          <a:prstGeom prst="rect">
            <a:avLst/>
          </a:prstGeom>
          <a:solidFill>
            <a:srgbClr val="1B3A5C"/>
          </a:solidFill>
          <a:ln w="12700">
            <a:solidFill>
              <a:srgbClr val="2A5080"/>
            </a:solidFill>
            <a:prstDash val="solid"/>
          </a:ln>
        </p:spPr>
      </p:sp>
      <p:sp>
        <p:nvSpPr>
          <p:cNvPr id="18" name="Text 16"/>
          <p:cNvSpPr/>
          <p:nvPr/>
        </p:nvSpPr>
        <p:spPr>
          <a:xfrm>
            <a:off x="5623560" y="3456432"/>
            <a:ext cx="3200400" cy="274320"/>
          </a:xfrm>
          <a:prstGeom prst="rect">
            <a:avLst/>
          </a:prstGeom>
          <a:noFill/>
          <a:ln/>
        </p:spPr>
        <p:txBody>
          <a:bodyPr wrap="square" rtlCol="0" anchor="ctr"/>
          <a:lstStyle/>
          <a:p>
            <a:pPr marL="0" indent="0">
              <a:buNone/>
            </a:pPr>
            <a:r>
              <a:rPr lang="en-US" sz="1200" dirty="0">
                <a:solidFill>
                  <a:srgbClr val="10B981"/>
                </a:solidFill>
                <a:latin typeface="Calibri" pitchFamily="34" charset="0"/>
                <a:ea typeface="Calibri" pitchFamily="34" charset="-122"/>
                <a:cs typeface="Calibri" pitchFamily="34" charset="-120"/>
              </a:rPr>
              <a:t>5. Update only those</a:t>
            </a:r>
            <a:endParaRPr lang="en-US" sz="1200" dirty="0"/>
          </a:p>
        </p:txBody>
      </p:sp>
      <p:sp>
        <p:nvSpPr>
          <p:cNvPr id="19" name="Shape 17"/>
          <p:cNvSpPr/>
          <p:nvPr/>
        </p:nvSpPr>
        <p:spPr>
          <a:xfrm>
            <a:off x="5577840" y="3913632"/>
            <a:ext cx="3291840" cy="420624"/>
          </a:xfrm>
          <a:prstGeom prst="rect">
            <a:avLst/>
          </a:prstGeom>
          <a:solidFill>
            <a:srgbClr val="16325A"/>
          </a:solidFill>
          <a:ln w="12700">
            <a:solidFill>
              <a:srgbClr val="2A5080"/>
            </a:solidFill>
            <a:prstDash val="solid"/>
          </a:ln>
        </p:spPr>
      </p:sp>
      <p:sp>
        <p:nvSpPr>
          <p:cNvPr id="20" name="Text 18"/>
          <p:cNvSpPr/>
          <p:nvPr/>
        </p:nvSpPr>
        <p:spPr>
          <a:xfrm>
            <a:off x="5623560" y="3986784"/>
            <a:ext cx="320040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6. Browser re-paints</a:t>
            </a:r>
            <a:endParaRPr lang="en-US" sz="1200" dirty="0"/>
          </a:p>
        </p:txBody>
      </p:sp>
      <p:sp>
        <p:nvSpPr>
          <p:cNvPr id="21" name="Text 19"/>
          <p:cNvSpPr/>
          <p:nvPr/>
        </p:nvSpPr>
        <p:spPr>
          <a:xfrm>
            <a:off x="201168" y="3383280"/>
            <a:ext cx="5148072" cy="1226403"/>
          </a:xfrm>
          <a:prstGeom prst="rect">
            <a:avLst/>
          </a:prstGeom>
          <a:noFill/>
          <a:ln/>
        </p:spPr>
        <p:txBody>
          <a:bodyPr wrap="square" rtlCol="0" anchor="ctr"/>
          <a:lstStyle/>
          <a:p>
            <a:pPr marL="0" indent="0">
              <a:spcBef>
                <a:spcPts val="600"/>
              </a:spcBef>
              <a:spcAft>
                <a:spcPts val="300"/>
              </a:spcAft>
              <a:buNone/>
            </a:pPr>
            <a:r>
              <a:rPr lang="en-US" sz="1600" b="1" dirty="0">
                <a:solidFill>
                  <a:srgbClr val="0284C7"/>
                </a:solidFill>
                <a:latin typeface="Trebuchet MS" pitchFamily="34" charset="0"/>
                <a:ea typeface="Trebuchet MS" pitchFamily="34" charset="-122"/>
                <a:cs typeface="Trebuchet MS" pitchFamily="34" charset="-120"/>
              </a:rPr>
              <a:t>Important: ReactDOM.unmountComponentAtNode()</a:t>
            </a:r>
            <a:endParaRPr lang="en-US" sz="16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Used to remove a React component tree from the DOM — useful when you want to clean up.</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03</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JSX – JavaScript XML</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Writing HTML inside JavaScript — the React way.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What is JSX?</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1037365"/>
            <a:ext cx="8741664" cy="822960"/>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JSX stands for JavaScript XML. It is a syntax extension for JavaScript that allows you to write HTML-like code inside your JavaScript files.</a:t>
            </a:r>
            <a:endParaRPr lang="en-US" sz="14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JSX is NOT plain HTML. It is converted to regular JavaScript by tools like </a:t>
            </a:r>
            <a:r>
              <a:rPr lang="en-US" sz="1400" b="1" dirty="0">
                <a:solidFill>
                  <a:srgbClr val="1E293B"/>
                </a:solidFill>
                <a:latin typeface="Calibri" pitchFamily="34" charset="0"/>
                <a:ea typeface="Calibri" pitchFamily="34" charset="-122"/>
                <a:cs typeface="Calibri" pitchFamily="34" charset="-120"/>
              </a:rPr>
              <a:t>Babel</a:t>
            </a:r>
            <a:r>
              <a:rPr lang="en-US" sz="1400" dirty="0">
                <a:solidFill>
                  <a:srgbClr val="1E293B"/>
                </a:solidFill>
                <a:latin typeface="Calibri" pitchFamily="34" charset="0"/>
                <a:ea typeface="Calibri" pitchFamily="34" charset="-122"/>
                <a:cs typeface="Calibri" pitchFamily="34" charset="-120"/>
              </a:rPr>
              <a:t> before the browser runs it.</a:t>
            </a:r>
            <a:endParaRPr lang="en-US" sz="1400" dirty="0"/>
          </a:p>
        </p:txBody>
      </p:sp>
      <p:sp>
        <p:nvSpPr>
          <p:cNvPr id="6" name="Text 4"/>
          <p:cNvSpPr/>
          <p:nvPr/>
        </p:nvSpPr>
        <p:spPr>
          <a:xfrm>
            <a:off x="201168" y="2058977"/>
            <a:ext cx="4114800" cy="274320"/>
          </a:xfrm>
          <a:prstGeom prst="rect">
            <a:avLst/>
          </a:prstGeom>
          <a:noFill/>
          <a:ln/>
        </p:spPr>
        <p:txBody>
          <a:bodyPr wrap="square" rtlCol="0" anchor="ctr"/>
          <a:lstStyle/>
          <a:p>
            <a:pPr marL="0" indent="0">
              <a:buNone/>
            </a:pPr>
            <a:r>
              <a:rPr lang="en-US" sz="1300" b="1" dirty="0">
                <a:solidFill>
                  <a:srgbClr val="F59E0B"/>
                </a:solidFill>
                <a:latin typeface="Trebuchet MS" pitchFamily="34" charset="0"/>
                <a:ea typeface="Trebuchet MS" pitchFamily="34" charset="-122"/>
                <a:cs typeface="Trebuchet MS" pitchFamily="34" charset="-120"/>
              </a:rPr>
              <a:t>Without JSX (plain JavaScript):</a:t>
            </a:r>
            <a:endParaRPr lang="en-US" sz="1300" dirty="0"/>
          </a:p>
        </p:txBody>
      </p:sp>
      <p:sp>
        <p:nvSpPr>
          <p:cNvPr id="7" name="Shape 5"/>
          <p:cNvSpPr/>
          <p:nvPr/>
        </p:nvSpPr>
        <p:spPr>
          <a:xfrm>
            <a:off x="201168" y="2351585"/>
            <a:ext cx="4114800" cy="137160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8" name="Text 6"/>
          <p:cNvSpPr/>
          <p:nvPr/>
        </p:nvSpPr>
        <p:spPr>
          <a:xfrm>
            <a:off x="310896" y="2443025"/>
            <a:ext cx="3895344" cy="118872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Without JSX – harder to read!</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const element = React.createElement(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'h1',</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className: 'title'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'Hello, Student!'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4663440" y="2058977"/>
            <a:ext cx="4206240" cy="274320"/>
          </a:xfrm>
          <a:prstGeom prst="rect">
            <a:avLst/>
          </a:prstGeom>
          <a:noFill/>
          <a:ln/>
        </p:spPr>
        <p:txBody>
          <a:bodyPr wrap="square" rtlCol="0" anchor="ctr"/>
          <a:lstStyle/>
          <a:p>
            <a:pPr marL="0" indent="0">
              <a:buNone/>
            </a:pPr>
            <a:r>
              <a:rPr lang="en-US" sz="1300" b="1" dirty="0">
                <a:solidFill>
                  <a:srgbClr val="10B981"/>
                </a:solidFill>
                <a:latin typeface="Trebuchet MS" pitchFamily="34" charset="0"/>
                <a:ea typeface="Trebuchet MS" pitchFamily="34" charset="-122"/>
                <a:cs typeface="Trebuchet MS" pitchFamily="34" charset="-120"/>
              </a:rPr>
              <a:t>With JSX (React way):</a:t>
            </a:r>
            <a:endParaRPr lang="en-US" sz="1300" dirty="0"/>
          </a:p>
        </p:txBody>
      </p:sp>
      <p:sp>
        <p:nvSpPr>
          <p:cNvPr id="10" name="Shape 8"/>
          <p:cNvSpPr/>
          <p:nvPr/>
        </p:nvSpPr>
        <p:spPr>
          <a:xfrm>
            <a:off x="4663440" y="2351585"/>
            <a:ext cx="4206240" cy="137160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1" name="Text 9"/>
          <p:cNvSpPr/>
          <p:nvPr/>
        </p:nvSpPr>
        <p:spPr>
          <a:xfrm>
            <a:off x="4773168" y="2443025"/>
            <a:ext cx="3986784" cy="118872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With JSX – clear and readable!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const element =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&lt;h1 className='title'&gt;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Hello, Student!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&lt;/h1&gt;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2" name="Shape 10"/>
          <p:cNvSpPr/>
          <p:nvPr/>
        </p:nvSpPr>
        <p:spPr>
          <a:xfrm>
            <a:off x="201168" y="3959663"/>
            <a:ext cx="8741664" cy="777240"/>
          </a:xfrm>
          <a:prstGeom prst="rect">
            <a:avLst/>
          </a:prstGeom>
          <a:solidFill>
            <a:srgbClr val="DBEAFE"/>
          </a:solidFill>
          <a:ln w="25400">
            <a:solidFill>
              <a:srgbClr val="0EA5E9"/>
            </a:solidFill>
            <a:prstDash val="solid"/>
          </a:ln>
          <a:effectLst>
            <a:outerShdw blurRad="101600" dist="38100" dir="8100000" algn="bl" rotWithShape="0">
              <a:srgbClr val="000000">
                <a:alpha val="12000"/>
              </a:srgbClr>
            </a:outerShdw>
          </a:effectLst>
        </p:spPr>
      </p:sp>
      <p:sp>
        <p:nvSpPr>
          <p:cNvPr id="13" name="Text 11"/>
          <p:cNvSpPr/>
          <p:nvPr/>
        </p:nvSpPr>
        <p:spPr>
          <a:xfrm>
            <a:off x="338328" y="4069391"/>
            <a:ext cx="8467344" cy="557784"/>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 JSX makes code much easier to read and write. Babel converts JSX to React.createElement() calls. This is why we import React at the top of every file.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JSX – Important Rules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4297680" cy="292608"/>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Rule 1: Return One Root Element</a:t>
            </a:r>
            <a:endParaRPr lang="en-US" sz="1300" dirty="0"/>
          </a:p>
        </p:txBody>
      </p:sp>
      <p:sp>
        <p:nvSpPr>
          <p:cNvPr id="6" name="Shape 4"/>
          <p:cNvSpPr/>
          <p:nvPr/>
        </p:nvSpPr>
        <p:spPr>
          <a:xfrm>
            <a:off x="201168" y="1143000"/>
            <a:ext cx="1920240" cy="1426464"/>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7" name="Text 5"/>
          <p:cNvSpPr/>
          <p:nvPr/>
        </p:nvSpPr>
        <p:spPr>
          <a:xfrm>
            <a:off x="310896" y="1234440"/>
            <a:ext cx="1792224" cy="1243584"/>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&lt;h1&gt;Title&lt;/h1&gt;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&lt;p&gt;Text&lt;/p&gt;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8" name="Shape 6"/>
          <p:cNvSpPr/>
          <p:nvPr/>
        </p:nvSpPr>
        <p:spPr>
          <a:xfrm>
            <a:off x="2258568" y="1143000"/>
            <a:ext cx="2240280" cy="1426464"/>
          </a:xfrm>
          <a:prstGeom prst="rect">
            <a:avLst/>
          </a:prstGeom>
          <a:solidFill>
            <a:srgbClr val="2D1515"/>
          </a:solidFill>
          <a:ln w="12700">
            <a:solidFill>
              <a:srgbClr val="DC2626"/>
            </a:solidFill>
            <a:prstDash val="solid"/>
          </a:ln>
        </p:spPr>
      </p:sp>
      <p:sp>
        <p:nvSpPr>
          <p:cNvPr id="9" name="Text 7"/>
          <p:cNvSpPr/>
          <p:nvPr/>
        </p:nvSpPr>
        <p:spPr>
          <a:xfrm>
            <a:off x="2350008" y="1234440"/>
            <a:ext cx="2084832" cy="1243584"/>
          </a:xfrm>
          <a:prstGeom prst="rect">
            <a:avLst/>
          </a:prstGeom>
          <a:noFill/>
          <a:ln/>
        </p:spPr>
        <p:txBody>
          <a:bodyPr wrap="square" rtlCol="0" anchor="ctr"/>
          <a:lstStyle/>
          <a:p>
            <a:pPr marL="0" indent="0">
              <a:buNone/>
            </a:pPr>
            <a:r>
              <a:rPr lang="en-US" sz="1000" dirty="0">
                <a:solidFill>
                  <a:srgbClr val="FCA5A5"/>
                </a:solidFill>
                <a:latin typeface="Consolas" pitchFamily="34" charset="0"/>
                <a:ea typeface="Consolas" pitchFamily="34" charset="-122"/>
                <a:cs typeface="Consolas" pitchFamily="34" charset="-120"/>
              </a:rPr>
              <a:t>// ❌ Two root elements — ERROR</a:t>
            </a:r>
            <a:endParaRPr lang="en-US" sz="1000" dirty="0"/>
          </a:p>
          <a:p>
            <a:pPr marL="0" indent="0">
              <a:buNone/>
            </a:pPr>
            <a:r>
              <a:rPr lang="en-US" sz="1000" dirty="0">
                <a:solidFill>
                  <a:srgbClr val="FCA5A5"/>
                </a:solidFill>
                <a:latin typeface="Consolas" pitchFamily="34" charset="0"/>
                <a:ea typeface="Consolas" pitchFamily="34" charset="-122"/>
                <a:cs typeface="Consolas" pitchFamily="34" charset="-120"/>
              </a:rPr>
              <a:t>return (</a:t>
            </a:r>
            <a:endParaRPr lang="en-US" sz="1000" dirty="0"/>
          </a:p>
          <a:p>
            <a:pPr marL="0" indent="0">
              <a:buNone/>
            </a:pPr>
            <a:r>
              <a:rPr lang="en-US" sz="1000" dirty="0">
                <a:solidFill>
                  <a:srgbClr val="FCA5A5"/>
                </a:solidFill>
                <a:latin typeface="Consolas" pitchFamily="34" charset="0"/>
                <a:ea typeface="Consolas" pitchFamily="34" charset="-122"/>
                <a:cs typeface="Consolas" pitchFamily="34" charset="-120"/>
              </a:rPr>
              <a:t>  &lt;h1&gt;Title&lt;/h1&gt;</a:t>
            </a:r>
            <a:endParaRPr lang="en-US" sz="1000" dirty="0"/>
          </a:p>
          <a:p>
            <a:pPr marL="0" indent="0">
              <a:buNone/>
            </a:pPr>
            <a:r>
              <a:rPr lang="en-US" sz="1000" dirty="0">
                <a:solidFill>
                  <a:srgbClr val="FCA5A5"/>
                </a:solidFill>
                <a:latin typeface="Consolas" pitchFamily="34" charset="0"/>
                <a:ea typeface="Consolas" pitchFamily="34" charset="-122"/>
                <a:cs typeface="Consolas" pitchFamily="34" charset="-120"/>
              </a:rPr>
              <a:t>  &lt;p&gt;Text&lt;/p&gt;   {/* WRONG */}</a:t>
            </a:r>
            <a:endParaRPr lang="en-US" sz="1000" dirty="0"/>
          </a:p>
          <a:p>
            <a:pPr marL="0" indent="0">
              <a:buNone/>
            </a:pPr>
            <a:r>
              <a:rPr lang="en-US" sz="1000" dirty="0">
                <a:solidFill>
                  <a:srgbClr val="FCA5A5"/>
                </a:solidFill>
                <a:latin typeface="Consolas" pitchFamily="34" charset="0"/>
                <a:ea typeface="Consolas" pitchFamily="34" charset="-122"/>
                <a:cs typeface="Consolas" pitchFamily="34" charset="-120"/>
              </a:rPr>
              <a:t>);</a:t>
            </a:r>
            <a:endParaRPr lang="en-US" sz="1000" dirty="0"/>
          </a:p>
        </p:txBody>
      </p:sp>
      <p:sp>
        <p:nvSpPr>
          <p:cNvPr id="10" name="Text 8"/>
          <p:cNvSpPr/>
          <p:nvPr/>
        </p:nvSpPr>
        <p:spPr>
          <a:xfrm>
            <a:off x="4681728" y="822960"/>
            <a:ext cx="4297680" cy="292608"/>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Rule 2: Use className, Not class</a:t>
            </a:r>
            <a:endParaRPr lang="en-US" sz="1300" dirty="0"/>
          </a:p>
        </p:txBody>
      </p:sp>
      <p:sp>
        <p:nvSpPr>
          <p:cNvPr id="11" name="Shape 9"/>
          <p:cNvSpPr/>
          <p:nvPr/>
        </p:nvSpPr>
        <p:spPr>
          <a:xfrm>
            <a:off x="4681728" y="1143000"/>
            <a:ext cx="2011680" cy="767781"/>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2" name="Text 10"/>
          <p:cNvSpPr/>
          <p:nvPr/>
        </p:nvSpPr>
        <p:spPr>
          <a:xfrm>
            <a:off x="4791456" y="1234439"/>
            <a:ext cx="1792224" cy="567243"/>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&lt;div className='box'&gt;Hello&lt;/div&gt;</a:t>
            </a:r>
            <a:endParaRPr lang="en-US" sz="1100" dirty="0"/>
          </a:p>
        </p:txBody>
      </p:sp>
      <p:sp>
        <p:nvSpPr>
          <p:cNvPr id="13" name="Shape 11"/>
          <p:cNvSpPr/>
          <p:nvPr/>
        </p:nvSpPr>
        <p:spPr>
          <a:xfrm>
            <a:off x="6830568" y="1142999"/>
            <a:ext cx="2103120" cy="767782"/>
          </a:xfrm>
          <a:prstGeom prst="rect">
            <a:avLst/>
          </a:prstGeom>
          <a:solidFill>
            <a:srgbClr val="2D1515"/>
          </a:solidFill>
          <a:ln w="12700">
            <a:solidFill>
              <a:srgbClr val="DC2626"/>
            </a:solidFill>
            <a:prstDash val="solid"/>
          </a:ln>
        </p:spPr>
      </p:sp>
      <p:sp>
        <p:nvSpPr>
          <p:cNvPr id="14" name="Text 12"/>
          <p:cNvSpPr/>
          <p:nvPr/>
        </p:nvSpPr>
        <p:spPr>
          <a:xfrm>
            <a:off x="6949440" y="1239406"/>
            <a:ext cx="1883664" cy="536185"/>
          </a:xfrm>
          <a:prstGeom prst="rect">
            <a:avLst/>
          </a:prstGeom>
          <a:noFill/>
          <a:ln/>
        </p:spPr>
        <p:txBody>
          <a:bodyPr wrap="square" rtlCol="0" anchor="ctr"/>
          <a:lstStyle/>
          <a:p>
            <a:pPr marL="0" indent="0">
              <a:buNone/>
            </a:pPr>
            <a:r>
              <a:rPr lang="en-US" sz="1000" dirty="0">
                <a:solidFill>
                  <a:srgbClr val="FCA5A5"/>
                </a:solidFill>
                <a:latin typeface="Consolas" pitchFamily="34" charset="0"/>
                <a:ea typeface="Consolas" pitchFamily="34" charset="-122"/>
                <a:cs typeface="Consolas" pitchFamily="34" charset="-120"/>
              </a:rPr>
              <a:t>&lt;div class='box'&gt;Hello&lt;/div&gt;  {/* WRONG */}</a:t>
            </a:r>
            <a:endParaRPr lang="en-US" sz="1000" dirty="0"/>
          </a:p>
        </p:txBody>
      </p:sp>
      <p:sp>
        <p:nvSpPr>
          <p:cNvPr id="15" name="Text 13"/>
          <p:cNvSpPr/>
          <p:nvPr/>
        </p:nvSpPr>
        <p:spPr>
          <a:xfrm>
            <a:off x="201168" y="2971800"/>
            <a:ext cx="2749555" cy="292608"/>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Rule 3: Self-close empty tags</a:t>
            </a:r>
            <a:endParaRPr lang="en-US" sz="1300" dirty="0"/>
          </a:p>
        </p:txBody>
      </p:sp>
      <p:sp>
        <p:nvSpPr>
          <p:cNvPr id="16" name="Shape 14"/>
          <p:cNvSpPr/>
          <p:nvPr/>
        </p:nvSpPr>
        <p:spPr>
          <a:xfrm>
            <a:off x="201167" y="3291840"/>
            <a:ext cx="2535547" cy="1042416"/>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7" name="Text 15"/>
          <p:cNvSpPr/>
          <p:nvPr/>
        </p:nvSpPr>
        <p:spPr>
          <a:xfrm>
            <a:off x="310896" y="3454698"/>
            <a:ext cx="2148840" cy="667512"/>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&lt;img src='photo.jpg' /&gt;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&lt;br /&gt;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&lt;input type='text' /&gt;</a:t>
            </a:r>
            <a:endParaRPr lang="en-US" sz="1100" dirty="0"/>
          </a:p>
        </p:txBody>
      </p:sp>
      <p:sp>
        <p:nvSpPr>
          <p:cNvPr id="18" name="Shape 16"/>
          <p:cNvSpPr/>
          <p:nvPr/>
        </p:nvSpPr>
        <p:spPr>
          <a:xfrm>
            <a:off x="2950723" y="3291840"/>
            <a:ext cx="2877767" cy="1042416"/>
          </a:xfrm>
          <a:prstGeom prst="rect">
            <a:avLst/>
          </a:prstGeom>
          <a:solidFill>
            <a:srgbClr val="2D1515"/>
          </a:solidFill>
          <a:ln w="12700">
            <a:solidFill>
              <a:srgbClr val="DC2626"/>
            </a:solidFill>
            <a:prstDash val="solid"/>
          </a:ln>
        </p:spPr>
      </p:sp>
      <p:sp>
        <p:nvSpPr>
          <p:cNvPr id="19" name="Text 17"/>
          <p:cNvSpPr/>
          <p:nvPr/>
        </p:nvSpPr>
        <p:spPr>
          <a:xfrm>
            <a:off x="3096573" y="3575619"/>
            <a:ext cx="2578986" cy="283464"/>
          </a:xfrm>
          <a:prstGeom prst="rect">
            <a:avLst/>
          </a:prstGeom>
          <a:noFill/>
          <a:ln/>
        </p:spPr>
        <p:txBody>
          <a:bodyPr wrap="square" rtlCol="0" anchor="ctr"/>
          <a:lstStyle/>
          <a:p>
            <a:pPr marL="0" indent="0">
              <a:buNone/>
            </a:pPr>
            <a:r>
              <a:rPr lang="en-US" sz="1000" dirty="0">
                <a:solidFill>
                  <a:srgbClr val="FCA5A5"/>
                </a:solidFill>
                <a:latin typeface="Consolas" pitchFamily="34" charset="0"/>
                <a:ea typeface="Consolas" pitchFamily="34" charset="-122"/>
                <a:cs typeface="Consolas" pitchFamily="34" charset="-120"/>
              </a:rPr>
              <a:t>&lt;br&gt;  </a:t>
            </a:r>
            <a:br>
              <a:rPr lang="en-US" sz="1000" dirty="0">
                <a:solidFill>
                  <a:srgbClr val="FCA5A5"/>
                </a:solidFill>
                <a:latin typeface="Consolas" pitchFamily="34" charset="0"/>
                <a:ea typeface="Consolas" pitchFamily="34" charset="-122"/>
                <a:cs typeface="Consolas" pitchFamily="34" charset="-120"/>
              </a:rPr>
            </a:br>
            <a:r>
              <a:rPr lang="en-US" sz="1000" dirty="0">
                <a:solidFill>
                  <a:srgbClr val="FCA5A5"/>
                </a:solidFill>
                <a:latin typeface="Consolas" pitchFamily="34" charset="0"/>
                <a:ea typeface="Consolas" pitchFamily="34" charset="-122"/>
                <a:cs typeface="Consolas" pitchFamily="34" charset="-120"/>
              </a:rPr>
              <a:t>{/* Wrong! Must be self-closed */}</a:t>
            </a:r>
            <a:endParaRPr lang="en-US" sz="1000" dirty="0"/>
          </a:p>
        </p:txBody>
      </p:sp>
      <p:sp>
        <p:nvSpPr>
          <p:cNvPr id="20" name="Text 18"/>
          <p:cNvSpPr/>
          <p:nvPr/>
        </p:nvSpPr>
        <p:spPr>
          <a:xfrm>
            <a:off x="6057090" y="2971800"/>
            <a:ext cx="2470825" cy="292608"/>
          </a:xfrm>
          <a:prstGeom prst="rect">
            <a:avLst/>
          </a:prstGeom>
          <a:noFill/>
          <a:ln/>
        </p:spPr>
        <p:txBody>
          <a:bodyPr wrap="square" rtlCol="0" anchor="ctr"/>
          <a:lstStyle/>
          <a:p>
            <a:pPr marL="0" indent="0">
              <a:buNone/>
            </a:pPr>
            <a:r>
              <a:rPr lang="en-US" sz="1300" b="1" dirty="0">
                <a:solidFill>
                  <a:srgbClr val="1B3A5C"/>
                </a:solidFill>
                <a:latin typeface="Trebuchet MS" pitchFamily="34" charset="0"/>
                <a:ea typeface="Trebuchet MS" pitchFamily="34" charset="-122"/>
                <a:cs typeface="Trebuchet MS" pitchFamily="34" charset="-120"/>
              </a:rPr>
              <a:t>Rule 4: JS expressions in { }</a:t>
            </a:r>
            <a:endParaRPr lang="en-US" sz="1300" dirty="0"/>
          </a:p>
        </p:txBody>
      </p:sp>
      <p:sp>
        <p:nvSpPr>
          <p:cNvPr id="21" name="Shape 19"/>
          <p:cNvSpPr/>
          <p:nvPr/>
        </p:nvSpPr>
        <p:spPr>
          <a:xfrm>
            <a:off x="6057090" y="3291840"/>
            <a:ext cx="2690228" cy="102870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22" name="Text 20"/>
          <p:cNvSpPr/>
          <p:nvPr/>
        </p:nvSpPr>
        <p:spPr>
          <a:xfrm>
            <a:off x="6166818" y="3383280"/>
            <a:ext cx="2198969" cy="810348"/>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const name = 'Raj';</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&lt;h2&gt;Hello, {name}!&lt;/h2&gt;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&lt;p&gt;{2 + 3}&lt;/p&gt;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JSX – Expressions, Conditions &amp; Lists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274320"/>
          </a:xfrm>
          <a:prstGeom prst="rect">
            <a:avLst/>
          </a:prstGeom>
          <a:noFill/>
          <a:ln/>
        </p:spPr>
        <p:txBody>
          <a:bodyPr wrap="square" rtlCol="0" anchor="ctr"/>
          <a:lstStyle/>
          <a:p>
            <a:pPr marL="0" indent="0">
              <a:buNone/>
            </a:pPr>
            <a:r>
              <a:rPr lang="en-US" sz="1400" b="1" dirty="0">
                <a:solidFill>
                  <a:srgbClr val="0284C7"/>
                </a:solidFill>
                <a:latin typeface="Trebuchet MS" pitchFamily="34" charset="0"/>
                <a:ea typeface="Trebuchet MS" pitchFamily="34" charset="-122"/>
                <a:cs typeface="Trebuchet MS" pitchFamily="34" charset="-120"/>
              </a:rPr>
              <a:t>Embedding JavaScript Expressions in JSX:</a:t>
            </a:r>
            <a:endParaRPr lang="en-US" sz="1400" dirty="0"/>
          </a:p>
        </p:txBody>
      </p:sp>
      <p:sp>
        <p:nvSpPr>
          <p:cNvPr id="6" name="Shape 4"/>
          <p:cNvSpPr/>
          <p:nvPr/>
        </p:nvSpPr>
        <p:spPr>
          <a:xfrm>
            <a:off x="201168" y="1143000"/>
            <a:ext cx="4251960" cy="2508922"/>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7" name="Text 5"/>
          <p:cNvSpPr/>
          <p:nvPr/>
        </p:nvSpPr>
        <p:spPr>
          <a:xfrm>
            <a:off x="310896" y="1254461"/>
            <a:ext cx="4032504" cy="228600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const student = ‘Akash';</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const score = 88;</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Using variables and expressions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&lt;h2&gt;Welcome, {student}!&lt;/h2&gt;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&lt;p&gt;Your score: {score} / 100&lt;/p&gt;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&lt;p&gt;Grade: {score &gt;= 90 ? 'A' : score &gt;= 75 ? 'B' : 'C'}&lt;/p&gt;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8" name="Text 6"/>
          <p:cNvSpPr/>
          <p:nvPr/>
        </p:nvSpPr>
        <p:spPr>
          <a:xfrm>
            <a:off x="4663440" y="822960"/>
            <a:ext cx="4206240" cy="274320"/>
          </a:xfrm>
          <a:prstGeom prst="rect">
            <a:avLst/>
          </a:prstGeom>
          <a:noFill/>
          <a:ln/>
        </p:spPr>
        <p:txBody>
          <a:bodyPr wrap="square" rtlCol="0" anchor="ctr"/>
          <a:lstStyle/>
          <a:p>
            <a:pPr marL="0" indent="0">
              <a:buNone/>
            </a:pPr>
            <a:r>
              <a:rPr lang="en-US" sz="1400" b="1" dirty="0">
                <a:solidFill>
                  <a:srgbClr val="0284C7"/>
                </a:solidFill>
                <a:latin typeface="Trebuchet MS" pitchFamily="34" charset="0"/>
                <a:ea typeface="Trebuchet MS" pitchFamily="34" charset="-122"/>
                <a:cs typeface="Trebuchet MS" pitchFamily="34" charset="-120"/>
              </a:rPr>
              <a:t>Rendering a List with map():</a:t>
            </a:r>
            <a:endParaRPr lang="en-US" sz="1400" dirty="0"/>
          </a:p>
        </p:txBody>
      </p:sp>
      <p:sp>
        <p:nvSpPr>
          <p:cNvPr id="9" name="Shape 7"/>
          <p:cNvSpPr/>
          <p:nvPr/>
        </p:nvSpPr>
        <p:spPr>
          <a:xfrm>
            <a:off x="4663440" y="1143000"/>
            <a:ext cx="4251960" cy="2508922"/>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0" name="Text 8"/>
          <p:cNvSpPr/>
          <p:nvPr/>
        </p:nvSpPr>
        <p:spPr>
          <a:xfrm>
            <a:off x="4773168" y="1280160"/>
            <a:ext cx="4032504" cy="219456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const subjects = ['Math', 'React', 'Node'];</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&lt;ul&gt;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{subjects.map((sub, index)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&lt;li key={index}&gt;{sub}&lt;/li&gt;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&lt;/ul&gt;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'key' prop is REQUIRED when using map()</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It helps React track list items efficiently</a:t>
            </a:r>
            <a:endParaRPr lang="en-US" sz="1100" dirty="0"/>
          </a:p>
        </p:txBody>
      </p:sp>
      <p:sp>
        <p:nvSpPr>
          <p:cNvPr id="11" name="Shape 9"/>
          <p:cNvSpPr/>
          <p:nvPr/>
        </p:nvSpPr>
        <p:spPr>
          <a:xfrm>
            <a:off x="201168" y="4008538"/>
            <a:ext cx="8741664" cy="749808"/>
          </a:xfrm>
          <a:prstGeom prst="rect">
            <a:avLst/>
          </a:prstGeom>
          <a:solidFill>
            <a:srgbClr val="DBEAFE"/>
          </a:solidFill>
          <a:ln w="25400">
            <a:solidFill>
              <a:srgbClr val="0EA5E9"/>
            </a:solidFill>
            <a:prstDash val="solid"/>
          </a:ln>
          <a:effectLst>
            <a:outerShdw blurRad="101600" dist="38100" dir="8100000" algn="bl" rotWithShape="0">
              <a:srgbClr val="000000">
                <a:alpha val="12000"/>
              </a:srgbClr>
            </a:outerShdw>
          </a:effectLst>
        </p:spPr>
      </p:sp>
      <p:sp>
        <p:nvSpPr>
          <p:cNvPr id="12" name="Text 10"/>
          <p:cNvSpPr/>
          <p:nvPr/>
        </p:nvSpPr>
        <p:spPr>
          <a:xfrm>
            <a:off x="338328" y="4118266"/>
            <a:ext cx="8467344" cy="530352"/>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 Always provide a unique key prop when rendering lists. This helps React efficiently update the DOM when list items change. Using index as key is acceptable for static lists, but prefer unique IDs for dynamic lists.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04</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Components</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The building blocks of every React application.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Components – The Building Blocks of React</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950976"/>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A Component is an independent, reusable piece of UI. Think of a webpage as a collection of LEGO blocks — each block is a component.</a:t>
            </a:r>
            <a:endParaRPr lang="en-US" sz="14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Every React application is made of components. Components can contain other components (nesting), making them powerful and reusable.</a:t>
            </a:r>
            <a:endParaRPr lang="en-US" sz="1400" dirty="0"/>
          </a:p>
        </p:txBody>
      </p:sp>
      <p:sp>
        <p:nvSpPr>
          <p:cNvPr id="6" name="Shape 4"/>
          <p:cNvSpPr/>
          <p:nvPr/>
        </p:nvSpPr>
        <p:spPr>
          <a:xfrm>
            <a:off x="3474720" y="1828800"/>
            <a:ext cx="2194560" cy="457200"/>
          </a:xfrm>
          <a:prstGeom prst="rect">
            <a:avLst/>
          </a:prstGeom>
          <a:solidFill>
            <a:srgbClr val="1B3A5C"/>
          </a:solidFill>
          <a:ln w="12700">
            <a:solidFill>
              <a:srgbClr val="1B3A5C"/>
            </a:solidFill>
            <a:prstDash val="solid"/>
          </a:ln>
          <a:effectLst>
            <a:outerShdw blurRad="101600" dist="38100" dir="8100000" algn="bl" rotWithShape="0">
              <a:srgbClr val="000000">
                <a:alpha val="12000"/>
              </a:srgbClr>
            </a:outerShdw>
          </a:effectLst>
        </p:spPr>
      </p:sp>
      <p:sp>
        <p:nvSpPr>
          <p:cNvPr id="7" name="Text 5"/>
          <p:cNvSpPr/>
          <p:nvPr/>
        </p:nvSpPr>
        <p:spPr>
          <a:xfrm>
            <a:off x="3474720" y="1828800"/>
            <a:ext cx="21945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App</a:t>
            </a:r>
            <a:endParaRPr lang="en-US" sz="1400" dirty="0"/>
          </a:p>
        </p:txBody>
      </p:sp>
      <p:sp>
        <p:nvSpPr>
          <p:cNvPr id="8" name="Shape 6"/>
          <p:cNvSpPr/>
          <p:nvPr/>
        </p:nvSpPr>
        <p:spPr>
          <a:xfrm>
            <a:off x="731520" y="2743200"/>
            <a:ext cx="1920240" cy="457200"/>
          </a:xfrm>
          <a:prstGeom prst="rect">
            <a:avLst/>
          </a:prstGeom>
          <a:solidFill>
            <a:srgbClr val="0284C7"/>
          </a:solidFill>
          <a:ln w="12700">
            <a:solidFill>
              <a:srgbClr val="0284C7"/>
            </a:solidFill>
            <a:prstDash val="solid"/>
          </a:ln>
          <a:effectLst>
            <a:outerShdw blurRad="101600" dist="38100" dir="8100000" algn="bl" rotWithShape="0">
              <a:srgbClr val="000000">
                <a:alpha val="12000"/>
              </a:srgbClr>
            </a:outerShdw>
          </a:effectLst>
        </p:spPr>
      </p:sp>
      <p:sp>
        <p:nvSpPr>
          <p:cNvPr id="9" name="Text 7"/>
          <p:cNvSpPr/>
          <p:nvPr/>
        </p:nvSpPr>
        <p:spPr>
          <a:xfrm>
            <a:off x="731520" y="2743200"/>
            <a:ext cx="19202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Header</a:t>
            </a:r>
            <a:endParaRPr lang="en-US" sz="1200" dirty="0"/>
          </a:p>
        </p:txBody>
      </p:sp>
      <p:sp>
        <p:nvSpPr>
          <p:cNvPr id="10" name="Shape 8"/>
          <p:cNvSpPr/>
          <p:nvPr/>
        </p:nvSpPr>
        <p:spPr>
          <a:xfrm>
            <a:off x="4572000" y="2286000"/>
            <a:ext cx="0" cy="457200"/>
          </a:xfrm>
          <a:prstGeom prst="line">
            <a:avLst/>
          </a:prstGeom>
          <a:noFill/>
          <a:ln w="25400">
            <a:solidFill>
              <a:srgbClr val="0EA5E9"/>
            </a:solidFill>
            <a:prstDash val="solid"/>
          </a:ln>
        </p:spPr>
      </p:sp>
      <p:sp>
        <p:nvSpPr>
          <p:cNvPr id="11" name="Shape 9"/>
          <p:cNvSpPr/>
          <p:nvPr/>
        </p:nvSpPr>
        <p:spPr>
          <a:xfrm>
            <a:off x="3474720" y="2743200"/>
            <a:ext cx="1920240" cy="457200"/>
          </a:xfrm>
          <a:prstGeom prst="rect">
            <a:avLst/>
          </a:prstGeom>
          <a:solidFill>
            <a:srgbClr val="0284C7"/>
          </a:solidFill>
          <a:ln w="12700">
            <a:solidFill>
              <a:srgbClr val="0284C7"/>
            </a:solidFill>
            <a:prstDash val="solid"/>
          </a:ln>
          <a:effectLst>
            <a:outerShdw blurRad="101600" dist="38100" dir="8100000" algn="bl" rotWithShape="0">
              <a:srgbClr val="000000">
                <a:alpha val="12000"/>
              </a:srgbClr>
            </a:outerShdw>
          </a:effectLst>
        </p:spPr>
      </p:sp>
      <p:sp>
        <p:nvSpPr>
          <p:cNvPr id="12" name="Text 10"/>
          <p:cNvSpPr/>
          <p:nvPr/>
        </p:nvSpPr>
        <p:spPr>
          <a:xfrm>
            <a:off x="3474720" y="2743200"/>
            <a:ext cx="19202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MainContent</a:t>
            </a:r>
            <a:endParaRPr lang="en-US" sz="1200" dirty="0"/>
          </a:p>
        </p:txBody>
      </p:sp>
      <p:sp>
        <p:nvSpPr>
          <p:cNvPr id="13" name="Shape 11"/>
          <p:cNvSpPr/>
          <p:nvPr/>
        </p:nvSpPr>
        <p:spPr>
          <a:xfrm>
            <a:off x="4572000" y="2286000"/>
            <a:ext cx="0" cy="457200"/>
          </a:xfrm>
          <a:prstGeom prst="line">
            <a:avLst/>
          </a:prstGeom>
          <a:noFill/>
          <a:ln w="25400">
            <a:solidFill>
              <a:srgbClr val="0EA5E9"/>
            </a:solidFill>
            <a:prstDash val="solid"/>
          </a:ln>
        </p:spPr>
      </p:sp>
      <p:sp>
        <p:nvSpPr>
          <p:cNvPr id="14" name="Shape 12"/>
          <p:cNvSpPr/>
          <p:nvPr/>
        </p:nvSpPr>
        <p:spPr>
          <a:xfrm>
            <a:off x="6400800" y="2743200"/>
            <a:ext cx="1920240" cy="457200"/>
          </a:xfrm>
          <a:prstGeom prst="rect">
            <a:avLst/>
          </a:prstGeom>
          <a:solidFill>
            <a:srgbClr val="0284C7"/>
          </a:solidFill>
          <a:ln w="12700">
            <a:solidFill>
              <a:srgbClr val="0284C7"/>
            </a:solidFill>
            <a:prstDash val="solid"/>
          </a:ln>
          <a:effectLst>
            <a:outerShdw blurRad="101600" dist="38100" dir="8100000" algn="bl" rotWithShape="0">
              <a:srgbClr val="000000">
                <a:alpha val="12000"/>
              </a:srgbClr>
            </a:outerShdw>
          </a:effectLst>
        </p:spPr>
      </p:sp>
      <p:sp>
        <p:nvSpPr>
          <p:cNvPr id="15" name="Text 13"/>
          <p:cNvSpPr/>
          <p:nvPr/>
        </p:nvSpPr>
        <p:spPr>
          <a:xfrm>
            <a:off x="6400800" y="2743200"/>
            <a:ext cx="19202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Footer</a:t>
            </a:r>
            <a:endParaRPr lang="en-US" sz="1200" dirty="0"/>
          </a:p>
        </p:txBody>
      </p:sp>
      <p:sp>
        <p:nvSpPr>
          <p:cNvPr id="16" name="Shape 14"/>
          <p:cNvSpPr/>
          <p:nvPr/>
        </p:nvSpPr>
        <p:spPr>
          <a:xfrm>
            <a:off x="4572000" y="2286000"/>
            <a:ext cx="2788920" cy="457200"/>
          </a:xfrm>
          <a:prstGeom prst="line">
            <a:avLst/>
          </a:prstGeom>
          <a:noFill/>
          <a:ln w="25400">
            <a:solidFill>
              <a:srgbClr val="0EA5E9"/>
            </a:solidFill>
            <a:prstDash val="solid"/>
          </a:ln>
        </p:spPr>
      </p:sp>
      <p:sp>
        <p:nvSpPr>
          <p:cNvPr id="17" name="Shape 15"/>
          <p:cNvSpPr/>
          <p:nvPr/>
        </p:nvSpPr>
        <p:spPr>
          <a:xfrm>
            <a:off x="357876" y="3794760"/>
            <a:ext cx="1645920" cy="411480"/>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sp>
      <p:sp>
        <p:nvSpPr>
          <p:cNvPr id="18" name="Text 16"/>
          <p:cNvSpPr/>
          <p:nvPr/>
        </p:nvSpPr>
        <p:spPr>
          <a:xfrm>
            <a:off x="351567" y="3794760"/>
            <a:ext cx="164592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NavBar</a:t>
            </a:r>
            <a:endParaRPr lang="en-US" sz="1100" dirty="0"/>
          </a:p>
        </p:txBody>
      </p:sp>
      <p:sp>
        <p:nvSpPr>
          <p:cNvPr id="19" name="Shape 17"/>
          <p:cNvSpPr/>
          <p:nvPr/>
        </p:nvSpPr>
        <p:spPr>
          <a:xfrm>
            <a:off x="2683287" y="3794760"/>
            <a:ext cx="1645920" cy="411480"/>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sp>
      <p:sp>
        <p:nvSpPr>
          <p:cNvPr id="20" name="Text 18"/>
          <p:cNvSpPr/>
          <p:nvPr/>
        </p:nvSpPr>
        <p:spPr>
          <a:xfrm>
            <a:off x="2670674" y="3794760"/>
            <a:ext cx="164592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Banner</a:t>
            </a:r>
            <a:endParaRPr lang="en-US" sz="1100" dirty="0"/>
          </a:p>
        </p:txBody>
      </p:sp>
      <p:sp>
        <p:nvSpPr>
          <p:cNvPr id="21" name="Shape 19"/>
          <p:cNvSpPr/>
          <p:nvPr/>
        </p:nvSpPr>
        <p:spPr>
          <a:xfrm>
            <a:off x="4603527" y="3794760"/>
            <a:ext cx="1645920" cy="411480"/>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sp>
      <p:sp>
        <p:nvSpPr>
          <p:cNvPr id="22" name="Text 20"/>
          <p:cNvSpPr/>
          <p:nvPr/>
        </p:nvSpPr>
        <p:spPr>
          <a:xfrm>
            <a:off x="4603527" y="3794760"/>
            <a:ext cx="164592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CardList</a:t>
            </a:r>
            <a:endParaRPr lang="en-US" sz="1100" dirty="0"/>
          </a:p>
        </p:txBody>
      </p:sp>
      <p:sp>
        <p:nvSpPr>
          <p:cNvPr id="23" name="Text 21"/>
          <p:cNvSpPr/>
          <p:nvPr/>
        </p:nvSpPr>
        <p:spPr>
          <a:xfrm>
            <a:off x="201168" y="4423170"/>
            <a:ext cx="8741664" cy="32004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 Each box is a Component. Components can be nested inside other components.</a:t>
            </a:r>
            <a:endParaRPr lang="en-US" sz="1200" dirty="0"/>
          </a:p>
        </p:txBody>
      </p:sp>
      <p:sp>
        <p:nvSpPr>
          <p:cNvPr id="24" name="Shape 14">
            <a:extLst>
              <a:ext uri="{FF2B5EF4-FFF2-40B4-BE49-F238E27FC236}">
                <a16:creationId xmlns:a16="http://schemas.microsoft.com/office/drawing/2014/main" id="{480FFB24-41DB-F826-6C7C-0452232C2B9B}"/>
              </a:ext>
            </a:extLst>
          </p:cNvPr>
          <p:cNvSpPr/>
          <p:nvPr/>
        </p:nvSpPr>
        <p:spPr>
          <a:xfrm flipH="1">
            <a:off x="2150418" y="2286000"/>
            <a:ext cx="2421581" cy="457200"/>
          </a:xfrm>
          <a:prstGeom prst="line">
            <a:avLst/>
          </a:prstGeom>
          <a:noFill/>
          <a:ln w="25400">
            <a:solidFill>
              <a:srgbClr val="0EA5E9"/>
            </a:solidFill>
            <a:prstDash val="solid"/>
          </a:ln>
        </p:spPr>
      </p:sp>
      <p:sp>
        <p:nvSpPr>
          <p:cNvPr id="25" name="Shape 11">
            <a:extLst>
              <a:ext uri="{FF2B5EF4-FFF2-40B4-BE49-F238E27FC236}">
                <a16:creationId xmlns:a16="http://schemas.microsoft.com/office/drawing/2014/main" id="{3AFAEE8B-8407-82F8-05B2-B905457B9B84}"/>
              </a:ext>
            </a:extLst>
          </p:cNvPr>
          <p:cNvSpPr/>
          <p:nvPr/>
        </p:nvSpPr>
        <p:spPr>
          <a:xfrm>
            <a:off x="1590215" y="3200400"/>
            <a:ext cx="0" cy="594360"/>
          </a:xfrm>
          <a:prstGeom prst="line">
            <a:avLst/>
          </a:prstGeom>
          <a:noFill/>
          <a:ln w="25400">
            <a:solidFill>
              <a:srgbClr val="0EA5E9"/>
            </a:solidFill>
            <a:prstDash val="solid"/>
          </a:ln>
        </p:spPr>
      </p:sp>
      <p:sp>
        <p:nvSpPr>
          <p:cNvPr id="26" name="Shape 11">
            <a:extLst>
              <a:ext uri="{FF2B5EF4-FFF2-40B4-BE49-F238E27FC236}">
                <a16:creationId xmlns:a16="http://schemas.microsoft.com/office/drawing/2014/main" id="{D52B8917-E6D2-4741-0520-CC9BB5EC14BD}"/>
              </a:ext>
            </a:extLst>
          </p:cNvPr>
          <p:cNvSpPr/>
          <p:nvPr/>
        </p:nvSpPr>
        <p:spPr>
          <a:xfrm>
            <a:off x="4938810" y="3201450"/>
            <a:ext cx="0" cy="580697"/>
          </a:xfrm>
          <a:prstGeom prst="line">
            <a:avLst/>
          </a:prstGeom>
          <a:noFill/>
          <a:ln w="25400">
            <a:solidFill>
              <a:srgbClr val="0EA5E9"/>
            </a:solidFill>
            <a:prstDash val="solid"/>
          </a:ln>
        </p:spPr>
      </p:sp>
      <p:sp>
        <p:nvSpPr>
          <p:cNvPr id="27" name="Shape 11">
            <a:extLst>
              <a:ext uri="{FF2B5EF4-FFF2-40B4-BE49-F238E27FC236}">
                <a16:creationId xmlns:a16="http://schemas.microsoft.com/office/drawing/2014/main" id="{8A30D8C8-D252-6165-C73F-31B4C08CF6EA}"/>
              </a:ext>
            </a:extLst>
          </p:cNvPr>
          <p:cNvSpPr/>
          <p:nvPr/>
        </p:nvSpPr>
        <p:spPr>
          <a:xfrm>
            <a:off x="3866757" y="3201446"/>
            <a:ext cx="0" cy="593314"/>
          </a:xfrm>
          <a:prstGeom prst="line">
            <a:avLst/>
          </a:prstGeom>
          <a:noFill/>
          <a:ln w="25400">
            <a:solidFill>
              <a:srgbClr val="0EA5E9"/>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Functional Components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32104"/>
            <a:ext cx="8741664" cy="944979"/>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A Functional Component is a plain JavaScript function that returns JSX. It is the modern and recommended way to write React components today.</a:t>
            </a:r>
            <a:endParaRPr lang="en-US" sz="14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It can accept </a:t>
            </a:r>
            <a:r>
              <a:rPr lang="en-US" sz="1400" b="1" dirty="0">
                <a:solidFill>
                  <a:srgbClr val="1E293B"/>
                </a:solidFill>
                <a:latin typeface="Calibri" pitchFamily="34" charset="0"/>
                <a:ea typeface="Calibri" pitchFamily="34" charset="-122"/>
                <a:cs typeface="Calibri" pitchFamily="34" charset="-120"/>
              </a:rPr>
              <a:t>props</a:t>
            </a:r>
            <a:r>
              <a:rPr lang="en-US" sz="1400" dirty="0">
                <a:solidFill>
                  <a:srgbClr val="1E293B"/>
                </a:solidFill>
                <a:latin typeface="Calibri" pitchFamily="34" charset="0"/>
                <a:ea typeface="Calibri" pitchFamily="34" charset="-122"/>
                <a:cs typeface="Calibri" pitchFamily="34" charset="-120"/>
              </a:rPr>
              <a:t> (properties) as input and return UI. With React Hooks, functional components can also manage state and lifecycle.</a:t>
            </a:r>
            <a:endParaRPr lang="en-US" sz="1400" dirty="0"/>
          </a:p>
        </p:txBody>
      </p:sp>
      <p:sp>
        <p:nvSpPr>
          <p:cNvPr id="6" name="Text 4"/>
          <p:cNvSpPr/>
          <p:nvPr/>
        </p:nvSpPr>
        <p:spPr>
          <a:xfrm>
            <a:off x="201168" y="2036262"/>
            <a:ext cx="4251960" cy="274320"/>
          </a:xfrm>
          <a:prstGeom prst="rect">
            <a:avLst/>
          </a:prstGeom>
          <a:noFill/>
          <a:ln/>
        </p:spPr>
        <p:txBody>
          <a:bodyPr wrap="square" rtlCol="0" anchor="ctr"/>
          <a:lstStyle/>
          <a:p>
            <a:pPr marL="0" indent="0">
              <a:buNone/>
            </a:pPr>
            <a:r>
              <a:rPr lang="en-US" sz="1300" b="1" dirty="0">
                <a:solidFill>
                  <a:srgbClr val="0284C7"/>
                </a:solidFill>
                <a:latin typeface="Trebuchet MS" pitchFamily="34" charset="0"/>
                <a:ea typeface="Trebuchet MS" pitchFamily="34" charset="-122"/>
                <a:cs typeface="Trebuchet MS" pitchFamily="34" charset="-120"/>
              </a:rPr>
              <a:t>Basic Functional Component:</a:t>
            </a:r>
            <a:endParaRPr lang="en-US" sz="1300" dirty="0"/>
          </a:p>
        </p:txBody>
      </p:sp>
      <p:sp>
        <p:nvSpPr>
          <p:cNvPr id="7" name="Shape 5"/>
          <p:cNvSpPr/>
          <p:nvPr/>
        </p:nvSpPr>
        <p:spPr>
          <a:xfrm>
            <a:off x="201168" y="2338014"/>
            <a:ext cx="4251960" cy="255559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8" name="Text 6"/>
          <p:cNvSpPr/>
          <p:nvPr/>
        </p:nvSpPr>
        <p:spPr>
          <a:xfrm>
            <a:off x="310896" y="2429454"/>
            <a:ext cx="4032504" cy="246415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import React from 'react';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 simple functional component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Greeting()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&lt;h1&gt;Hello, Welcome to React!&lt;/h1&gt;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&lt;p&gt;This is a functional component.&lt;/p&gt;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export default Greeting;</a:t>
            </a:r>
            <a:endParaRPr lang="en-US" sz="1100" dirty="0"/>
          </a:p>
        </p:txBody>
      </p:sp>
      <p:sp>
        <p:nvSpPr>
          <p:cNvPr id="9" name="Text 7"/>
          <p:cNvSpPr/>
          <p:nvPr/>
        </p:nvSpPr>
        <p:spPr>
          <a:xfrm>
            <a:off x="4681728" y="2036262"/>
            <a:ext cx="4251960" cy="274320"/>
          </a:xfrm>
          <a:prstGeom prst="rect">
            <a:avLst/>
          </a:prstGeom>
          <a:noFill/>
          <a:ln/>
        </p:spPr>
        <p:txBody>
          <a:bodyPr wrap="square" rtlCol="0" anchor="ctr"/>
          <a:lstStyle/>
          <a:p>
            <a:pPr marL="0" indent="0">
              <a:buNone/>
            </a:pPr>
            <a:r>
              <a:rPr lang="en-US" sz="1300" b="1" dirty="0">
                <a:solidFill>
                  <a:srgbClr val="0284C7"/>
                </a:solidFill>
                <a:latin typeface="Trebuchet MS" pitchFamily="34" charset="0"/>
                <a:ea typeface="Trebuchet MS" pitchFamily="34" charset="-122"/>
                <a:cs typeface="Trebuchet MS" pitchFamily="34" charset="-120"/>
              </a:rPr>
              <a:t>Arrow Function Style:</a:t>
            </a:r>
            <a:endParaRPr lang="en-US" sz="1300" dirty="0"/>
          </a:p>
        </p:txBody>
      </p:sp>
      <p:sp>
        <p:nvSpPr>
          <p:cNvPr id="10" name="Shape 8"/>
          <p:cNvSpPr/>
          <p:nvPr/>
        </p:nvSpPr>
        <p:spPr>
          <a:xfrm>
            <a:off x="4681728" y="2338014"/>
            <a:ext cx="4251960" cy="255559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1" name="Text 9"/>
          <p:cNvSpPr/>
          <p:nvPr/>
        </p:nvSpPr>
        <p:spPr>
          <a:xfrm>
            <a:off x="4791456" y="2429454"/>
            <a:ext cx="4032504" cy="2372868"/>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import React from 'react';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Arrow function syntax</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const StudentCard = ()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 className='card'&gt;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&lt;h3&gt;Student Name: Raj&lt;/h3&gt;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&lt;p&gt;Semester: 2  |  Branch: MCA&lt;/p&gt;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export default StudentCard;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Class Components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59"/>
            <a:ext cx="8741664" cy="1390519"/>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A Class Component is defined using an ES6 class. Before React Hooks were introduced (React 16.8), class components were the only way to use state and lifecycle methods.</a:t>
            </a:r>
            <a:endParaRPr lang="en-US" sz="14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Though functional components are now preferred, you may encounter class components in older codebases, so it is important to understand them.</a:t>
            </a:r>
            <a:endParaRPr lang="en-US" sz="1400" dirty="0"/>
          </a:p>
        </p:txBody>
      </p:sp>
      <p:sp>
        <p:nvSpPr>
          <p:cNvPr id="9" name="Shape 5">
            <a:extLst>
              <a:ext uri="{FF2B5EF4-FFF2-40B4-BE49-F238E27FC236}">
                <a16:creationId xmlns:a16="http://schemas.microsoft.com/office/drawing/2014/main" id="{676A707A-EEFD-E392-8FA8-68D27062FD3A}"/>
              </a:ext>
            </a:extLst>
          </p:cNvPr>
          <p:cNvSpPr/>
          <p:nvPr/>
        </p:nvSpPr>
        <p:spPr>
          <a:xfrm>
            <a:off x="220095" y="2192975"/>
            <a:ext cx="3848252" cy="2812313"/>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txBody>
          <a:bodyPr/>
          <a:lstStyle/>
          <a:p>
            <a:endParaRPr lang="en-US"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10" name="Text 6">
            <a:extLst>
              <a:ext uri="{FF2B5EF4-FFF2-40B4-BE49-F238E27FC236}">
                <a16:creationId xmlns:a16="http://schemas.microsoft.com/office/drawing/2014/main" id="{80113F1F-A668-EBD8-72A7-AE0F80A02C9C}"/>
              </a:ext>
            </a:extLst>
          </p:cNvPr>
          <p:cNvSpPr/>
          <p:nvPr/>
        </p:nvSpPr>
        <p:spPr>
          <a:xfrm>
            <a:off x="329822" y="2333766"/>
            <a:ext cx="3889039" cy="2446495"/>
          </a:xfrm>
          <a:prstGeom prst="rect">
            <a:avLst/>
          </a:prstGeom>
          <a:noFill/>
          <a:ln/>
        </p:spPr>
        <p:txBody>
          <a:bodyPr wrap="square" rtlCol="0" anchor="t"/>
          <a:lstStyle/>
          <a:p>
            <a:r>
              <a:rPr lang="en-US" sz="1100" dirty="0">
                <a:solidFill>
                  <a:srgbClr val="E2E8F0"/>
                </a:solidFill>
                <a:latin typeface="Consolas" pitchFamily="34" charset="0"/>
                <a:ea typeface="Consolas" pitchFamily="34" charset="-122"/>
                <a:cs typeface="Consolas" pitchFamily="34" charset="-120"/>
              </a:rPr>
              <a:t>// </a:t>
            </a:r>
            <a:r>
              <a:rPr lang="en-IN" sz="1100" dirty="0">
                <a:solidFill>
                  <a:srgbClr val="E2E8F0"/>
                </a:solidFill>
                <a:latin typeface="Consolas" pitchFamily="34" charset="0"/>
              </a:rPr>
              <a:t>Welcome.js</a:t>
            </a:r>
            <a:br>
              <a:rPr lang="en-IN" sz="1100" dirty="0">
                <a:solidFill>
                  <a:srgbClr val="E2E8F0"/>
                </a:solidFill>
                <a:latin typeface="Consolas" pitchFamily="34" charset="0"/>
              </a:rPr>
            </a:br>
            <a:br>
              <a:rPr lang="en-US" sz="1100" dirty="0">
                <a:solidFill>
                  <a:srgbClr val="E2E8F0"/>
                </a:solidFill>
                <a:latin typeface="Consolas" pitchFamily="34" charset="0"/>
                <a:ea typeface="Consolas" pitchFamily="34" charset="-122"/>
                <a:cs typeface="Consolas" pitchFamily="34" charset="-120"/>
              </a:rPr>
            </a:br>
            <a:r>
              <a:rPr lang="en-US" sz="1100" dirty="0">
                <a:solidFill>
                  <a:srgbClr val="E2E8F0"/>
                </a:solidFill>
                <a:latin typeface="Consolas" pitchFamily="34" charset="0"/>
                <a:ea typeface="Consolas" pitchFamily="34" charset="-122"/>
                <a:cs typeface="Consolas" pitchFamily="34" charset="-120"/>
              </a:rPr>
              <a:t>import React, { Component } from 'react';</a:t>
            </a:r>
          </a:p>
          <a:p>
            <a:endParaRPr lang="en-US" sz="1100" dirty="0">
              <a:solidFill>
                <a:srgbClr val="E2E8F0"/>
              </a:solidFill>
              <a:latin typeface="Consolas" pitchFamily="34" charset="0"/>
              <a:ea typeface="Consolas" pitchFamily="34" charset="-122"/>
              <a:cs typeface="Consolas" pitchFamily="34" charset="-120"/>
            </a:endParaRPr>
          </a:p>
          <a:p>
            <a:r>
              <a:rPr lang="en-US" sz="1100" dirty="0">
                <a:solidFill>
                  <a:srgbClr val="E2E8F0"/>
                </a:solidFill>
                <a:latin typeface="Consolas" pitchFamily="34" charset="0"/>
                <a:ea typeface="Consolas" pitchFamily="34" charset="-122"/>
                <a:cs typeface="Consolas" pitchFamily="34" charset="-120"/>
              </a:rPr>
              <a:t>class Welcome extends </a:t>
            </a:r>
            <a:r>
              <a:rPr lang="en-US" sz="1100" dirty="0">
                <a:solidFill>
                  <a:srgbClr val="E2E8F0"/>
                </a:solidFill>
                <a:latin typeface="Consolas" pitchFamily="34" charset="0"/>
              </a:rPr>
              <a:t>Component</a:t>
            </a:r>
            <a:r>
              <a:rPr lang="en-US" sz="1100" dirty="0">
                <a:solidFill>
                  <a:srgbClr val="E2E8F0"/>
                </a:solidFill>
                <a:latin typeface="Consolas" pitchFamily="34" charset="0"/>
                <a:ea typeface="Consolas" pitchFamily="34" charset="-122"/>
                <a:cs typeface="Consolas" pitchFamily="34" charset="-120"/>
              </a:rPr>
              <a:t> {</a:t>
            </a:r>
          </a:p>
          <a:p>
            <a:r>
              <a:rPr lang="en-US" sz="1100" dirty="0">
                <a:solidFill>
                  <a:srgbClr val="E2E8F0"/>
                </a:solidFill>
                <a:latin typeface="Consolas" pitchFamily="34" charset="0"/>
                <a:ea typeface="Consolas" pitchFamily="34" charset="-122"/>
                <a:cs typeface="Consolas" pitchFamily="34" charset="-120"/>
              </a:rPr>
              <a:t>    render() {</a:t>
            </a:r>
          </a:p>
          <a:p>
            <a:r>
              <a:rPr lang="en-US" sz="1100" dirty="0">
                <a:solidFill>
                  <a:srgbClr val="E2E8F0"/>
                </a:solidFill>
                <a:latin typeface="Consolas" pitchFamily="34" charset="0"/>
                <a:ea typeface="Consolas" pitchFamily="34" charset="-122"/>
                <a:cs typeface="Consolas" pitchFamily="34" charset="-120"/>
              </a:rPr>
              <a:t>        return (</a:t>
            </a:r>
          </a:p>
          <a:p>
            <a:r>
              <a:rPr lang="en-US" sz="1100" dirty="0">
                <a:solidFill>
                  <a:srgbClr val="E2E8F0"/>
                </a:solidFill>
                <a:latin typeface="Consolas" pitchFamily="34" charset="0"/>
                <a:ea typeface="Consolas" pitchFamily="34" charset="-122"/>
                <a:cs typeface="Consolas" pitchFamily="34" charset="-120"/>
              </a:rPr>
              <a:t>            &lt;h1&gt;Hello, Welcome to React!&lt;/h1&gt;</a:t>
            </a:r>
          </a:p>
          <a:p>
            <a:r>
              <a:rPr lang="en-US" sz="1100" dirty="0">
                <a:solidFill>
                  <a:srgbClr val="E2E8F0"/>
                </a:solidFill>
                <a:latin typeface="Consolas" pitchFamily="34" charset="0"/>
                <a:ea typeface="Consolas" pitchFamily="34" charset="-122"/>
                <a:cs typeface="Consolas" pitchFamily="34" charset="-120"/>
              </a:rPr>
              <a:t>        );</a:t>
            </a:r>
          </a:p>
          <a:p>
            <a:r>
              <a:rPr lang="en-US" sz="1100" dirty="0">
                <a:solidFill>
                  <a:srgbClr val="E2E8F0"/>
                </a:solidFill>
                <a:latin typeface="Consolas" pitchFamily="34" charset="0"/>
                <a:ea typeface="Consolas" pitchFamily="34" charset="-122"/>
                <a:cs typeface="Consolas" pitchFamily="34" charset="-120"/>
              </a:rPr>
              <a:t>    }</a:t>
            </a:r>
          </a:p>
          <a:p>
            <a:r>
              <a:rPr lang="en-US" sz="1100" dirty="0">
                <a:solidFill>
                  <a:srgbClr val="E2E8F0"/>
                </a:solidFill>
                <a:latin typeface="Consolas" pitchFamily="34" charset="0"/>
                <a:ea typeface="Consolas" pitchFamily="34" charset="-122"/>
                <a:cs typeface="Consolas" pitchFamily="34" charset="-120"/>
              </a:rPr>
              <a:t>}</a:t>
            </a:r>
          </a:p>
          <a:p>
            <a:endParaRPr lang="en-US" sz="1100" dirty="0">
              <a:solidFill>
                <a:srgbClr val="E2E8F0"/>
              </a:solidFill>
              <a:latin typeface="Consolas" pitchFamily="34" charset="0"/>
              <a:ea typeface="Consolas" pitchFamily="34" charset="-122"/>
              <a:cs typeface="Consolas" pitchFamily="34" charset="-120"/>
            </a:endParaRPr>
          </a:p>
          <a:p>
            <a:r>
              <a:rPr lang="en-US" sz="1100" dirty="0">
                <a:solidFill>
                  <a:srgbClr val="E2E8F0"/>
                </a:solidFill>
                <a:latin typeface="Consolas" pitchFamily="34" charset="0"/>
                <a:ea typeface="Consolas" pitchFamily="34" charset="-122"/>
                <a:cs typeface="Consolas" pitchFamily="34" charset="-120"/>
              </a:rPr>
              <a:t>export default Welcome;</a:t>
            </a:r>
            <a:endParaRPr lang="en-US" sz="1100" dirty="0"/>
          </a:p>
        </p:txBody>
      </p:sp>
      <p:sp>
        <p:nvSpPr>
          <p:cNvPr id="11" name="Shape 5">
            <a:extLst>
              <a:ext uri="{FF2B5EF4-FFF2-40B4-BE49-F238E27FC236}">
                <a16:creationId xmlns:a16="http://schemas.microsoft.com/office/drawing/2014/main" id="{C87E6549-549C-7429-CA07-27EADAE0D27D}"/>
              </a:ext>
            </a:extLst>
          </p:cNvPr>
          <p:cNvSpPr/>
          <p:nvPr/>
        </p:nvSpPr>
        <p:spPr>
          <a:xfrm>
            <a:off x="4178075" y="2175577"/>
            <a:ext cx="4874484" cy="2812313"/>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2" name="Text 6">
            <a:extLst>
              <a:ext uri="{FF2B5EF4-FFF2-40B4-BE49-F238E27FC236}">
                <a16:creationId xmlns:a16="http://schemas.microsoft.com/office/drawing/2014/main" id="{0240747E-CA4C-8291-6023-2453D6A6A10A}"/>
              </a:ext>
            </a:extLst>
          </p:cNvPr>
          <p:cNvSpPr/>
          <p:nvPr/>
        </p:nvSpPr>
        <p:spPr>
          <a:xfrm>
            <a:off x="4300833" y="2333766"/>
            <a:ext cx="4843167" cy="2446495"/>
          </a:xfrm>
          <a:prstGeom prst="rect">
            <a:avLst/>
          </a:prstGeom>
          <a:noFill/>
          <a:ln/>
        </p:spPr>
        <p:txBody>
          <a:bodyPr wrap="square" rtlCol="0" anchor="t"/>
          <a:lstStyle/>
          <a:p>
            <a:r>
              <a:rPr lang="en-US" sz="1100" dirty="0">
                <a:solidFill>
                  <a:srgbClr val="E2E8F0"/>
                </a:solidFill>
                <a:latin typeface="Consolas" pitchFamily="34" charset="0"/>
                <a:ea typeface="Consolas" pitchFamily="34" charset="-122"/>
                <a:cs typeface="Consolas" pitchFamily="34" charset="-120"/>
              </a:rPr>
              <a:t>// A</a:t>
            </a:r>
            <a:r>
              <a:rPr lang="en-IN" sz="1100" dirty="0">
                <a:solidFill>
                  <a:srgbClr val="E2E8F0"/>
                </a:solidFill>
                <a:latin typeface="Consolas" pitchFamily="34" charset="0"/>
              </a:rPr>
              <a:t>pp.js</a:t>
            </a:r>
            <a:br>
              <a:rPr lang="en-IN" sz="1100" dirty="0">
                <a:solidFill>
                  <a:srgbClr val="E2E8F0"/>
                </a:solidFill>
                <a:latin typeface="Consolas" pitchFamily="34" charset="0"/>
              </a:rPr>
            </a:br>
            <a:br>
              <a:rPr lang="en-US" sz="1100" dirty="0">
                <a:solidFill>
                  <a:srgbClr val="E2E8F0"/>
                </a:solidFill>
                <a:latin typeface="Consolas" pitchFamily="34" charset="0"/>
                <a:ea typeface="Consolas" pitchFamily="34" charset="-122"/>
                <a:cs typeface="Consolas" pitchFamily="34" charset="-120"/>
              </a:rPr>
            </a:br>
            <a:r>
              <a:rPr lang="en-US" sz="1100" dirty="0">
                <a:solidFill>
                  <a:srgbClr val="E2E8F0"/>
                </a:solidFill>
                <a:latin typeface="Consolas" pitchFamily="34" charset="0"/>
                <a:ea typeface="Consolas" pitchFamily="34" charset="-122"/>
                <a:cs typeface="Consolas" pitchFamily="34" charset="-120"/>
              </a:rPr>
              <a:t>import React from 'react';</a:t>
            </a:r>
          </a:p>
          <a:p>
            <a:r>
              <a:rPr lang="en-US" sz="1100" dirty="0">
                <a:solidFill>
                  <a:srgbClr val="E2E8F0"/>
                </a:solidFill>
                <a:latin typeface="Consolas" pitchFamily="34" charset="0"/>
                <a:ea typeface="Consolas" pitchFamily="34" charset="-122"/>
                <a:cs typeface="Consolas" pitchFamily="34" charset="-120"/>
              </a:rPr>
              <a:t>import Welcome from './Welcome';   // import your component</a:t>
            </a:r>
          </a:p>
          <a:p>
            <a:endParaRPr lang="en-US" sz="1100" dirty="0">
              <a:solidFill>
                <a:srgbClr val="E2E8F0"/>
              </a:solidFill>
              <a:latin typeface="Consolas" pitchFamily="34" charset="0"/>
              <a:ea typeface="Consolas" pitchFamily="34" charset="-122"/>
              <a:cs typeface="Consolas" pitchFamily="34" charset="-120"/>
            </a:endParaRPr>
          </a:p>
          <a:p>
            <a:r>
              <a:rPr lang="en-US" sz="1100" dirty="0">
                <a:solidFill>
                  <a:srgbClr val="E2E8F0"/>
                </a:solidFill>
                <a:latin typeface="Consolas" pitchFamily="34" charset="0"/>
                <a:ea typeface="Consolas" pitchFamily="34" charset="-122"/>
                <a:cs typeface="Consolas" pitchFamily="34" charset="-120"/>
              </a:rPr>
              <a:t>function App() {</a:t>
            </a:r>
          </a:p>
          <a:p>
            <a:r>
              <a:rPr lang="en-US" sz="1100" dirty="0">
                <a:solidFill>
                  <a:srgbClr val="E2E8F0"/>
                </a:solidFill>
                <a:latin typeface="Consolas" pitchFamily="34" charset="0"/>
                <a:ea typeface="Consolas" pitchFamily="34" charset="-122"/>
                <a:cs typeface="Consolas" pitchFamily="34" charset="-120"/>
              </a:rPr>
              <a:t>  return (</a:t>
            </a:r>
          </a:p>
          <a:p>
            <a:r>
              <a:rPr lang="en-US" sz="1100" dirty="0">
                <a:solidFill>
                  <a:srgbClr val="E2E8F0"/>
                </a:solidFill>
                <a:latin typeface="Consolas" pitchFamily="34" charset="0"/>
                <a:ea typeface="Consolas" pitchFamily="34" charset="-122"/>
                <a:cs typeface="Consolas" pitchFamily="34" charset="-120"/>
              </a:rPr>
              <a:t>    &lt;div&gt;</a:t>
            </a:r>
          </a:p>
          <a:p>
            <a:r>
              <a:rPr lang="en-US" sz="1100" dirty="0">
                <a:solidFill>
                  <a:srgbClr val="E2E8F0"/>
                </a:solidFill>
                <a:latin typeface="Consolas" pitchFamily="34" charset="0"/>
                <a:ea typeface="Consolas" pitchFamily="34" charset="-122"/>
                <a:cs typeface="Consolas" pitchFamily="34" charset="-120"/>
              </a:rPr>
              <a:t>      &lt;Welcome /&gt;   {/* using the component */}</a:t>
            </a:r>
          </a:p>
          <a:p>
            <a:r>
              <a:rPr lang="en-US" sz="1100" dirty="0">
                <a:solidFill>
                  <a:srgbClr val="E2E8F0"/>
                </a:solidFill>
                <a:latin typeface="Consolas" pitchFamily="34" charset="0"/>
                <a:ea typeface="Consolas" pitchFamily="34" charset="-122"/>
                <a:cs typeface="Consolas" pitchFamily="34" charset="-120"/>
              </a:rPr>
              <a:t>    &lt;/div&gt;</a:t>
            </a:r>
          </a:p>
          <a:p>
            <a:r>
              <a:rPr lang="en-US" sz="1100" dirty="0">
                <a:solidFill>
                  <a:srgbClr val="E2E8F0"/>
                </a:solidFill>
                <a:latin typeface="Consolas" pitchFamily="34" charset="0"/>
                <a:ea typeface="Consolas" pitchFamily="34" charset="-122"/>
                <a:cs typeface="Consolas" pitchFamily="34" charset="-120"/>
              </a:rPr>
              <a:t>  );</a:t>
            </a:r>
          </a:p>
          <a:p>
            <a:r>
              <a:rPr lang="en-US" sz="1100" dirty="0">
                <a:solidFill>
                  <a:srgbClr val="E2E8F0"/>
                </a:solidFill>
                <a:latin typeface="Consolas" pitchFamily="34" charset="0"/>
                <a:ea typeface="Consolas" pitchFamily="34" charset="-122"/>
                <a:cs typeface="Consolas" pitchFamily="34" charset="-120"/>
              </a:rPr>
              <a:t>}</a:t>
            </a:r>
          </a:p>
          <a:p>
            <a:endParaRPr lang="en-US" sz="1100" dirty="0">
              <a:solidFill>
                <a:srgbClr val="E2E8F0"/>
              </a:solidFill>
              <a:latin typeface="Consolas" pitchFamily="34" charset="0"/>
              <a:ea typeface="Consolas" pitchFamily="34" charset="-122"/>
              <a:cs typeface="Consolas" pitchFamily="34" charset="-120"/>
            </a:endParaRPr>
          </a:p>
          <a:p>
            <a:r>
              <a:rPr lang="en-US" sz="1100" dirty="0">
                <a:solidFill>
                  <a:srgbClr val="E2E8F0"/>
                </a:solidFill>
                <a:latin typeface="Consolas" pitchFamily="34" charset="0"/>
                <a:ea typeface="Consolas" pitchFamily="34" charset="-122"/>
                <a:cs typeface="Consolas" pitchFamily="34" charset="-120"/>
              </a:rPr>
              <a:t>export default App;</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398BF632-710C-D180-19C0-9A93C65F05D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8870783-11DC-F563-EA9B-2BC530010EC5}"/>
              </a:ext>
            </a:extLst>
          </p:cNvPr>
          <p:cNvSpPr/>
          <p:nvPr/>
        </p:nvSpPr>
        <p:spPr>
          <a:xfrm>
            <a:off x="0" y="0"/>
            <a:ext cx="64008" cy="5143500"/>
          </a:xfrm>
          <a:prstGeom prst="rect">
            <a:avLst/>
          </a:prstGeom>
          <a:solidFill>
            <a:srgbClr val="0EA5E9"/>
          </a:solidFill>
          <a:ln w="12700">
            <a:solidFill>
              <a:srgbClr val="0EA5E9"/>
            </a:solidFill>
            <a:prstDash val="solid"/>
          </a:ln>
        </p:spPr>
      </p:sp>
      <p:sp>
        <p:nvSpPr>
          <p:cNvPr id="3" name="Text 1">
            <a:extLst>
              <a:ext uri="{FF2B5EF4-FFF2-40B4-BE49-F238E27FC236}">
                <a16:creationId xmlns:a16="http://schemas.microsoft.com/office/drawing/2014/main" id="{C8BB0B34-0B8F-621E-82D6-0F3161313B16}"/>
              </a:ext>
            </a:extLst>
          </p:cNvPr>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Class Components</a:t>
            </a:r>
            <a:endParaRPr lang="en-US" sz="2600" dirty="0"/>
          </a:p>
        </p:txBody>
      </p:sp>
      <p:sp>
        <p:nvSpPr>
          <p:cNvPr id="4" name="Shape 2">
            <a:extLst>
              <a:ext uri="{FF2B5EF4-FFF2-40B4-BE49-F238E27FC236}">
                <a16:creationId xmlns:a16="http://schemas.microsoft.com/office/drawing/2014/main" id="{202C29E1-E48F-E3B1-1A32-51E040C8CEE0}"/>
              </a:ext>
            </a:extLst>
          </p:cNvPr>
          <p:cNvSpPr/>
          <p:nvPr/>
        </p:nvSpPr>
        <p:spPr>
          <a:xfrm>
            <a:off x="201168" y="713232"/>
            <a:ext cx="8741664" cy="27432"/>
          </a:xfrm>
          <a:prstGeom prst="rect">
            <a:avLst/>
          </a:prstGeom>
          <a:solidFill>
            <a:srgbClr val="0EA5E9"/>
          </a:solidFill>
          <a:ln w="12700">
            <a:solidFill>
              <a:srgbClr val="0EA5E9"/>
            </a:solidFill>
            <a:prstDash val="solid"/>
          </a:ln>
        </p:spPr>
      </p:sp>
      <p:sp>
        <p:nvSpPr>
          <p:cNvPr id="6" name="Shape 4">
            <a:extLst>
              <a:ext uri="{FF2B5EF4-FFF2-40B4-BE49-F238E27FC236}">
                <a16:creationId xmlns:a16="http://schemas.microsoft.com/office/drawing/2014/main" id="{D69FE8C3-AEB3-B924-3710-1AC526BC5FB5}"/>
              </a:ext>
            </a:extLst>
          </p:cNvPr>
          <p:cNvSpPr/>
          <p:nvPr/>
        </p:nvSpPr>
        <p:spPr>
          <a:xfrm>
            <a:off x="510174" y="918187"/>
            <a:ext cx="6634758" cy="4124571"/>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7" name="Text 5">
            <a:extLst>
              <a:ext uri="{FF2B5EF4-FFF2-40B4-BE49-F238E27FC236}">
                <a16:creationId xmlns:a16="http://schemas.microsoft.com/office/drawing/2014/main" id="{494ECE3D-AC96-BD9E-5C7C-EDE5B2BF3AB1}"/>
              </a:ext>
            </a:extLst>
          </p:cNvPr>
          <p:cNvSpPr/>
          <p:nvPr/>
        </p:nvSpPr>
        <p:spPr>
          <a:xfrm>
            <a:off x="619901" y="1009626"/>
            <a:ext cx="6345241" cy="3958001"/>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import React, { Component } from 'react';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class Welcome extends Component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Constructor: called when component is created</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constructor(props)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super(props);           // Always call super(props)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this.state = {          // Initialize state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message: 'Hello from Class Component!',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render() method MUST return JSX</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render()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&lt;h1&gt;{this.state.message}&lt;/h1&gt;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&lt;p&gt;Props received: {this.props.name}&lt;/p&gt;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export default Welcome;</a:t>
            </a:r>
            <a:endParaRPr lang="en-US" sz="1100" dirty="0"/>
          </a:p>
        </p:txBody>
      </p:sp>
    </p:spTree>
    <p:extLst>
      <p:ext uri="{BB962C8B-B14F-4D97-AF65-F5344CB8AC3E}">
        <p14:creationId xmlns:p14="http://schemas.microsoft.com/office/powerpoint/2010/main" val="2226018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DB895C5F-D1DD-7F12-3459-BD2AFDA0C73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D97B193-6ED1-CEDD-EBE0-3447D28F7A04}"/>
              </a:ext>
            </a:extLst>
          </p:cNvPr>
          <p:cNvSpPr/>
          <p:nvPr/>
        </p:nvSpPr>
        <p:spPr>
          <a:xfrm>
            <a:off x="0" y="0"/>
            <a:ext cx="64008" cy="5143500"/>
          </a:xfrm>
          <a:prstGeom prst="rect">
            <a:avLst/>
          </a:prstGeom>
          <a:solidFill>
            <a:srgbClr val="0EA5E9"/>
          </a:solidFill>
          <a:ln w="12700">
            <a:solidFill>
              <a:srgbClr val="0EA5E9"/>
            </a:solidFill>
            <a:prstDash val="solid"/>
          </a:ln>
        </p:spPr>
      </p:sp>
      <p:sp>
        <p:nvSpPr>
          <p:cNvPr id="3" name="Text 1">
            <a:extLst>
              <a:ext uri="{FF2B5EF4-FFF2-40B4-BE49-F238E27FC236}">
                <a16:creationId xmlns:a16="http://schemas.microsoft.com/office/drawing/2014/main" id="{ECEA439C-7B75-B126-4F29-02267E690270}"/>
              </a:ext>
            </a:extLst>
          </p:cNvPr>
          <p:cNvSpPr/>
          <p:nvPr/>
        </p:nvSpPr>
        <p:spPr>
          <a:xfrm>
            <a:off x="201168" y="137160"/>
            <a:ext cx="8741664" cy="548640"/>
          </a:xfrm>
          <a:prstGeom prst="rect">
            <a:avLst/>
          </a:prstGeom>
          <a:noFill/>
          <a:ln/>
        </p:spPr>
        <p:txBody>
          <a:bodyPr wrap="square" lIns="0" tIns="0" rIns="0" bIns="0" rtlCol="0" anchor="ctr"/>
          <a:lstStyle/>
          <a:p>
            <a:r>
              <a:rPr lang="en-US" sz="2600" b="1" dirty="0">
                <a:solidFill>
                  <a:srgbClr val="1E293B"/>
                </a:solidFill>
                <a:latin typeface="Trebuchet MS" pitchFamily="34" charset="0"/>
              </a:rPr>
              <a:t>Functional vs Class — Quick Comparison</a:t>
            </a:r>
          </a:p>
          <a:p>
            <a:pPr marL="0" indent="0">
              <a:buNone/>
            </a:pPr>
            <a:endParaRPr lang="en-US" sz="2600" dirty="0"/>
          </a:p>
        </p:txBody>
      </p:sp>
      <p:sp>
        <p:nvSpPr>
          <p:cNvPr id="4" name="Shape 2">
            <a:extLst>
              <a:ext uri="{FF2B5EF4-FFF2-40B4-BE49-F238E27FC236}">
                <a16:creationId xmlns:a16="http://schemas.microsoft.com/office/drawing/2014/main" id="{F0622907-1D0F-4240-AAD0-7510AB3294EB}"/>
              </a:ext>
            </a:extLst>
          </p:cNvPr>
          <p:cNvSpPr/>
          <p:nvPr/>
        </p:nvSpPr>
        <p:spPr>
          <a:xfrm>
            <a:off x="201168" y="713232"/>
            <a:ext cx="8741664" cy="27432"/>
          </a:xfrm>
          <a:prstGeom prst="rect">
            <a:avLst/>
          </a:prstGeom>
          <a:solidFill>
            <a:srgbClr val="0EA5E9"/>
          </a:solidFill>
          <a:ln w="12700">
            <a:solidFill>
              <a:srgbClr val="0EA5E9"/>
            </a:solidFill>
            <a:prstDash val="solid"/>
          </a:ln>
        </p:spPr>
      </p:sp>
      <p:graphicFrame>
        <p:nvGraphicFramePr>
          <p:cNvPr id="18" name="Table 0">
            <a:extLst>
              <a:ext uri="{FF2B5EF4-FFF2-40B4-BE49-F238E27FC236}">
                <a16:creationId xmlns:a16="http://schemas.microsoft.com/office/drawing/2014/main" id="{09999861-D325-0328-D8EF-570F4E4406BA}"/>
              </a:ext>
            </a:extLst>
          </p:cNvPr>
          <p:cNvGraphicFramePr>
            <a:graphicFrameLocks noGrp="1"/>
          </p:cNvGraphicFramePr>
          <p:nvPr>
            <p:extLst>
              <p:ext uri="{D42A27DB-BD31-4B8C-83A1-F6EECF244321}">
                <p14:modId xmlns:p14="http://schemas.microsoft.com/office/powerpoint/2010/main" val="412532554"/>
              </p:ext>
            </p:extLst>
          </p:nvPr>
        </p:nvGraphicFramePr>
        <p:xfrm>
          <a:off x="1317997" y="1299079"/>
          <a:ext cx="5984592" cy="2955405"/>
        </p:xfrm>
        <a:graphic>
          <a:graphicData uri="http://schemas.openxmlformats.org/drawingml/2006/table">
            <a:tbl>
              <a:tblPr/>
              <a:tblGrid>
                <a:gridCol w="1994864">
                  <a:extLst>
                    <a:ext uri="{9D8B030D-6E8A-4147-A177-3AD203B41FA5}">
                      <a16:colId xmlns:a16="http://schemas.microsoft.com/office/drawing/2014/main" val="20000"/>
                    </a:ext>
                  </a:extLst>
                </a:gridCol>
                <a:gridCol w="1994864">
                  <a:extLst>
                    <a:ext uri="{9D8B030D-6E8A-4147-A177-3AD203B41FA5}">
                      <a16:colId xmlns:a16="http://schemas.microsoft.com/office/drawing/2014/main" val="20001"/>
                    </a:ext>
                  </a:extLst>
                </a:gridCol>
                <a:gridCol w="1994864">
                  <a:extLst>
                    <a:ext uri="{9D8B030D-6E8A-4147-A177-3AD203B41FA5}">
                      <a16:colId xmlns:a16="http://schemas.microsoft.com/office/drawing/2014/main" val="20002"/>
                    </a:ext>
                  </a:extLst>
                </a:gridCol>
              </a:tblGrid>
              <a:tr h="591081">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Functional</a:t>
                      </a:r>
                      <a:endParaRPr lang="en-US" sz="14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591081">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Syntax</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Function</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ES6 Class</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1081">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State</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useState Hook</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this.state</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1081">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Lifecycle</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useEffect Hook</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componentDidMount</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1081">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Code length</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Shorter</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Longer</a:t>
                      </a:r>
                      <a:endParaRPr lang="en-US" sz="1200" dirty="0">
                        <a:latin typeface="Calibri" charset="0"/>
                        <a:ea typeface="Calibri" charset="0"/>
                        <a:cs typeface="Calibr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34789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AF0874FA-F2C0-E16D-CEDC-C6F670E2A51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CC0CC55-B90A-AB0E-25B9-51C7199D88BA}"/>
              </a:ext>
            </a:extLst>
          </p:cNvPr>
          <p:cNvSpPr/>
          <p:nvPr/>
        </p:nvSpPr>
        <p:spPr>
          <a:xfrm>
            <a:off x="0" y="0"/>
            <a:ext cx="64008" cy="5143500"/>
          </a:xfrm>
          <a:prstGeom prst="rect">
            <a:avLst/>
          </a:prstGeom>
          <a:solidFill>
            <a:srgbClr val="0EA5E9"/>
          </a:solidFill>
          <a:ln w="12700">
            <a:solidFill>
              <a:srgbClr val="0EA5E9"/>
            </a:solidFill>
            <a:prstDash val="solid"/>
          </a:ln>
        </p:spPr>
      </p:sp>
      <p:sp>
        <p:nvSpPr>
          <p:cNvPr id="3" name="Text 1">
            <a:extLst>
              <a:ext uri="{FF2B5EF4-FFF2-40B4-BE49-F238E27FC236}">
                <a16:creationId xmlns:a16="http://schemas.microsoft.com/office/drawing/2014/main" id="{0C472F8D-8D18-71FE-3F79-6C8001FCAA7C}"/>
              </a:ext>
            </a:extLst>
          </p:cNvPr>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Component Reusability &amp; Nesting</a:t>
            </a:r>
            <a:endParaRPr lang="en-US" sz="2600" dirty="0"/>
          </a:p>
        </p:txBody>
      </p:sp>
      <p:sp>
        <p:nvSpPr>
          <p:cNvPr id="4" name="Shape 2">
            <a:extLst>
              <a:ext uri="{FF2B5EF4-FFF2-40B4-BE49-F238E27FC236}">
                <a16:creationId xmlns:a16="http://schemas.microsoft.com/office/drawing/2014/main" id="{6C22F1BB-89DF-9684-29C4-46AA6E51C26A}"/>
              </a:ext>
            </a:extLst>
          </p:cNvPr>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a:extLst>
              <a:ext uri="{FF2B5EF4-FFF2-40B4-BE49-F238E27FC236}">
                <a16:creationId xmlns:a16="http://schemas.microsoft.com/office/drawing/2014/main" id="{B2845045-8A67-176D-D9E0-8129F6963F4A}"/>
              </a:ext>
            </a:extLst>
          </p:cNvPr>
          <p:cNvSpPr/>
          <p:nvPr/>
        </p:nvSpPr>
        <p:spPr>
          <a:xfrm>
            <a:off x="201168" y="822960"/>
            <a:ext cx="8741664" cy="804672"/>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One of the biggest strengths of React is Reusability. Once you create a component, you can use it anywhere in your app — just like a function you call multiple times.</a:t>
            </a:r>
            <a:endParaRPr lang="en-US" sz="14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Components are nested by including them like HTML tags in JSX. This creates a parent-child relationship.</a:t>
            </a:r>
            <a:endParaRPr lang="en-US" sz="1400" dirty="0"/>
          </a:p>
        </p:txBody>
      </p:sp>
      <p:sp>
        <p:nvSpPr>
          <p:cNvPr id="6" name="Shape 4">
            <a:extLst>
              <a:ext uri="{FF2B5EF4-FFF2-40B4-BE49-F238E27FC236}">
                <a16:creationId xmlns:a16="http://schemas.microsoft.com/office/drawing/2014/main" id="{FF0A768E-624C-4A0E-B195-A9EFB4FBE85E}"/>
              </a:ext>
            </a:extLst>
          </p:cNvPr>
          <p:cNvSpPr/>
          <p:nvPr/>
        </p:nvSpPr>
        <p:spPr>
          <a:xfrm>
            <a:off x="201168" y="1719071"/>
            <a:ext cx="5029200" cy="3363731"/>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7" name="Text 5">
            <a:extLst>
              <a:ext uri="{FF2B5EF4-FFF2-40B4-BE49-F238E27FC236}">
                <a16:creationId xmlns:a16="http://schemas.microsoft.com/office/drawing/2014/main" id="{0C04C98D-3894-2F62-8324-F66DF7BB9CE6}"/>
              </a:ext>
            </a:extLst>
          </p:cNvPr>
          <p:cNvSpPr/>
          <p:nvPr/>
        </p:nvSpPr>
        <p:spPr>
          <a:xfrm>
            <a:off x="310896" y="1810512"/>
            <a:ext cx="4809744" cy="327229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ProductCard.js – reusable component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ProductCard({ name, price })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 className='card'&gt;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&lt;h3&gt;{name}&lt;/h3&gt;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&lt;p&gt;Price: Rs. {price}&lt;/p&gt;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App.js – using </a:t>
            </a:r>
            <a:r>
              <a:rPr lang="en-US" sz="1100" dirty="0" err="1">
                <a:solidFill>
                  <a:srgbClr val="E2E8F0"/>
                </a:solidFill>
                <a:latin typeface="Consolas" pitchFamily="34" charset="0"/>
                <a:ea typeface="Consolas" pitchFamily="34" charset="-122"/>
                <a:cs typeface="Consolas" pitchFamily="34" charset="-120"/>
              </a:rPr>
              <a:t>ProductCard</a:t>
            </a:r>
            <a:r>
              <a:rPr lang="en-US" sz="1100" dirty="0">
                <a:solidFill>
                  <a:srgbClr val="E2E8F0"/>
                </a:solidFill>
                <a:latin typeface="Consolas" pitchFamily="34" charset="0"/>
                <a:ea typeface="Consolas" pitchFamily="34" charset="-122"/>
                <a:cs typeface="Consolas" pitchFamily="34" charset="-120"/>
              </a:rPr>
              <a:t> 2 times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App()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&lt;ProductCard name='Laptop' price={45000} /&gt;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&lt;ProductCard name='Headphones' price={2500} /&gt;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8" name="Shape 6">
            <a:extLst>
              <a:ext uri="{FF2B5EF4-FFF2-40B4-BE49-F238E27FC236}">
                <a16:creationId xmlns:a16="http://schemas.microsoft.com/office/drawing/2014/main" id="{002A9980-6877-54DE-F647-A05BD08D877F}"/>
              </a:ext>
            </a:extLst>
          </p:cNvPr>
          <p:cNvSpPr/>
          <p:nvPr/>
        </p:nvSpPr>
        <p:spPr>
          <a:xfrm>
            <a:off x="5440680" y="1719072"/>
            <a:ext cx="3474720" cy="3287268"/>
          </a:xfrm>
          <a:prstGeom prst="rect">
            <a:avLst/>
          </a:prstGeom>
          <a:solidFill>
            <a:srgbClr val="1B3A5C"/>
          </a:solidFill>
          <a:ln w="12700">
            <a:solidFill>
              <a:srgbClr val="1B3A5C"/>
            </a:solidFill>
            <a:prstDash val="solid"/>
          </a:ln>
          <a:effectLst>
            <a:outerShdw blurRad="101600" dist="38100" dir="8100000" algn="bl" rotWithShape="0">
              <a:srgbClr val="000000">
                <a:alpha val="12000"/>
              </a:srgbClr>
            </a:outerShdw>
          </a:effectLst>
        </p:spPr>
      </p:sp>
      <p:sp>
        <p:nvSpPr>
          <p:cNvPr id="9" name="Text 7">
            <a:extLst>
              <a:ext uri="{FF2B5EF4-FFF2-40B4-BE49-F238E27FC236}">
                <a16:creationId xmlns:a16="http://schemas.microsoft.com/office/drawing/2014/main" id="{09D85DD6-109A-9E9A-EB64-31B7FE0CDF53}"/>
              </a:ext>
            </a:extLst>
          </p:cNvPr>
          <p:cNvSpPr/>
          <p:nvPr/>
        </p:nvSpPr>
        <p:spPr>
          <a:xfrm>
            <a:off x="5532120" y="1783080"/>
            <a:ext cx="3291840" cy="320040"/>
          </a:xfrm>
          <a:prstGeom prst="rect">
            <a:avLst/>
          </a:prstGeom>
          <a:noFill/>
          <a:ln/>
        </p:spPr>
        <p:txBody>
          <a:bodyPr wrap="square" rtlCol="0" anchor="ctr"/>
          <a:lstStyle/>
          <a:p>
            <a:pPr marL="0" indent="0" algn="ctr">
              <a:buNone/>
            </a:pPr>
            <a:r>
              <a:rPr lang="en-US" sz="1300" b="1" dirty="0">
                <a:solidFill>
                  <a:srgbClr val="0EA5E9"/>
                </a:solidFill>
                <a:latin typeface="Trebuchet MS" pitchFamily="34" charset="0"/>
                <a:ea typeface="Trebuchet MS" pitchFamily="34" charset="-122"/>
                <a:cs typeface="Trebuchet MS" pitchFamily="34" charset="-120"/>
              </a:rPr>
              <a:t>Benefits of Reusability</a:t>
            </a:r>
            <a:endParaRPr lang="en-US" sz="1300" dirty="0"/>
          </a:p>
        </p:txBody>
      </p:sp>
      <p:sp>
        <p:nvSpPr>
          <p:cNvPr id="10" name="Shape 8">
            <a:extLst>
              <a:ext uri="{FF2B5EF4-FFF2-40B4-BE49-F238E27FC236}">
                <a16:creationId xmlns:a16="http://schemas.microsoft.com/office/drawing/2014/main" id="{E820DFBA-F7D3-C9EC-EFB4-8C3F30F3FDF3}"/>
              </a:ext>
            </a:extLst>
          </p:cNvPr>
          <p:cNvSpPr/>
          <p:nvPr/>
        </p:nvSpPr>
        <p:spPr>
          <a:xfrm>
            <a:off x="5559552" y="2176272"/>
            <a:ext cx="201168" cy="201168"/>
          </a:xfrm>
          <a:prstGeom prst="ellipse">
            <a:avLst/>
          </a:prstGeom>
          <a:solidFill>
            <a:srgbClr val="0EA5E9"/>
          </a:solidFill>
          <a:ln w="12700">
            <a:solidFill>
              <a:srgbClr val="0EA5E9"/>
            </a:solidFill>
            <a:prstDash val="solid"/>
          </a:ln>
        </p:spPr>
      </p:sp>
      <p:sp>
        <p:nvSpPr>
          <p:cNvPr id="11" name="Text 9">
            <a:extLst>
              <a:ext uri="{FF2B5EF4-FFF2-40B4-BE49-F238E27FC236}">
                <a16:creationId xmlns:a16="http://schemas.microsoft.com/office/drawing/2014/main" id="{45D2EA52-C68E-AD03-1B8D-5E19DBB6CEC2}"/>
              </a:ext>
            </a:extLst>
          </p:cNvPr>
          <p:cNvSpPr/>
          <p:nvPr/>
        </p:nvSpPr>
        <p:spPr>
          <a:xfrm>
            <a:off x="5833872" y="2176272"/>
            <a:ext cx="292608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Write once, use many times</a:t>
            </a:r>
            <a:endParaRPr lang="en-US" sz="1200" dirty="0"/>
          </a:p>
        </p:txBody>
      </p:sp>
      <p:sp>
        <p:nvSpPr>
          <p:cNvPr id="12" name="Shape 10">
            <a:extLst>
              <a:ext uri="{FF2B5EF4-FFF2-40B4-BE49-F238E27FC236}">
                <a16:creationId xmlns:a16="http://schemas.microsoft.com/office/drawing/2014/main" id="{F94AE2AF-DFB6-8C50-EF55-30C4EE6E0461}"/>
              </a:ext>
            </a:extLst>
          </p:cNvPr>
          <p:cNvSpPr/>
          <p:nvPr/>
        </p:nvSpPr>
        <p:spPr>
          <a:xfrm>
            <a:off x="5559552" y="2633472"/>
            <a:ext cx="201168" cy="201168"/>
          </a:xfrm>
          <a:prstGeom prst="ellipse">
            <a:avLst/>
          </a:prstGeom>
          <a:solidFill>
            <a:srgbClr val="0EA5E9"/>
          </a:solidFill>
          <a:ln w="12700">
            <a:solidFill>
              <a:srgbClr val="0EA5E9"/>
            </a:solidFill>
            <a:prstDash val="solid"/>
          </a:ln>
        </p:spPr>
      </p:sp>
      <p:sp>
        <p:nvSpPr>
          <p:cNvPr id="13" name="Text 11">
            <a:extLst>
              <a:ext uri="{FF2B5EF4-FFF2-40B4-BE49-F238E27FC236}">
                <a16:creationId xmlns:a16="http://schemas.microsoft.com/office/drawing/2014/main" id="{D93A2061-F0E2-7875-DC9B-CEB32FA7FC2E}"/>
              </a:ext>
            </a:extLst>
          </p:cNvPr>
          <p:cNvSpPr/>
          <p:nvPr/>
        </p:nvSpPr>
        <p:spPr>
          <a:xfrm>
            <a:off x="5833872" y="2633472"/>
            <a:ext cx="292608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Change one component, updates everywhere</a:t>
            </a:r>
            <a:endParaRPr lang="en-US" sz="1200" dirty="0"/>
          </a:p>
        </p:txBody>
      </p:sp>
      <p:sp>
        <p:nvSpPr>
          <p:cNvPr id="14" name="Shape 12">
            <a:extLst>
              <a:ext uri="{FF2B5EF4-FFF2-40B4-BE49-F238E27FC236}">
                <a16:creationId xmlns:a16="http://schemas.microsoft.com/office/drawing/2014/main" id="{BE62D261-231E-246B-5E3A-2520AAD9F0F6}"/>
              </a:ext>
            </a:extLst>
          </p:cNvPr>
          <p:cNvSpPr/>
          <p:nvPr/>
        </p:nvSpPr>
        <p:spPr>
          <a:xfrm>
            <a:off x="5559552" y="3090672"/>
            <a:ext cx="201168" cy="201168"/>
          </a:xfrm>
          <a:prstGeom prst="ellipse">
            <a:avLst/>
          </a:prstGeom>
          <a:solidFill>
            <a:srgbClr val="0EA5E9"/>
          </a:solidFill>
          <a:ln w="12700">
            <a:solidFill>
              <a:srgbClr val="0EA5E9"/>
            </a:solidFill>
            <a:prstDash val="solid"/>
          </a:ln>
        </p:spPr>
      </p:sp>
      <p:sp>
        <p:nvSpPr>
          <p:cNvPr id="15" name="Text 13">
            <a:extLst>
              <a:ext uri="{FF2B5EF4-FFF2-40B4-BE49-F238E27FC236}">
                <a16:creationId xmlns:a16="http://schemas.microsoft.com/office/drawing/2014/main" id="{458DCD8C-2155-2E47-DB51-30C78A64E55D}"/>
              </a:ext>
            </a:extLst>
          </p:cNvPr>
          <p:cNvSpPr/>
          <p:nvPr/>
        </p:nvSpPr>
        <p:spPr>
          <a:xfrm>
            <a:off x="5833872" y="3090672"/>
            <a:ext cx="292608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Easier testing</a:t>
            </a:r>
            <a:endParaRPr lang="en-US" sz="1200" dirty="0"/>
          </a:p>
        </p:txBody>
      </p:sp>
      <p:sp>
        <p:nvSpPr>
          <p:cNvPr id="16" name="Shape 14">
            <a:extLst>
              <a:ext uri="{FF2B5EF4-FFF2-40B4-BE49-F238E27FC236}">
                <a16:creationId xmlns:a16="http://schemas.microsoft.com/office/drawing/2014/main" id="{2F7AB907-F70B-D8A0-33D5-8F940E6C866A}"/>
              </a:ext>
            </a:extLst>
          </p:cNvPr>
          <p:cNvSpPr/>
          <p:nvPr/>
        </p:nvSpPr>
        <p:spPr>
          <a:xfrm>
            <a:off x="5559552" y="3547872"/>
            <a:ext cx="201168" cy="201168"/>
          </a:xfrm>
          <a:prstGeom prst="ellipse">
            <a:avLst/>
          </a:prstGeom>
          <a:solidFill>
            <a:srgbClr val="0EA5E9"/>
          </a:solidFill>
          <a:ln w="12700">
            <a:solidFill>
              <a:srgbClr val="0EA5E9"/>
            </a:solidFill>
            <a:prstDash val="solid"/>
          </a:ln>
        </p:spPr>
      </p:sp>
      <p:sp>
        <p:nvSpPr>
          <p:cNvPr id="17" name="Text 15">
            <a:extLst>
              <a:ext uri="{FF2B5EF4-FFF2-40B4-BE49-F238E27FC236}">
                <a16:creationId xmlns:a16="http://schemas.microsoft.com/office/drawing/2014/main" id="{496F6A59-8FA8-E51F-3F54-9214532492BF}"/>
              </a:ext>
            </a:extLst>
          </p:cNvPr>
          <p:cNvSpPr/>
          <p:nvPr/>
        </p:nvSpPr>
        <p:spPr>
          <a:xfrm>
            <a:off x="5833872" y="3547872"/>
            <a:ext cx="292608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Faster development</a:t>
            </a:r>
            <a:endParaRPr lang="en-US" sz="1200" dirty="0"/>
          </a:p>
        </p:txBody>
      </p:sp>
      <p:sp>
        <p:nvSpPr>
          <p:cNvPr id="18" name="Shape 16">
            <a:extLst>
              <a:ext uri="{FF2B5EF4-FFF2-40B4-BE49-F238E27FC236}">
                <a16:creationId xmlns:a16="http://schemas.microsoft.com/office/drawing/2014/main" id="{19F42F1C-6B24-7348-6F9B-D0DBBB58E336}"/>
              </a:ext>
            </a:extLst>
          </p:cNvPr>
          <p:cNvSpPr/>
          <p:nvPr/>
        </p:nvSpPr>
        <p:spPr>
          <a:xfrm>
            <a:off x="5559552" y="4005072"/>
            <a:ext cx="201168" cy="201168"/>
          </a:xfrm>
          <a:prstGeom prst="ellipse">
            <a:avLst/>
          </a:prstGeom>
          <a:solidFill>
            <a:srgbClr val="0EA5E9"/>
          </a:solidFill>
          <a:ln w="12700">
            <a:solidFill>
              <a:srgbClr val="0EA5E9"/>
            </a:solidFill>
            <a:prstDash val="solid"/>
          </a:ln>
        </p:spPr>
      </p:sp>
      <p:sp>
        <p:nvSpPr>
          <p:cNvPr id="19" name="Text 17">
            <a:extLst>
              <a:ext uri="{FF2B5EF4-FFF2-40B4-BE49-F238E27FC236}">
                <a16:creationId xmlns:a16="http://schemas.microsoft.com/office/drawing/2014/main" id="{77AD916F-80E3-09E4-AAC8-E900EBAF5336}"/>
              </a:ext>
            </a:extLst>
          </p:cNvPr>
          <p:cNvSpPr/>
          <p:nvPr/>
        </p:nvSpPr>
        <p:spPr>
          <a:xfrm>
            <a:off x="5833872" y="4005072"/>
            <a:ext cx="292608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Cleaner, smaller codebase</a:t>
            </a:r>
            <a:endParaRPr lang="en-US" sz="1200" dirty="0"/>
          </a:p>
        </p:txBody>
      </p:sp>
      <p:sp>
        <p:nvSpPr>
          <p:cNvPr id="20" name="Shape 18">
            <a:extLst>
              <a:ext uri="{FF2B5EF4-FFF2-40B4-BE49-F238E27FC236}">
                <a16:creationId xmlns:a16="http://schemas.microsoft.com/office/drawing/2014/main" id="{784A3C4A-DD48-6FA5-4F63-BDFB3D721B85}"/>
              </a:ext>
            </a:extLst>
          </p:cNvPr>
          <p:cNvSpPr/>
          <p:nvPr/>
        </p:nvSpPr>
        <p:spPr>
          <a:xfrm>
            <a:off x="5559552" y="4462272"/>
            <a:ext cx="201168" cy="201168"/>
          </a:xfrm>
          <a:prstGeom prst="ellipse">
            <a:avLst/>
          </a:prstGeom>
          <a:solidFill>
            <a:srgbClr val="0EA5E9"/>
          </a:solidFill>
          <a:ln w="12700">
            <a:solidFill>
              <a:srgbClr val="0EA5E9"/>
            </a:solidFill>
            <a:prstDash val="solid"/>
          </a:ln>
        </p:spPr>
      </p:sp>
      <p:sp>
        <p:nvSpPr>
          <p:cNvPr id="21" name="Text 19">
            <a:extLst>
              <a:ext uri="{FF2B5EF4-FFF2-40B4-BE49-F238E27FC236}">
                <a16:creationId xmlns:a16="http://schemas.microsoft.com/office/drawing/2014/main" id="{2168E024-542B-8C43-A7AA-AC986EE8E631}"/>
              </a:ext>
            </a:extLst>
          </p:cNvPr>
          <p:cNvSpPr/>
          <p:nvPr/>
        </p:nvSpPr>
        <p:spPr>
          <a:xfrm>
            <a:off x="5833872" y="4462272"/>
            <a:ext cx="292608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Teams can work on different components</a:t>
            </a:r>
            <a:endParaRPr lang="en-US" sz="1200" dirty="0"/>
          </a:p>
        </p:txBody>
      </p:sp>
    </p:spTree>
    <p:extLst>
      <p:ext uri="{BB962C8B-B14F-4D97-AF65-F5344CB8AC3E}">
        <p14:creationId xmlns:p14="http://schemas.microsoft.com/office/powerpoint/2010/main" val="1965319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05</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Props – Properties</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Passing data from parent component to child component.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Props – Passing Data to Components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04672"/>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350" b="1" dirty="0">
                <a:solidFill>
                  <a:srgbClr val="1E293B"/>
                </a:solidFill>
                <a:latin typeface="Calibri" pitchFamily="34" charset="0"/>
                <a:ea typeface="Calibri" pitchFamily="34" charset="-122"/>
                <a:cs typeface="Calibri" pitchFamily="34" charset="-120"/>
              </a:rPr>
              <a:t>Props (short for Properties) </a:t>
            </a:r>
            <a:r>
              <a:rPr lang="en-US" sz="1350" dirty="0">
                <a:solidFill>
                  <a:srgbClr val="1E293B"/>
                </a:solidFill>
                <a:latin typeface="Calibri" pitchFamily="34" charset="0"/>
                <a:ea typeface="Calibri" pitchFamily="34" charset="-122"/>
                <a:cs typeface="Calibri" pitchFamily="34" charset="-120"/>
              </a:rPr>
              <a:t>are the way to pass data from a Parent component to a Child component in React. They work like function arguments.</a:t>
            </a:r>
            <a:endParaRPr lang="en-US" sz="1350" dirty="0"/>
          </a:p>
          <a:p>
            <a:pPr marL="285750" indent="-285750" algn="just">
              <a:spcAft>
                <a:spcPts val="500"/>
              </a:spcAft>
              <a:buFont typeface="Courier New" panose="02070309020205020404" pitchFamily="49" charset="0"/>
              <a:buChar char="o"/>
            </a:pPr>
            <a:r>
              <a:rPr lang="en-US" sz="1350" dirty="0">
                <a:solidFill>
                  <a:srgbClr val="1E293B"/>
                </a:solidFill>
                <a:latin typeface="Calibri" pitchFamily="34" charset="0"/>
                <a:ea typeface="Calibri" pitchFamily="34" charset="-122"/>
                <a:cs typeface="Calibri" pitchFamily="34" charset="-120"/>
              </a:rPr>
              <a:t>Props are READ-ONLY — a child component should never modify its own props. Data flows only one way: from parent to child.</a:t>
            </a:r>
            <a:endParaRPr lang="en-US" sz="1350" dirty="0"/>
          </a:p>
        </p:txBody>
      </p:sp>
      <p:sp>
        <p:nvSpPr>
          <p:cNvPr id="6" name="Text 4"/>
          <p:cNvSpPr/>
          <p:nvPr/>
        </p:nvSpPr>
        <p:spPr>
          <a:xfrm>
            <a:off x="201168" y="1691640"/>
            <a:ext cx="4251960" cy="274320"/>
          </a:xfrm>
          <a:prstGeom prst="rect">
            <a:avLst/>
          </a:prstGeom>
          <a:noFill/>
          <a:ln/>
        </p:spPr>
        <p:txBody>
          <a:bodyPr wrap="square" rtlCol="0" anchor="ctr"/>
          <a:lstStyle/>
          <a:p>
            <a:pPr marL="0" indent="0">
              <a:buNone/>
            </a:pPr>
            <a:r>
              <a:rPr lang="en-US" sz="1300" b="1" dirty="0">
                <a:solidFill>
                  <a:srgbClr val="0284C7"/>
                </a:solidFill>
                <a:latin typeface="Trebuchet MS" pitchFamily="34" charset="0"/>
                <a:ea typeface="Trebuchet MS" pitchFamily="34" charset="-122"/>
                <a:cs typeface="Trebuchet MS" pitchFamily="34" charset="-120"/>
              </a:rPr>
              <a:t>Sending Props (Parent):</a:t>
            </a:r>
            <a:endParaRPr lang="en-US" sz="1300" dirty="0"/>
          </a:p>
        </p:txBody>
      </p:sp>
      <p:sp>
        <p:nvSpPr>
          <p:cNvPr id="7" name="Shape 5"/>
          <p:cNvSpPr/>
          <p:nvPr/>
        </p:nvSpPr>
        <p:spPr>
          <a:xfrm>
            <a:off x="210312" y="2022401"/>
            <a:ext cx="4251960" cy="2221992"/>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8" name="Text 6"/>
          <p:cNvSpPr/>
          <p:nvPr/>
        </p:nvSpPr>
        <p:spPr>
          <a:xfrm>
            <a:off x="310896" y="2084832"/>
            <a:ext cx="4032504" cy="2130552"/>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App.js – Parent component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App()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&lt;StudentInfo</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name=‘Jeet Mehta’ // string</a:t>
            </a:r>
            <a:endParaRPr lang="en-US" sz="1100" dirty="0"/>
          </a:p>
          <a:p>
            <a:r>
              <a:rPr lang="en-US" sz="1100" dirty="0">
                <a:solidFill>
                  <a:srgbClr val="E2E8F0"/>
                </a:solidFill>
                <a:latin typeface="Consolas" pitchFamily="34" charset="0"/>
                <a:ea typeface="Consolas" pitchFamily="34" charset="-122"/>
                <a:cs typeface="Consolas" pitchFamily="34" charset="-120"/>
              </a:rPr>
              <a:t>        rollNo={101} </a:t>
            </a:r>
            <a:r>
              <a:rPr lang="en-IN" sz="1100" dirty="0">
                <a:solidFill>
                  <a:srgbClr val="E2E8F0"/>
                </a:solidFill>
                <a:latin typeface="Consolas" pitchFamily="34" charset="0"/>
              </a:rPr>
              <a:t>// number</a:t>
            </a:r>
            <a:endParaRPr lang="en-US" sz="1100" dirty="0">
              <a:solidFill>
                <a:srgbClr val="E2E8F0"/>
              </a:solidFill>
              <a:latin typeface="Consolas" pitchFamily="34" charset="0"/>
            </a:endParaRPr>
          </a:p>
          <a:p>
            <a:pPr marL="0" indent="0">
              <a:buNone/>
            </a:pPr>
            <a:r>
              <a:rPr lang="en-US" sz="1100" dirty="0">
                <a:solidFill>
                  <a:srgbClr val="E2E8F0"/>
                </a:solidFill>
                <a:latin typeface="Consolas" pitchFamily="34" charset="0"/>
                <a:ea typeface="Consolas" pitchFamily="34" charset="-122"/>
                <a:cs typeface="Consolas" pitchFamily="34" charset="-120"/>
              </a:rPr>
              <a:t>        branch='MCA'</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4681728" y="1691640"/>
            <a:ext cx="4251960" cy="274320"/>
          </a:xfrm>
          <a:prstGeom prst="rect">
            <a:avLst/>
          </a:prstGeom>
          <a:noFill/>
          <a:ln/>
        </p:spPr>
        <p:txBody>
          <a:bodyPr wrap="square" rtlCol="0" anchor="ctr"/>
          <a:lstStyle/>
          <a:p>
            <a:pPr marL="0" indent="0">
              <a:buNone/>
            </a:pPr>
            <a:r>
              <a:rPr lang="en-US" sz="1300" b="1" dirty="0">
                <a:solidFill>
                  <a:srgbClr val="0284C7"/>
                </a:solidFill>
                <a:latin typeface="Trebuchet MS" pitchFamily="34" charset="0"/>
                <a:ea typeface="Trebuchet MS" pitchFamily="34" charset="-122"/>
                <a:cs typeface="Trebuchet MS" pitchFamily="34" charset="-120"/>
              </a:rPr>
              <a:t>Receiving Props (Child):</a:t>
            </a:r>
            <a:endParaRPr lang="en-US" sz="1300" dirty="0"/>
          </a:p>
        </p:txBody>
      </p:sp>
      <p:sp>
        <p:nvSpPr>
          <p:cNvPr id="10" name="Shape 8"/>
          <p:cNvSpPr/>
          <p:nvPr/>
        </p:nvSpPr>
        <p:spPr>
          <a:xfrm>
            <a:off x="4681728" y="2022402"/>
            <a:ext cx="4251960" cy="2221992"/>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1" name="Text 9"/>
          <p:cNvSpPr/>
          <p:nvPr/>
        </p:nvSpPr>
        <p:spPr>
          <a:xfrm>
            <a:off x="4791456" y="2084832"/>
            <a:ext cx="4032504" cy="1856547"/>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StudentInfo.js – Child component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StudentInfo(props)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 className='student-card'&gt;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&lt;h3&gt;Name: {props.name}&lt;/h3&gt;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&lt;p&gt;Roll No: {props.rollNo}&lt;/p&gt;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&lt;p&gt;Branch: {props.branch}&lt;/p&gt;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2" name="Shape 10"/>
          <p:cNvSpPr/>
          <p:nvPr/>
        </p:nvSpPr>
        <p:spPr>
          <a:xfrm>
            <a:off x="201168" y="4402368"/>
            <a:ext cx="8741664" cy="648904"/>
          </a:xfrm>
          <a:prstGeom prst="rect">
            <a:avLst/>
          </a:prstGeom>
          <a:solidFill>
            <a:srgbClr val="DBEAFE"/>
          </a:solidFill>
          <a:ln w="25400">
            <a:solidFill>
              <a:srgbClr val="0EA5E9"/>
            </a:solidFill>
            <a:prstDash val="solid"/>
          </a:ln>
          <a:effectLst>
            <a:outerShdw blurRad="101600" dist="38100" dir="8100000" algn="bl" rotWithShape="0">
              <a:srgbClr val="000000">
                <a:alpha val="12000"/>
              </a:srgbClr>
            </a:outerShdw>
          </a:effectLst>
        </p:spPr>
      </p:sp>
      <p:sp>
        <p:nvSpPr>
          <p:cNvPr id="13" name="Text 11"/>
          <p:cNvSpPr/>
          <p:nvPr/>
        </p:nvSpPr>
        <p:spPr>
          <a:xfrm>
            <a:off x="338328" y="4512096"/>
            <a:ext cx="8467344" cy="349410"/>
          </a:xfrm>
          <a:prstGeom prst="rect">
            <a:avLst/>
          </a:prstGeom>
          <a:noFill/>
          <a:ln/>
        </p:spPr>
        <p:txBody>
          <a:bodyPr wrap="square" rtlCol="0" anchor="t"/>
          <a:lstStyle/>
          <a:p>
            <a:r>
              <a:rPr lang="en-US" sz="1300" dirty="0">
                <a:solidFill>
                  <a:srgbClr val="1E293B"/>
                </a:solidFill>
                <a:latin typeface="Calibri" pitchFamily="34" charset="0"/>
                <a:ea typeface="Calibri" pitchFamily="34" charset="-122"/>
                <a:cs typeface="Calibri" pitchFamily="34" charset="-120"/>
              </a:rPr>
              <a:t>🔒 Props are immutable (read-only). If a child needs to change data, it should notify the parent via a callback function passed as a prop.  NOTE:  </a:t>
            </a:r>
            <a:r>
              <a:rPr lang="en-IN" sz="1300" dirty="0">
                <a:solidFill>
                  <a:srgbClr val="1E293B"/>
                </a:solidFill>
                <a:latin typeface="Calibri" pitchFamily="34" charset="0"/>
                <a:ea typeface="Calibri" pitchFamily="34" charset="-122"/>
                <a:cs typeface="Calibri" pitchFamily="34" charset="-120"/>
              </a:rPr>
              <a:t>"value" → string and {value} → JavaScript (number, variable, expression)</a:t>
            </a:r>
          </a:p>
          <a:p>
            <a:endParaRPr lang="en-IN" sz="1400" dirty="0"/>
          </a:p>
          <a:p>
            <a:pPr marL="0" indent="0">
              <a:buNone/>
            </a:pP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Props – Destructuring &amp; Default Values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274320"/>
          </a:xfrm>
          <a:prstGeom prst="rect">
            <a:avLst/>
          </a:prstGeom>
          <a:noFill/>
          <a:ln/>
        </p:spPr>
        <p:txBody>
          <a:bodyPr wrap="square" rtlCol="0" anchor="ctr"/>
          <a:lstStyle/>
          <a:p>
            <a:pPr marL="0" indent="0">
              <a:buNone/>
            </a:pPr>
            <a:r>
              <a:rPr lang="en-US" sz="1400" b="1" dirty="0">
                <a:solidFill>
                  <a:srgbClr val="0284C7"/>
                </a:solidFill>
                <a:latin typeface="Trebuchet MS" pitchFamily="34" charset="0"/>
                <a:ea typeface="Trebuchet MS" pitchFamily="34" charset="-122"/>
                <a:cs typeface="Trebuchet MS" pitchFamily="34" charset="-120"/>
              </a:rPr>
              <a:t>Cleaner way: Destructure props in function parameter:</a:t>
            </a:r>
            <a:endParaRPr lang="en-US" sz="1400" dirty="0"/>
          </a:p>
        </p:txBody>
      </p:sp>
      <p:sp>
        <p:nvSpPr>
          <p:cNvPr id="6" name="Shape 4"/>
          <p:cNvSpPr/>
          <p:nvPr/>
        </p:nvSpPr>
        <p:spPr>
          <a:xfrm>
            <a:off x="201168" y="1170432"/>
            <a:ext cx="5297844" cy="3470936"/>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7" name="Text 5"/>
          <p:cNvSpPr/>
          <p:nvPr/>
        </p:nvSpPr>
        <p:spPr>
          <a:xfrm>
            <a:off x="321616" y="1364509"/>
            <a:ext cx="5232260" cy="3163347"/>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Instead of writing props.name, props.price...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Use destructuring: { name, price } directly</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ProductCard({ name, price, available = true })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'available = true' sets a DEFAULT PROP value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&lt;h3&gt;{name}&lt;/h3&gt;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&lt;p&gt;Price: Rs. {price}&lt;/p&gt;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&lt;p&gt;Status: {available ? 'In Stock' : 'Out of Stock'}&lt;/p&gt;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Usage: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&lt;ProductCard name='Phone' price={15000} /&gt;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'available' will default to true since we didn't pass it</a:t>
            </a:r>
            <a:endParaRPr lang="en-US" sz="1100" dirty="0"/>
          </a:p>
        </p:txBody>
      </p:sp>
      <p:sp>
        <p:nvSpPr>
          <p:cNvPr id="8" name="Text 6"/>
          <p:cNvSpPr/>
          <p:nvPr/>
        </p:nvSpPr>
        <p:spPr>
          <a:xfrm>
            <a:off x="5824728" y="804672"/>
            <a:ext cx="1828800" cy="320040"/>
          </a:xfrm>
          <a:prstGeom prst="rect">
            <a:avLst/>
          </a:prstGeom>
          <a:noFill/>
          <a:ln/>
        </p:spPr>
        <p:txBody>
          <a:bodyPr wrap="square" rtlCol="0" anchor="ctr"/>
          <a:lstStyle/>
          <a:p>
            <a:pPr marL="0" indent="0">
              <a:buNone/>
            </a:pPr>
            <a:r>
              <a:rPr lang="en-US" sz="1300" b="1" dirty="0">
                <a:solidFill>
                  <a:srgbClr val="0284C7"/>
                </a:solidFill>
                <a:latin typeface="Trebuchet MS" pitchFamily="34" charset="0"/>
                <a:ea typeface="Trebuchet MS" pitchFamily="34" charset="-122"/>
                <a:cs typeface="Trebuchet MS" pitchFamily="34" charset="-120"/>
              </a:rPr>
              <a:t>Props can carry:</a:t>
            </a:r>
            <a:endParaRPr lang="en-US" sz="1300" dirty="0"/>
          </a:p>
        </p:txBody>
      </p:sp>
      <p:sp>
        <p:nvSpPr>
          <p:cNvPr id="9" name="Shape 7"/>
          <p:cNvSpPr/>
          <p:nvPr/>
        </p:nvSpPr>
        <p:spPr>
          <a:xfrm>
            <a:off x="6053328" y="1204490"/>
            <a:ext cx="1671775" cy="320040"/>
          </a:xfrm>
          <a:prstGeom prst="rect">
            <a:avLst/>
          </a:prstGeom>
          <a:solidFill>
            <a:srgbClr val="1B3A5C"/>
          </a:solidFill>
          <a:ln w="12700">
            <a:solidFill>
              <a:srgbClr val="1B3A5C"/>
            </a:solidFill>
            <a:prstDash val="solid"/>
          </a:ln>
        </p:spPr>
      </p:sp>
      <p:sp>
        <p:nvSpPr>
          <p:cNvPr id="10" name="Text 8"/>
          <p:cNvSpPr/>
          <p:nvPr/>
        </p:nvSpPr>
        <p:spPr>
          <a:xfrm>
            <a:off x="6072244" y="1204490"/>
            <a:ext cx="1652859" cy="320040"/>
          </a:xfrm>
          <a:prstGeom prst="rect">
            <a:avLst/>
          </a:prstGeom>
          <a:noFill/>
          <a:ln/>
        </p:spPr>
        <p:txBody>
          <a:bodyPr wrap="square" rtlCol="0" anchor="ctr"/>
          <a:lstStyle/>
          <a:p>
            <a:pPr marL="0" indent="0" algn="ctr">
              <a:buNone/>
            </a:pPr>
            <a:r>
              <a:rPr lang="en-US" sz="900" dirty="0">
                <a:solidFill>
                  <a:srgbClr val="E2E8F0"/>
                </a:solidFill>
                <a:latin typeface="Consolas" pitchFamily="34" charset="0"/>
                <a:ea typeface="Consolas" pitchFamily="34" charset="-122"/>
                <a:cs typeface="Consolas" pitchFamily="34" charset="-120"/>
              </a:rPr>
              <a:t>Strings: name='Raj'</a:t>
            </a:r>
            <a:endParaRPr lang="en-US" sz="900" dirty="0"/>
          </a:p>
        </p:txBody>
      </p:sp>
      <p:sp>
        <p:nvSpPr>
          <p:cNvPr id="11" name="Shape 9"/>
          <p:cNvSpPr/>
          <p:nvPr/>
        </p:nvSpPr>
        <p:spPr>
          <a:xfrm>
            <a:off x="6053327" y="1672209"/>
            <a:ext cx="1671776" cy="320040"/>
          </a:xfrm>
          <a:prstGeom prst="rect">
            <a:avLst/>
          </a:prstGeom>
          <a:solidFill>
            <a:srgbClr val="1B3A5C"/>
          </a:solidFill>
          <a:ln w="12700">
            <a:solidFill>
              <a:srgbClr val="1B3A5C"/>
            </a:solidFill>
            <a:prstDash val="solid"/>
          </a:ln>
        </p:spPr>
      </p:sp>
      <p:sp>
        <p:nvSpPr>
          <p:cNvPr id="12" name="Text 10"/>
          <p:cNvSpPr/>
          <p:nvPr/>
        </p:nvSpPr>
        <p:spPr>
          <a:xfrm>
            <a:off x="6076187" y="1672209"/>
            <a:ext cx="1648915" cy="320040"/>
          </a:xfrm>
          <a:prstGeom prst="rect">
            <a:avLst/>
          </a:prstGeom>
          <a:noFill/>
          <a:ln/>
        </p:spPr>
        <p:txBody>
          <a:bodyPr wrap="square" rtlCol="0" anchor="ctr"/>
          <a:lstStyle/>
          <a:p>
            <a:pPr marL="0" indent="0" algn="ctr">
              <a:buNone/>
            </a:pPr>
            <a:r>
              <a:rPr lang="en-US" sz="900" dirty="0">
                <a:solidFill>
                  <a:srgbClr val="E2E8F0"/>
                </a:solidFill>
                <a:latin typeface="Consolas" pitchFamily="34" charset="0"/>
                <a:ea typeface="Consolas" pitchFamily="34" charset="-122"/>
                <a:cs typeface="Consolas" pitchFamily="34" charset="-120"/>
              </a:rPr>
              <a:t>Numbers: age={20}</a:t>
            </a:r>
            <a:endParaRPr lang="en-US" sz="900" dirty="0"/>
          </a:p>
        </p:txBody>
      </p:sp>
      <p:sp>
        <p:nvSpPr>
          <p:cNvPr id="13" name="Shape 11"/>
          <p:cNvSpPr/>
          <p:nvPr/>
        </p:nvSpPr>
        <p:spPr>
          <a:xfrm>
            <a:off x="6064758" y="2136035"/>
            <a:ext cx="1648914" cy="370880"/>
          </a:xfrm>
          <a:prstGeom prst="rect">
            <a:avLst/>
          </a:prstGeom>
          <a:solidFill>
            <a:srgbClr val="1B3A5C"/>
          </a:solidFill>
          <a:ln w="12700">
            <a:solidFill>
              <a:srgbClr val="1B3A5C"/>
            </a:solidFill>
            <a:prstDash val="solid"/>
          </a:ln>
        </p:spPr>
      </p:sp>
      <p:sp>
        <p:nvSpPr>
          <p:cNvPr id="14" name="Text 12"/>
          <p:cNvSpPr/>
          <p:nvPr/>
        </p:nvSpPr>
        <p:spPr>
          <a:xfrm>
            <a:off x="6065939" y="2136035"/>
            <a:ext cx="1659164" cy="320040"/>
          </a:xfrm>
          <a:prstGeom prst="rect">
            <a:avLst/>
          </a:prstGeom>
          <a:noFill/>
          <a:ln/>
        </p:spPr>
        <p:txBody>
          <a:bodyPr wrap="square" rtlCol="0" anchor="ctr"/>
          <a:lstStyle/>
          <a:p>
            <a:pPr marL="0" indent="0" algn="ctr">
              <a:buNone/>
            </a:pPr>
            <a:r>
              <a:rPr lang="en-US" sz="900" dirty="0">
                <a:solidFill>
                  <a:srgbClr val="E2E8F0"/>
                </a:solidFill>
                <a:latin typeface="Consolas" pitchFamily="34" charset="0"/>
                <a:ea typeface="Consolas" pitchFamily="34" charset="-122"/>
                <a:cs typeface="Consolas" pitchFamily="34" charset="-120"/>
              </a:rPr>
              <a:t>Booleans: isActive={true}</a:t>
            </a:r>
            <a:endParaRPr lang="en-US" sz="900" dirty="0"/>
          </a:p>
        </p:txBody>
      </p:sp>
      <p:sp>
        <p:nvSpPr>
          <p:cNvPr id="15" name="Shape 13"/>
          <p:cNvSpPr/>
          <p:nvPr/>
        </p:nvSpPr>
        <p:spPr>
          <a:xfrm>
            <a:off x="6065938" y="2667526"/>
            <a:ext cx="1647733" cy="320040"/>
          </a:xfrm>
          <a:prstGeom prst="rect">
            <a:avLst/>
          </a:prstGeom>
          <a:solidFill>
            <a:srgbClr val="1B3A5C"/>
          </a:solidFill>
          <a:ln w="12700">
            <a:solidFill>
              <a:srgbClr val="1B3A5C"/>
            </a:solidFill>
            <a:prstDash val="solid"/>
          </a:ln>
        </p:spPr>
      </p:sp>
      <p:sp>
        <p:nvSpPr>
          <p:cNvPr id="16" name="Text 14"/>
          <p:cNvSpPr/>
          <p:nvPr/>
        </p:nvSpPr>
        <p:spPr>
          <a:xfrm>
            <a:off x="6065938" y="2667526"/>
            <a:ext cx="1647733" cy="320040"/>
          </a:xfrm>
          <a:prstGeom prst="rect">
            <a:avLst/>
          </a:prstGeom>
          <a:noFill/>
          <a:ln/>
        </p:spPr>
        <p:txBody>
          <a:bodyPr wrap="square" rtlCol="0" anchor="ctr"/>
          <a:lstStyle/>
          <a:p>
            <a:pPr marL="0" indent="0" algn="ctr">
              <a:buNone/>
            </a:pPr>
            <a:r>
              <a:rPr lang="en-US" sz="900" dirty="0">
                <a:solidFill>
                  <a:srgbClr val="E2E8F0"/>
                </a:solidFill>
                <a:latin typeface="Consolas" pitchFamily="34" charset="0"/>
                <a:ea typeface="Consolas" pitchFamily="34" charset="-122"/>
                <a:cs typeface="Consolas" pitchFamily="34" charset="-120"/>
              </a:rPr>
              <a:t>Arrays: items={[1,2,3]}</a:t>
            </a:r>
            <a:endParaRPr lang="en-US" sz="900" dirty="0"/>
          </a:p>
        </p:txBody>
      </p:sp>
      <p:sp>
        <p:nvSpPr>
          <p:cNvPr id="17" name="Shape 15"/>
          <p:cNvSpPr/>
          <p:nvPr/>
        </p:nvSpPr>
        <p:spPr>
          <a:xfrm>
            <a:off x="6053328" y="3108966"/>
            <a:ext cx="1660344" cy="428828"/>
          </a:xfrm>
          <a:prstGeom prst="rect">
            <a:avLst/>
          </a:prstGeom>
          <a:solidFill>
            <a:srgbClr val="1B3A5C"/>
          </a:solidFill>
          <a:ln w="12700">
            <a:solidFill>
              <a:srgbClr val="1B3A5C"/>
            </a:solidFill>
            <a:prstDash val="solid"/>
          </a:ln>
        </p:spPr>
      </p:sp>
      <p:sp>
        <p:nvSpPr>
          <p:cNvPr id="18" name="Text 16"/>
          <p:cNvSpPr/>
          <p:nvPr/>
        </p:nvSpPr>
        <p:spPr>
          <a:xfrm>
            <a:off x="6072245" y="3102659"/>
            <a:ext cx="1641426" cy="400635"/>
          </a:xfrm>
          <a:prstGeom prst="rect">
            <a:avLst/>
          </a:prstGeom>
          <a:noFill/>
          <a:ln/>
        </p:spPr>
        <p:txBody>
          <a:bodyPr wrap="square" rtlCol="0" anchor="ctr"/>
          <a:lstStyle/>
          <a:p>
            <a:pPr marL="0" indent="0" algn="ctr">
              <a:buNone/>
            </a:pPr>
            <a:r>
              <a:rPr lang="en-US" sz="900" dirty="0">
                <a:solidFill>
                  <a:srgbClr val="E2E8F0"/>
                </a:solidFill>
                <a:latin typeface="Consolas" pitchFamily="34" charset="0"/>
                <a:ea typeface="Consolas" pitchFamily="34" charset="-122"/>
                <a:cs typeface="Consolas" pitchFamily="34" charset="-120"/>
              </a:rPr>
              <a:t>Objects: </a:t>
            </a:r>
            <a:br>
              <a:rPr lang="en-US" sz="900" dirty="0">
                <a:solidFill>
                  <a:srgbClr val="E2E8F0"/>
                </a:solidFill>
                <a:latin typeface="Consolas" pitchFamily="34" charset="0"/>
                <a:ea typeface="Consolas" pitchFamily="34" charset="-122"/>
                <a:cs typeface="Consolas" pitchFamily="34" charset="-120"/>
              </a:rPr>
            </a:br>
            <a:r>
              <a:rPr lang="en-US" sz="900" dirty="0">
                <a:solidFill>
                  <a:srgbClr val="E2E8F0"/>
                </a:solidFill>
                <a:latin typeface="Consolas" pitchFamily="34" charset="0"/>
                <a:ea typeface="Consolas" pitchFamily="34" charset="-122"/>
                <a:cs typeface="Consolas" pitchFamily="34" charset="-120"/>
              </a:rPr>
              <a:t>user={{ id:1 }}</a:t>
            </a:r>
            <a:endParaRPr lang="en-US" sz="900" dirty="0"/>
          </a:p>
        </p:txBody>
      </p:sp>
      <p:sp>
        <p:nvSpPr>
          <p:cNvPr id="19" name="Shape 17"/>
          <p:cNvSpPr/>
          <p:nvPr/>
        </p:nvSpPr>
        <p:spPr>
          <a:xfrm>
            <a:off x="6047025" y="3676525"/>
            <a:ext cx="1666645" cy="463320"/>
          </a:xfrm>
          <a:prstGeom prst="rect">
            <a:avLst/>
          </a:prstGeom>
          <a:solidFill>
            <a:srgbClr val="1B3A5C"/>
          </a:solidFill>
          <a:ln w="12700">
            <a:solidFill>
              <a:srgbClr val="1B3A5C"/>
            </a:solidFill>
            <a:prstDash val="solid"/>
          </a:ln>
        </p:spPr>
      </p:sp>
      <p:sp>
        <p:nvSpPr>
          <p:cNvPr id="20" name="Text 18"/>
          <p:cNvSpPr/>
          <p:nvPr/>
        </p:nvSpPr>
        <p:spPr>
          <a:xfrm>
            <a:off x="6101889" y="3676525"/>
            <a:ext cx="1623213" cy="399818"/>
          </a:xfrm>
          <a:prstGeom prst="rect">
            <a:avLst/>
          </a:prstGeom>
          <a:noFill/>
          <a:ln/>
        </p:spPr>
        <p:txBody>
          <a:bodyPr wrap="square" rtlCol="0" anchor="ctr"/>
          <a:lstStyle/>
          <a:p>
            <a:pPr marL="0" indent="0" algn="ctr">
              <a:buNone/>
            </a:pPr>
            <a:r>
              <a:rPr lang="en-US" sz="900" dirty="0">
                <a:solidFill>
                  <a:srgbClr val="E2E8F0"/>
                </a:solidFill>
                <a:latin typeface="Consolas" pitchFamily="34" charset="0"/>
                <a:ea typeface="Consolas" pitchFamily="34" charset="-122"/>
                <a:cs typeface="Consolas" pitchFamily="34" charset="-120"/>
              </a:rPr>
              <a:t>Functions: onClick={handleClick}</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06</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State &amp; Lifecycle</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Managing dynamic data and component phases.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State – Managing Dynamic Data</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1018453"/>
            <a:ext cx="8741664" cy="1262186"/>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State is a JavaScript object that stores data specific to a component. When state changes, React automatically re-renders the component to show the updated UI.</a:t>
            </a:r>
            <a:endParaRPr lang="en-US" sz="14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State is different from Props: Props are passed from parent, while State is managed inside the component itself. State is mutable — it can change over time.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43433292-0E9E-9CD1-000B-B4773E92CC2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E9BED23-63ED-3B27-DEC1-EE26F7D8D0EC}"/>
              </a:ext>
            </a:extLst>
          </p:cNvPr>
          <p:cNvSpPr/>
          <p:nvPr/>
        </p:nvSpPr>
        <p:spPr>
          <a:xfrm>
            <a:off x="0" y="0"/>
            <a:ext cx="64008" cy="5143500"/>
          </a:xfrm>
          <a:prstGeom prst="rect">
            <a:avLst/>
          </a:prstGeom>
          <a:solidFill>
            <a:srgbClr val="0EA5E9"/>
          </a:solidFill>
          <a:ln w="12700">
            <a:solidFill>
              <a:srgbClr val="0EA5E9"/>
            </a:solidFill>
            <a:prstDash val="solid"/>
          </a:ln>
        </p:spPr>
      </p:sp>
      <p:sp>
        <p:nvSpPr>
          <p:cNvPr id="3" name="Text 1">
            <a:extLst>
              <a:ext uri="{FF2B5EF4-FFF2-40B4-BE49-F238E27FC236}">
                <a16:creationId xmlns:a16="http://schemas.microsoft.com/office/drawing/2014/main" id="{D54AA3AC-EB4E-9316-C1E6-2DEDE7E427BC}"/>
              </a:ext>
            </a:extLst>
          </p:cNvPr>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State – Managing Dynamic Data</a:t>
            </a:r>
            <a:endParaRPr lang="en-US" sz="2600" dirty="0"/>
          </a:p>
        </p:txBody>
      </p:sp>
      <p:sp>
        <p:nvSpPr>
          <p:cNvPr id="4" name="Shape 2">
            <a:extLst>
              <a:ext uri="{FF2B5EF4-FFF2-40B4-BE49-F238E27FC236}">
                <a16:creationId xmlns:a16="http://schemas.microsoft.com/office/drawing/2014/main" id="{A0668F92-5C56-CF20-D87F-C2D3F49C47B7}"/>
              </a:ext>
            </a:extLst>
          </p:cNvPr>
          <p:cNvSpPr/>
          <p:nvPr/>
        </p:nvSpPr>
        <p:spPr>
          <a:xfrm>
            <a:off x="201168" y="713232"/>
            <a:ext cx="8741664" cy="27432"/>
          </a:xfrm>
          <a:prstGeom prst="rect">
            <a:avLst/>
          </a:prstGeom>
          <a:solidFill>
            <a:srgbClr val="0EA5E9"/>
          </a:solidFill>
          <a:ln w="12700">
            <a:solidFill>
              <a:srgbClr val="0EA5E9"/>
            </a:solidFill>
            <a:prstDash val="solid"/>
          </a:ln>
        </p:spPr>
      </p:sp>
      <p:sp>
        <p:nvSpPr>
          <p:cNvPr id="6" name="Text 4">
            <a:extLst>
              <a:ext uri="{FF2B5EF4-FFF2-40B4-BE49-F238E27FC236}">
                <a16:creationId xmlns:a16="http://schemas.microsoft.com/office/drawing/2014/main" id="{FB88D646-C910-DA4D-BE40-2ACE644FB7A0}"/>
              </a:ext>
            </a:extLst>
          </p:cNvPr>
          <p:cNvSpPr/>
          <p:nvPr/>
        </p:nvSpPr>
        <p:spPr>
          <a:xfrm>
            <a:off x="201168" y="956652"/>
            <a:ext cx="8741664" cy="329864"/>
          </a:xfrm>
          <a:prstGeom prst="rect">
            <a:avLst/>
          </a:prstGeom>
          <a:noFill/>
          <a:ln/>
        </p:spPr>
        <p:txBody>
          <a:bodyPr wrap="square" rtlCol="0" anchor="ctr"/>
          <a:lstStyle/>
          <a:p>
            <a:pPr marL="0" indent="0">
              <a:buNone/>
            </a:pPr>
            <a:r>
              <a:rPr lang="en-US" sz="1400" b="1" dirty="0">
                <a:solidFill>
                  <a:srgbClr val="0284C7"/>
                </a:solidFill>
                <a:latin typeface="Trebuchet MS" pitchFamily="34" charset="0"/>
                <a:ea typeface="Trebuchet MS" pitchFamily="34" charset="-122"/>
                <a:cs typeface="Trebuchet MS" pitchFamily="34" charset="-120"/>
              </a:rPr>
              <a:t>Using useState Hook (modern way):</a:t>
            </a:r>
            <a:endParaRPr lang="en-US" sz="1400" dirty="0"/>
          </a:p>
        </p:txBody>
      </p:sp>
      <p:sp>
        <p:nvSpPr>
          <p:cNvPr id="7" name="Shape 5">
            <a:extLst>
              <a:ext uri="{FF2B5EF4-FFF2-40B4-BE49-F238E27FC236}">
                <a16:creationId xmlns:a16="http://schemas.microsoft.com/office/drawing/2014/main" id="{D07D047A-10A4-398D-4C35-4F9498C99987}"/>
              </a:ext>
            </a:extLst>
          </p:cNvPr>
          <p:cNvSpPr/>
          <p:nvPr/>
        </p:nvSpPr>
        <p:spPr>
          <a:xfrm>
            <a:off x="201167" y="1267548"/>
            <a:ext cx="4992625" cy="3670211"/>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8" name="Text 6">
            <a:extLst>
              <a:ext uri="{FF2B5EF4-FFF2-40B4-BE49-F238E27FC236}">
                <a16:creationId xmlns:a16="http://schemas.microsoft.com/office/drawing/2014/main" id="{C3C232FB-7644-153F-D7F7-352FD3E53198}"/>
              </a:ext>
            </a:extLst>
          </p:cNvPr>
          <p:cNvSpPr/>
          <p:nvPr/>
        </p:nvSpPr>
        <p:spPr>
          <a:xfrm>
            <a:off x="310895" y="1358988"/>
            <a:ext cx="5402527" cy="403799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import React, { useState } from 'react';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Counter()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useState(0) : initializes count with value 0</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count       : current state value (read only)</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setCount    : function to UPDATE the state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[count, setCount] = useState(0);</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&lt;h2&gt;You clicked {count} times&lt;/h2&gt;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&lt;button onClick={() =&gt; setCount(count + 1)}&gt; </a:t>
            </a:r>
            <a:br>
              <a:rPr lang="en-US" sz="1100" dirty="0">
                <a:solidFill>
                  <a:srgbClr val="E2E8F0"/>
                </a:solidFill>
                <a:latin typeface="Consolas" pitchFamily="34" charset="0"/>
                <a:ea typeface="Consolas" pitchFamily="34" charset="-122"/>
                <a:cs typeface="Consolas" pitchFamily="34" charset="-120"/>
              </a:rPr>
            </a:br>
            <a:r>
              <a:rPr lang="en-US" sz="1100" dirty="0">
                <a:solidFill>
                  <a:srgbClr val="E2E8F0"/>
                </a:solidFill>
                <a:latin typeface="Consolas" pitchFamily="34" charset="0"/>
                <a:ea typeface="Consolas" pitchFamily="34" charset="-122"/>
                <a:cs typeface="Consolas" pitchFamily="34" charset="-120"/>
              </a:rPr>
              <a:t>         Click Me +1</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&lt;/button&gt;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&lt;button onClick={() =&gt; setCount(0)}&gt;Reset&lt;/button&gt;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export default Counter;</a:t>
            </a:r>
            <a:endParaRPr lang="en-US" sz="1100" dirty="0"/>
          </a:p>
        </p:txBody>
      </p:sp>
      <p:sp>
        <p:nvSpPr>
          <p:cNvPr id="9" name="Shape 7">
            <a:extLst>
              <a:ext uri="{FF2B5EF4-FFF2-40B4-BE49-F238E27FC236}">
                <a16:creationId xmlns:a16="http://schemas.microsoft.com/office/drawing/2014/main" id="{14472CC4-BAFA-ABB5-DC2F-CFA2B5E2B3EB}"/>
              </a:ext>
            </a:extLst>
          </p:cNvPr>
          <p:cNvSpPr/>
          <p:nvPr/>
        </p:nvSpPr>
        <p:spPr>
          <a:xfrm>
            <a:off x="5440680" y="1234130"/>
            <a:ext cx="3474720" cy="3236976"/>
          </a:xfrm>
          <a:prstGeom prst="rect">
            <a:avLst/>
          </a:prstGeom>
          <a:solidFill>
            <a:srgbClr val="0D1B2A"/>
          </a:solidFill>
          <a:ln w="12700">
            <a:solidFill>
              <a:srgbClr val="0EA5E9"/>
            </a:solidFill>
            <a:prstDash val="solid"/>
          </a:ln>
          <a:effectLst>
            <a:outerShdw blurRad="101600" dist="38100" dir="8100000" algn="bl" rotWithShape="0">
              <a:srgbClr val="000000">
                <a:alpha val="12000"/>
              </a:srgbClr>
            </a:outerShdw>
          </a:effectLst>
        </p:spPr>
      </p:sp>
      <p:sp>
        <p:nvSpPr>
          <p:cNvPr id="10" name="Text 8">
            <a:extLst>
              <a:ext uri="{FF2B5EF4-FFF2-40B4-BE49-F238E27FC236}">
                <a16:creationId xmlns:a16="http://schemas.microsoft.com/office/drawing/2014/main" id="{31DAC57D-FA2C-50FA-E991-A95E527D15CC}"/>
              </a:ext>
            </a:extLst>
          </p:cNvPr>
          <p:cNvSpPr/>
          <p:nvPr/>
        </p:nvSpPr>
        <p:spPr>
          <a:xfrm>
            <a:off x="5532120" y="1288994"/>
            <a:ext cx="3291840" cy="320040"/>
          </a:xfrm>
          <a:prstGeom prst="rect">
            <a:avLst/>
          </a:prstGeom>
          <a:noFill/>
          <a:ln/>
        </p:spPr>
        <p:txBody>
          <a:bodyPr wrap="square" rtlCol="0" anchor="ctr"/>
          <a:lstStyle/>
          <a:p>
            <a:pPr marL="0" indent="0" algn="ctr">
              <a:buNone/>
            </a:pPr>
            <a:r>
              <a:rPr lang="en-US" sz="1300" b="1" dirty="0">
                <a:solidFill>
                  <a:srgbClr val="0EA5E9"/>
                </a:solidFill>
                <a:latin typeface="Trebuchet MS" pitchFamily="34" charset="0"/>
                <a:ea typeface="Trebuchet MS" pitchFamily="34" charset="-122"/>
                <a:cs typeface="Trebuchet MS" pitchFamily="34" charset="-120"/>
              </a:rPr>
              <a:t>How useState Works:</a:t>
            </a:r>
            <a:endParaRPr lang="en-US" sz="1300" dirty="0"/>
          </a:p>
        </p:txBody>
      </p:sp>
      <p:sp>
        <p:nvSpPr>
          <p:cNvPr id="11" name="Text 9">
            <a:extLst>
              <a:ext uri="{FF2B5EF4-FFF2-40B4-BE49-F238E27FC236}">
                <a16:creationId xmlns:a16="http://schemas.microsoft.com/office/drawing/2014/main" id="{E7245B8C-42E5-D303-831C-58E8CD628329}"/>
              </a:ext>
            </a:extLst>
          </p:cNvPr>
          <p:cNvSpPr/>
          <p:nvPr/>
        </p:nvSpPr>
        <p:spPr>
          <a:xfrm>
            <a:off x="5532120" y="1691330"/>
            <a:ext cx="3291840" cy="329184"/>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① useState(0) — initial value = 0</a:t>
            </a:r>
            <a:endParaRPr lang="en-US" sz="1150" dirty="0"/>
          </a:p>
        </p:txBody>
      </p:sp>
      <p:sp>
        <p:nvSpPr>
          <p:cNvPr id="12" name="Text 10">
            <a:extLst>
              <a:ext uri="{FF2B5EF4-FFF2-40B4-BE49-F238E27FC236}">
                <a16:creationId xmlns:a16="http://schemas.microsoft.com/office/drawing/2014/main" id="{42C3A88C-6C7C-EBAD-C57A-13F129688EF4}"/>
              </a:ext>
            </a:extLst>
          </p:cNvPr>
          <p:cNvSpPr/>
          <p:nvPr/>
        </p:nvSpPr>
        <p:spPr>
          <a:xfrm>
            <a:off x="5532120" y="2075378"/>
            <a:ext cx="3291840" cy="329184"/>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② React stores count = 0</a:t>
            </a:r>
            <a:endParaRPr lang="en-US" sz="1150" dirty="0"/>
          </a:p>
        </p:txBody>
      </p:sp>
      <p:sp>
        <p:nvSpPr>
          <p:cNvPr id="13" name="Text 11">
            <a:extLst>
              <a:ext uri="{FF2B5EF4-FFF2-40B4-BE49-F238E27FC236}">
                <a16:creationId xmlns:a16="http://schemas.microsoft.com/office/drawing/2014/main" id="{8663566A-2671-69EB-113B-86B51CD23930}"/>
              </a:ext>
            </a:extLst>
          </p:cNvPr>
          <p:cNvSpPr/>
          <p:nvPr/>
        </p:nvSpPr>
        <p:spPr>
          <a:xfrm>
            <a:off x="5532120" y="2459426"/>
            <a:ext cx="3291840" cy="329184"/>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③ User clicks button</a:t>
            </a:r>
            <a:endParaRPr lang="en-US" sz="1150" dirty="0"/>
          </a:p>
        </p:txBody>
      </p:sp>
      <p:sp>
        <p:nvSpPr>
          <p:cNvPr id="14" name="Text 12">
            <a:extLst>
              <a:ext uri="{FF2B5EF4-FFF2-40B4-BE49-F238E27FC236}">
                <a16:creationId xmlns:a16="http://schemas.microsoft.com/office/drawing/2014/main" id="{13A259EE-3CD5-3EE0-B16A-1CD15BD0C33B}"/>
              </a:ext>
            </a:extLst>
          </p:cNvPr>
          <p:cNvSpPr/>
          <p:nvPr/>
        </p:nvSpPr>
        <p:spPr>
          <a:xfrm>
            <a:off x="5532120" y="2843474"/>
            <a:ext cx="3291840" cy="329184"/>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④ setCount(count + 1) is called</a:t>
            </a:r>
            <a:endParaRPr lang="en-US" sz="1150" dirty="0"/>
          </a:p>
        </p:txBody>
      </p:sp>
      <p:sp>
        <p:nvSpPr>
          <p:cNvPr id="15" name="Text 13">
            <a:extLst>
              <a:ext uri="{FF2B5EF4-FFF2-40B4-BE49-F238E27FC236}">
                <a16:creationId xmlns:a16="http://schemas.microsoft.com/office/drawing/2014/main" id="{375491B2-6332-6B00-E83F-4FAB364AF0B7}"/>
              </a:ext>
            </a:extLst>
          </p:cNvPr>
          <p:cNvSpPr/>
          <p:nvPr/>
        </p:nvSpPr>
        <p:spPr>
          <a:xfrm>
            <a:off x="5532120" y="3227522"/>
            <a:ext cx="3291840" cy="329184"/>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⑤ React updates state to 1</a:t>
            </a:r>
            <a:endParaRPr lang="en-US" sz="1150" dirty="0"/>
          </a:p>
        </p:txBody>
      </p:sp>
      <p:sp>
        <p:nvSpPr>
          <p:cNvPr id="16" name="Text 14">
            <a:extLst>
              <a:ext uri="{FF2B5EF4-FFF2-40B4-BE49-F238E27FC236}">
                <a16:creationId xmlns:a16="http://schemas.microsoft.com/office/drawing/2014/main" id="{98C11455-1A1C-6565-F00B-7292D929EB00}"/>
              </a:ext>
            </a:extLst>
          </p:cNvPr>
          <p:cNvSpPr/>
          <p:nvPr/>
        </p:nvSpPr>
        <p:spPr>
          <a:xfrm>
            <a:off x="5532120" y="3611570"/>
            <a:ext cx="3291840" cy="329184"/>
          </a:xfrm>
          <a:prstGeom prst="rect">
            <a:avLst/>
          </a:prstGeom>
          <a:noFill/>
          <a:ln/>
        </p:spPr>
        <p:txBody>
          <a:bodyPr wrap="square" rtlCol="0" anchor="ctr"/>
          <a:lstStyle/>
          <a:p>
            <a:pPr marL="0" indent="0">
              <a:buNone/>
            </a:pPr>
            <a:r>
              <a:rPr lang="en-US" sz="1150" b="1" dirty="0">
                <a:solidFill>
                  <a:srgbClr val="0EA5E9"/>
                </a:solidFill>
                <a:latin typeface="Calibri" pitchFamily="34" charset="0"/>
                <a:ea typeface="Calibri" pitchFamily="34" charset="-122"/>
                <a:cs typeface="Calibri" pitchFamily="34" charset="-120"/>
              </a:rPr>
              <a:t>⑥ Component re-renders</a:t>
            </a:r>
            <a:endParaRPr lang="en-US" sz="1150" dirty="0"/>
          </a:p>
        </p:txBody>
      </p:sp>
      <p:sp>
        <p:nvSpPr>
          <p:cNvPr id="17" name="Text 15">
            <a:extLst>
              <a:ext uri="{FF2B5EF4-FFF2-40B4-BE49-F238E27FC236}">
                <a16:creationId xmlns:a16="http://schemas.microsoft.com/office/drawing/2014/main" id="{74D20406-2627-7C52-3A3A-38DA0DBD9EF4}"/>
              </a:ext>
            </a:extLst>
          </p:cNvPr>
          <p:cNvSpPr/>
          <p:nvPr/>
        </p:nvSpPr>
        <p:spPr>
          <a:xfrm>
            <a:off x="5532120" y="3995618"/>
            <a:ext cx="3291840" cy="329184"/>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⑦ UI shows: 'You clicked 1 time'</a:t>
            </a:r>
            <a:endParaRPr lang="en-US" sz="1150" dirty="0"/>
          </a:p>
        </p:txBody>
      </p:sp>
    </p:spTree>
    <p:extLst>
      <p:ext uri="{BB962C8B-B14F-4D97-AF65-F5344CB8AC3E}">
        <p14:creationId xmlns:p14="http://schemas.microsoft.com/office/powerpoint/2010/main" val="1312924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State – Multiple Variables &amp; Forms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32004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A component can have multiple state variables. Each useState() call creates one independent piece of state:</a:t>
            </a:r>
            <a:endParaRPr lang="en-US" sz="1400" dirty="0"/>
          </a:p>
        </p:txBody>
      </p:sp>
      <p:sp>
        <p:nvSpPr>
          <p:cNvPr id="6" name="Shape 4"/>
          <p:cNvSpPr/>
          <p:nvPr/>
        </p:nvSpPr>
        <p:spPr>
          <a:xfrm>
            <a:off x="201169" y="1207008"/>
            <a:ext cx="4295156" cy="374904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7" name="Text 5"/>
          <p:cNvSpPr/>
          <p:nvPr/>
        </p:nvSpPr>
        <p:spPr>
          <a:xfrm>
            <a:off x="310896" y="1298448"/>
            <a:ext cx="4261104" cy="356616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import React, { useState } from 'react';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LoginForm()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Multiple state variables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[username, setUsername] = useState('');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[password, setPassword] = useState('');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[isLoggedIn, setIsLoggedIn] = useState(false);</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handleLogin = ()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if (username === 'admin' &amp;&amp; password === '1234')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setIsLoggedIn(true);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if (isLoggedIn)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&lt;h2&gt;Welcome, {username}! Login successful.&lt;/h2&gt;;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p:txBody>
      </p:sp>
      <p:sp>
        <p:nvSpPr>
          <p:cNvPr id="8" name="Shape 4">
            <a:extLst>
              <a:ext uri="{FF2B5EF4-FFF2-40B4-BE49-F238E27FC236}">
                <a16:creationId xmlns:a16="http://schemas.microsoft.com/office/drawing/2014/main" id="{87AFF631-63C7-1028-C4B0-269FE9F041E9}"/>
              </a:ext>
            </a:extLst>
          </p:cNvPr>
          <p:cNvSpPr/>
          <p:nvPr/>
        </p:nvSpPr>
        <p:spPr>
          <a:xfrm>
            <a:off x="4647677" y="1195450"/>
            <a:ext cx="4426955" cy="374904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9" name="Text 5">
            <a:extLst>
              <a:ext uri="{FF2B5EF4-FFF2-40B4-BE49-F238E27FC236}">
                <a16:creationId xmlns:a16="http://schemas.microsoft.com/office/drawing/2014/main" id="{BF35FFF8-50DF-16D9-9F69-11C97ED7C2CD}"/>
              </a:ext>
            </a:extLst>
          </p:cNvPr>
          <p:cNvSpPr/>
          <p:nvPr/>
        </p:nvSpPr>
        <p:spPr>
          <a:xfrm>
            <a:off x="4686995" y="1298872"/>
            <a:ext cx="4387637" cy="3566160"/>
          </a:xfrm>
          <a:prstGeom prst="rect">
            <a:avLst/>
          </a:prstGeom>
          <a:noFill/>
          <a:ln/>
        </p:spPr>
        <p:txBody>
          <a:bodyPr wrap="square" rtlCol="0" anchor="t"/>
          <a:lstStyle/>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&lt;input value={username} onChange={e =&gt; setUsername(e.target.value)}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placeholder='Enter username’ /&gt;</a:t>
            </a:r>
            <a:br>
              <a:rPr lang="en-US" sz="1100" dirty="0">
                <a:solidFill>
                  <a:srgbClr val="E2E8F0"/>
                </a:solidFill>
                <a:latin typeface="Consolas" pitchFamily="34" charset="0"/>
                <a:ea typeface="Consolas" pitchFamily="34" charset="-122"/>
                <a:cs typeface="Consolas" pitchFamily="34" charset="-120"/>
              </a:rPr>
            </a:b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&lt;input value={password} onChange={e =&gt; setPassword(e.target.value)}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type='password' placeholder='Enter password’ /&gt;</a:t>
            </a:r>
            <a:br>
              <a:rPr lang="en-US" sz="1100" dirty="0">
                <a:solidFill>
                  <a:srgbClr val="E2E8F0"/>
                </a:solidFill>
                <a:latin typeface="Consolas" pitchFamily="34" charset="0"/>
                <a:ea typeface="Consolas" pitchFamily="34" charset="-122"/>
                <a:cs typeface="Consolas" pitchFamily="34" charset="-120"/>
              </a:rPr>
            </a:b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&lt;button onClick={handleLogin}&gt;Login&lt;/button&gt;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84A7EF68-2B27-8758-5CE9-C129D91632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1FC7BE-5B82-949B-C0F9-72092D8686EA}"/>
              </a:ext>
            </a:extLst>
          </p:cNvPr>
          <p:cNvSpPr/>
          <p:nvPr/>
        </p:nvSpPr>
        <p:spPr>
          <a:xfrm>
            <a:off x="0" y="0"/>
            <a:ext cx="64008" cy="5143500"/>
          </a:xfrm>
          <a:prstGeom prst="rect">
            <a:avLst/>
          </a:prstGeom>
          <a:solidFill>
            <a:srgbClr val="0EA5E9"/>
          </a:solidFill>
          <a:ln w="12700">
            <a:solidFill>
              <a:srgbClr val="0EA5E9"/>
            </a:solidFill>
            <a:prstDash val="solid"/>
          </a:ln>
        </p:spPr>
      </p:sp>
      <p:sp>
        <p:nvSpPr>
          <p:cNvPr id="3" name="Text 1">
            <a:extLst>
              <a:ext uri="{FF2B5EF4-FFF2-40B4-BE49-F238E27FC236}">
                <a16:creationId xmlns:a16="http://schemas.microsoft.com/office/drawing/2014/main" id="{5D9D7CCB-3519-0464-CD87-D5010F93925D}"/>
              </a:ext>
            </a:extLst>
          </p:cNvPr>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Component Lifecycle &amp; useEffect Hook</a:t>
            </a:r>
            <a:endParaRPr lang="en-US" sz="2600" dirty="0"/>
          </a:p>
        </p:txBody>
      </p:sp>
      <p:sp>
        <p:nvSpPr>
          <p:cNvPr id="4" name="Shape 2">
            <a:extLst>
              <a:ext uri="{FF2B5EF4-FFF2-40B4-BE49-F238E27FC236}">
                <a16:creationId xmlns:a16="http://schemas.microsoft.com/office/drawing/2014/main" id="{9EEE5EF7-837A-49FB-996F-F4556E1E8D50}"/>
              </a:ext>
            </a:extLst>
          </p:cNvPr>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a:extLst>
              <a:ext uri="{FF2B5EF4-FFF2-40B4-BE49-F238E27FC236}">
                <a16:creationId xmlns:a16="http://schemas.microsoft.com/office/drawing/2014/main" id="{26B737E9-B80A-65E7-87BD-3AC7FCAF8CAA}"/>
              </a:ext>
            </a:extLst>
          </p:cNvPr>
          <p:cNvSpPr/>
          <p:nvPr/>
        </p:nvSpPr>
        <p:spPr>
          <a:xfrm>
            <a:off x="201168" y="1157187"/>
            <a:ext cx="8741664" cy="1243896"/>
          </a:xfrm>
          <a:prstGeom prst="rect">
            <a:avLst/>
          </a:prstGeom>
          <a:noFill/>
          <a:ln/>
        </p:spPr>
        <p:txBody>
          <a:bodyPr wrap="square" rtlCol="0" anchor="ctr"/>
          <a:lstStyle/>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Every React component goes through three phases: Mounting (created), Updating (data changes), and Unmounting (removed from DOM). This is called the Component Lifecycle.</a:t>
            </a:r>
            <a:endParaRPr lang="en-US" sz="1400" dirty="0"/>
          </a:p>
          <a:p>
            <a:pPr marL="285750" indent="-285750" algn="just">
              <a:spcAft>
                <a:spcPts val="500"/>
              </a:spcAft>
              <a:buFont typeface="Courier New" panose="02070309020205020404" pitchFamily="49" charset="0"/>
              <a:buChar char="o"/>
            </a:pPr>
            <a:r>
              <a:rPr lang="en-US" sz="1400" dirty="0">
                <a:solidFill>
                  <a:srgbClr val="1E293B"/>
                </a:solidFill>
                <a:latin typeface="Calibri" pitchFamily="34" charset="0"/>
                <a:ea typeface="Calibri" pitchFamily="34" charset="-122"/>
                <a:cs typeface="Calibri" pitchFamily="34" charset="-120"/>
              </a:rPr>
              <a:t>In functional components, we use the useEffect Hook to handle side effects like API calls, timers, or DOM updates after render.</a:t>
            </a:r>
            <a:endParaRPr lang="en-US" sz="1400" dirty="0"/>
          </a:p>
        </p:txBody>
      </p:sp>
      <p:sp>
        <p:nvSpPr>
          <p:cNvPr id="6" name="Shape 4">
            <a:extLst>
              <a:ext uri="{FF2B5EF4-FFF2-40B4-BE49-F238E27FC236}">
                <a16:creationId xmlns:a16="http://schemas.microsoft.com/office/drawing/2014/main" id="{9FC9605C-7097-C6E0-0C77-96CD9466E3EE}"/>
              </a:ext>
            </a:extLst>
          </p:cNvPr>
          <p:cNvSpPr/>
          <p:nvPr/>
        </p:nvSpPr>
        <p:spPr>
          <a:xfrm>
            <a:off x="201168" y="2681711"/>
            <a:ext cx="2587752" cy="1064176"/>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sp>
      <p:sp>
        <p:nvSpPr>
          <p:cNvPr id="7" name="Text 5">
            <a:extLst>
              <a:ext uri="{FF2B5EF4-FFF2-40B4-BE49-F238E27FC236}">
                <a16:creationId xmlns:a16="http://schemas.microsoft.com/office/drawing/2014/main" id="{B5CA5596-4B16-66D0-B822-400A640FD330}"/>
              </a:ext>
            </a:extLst>
          </p:cNvPr>
          <p:cNvSpPr/>
          <p:nvPr/>
        </p:nvSpPr>
        <p:spPr>
          <a:xfrm>
            <a:off x="201168" y="2727431"/>
            <a:ext cx="2743200" cy="3200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MOUNTING</a:t>
            </a:r>
            <a:endParaRPr lang="en-US" sz="1400" dirty="0"/>
          </a:p>
        </p:txBody>
      </p:sp>
      <p:sp>
        <p:nvSpPr>
          <p:cNvPr id="8" name="Text 6">
            <a:extLst>
              <a:ext uri="{FF2B5EF4-FFF2-40B4-BE49-F238E27FC236}">
                <a16:creationId xmlns:a16="http://schemas.microsoft.com/office/drawing/2014/main" id="{721AF948-C014-5150-42A6-7140319244A4}"/>
              </a:ext>
            </a:extLst>
          </p:cNvPr>
          <p:cNvSpPr/>
          <p:nvPr/>
        </p:nvSpPr>
        <p:spPr>
          <a:xfrm>
            <a:off x="246888" y="3074903"/>
            <a:ext cx="2651760" cy="56692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Component added to DOM</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Constructor → Render → componentDidMount</a:t>
            </a:r>
            <a:endParaRPr lang="en-US" sz="1100" dirty="0"/>
          </a:p>
        </p:txBody>
      </p:sp>
      <p:sp>
        <p:nvSpPr>
          <p:cNvPr id="9" name="Text 7">
            <a:extLst>
              <a:ext uri="{FF2B5EF4-FFF2-40B4-BE49-F238E27FC236}">
                <a16:creationId xmlns:a16="http://schemas.microsoft.com/office/drawing/2014/main" id="{E554BDB2-165A-6D55-808F-998B26A6B659}"/>
              </a:ext>
            </a:extLst>
          </p:cNvPr>
          <p:cNvSpPr/>
          <p:nvPr/>
        </p:nvSpPr>
        <p:spPr>
          <a:xfrm>
            <a:off x="2814146" y="2859863"/>
            <a:ext cx="365760" cy="457200"/>
          </a:xfrm>
          <a:prstGeom prst="rect">
            <a:avLst/>
          </a:prstGeom>
          <a:noFill/>
          <a:ln/>
        </p:spPr>
        <p:txBody>
          <a:bodyPr wrap="square" rtlCol="0" anchor="ctr"/>
          <a:lstStyle/>
          <a:p>
            <a:pPr marL="0" indent="0" algn="ctr">
              <a:buNone/>
            </a:pPr>
            <a:r>
              <a:rPr lang="en-US" sz="2400" b="1" dirty="0">
                <a:solidFill>
                  <a:srgbClr val="0EA5E9"/>
                </a:solidFill>
                <a:latin typeface="Calibri" pitchFamily="34" charset="0"/>
                <a:ea typeface="Calibri" pitchFamily="34" charset="-122"/>
                <a:cs typeface="Calibri" pitchFamily="34" charset="-120"/>
              </a:rPr>
              <a:t>→</a:t>
            </a:r>
            <a:endParaRPr lang="en-US" sz="2400" dirty="0"/>
          </a:p>
        </p:txBody>
      </p:sp>
      <p:sp>
        <p:nvSpPr>
          <p:cNvPr id="10" name="Shape 8">
            <a:extLst>
              <a:ext uri="{FF2B5EF4-FFF2-40B4-BE49-F238E27FC236}">
                <a16:creationId xmlns:a16="http://schemas.microsoft.com/office/drawing/2014/main" id="{384A5B54-BADB-38CB-B2FB-38D1F05E9CC0}"/>
              </a:ext>
            </a:extLst>
          </p:cNvPr>
          <p:cNvSpPr/>
          <p:nvPr/>
        </p:nvSpPr>
        <p:spPr>
          <a:xfrm>
            <a:off x="3218688" y="2681711"/>
            <a:ext cx="2444286" cy="1064176"/>
          </a:xfrm>
          <a:prstGeom prst="rect">
            <a:avLst/>
          </a:prstGeom>
          <a:solidFill>
            <a:srgbClr val="F59E0B"/>
          </a:solidFill>
          <a:ln w="12700">
            <a:solidFill>
              <a:srgbClr val="F59E0B"/>
            </a:solidFill>
            <a:prstDash val="solid"/>
          </a:ln>
          <a:effectLst>
            <a:outerShdw blurRad="101600" dist="38100" dir="8100000" algn="bl" rotWithShape="0">
              <a:srgbClr val="000000">
                <a:alpha val="12000"/>
              </a:srgbClr>
            </a:outerShdw>
          </a:effectLst>
        </p:spPr>
      </p:sp>
      <p:sp>
        <p:nvSpPr>
          <p:cNvPr id="11" name="Text 9">
            <a:extLst>
              <a:ext uri="{FF2B5EF4-FFF2-40B4-BE49-F238E27FC236}">
                <a16:creationId xmlns:a16="http://schemas.microsoft.com/office/drawing/2014/main" id="{FECA5723-0B7A-606E-305F-CB36778A3068}"/>
              </a:ext>
            </a:extLst>
          </p:cNvPr>
          <p:cNvSpPr/>
          <p:nvPr/>
        </p:nvSpPr>
        <p:spPr>
          <a:xfrm>
            <a:off x="3127248" y="2727431"/>
            <a:ext cx="2743200" cy="3200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UPDATING</a:t>
            </a:r>
            <a:endParaRPr lang="en-US" sz="1400" dirty="0"/>
          </a:p>
        </p:txBody>
      </p:sp>
      <p:sp>
        <p:nvSpPr>
          <p:cNvPr id="12" name="Text 10">
            <a:extLst>
              <a:ext uri="{FF2B5EF4-FFF2-40B4-BE49-F238E27FC236}">
                <a16:creationId xmlns:a16="http://schemas.microsoft.com/office/drawing/2014/main" id="{BCEAB8B8-02B5-3E42-2D6D-74A2DBFBDDE0}"/>
              </a:ext>
            </a:extLst>
          </p:cNvPr>
          <p:cNvSpPr/>
          <p:nvPr/>
        </p:nvSpPr>
        <p:spPr>
          <a:xfrm>
            <a:off x="3172968" y="3074903"/>
            <a:ext cx="2651760" cy="56692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State or Props change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Render → componentDidUpdate</a:t>
            </a:r>
            <a:endParaRPr lang="en-US" sz="1100" dirty="0"/>
          </a:p>
        </p:txBody>
      </p:sp>
      <p:sp>
        <p:nvSpPr>
          <p:cNvPr id="13" name="Text 11">
            <a:extLst>
              <a:ext uri="{FF2B5EF4-FFF2-40B4-BE49-F238E27FC236}">
                <a16:creationId xmlns:a16="http://schemas.microsoft.com/office/drawing/2014/main" id="{FA6109B1-AA68-C2EF-ABFC-D501C16F546C}"/>
              </a:ext>
            </a:extLst>
          </p:cNvPr>
          <p:cNvSpPr/>
          <p:nvPr/>
        </p:nvSpPr>
        <p:spPr>
          <a:xfrm>
            <a:off x="5715001" y="2916619"/>
            <a:ext cx="365760" cy="457200"/>
          </a:xfrm>
          <a:prstGeom prst="rect">
            <a:avLst/>
          </a:prstGeom>
          <a:noFill/>
          <a:ln/>
        </p:spPr>
        <p:txBody>
          <a:bodyPr wrap="square" rtlCol="0" anchor="ctr"/>
          <a:lstStyle/>
          <a:p>
            <a:pPr marL="0" indent="0" algn="ctr">
              <a:buNone/>
            </a:pPr>
            <a:r>
              <a:rPr lang="en-US" sz="2400" b="1" dirty="0">
                <a:solidFill>
                  <a:srgbClr val="0EA5E9"/>
                </a:solidFill>
                <a:latin typeface="Calibri" pitchFamily="34" charset="0"/>
                <a:ea typeface="Calibri" pitchFamily="34" charset="-122"/>
                <a:cs typeface="Calibri" pitchFamily="34" charset="-120"/>
              </a:rPr>
              <a:t>→</a:t>
            </a:r>
            <a:endParaRPr lang="en-US" sz="2400" dirty="0"/>
          </a:p>
        </p:txBody>
      </p:sp>
      <p:sp>
        <p:nvSpPr>
          <p:cNvPr id="14" name="Shape 12">
            <a:extLst>
              <a:ext uri="{FF2B5EF4-FFF2-40B4-BE49-F238E27FC236}">
                <a16:creationId xmlns:a16="http://schemas.microsoft.com/office/drawing/2014/main" id="{EDA5E5F5-BDFD-78F3-C0C0-A338DAF8BF14}"/>
              </a:ext>
            </a:extLst>
          </p:cNvPr>
          <p:cNvSpPr/>
          <p:nvPr/>
        </p:nvSpPr>
        <p:spPr>
          <a:xfrm>
            <a:off x="6144768" y="2681711"/>
            <a:ext cx="2651760" cy="1064176"/>
          </a:xfrm>
          <a:prstGeom prst="rect">
            <a:avLst/>
          </a:prstGeom>
          <a:solidFill>
            <a:srgbClr val="EF4444"/>
          </a:solidFill>
          <a:ln w="12700">
            <a:solidFill>
              <a:srgbClr val="EF4444"/>
            </a:solidFill>
            <a:prstDash val="solid"/>
          </a:ln>
          <a:effectLst>
            <a:outerShdw blurRad="101600" dist="38100" dir="8100000" algn="bl" rotWithShape="0">
              <a:srgbClr val="000000">
                <a:alpha val="12000"/>
              </a:srgbClr>
            </a:outerShdw>
          </a:effectLst>
        </p:spPr>
      </p:sp>
      <p:sp>
        <p:nvSpPr>
          <p:cNvPr id="15" name="Text 13">
            <a:extLst>
              <a:ext uri="{FF2B5EF4-FFF2-40B4-BE49-F238E27FC236}">
                <a16:creationId xmlns:a16="http://schemas.microsoft.com/office/drawing/2014/main" id="{AC0D3F25-19A0-F121-3D0E-AC06CA11D52C}"/>
              </a:ext>
            </a:extLst>
          </p:cNvPr>
          <p:cNvSpPr/>
          <p:nvPr/>
        </p:nvSpPr>
        <p:spPr>
          <a:xfrm>
            <a:off x="6053328" y="2727431"/>
            <a:ext cx="2743200" cy="3200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UNMOUNTING</a:t>
            </a:r>
            <a:endParaRPr lang="en-US" sz="1400" dirty="0"/>
          </a:p>
        </p:txBody>
      </p:sp>
      <p:sp>
        <p:nvSpPr>
          <p:cNvPr id="16" name="Text 14">
            <a:extLst>
              <a:ext uri="{FF2B5EF4-FFF2-40B4-BE49-F238E27FC236}">
                <a16:creationId xmlns:a16="http://schemas.microsoft.com/office/drawing/2014/main" id="{1F7C11A4-2319-08DD-8B3E-1084B1191363}"/>
              </a:ext>
            </a:extLst>
          </p:cNvPr>
          <p:cNvSpPr/>
          <p:nvPr/>
        </p:nvSpPr>
        <p:spPr>
          <a:xfrm>
            <a:off x="6099048" y="3074903"/>
            <a:ext cx="2651760" cy="56692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Component removed from DOM</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componentWillUnmount</a:t>
            </a:r>
            <a:endParaRPr lang="en-US" sz="1100" dirty="0"/>
          </a:p>
        </p:txBody>
      </p:sp>
    </p:spTree>
    <p:extLst>
      <p:ext uri="{BB962C8B-B14F-4D97-AF65-F5344CB8AC3E}">
        <p14:creationId xmlns:p14="http://schemas.microsoft.com/office/powerpoint/2010/main" val="944399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Component Lifecycle &amp; useEffect Hook</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17" name="Text 15"/>
          <p:cNvSpPr/>
          <p:nvPr/>
        </p:nvSpPr>
        <p:spPr>
          <a:xfrm>
            <a:off x="201168" y="974313"/>
            <a:ext cx="8741664" cy="509620"/>
          </a:xfrm>
          <a:prstGeom prst="rect">
            <a:avLst/>
          </a:prstGeom>
          <a:noFill/>
          <a:ln/>
        </p:spPr>
        <p:txBody>
          <a:bodyPr wrap="square" rtlCol="0" anchor="ctr"/>
          <a:lstStyle/>
          <a:p>
            <a:pPr marL="0" indent="0">
              <a:buNone/>
            </a:pPr>
            <a:r>
              <a:rPr lang="en-US" sz="1300" b="1" dirty="0">
                <a:solidFill>
                  <a:srgbClr val="0284C7"/>
                </a:solidFill>
                <a:latin typeface="Trebuchet MS" pitchFamily="34" charset="0"/>
                <a:ea typeface="Trebuchet MS" pitchFamily="34" charset="-122"/>
                <a:cs typeface="Trebuchet MS" pitchFamily="34" charset="-120"/>
              </a:rPr>
              <a:t>useEffect Hook (handles lifecycle in functional components):</a:t>
            </a:r>
            <a:endParaRPr lang="en-US" sz="1300" dirty="0"/>
          </a:p>
        </p:txBody>
      </p:sp>
      <p:sp>
        <p:nvSpPr>
          <p:cNvPr id="18" name="Shape 16"/>
          <p:cNvSpPr/>
          <p:nvPr/>
        </p:nvSpPr>
        <p:spPr>
          <a:xfrm>
            <a:off x="201168" y="1496146"/>
            <a:ext cx="8741664" cy="3397465"/>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9" name="Text 17"/>
          <p:cNvSpPr/>
          <p:nvPr/>
        </p:nvSpPr>
        <p:spPr>
          <a:xfrm>
            <a:off x="310896" y="1587586"/>
            <a:ext cx="8522208" cy="3057719"/>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import React, { useState, useEffect } from 'react';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Timer()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[seconds, setSeconds] = useState(0);</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Runs AFTER every render (like componentDidMount + componentDidUpdate)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useEffect(()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interval = setInterval(()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setSeconds(prev =&gt; prev + 1);</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1000);</a:t>
            </a:r>
            <a:br>
              <a:rPr lang="en-US" sz="1100" dirty="0">
                <a:solidFill>
                  <a:srgbClr val="E2E8F0"/>
                </a:solidFill>
                <a:latin typeface="Consolas" pitchFamily="34" charset="0"/>
                <a:ea typeface="Consolas" pitchFamily="34" charset="-122"/>
                <a:cs typeface="Consolas" pitchFamily="34" charset="-120"/>
              </a:rPr>
            </a:b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Cleanup function (like componentWillUnmount)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 =&gt; clearInterval(interval);</a:t>
            </a:r>
            <a:br>
              <a:rPr lang="en-US" sz="1100" dirty="0">
                <a:solidFill>
                  <a:srgbClr val="E2E8F0"/>
                </a:solidFill>
                <a:latin typeface="Consolas" pitchFamily="34" charset="0"/>
                <a:ea typeface="Consolas" pitchFamily="34" charset="-122"/>
                <a:cs typeface="Consolas" pitchFamily="34" charset="-120"/>
              </a:rPr>
            </a:b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  // Empty [] = run only ONCE on mount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&lt;h2&gt;Timer: {seconds} seconds&lt;/h2&gt;;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07</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Events in React</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Handling user interactions: clicks, input, forms, and more.</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Events – Handling User Interactions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347472"/>
          </a:xfrm>
          <a:prstGeom prst="rect">
            <a:avLst/>
          </a:prstGeom>
          <a:noFill/>
          <a:ln/>
        </p:spPr>
        <p:txBody>
          <a:bodyPr wrap="square" rtlCol="0" anchor="ctr"/>
          <a:lstStyle/>
          <a:p>
            <a:pPr marL="0" indent="0">
              <a:spcAft>
                <a:spcPts val="500"/>
              </a:spcAft>
              <a:buNone/>
            </a:pPr>
            <a:r>
              <a:rPr lang="en-US" sz="1400" dirty="0">
                <a:solidFill>
                  <a:srgbClr val="1E293B"/>
                </a:solidFill>
                <a:latin typeface="Calibri" pitchFamily="34" charset="0"/>
                <a:ea typeface="Calibri" pitchFamily="34" charset="-122"/>
                <a:cs typeface="Calibri" pitchFamily="34" charset="-120"/>
              </a:rPr>
              <a:t>In React, events are handled very similarly to HTML DOM events — but with some important differences in syntax.</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201168" y="1234440"/>
          <a:ext cx="8741664" cy="1828800"/>
        </p:xfrm>
        <a:graphic>
          <a:graphicData uri="http://schemas.openxmlformats.org/drawingml/2006/table">
            <a:tbl>
              <a:tblPr/>
              <a:tblGrid>
                <a:gridCol w="2913888">
                  <a:extLst>
                    <a:ext uri="{9D8B030D-6E8A-4147-A177-3AD203B41FA5}">
                      <a16:colId xmlns:a16="http://schemas.microsoft.com/office/drawing/2014/main" val="20000"/>
                    </a:ext>
                  </a:extLst>
                </a:gridCol>
                <a:gridCol w="2913888">
                  <a:extLst>
                    <a:ext uri="{9D8B030D-6E8A-4147-A177-3AD203B41FA5}">
                      <a16:colId xmlns:a16="http://schemas.microsoft.com/office/drawing/2014/main" val="20001"/>
                    </a:ext>
                  </a:extLst>
                </a:gridCol>
                <a:gridCol w="2913888">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HTML (old way)</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React (new way)</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Naming</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onclick (lowercase)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onClick (camelCase)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String: "handleClick()"</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Function: {handleClick}</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Prevent Default</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return false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e.preventDefault()</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Event Object</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window.event</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Passed as param (e)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548F81FA-7F0E-704A-85A2-6DC637D9AE1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BA61D26-83BF-CC8D-124C-5EED0F9AF3E6}"/>
              </a:ext>
            </a:extLst>
          </p:cNvPr>
          <p:cNvSpPr/>
          <p:nvPr/>
        </p:nvSpPr>
        <p:spPr>
          <a:xfrm>
            <a:off x="0" y="0"/>
            <a:ext cx="64008" cy="5143500"/>
          </a:xfrm>
          <a:prstGeom prst="rect">
            <a:avLst/>
          </a:prstGeom>
          <a:solidFill>
            <a:srgbClr val="0EA5E9"/>
          </a:solidFill>
          <a:ln w="12700">
            <a:solidFill>
              <a:srgbClr val="0EA5E9"/>
            </a:solidFill>
            <a:prstDash val="solid"/>
          </a:ln>
        </p:spPr>
      </p:sp>
      <p:sp>
        <p:nvSpPr>
          <p:cNvPr id="3" name="Text 1">
            <a:extLst>
              <a:ext uri="{FF2B5EF4-FFF2-40B4-BE49-F238E27FC236}">
                <a16:creationId xmlns:a16="http://schemas.microsoft.com/office/drawing/2014/main" id="{6D069CFE-230D-00FE-3E60-8E34CB7EE17A}"/>
              </a:ext>
            </a:extLst>
          </p:cNvPr>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Events – Handling User Interactions</a:t>
            </a:r>
            <a:endParaRPr lang="en-US" sz="2600" dirty="0"/>
          </a:p>
        </p:txBody>
      </p:sp>
      <p:sp>
        <p:nvSpPr>
          <p:cNvPr id="4" name="Shape 2">
            <a:extLst>
              <a:ext uri="{FF2B5EF4-FFF2-40B4-BE49-F238E27FC236}">
                <a16:creationId xmlns:a16="http://schemas.microsoft.com/office/drawing/2014/main" id="{677D26FA-CBA8-128F-13B7-DAFE1F1F0941}"/>
              </a:ext>
            </a:extLst>
          </p:cNvPr>
          <p:cNvSpPr/>
          <p:nvPr/>
        </p:nvSpPr>
        <p:spPr>
          <a:xfrm>
            <a:off x="201168" y="713232"/>
            <a:ext cx="8741664" cy="27432"/>
          </a:xfrm>
          <a:prstGeom prst="rect">
            <a:avLst/>
          </a:prstGeom>
          <a:solidFill>
            <a:srgbClr val="0EA5E9"/>
          </a:solidFill>
          <a:ln w="12700">
            <a:solidFill>
              <a:srgbClr val="0EA5E9"/>
            </a:solidFill>
            <a:prstDash val="solid"/>
          </a:ln>
        </p:spPr>
      </p:sp>
      <p:sp>
        <p:nvSpPr>
          <p:cNvPr id="7" name="Text 4">
            <a:extLst>
              <a:ext uri="{FF2B5EF4-FFF2-40B4-BE49-F238E27FC236}">
                <a16:creationId xmlns:a16="http://schemas.microsoft.com/office/drawing/2014/main" id="{39062467-D186-E5FC-287B-1D083E10CB5D}"/>
              </a:ext>
            </a:extLst>
          </p:cNvPr>
          <p:cNvSpPr/>
          <p:nvPr/>
        </p:nvSpPr>
        <p:spPr>
          <a:xfrm>
            <a:off x="201168" y="928594"/>
            <a:ext cx="8741664" cy="274320"/>
          </a:xfrm>
          <a:prstGeom prst="rect">
            <a:avLst/>
          </a:prstGeom>
          <a:noFill/>
          <a:ln/>
        </p:spPr>
        <p:txBody>
          <a:bodyPr wrap="square" rtlCol="0" anchor="ctr"/>
          <a:lstStyle/>
          <a:p>
            <a:pPr marL="0" indent="0">
              <a:buNone/>
            </a:pPr>
            <a:r>
              <a:rPr lang="en-US" sz="1300" b="1" dirty="0">
                <a:solidFill>
                  <a:srgbClr val="0284C7"/>
                </a:solidFill>
                <a:latin typeface="Trebuchet MS" pitchFamily="34" charset="0"/>
                <a:ea typeface="Trebuchet MS" pitchFamily="34" charset="-122"/>
                <a:cs typeface="Trebuchet MS" pitchFamily="34" charset="-120"/>
              </a:rPr>
              <a:t>Common React Events Example:</a:t>
            </a:r>
            <a:endParaRPr lang="en-US" sz="1300" dirty="0"/>
          </a:p>
        </p:txBody>
      </p:sp>
      <p:sp>
        <p:nvSpPr>
          <p:cNvPr id="8" name="Shape 5">
            <a:extLst>
              <a:ext uri="{FF2B5EF4-FFF2-40B4-BE49-F238E27FC236}">
                <a16:creationId xmlns:a16="http://schemas.microsoft.com/office/drawing/2014/main" id="{2C0B390D-077D-3A8E-0561-5A87BEFCD8C6}"/>
              </a:ext>
            </a:extLst>
          </p:cNvPr>
          <p:cNvSpPr/>
          <p:nvPr/>
        </p:nvSpPr>
        <p:spPr>
          <a:xfrm>
            <a:off x="201168" y="1248633"/>
            <a:ext cx="8741664" cy="3134181"/>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9" name="Text 6">
            <a:extLst>
              <a:ext uri="{FF2B5EF4-FFF2-40B4-BE49-F238E27FC236}">
                <a16:creationId xmlns:a16="http://schemas.microsoft.com/office/drawing/2014/main" id="{8660C240-1284-6ACB-5986-6643DAF54988}"/>
              </a:ext>
            </a:extLst>
          </p:cNvPr>
          <p:cNvSpPr/>
          <p:nvPr/>
        </p:nvSpPr>
        <p:spPr>
          <a:xfrm>
            <a:off x="310896" y="1507981"/>
            <a:ext cx="8522208" cy="2874833"/>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function EventDemo()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handleClick = () =&gt; alert('Button clicked!');</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handleChange = (e) =&gt; console.log('Input:', e.target.value);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handleSubmit = (e)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e.preventDefault();  // Prevents page reload</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alert('Form submitted!');</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&lt;form onSubmit={handleSubmit}&gt;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&lt;input type='text' onChange={handleChange} placeholder='Type here' /&gt;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&lt;button type='submit' onClick={handleClick}&gt;Submit&lt;/button&gt;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&lt;/form&gt;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extLst>
      <p:ext uri="{BB962C8B-B14F-4D97-AF65-F5344CB8AC3E}">
        <p14:creationId xmlns:p14="http://schemas.microsoft.com/office/powerpoint/2010/main" val="935988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08</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Fetch API in React</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Calling external APIs and displaying dynamic data.</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Fetch API – Getting Data from Server</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502920"/>
          </a:xfrm>
          <a:prstGeom prst="rect">
            <a:avLst/>
          </a:prstGeom>
          <a:noFill/>
          <a:ln/>
        </p:spPr>
        <p:txBody>
          <a:bodyPr wrap="square" rtlCol="0" anchor="ctr"/>
          <a:lstStyle/>
          <a:p>
            <a:pPr marL="0" indent="0">
              <a:spcAft>
                <a:spcPts val="500"/>
              </a:spcAft>
              <a:buNone/>
            </a:pPr>
            <a:r>
              <a:rPr lang="en-US" sz="1400" dirty="0">
                <a:solidFill>
                  <a:srgbClr val="1E293B"/>
                </a:solidFill>
                <a:latin typeface="Calibri" pitchFamily="34" charset="0"/>
                <a:ea typeface="Calibri" pitchFamily="34" charset="-122"/>
                <a:cs typeface="Calibri" pitchFamily="34" charset="-120"/>
              </a:rPr>
              <a:t>The Fetch API is a built-in browser feature (not React-specific) that allows you to make HTTP requests to a server. In React, we typically call fetch() inside useEffect so the data loads when the component first mounts.</a:t>
            </a:r>
            <a:endParaRPr lang="en-US" sz="1400" dirty="0"/>
          </a:p>
        </p:txBody>
      </p:sp>
      <p:sp>
        <p:nvSpPr>
          <p:cNvPr id="6" name="Shape 4"/>
          <p:cNvSpPr/>
          <p:nvPr/>
        </p:nvSpPr>
        <p:spPr>
          <a:xfrm>
            <a:off x="201168" y="1389888"/>
            <a:ext cx="8741664" cy="365760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7" name="Text 5"/>
          <p:cNvSpPr/>
          <p:nvPr/>
        </p:nvSpPr>
        <p:spPr>
          <a:xfrm>
            <a:off x="310897" y="1481328"/>
            <a:ext cx="4942174" cy="347472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import React, { useState, useEffect } from 'react';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UserList()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[users, setUsers] = useState([]);      // Store list of users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[loading, setLoading] = useState(true); // Loading indicator</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useEffect(()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Fetch data from a public API</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fetch('https://jsonplaceholder.typicode.com/users')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.then(response =&gt; response.json())   // Convert to JSON</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.then(data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setUsers(data);           // Store in state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setLoading(false);        // Hide loading</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.catch(error =&gt; console.error('Error:', error));</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  // Empty [] = run only once on component mount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if (loading) return &lt;p&gt;Loading...&lt;/p&gt;;</a:t>
            </a:r>
            <a:endParaRPr lang="en-US" sz="1100" dirty="0"/>
          </a:p>
        </p:txBody>
      </p:sp>
      <p:sp>
        <p:nvSpPr>
          <p:cNvPr id="9" name="Text 5">
            <a:extLst>
              <a:ext uri="{FF2B5EF4-FFF2-40B4-BE49-F238E27FC236}">
                <a16:creationId xmlns:a16="http://schemas.microsoft.com/office/drawing/2014/main" id="{85DD2172-95A0-43AE-F3DB-073FF60160A1}"/>
              </a:ext>
            </a:extLst>
          </p:cNvPr>
          <p:cNvSpPr/>
          <p:nvPr/>
        </p:nvSpPr>
        <p:spPr>
          <a:xfrm>
            <a:off x="5593606" y="1475442"/>
            <a:ext cx="3239499" cy="3474720"/>
          </a:xfrm>
          <a:prstGeom prst="rect">
            <a:avLst/>
          </a:prstGeom>
          <a:noFill/>
          <a:ln/>
        </p:spPr>
        <p:txBody>
          <a:bodyPr wrap="square" rtlCol="0" anchor="t"/>
          <a:lstStyle/>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&lt;ul&gt;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{users.map(user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&lt;li key={user.id}&gt;{user.name} – {user.email}&lt;/li&gt;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&lt;/ul&gt;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cxnSp>
        <p:nvCxnSpPr>
          <p:cNvPr id="11" name="Straight Connector 10">
            <a:extLst>
              <a:ext uri="{FF2B5EF4-FFF2-40B4-BE49-F238E27FC236}">
                <a16:creationId xmlns:a16="http://schemas.microsoft.com/office/drawing/2014/main" id="{72FA0A72-BA4D-ABFC-42E7-EE673ED2D6B5}"/>
              </a:ext>
            </a:extLst>
          </p:cNvPr>
          <p:cNvCxnSpPr/>
          <p:nvPr/>
        </p:nvCxnSpPr>
        <p:spPr>
          <a:xfrm>
            <a:off x="5297214" y="1620695"/>
            <a:ext cx="0" cy="3033286"/>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Fetch API – Using async/await</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32004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async/await makes asynchronous code look like synchronous — easier to read and debug:</a:t>
            </a:r>
            <a:endParaRPr lang="en-US" sz="1400" dirty="0"/>
          </a:p>
        </p:txBody>
      </p:sp>
      <p:sp>
        <p:nvSpPr>
          <p:cNvPr id="6" name="Shape 4"/>
          <p:cNvSpPr/>
          <p:nvPr/>
        </p:nvSpPr>
        <p:spPr>
          <a:xfrm>
            <a:off x="201168" y="1207008"/>
            <a:ext cx="8741664" cy="379476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7" name="Text 5"/>
          <p:cNvSpPr/>
          <p:nvPr/>
        </p:nvSpPr>
        <p:spPr>
          <a:xfrm>
            <a:off x="310896" y="1298448"/>
            <a:ext cx="4998930" cy="361188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import React, { useState, useEffect } from 'react';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PostList()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[posts, setPosts] = useState([]);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[error, setError] = useState(null);</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useEffect(()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We create an async function inside useEffect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fetchPosts = async ()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try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response = await fetch(</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'https://jsonplaceholder.typicode.com/posts?_limit=5'</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data = await response.json();</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setPosts(data);</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catch (err)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setError('Failed to load posts.');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fetchPosts();  // Call the function</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a:t>
            </a:r>
            <a:endParaRPr lang="en-US" sz="1100" dirty="0"/>
          </a:p>
        </p:txBody>
      </p:sp>
      <p:sp>
        <p:nvSpPr>
          <p:cNvPr id="8" name="Text 5">
            <a:extLst>
              <a:ext uri="{FF2B5EF4-FFF2-40B4-BE49-F238E27FC236}">
                <a16:creationId xmlns:a16="http://schemas.microsoft.com/office/drawing/2014/main" id="{1206F79C-61DE-B6A3-A83D-18BEAEC0BC98}"/>
              </a:ext>
            </a:extLst>
          </p:cNvPr>
          <p:cNvSpPr/>
          <p:nvPr/>
        </p:nvSpPr>
        <p:spPr>
          <a:xfrm>
            <a:off x="5499013" y="1389888"/>
            <a:ext cx="4408668" cy="361188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if (error) return &lt;p style={{ color: 'red' }}&gt;{error}&lt;/p&gt;;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&lt;ul&gt;{posts.map(p =&gt; &lt;li key={p.id}&gt;{p.title}&lt;/li&gt;)}&lt;/ul&gt;;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cxnSp>
        <p:nvCxnSpPr>
          <p:cNvPr id="10" name="Straight Connector 9">
            <a:extLst>
              <a:ext uri="{FF2B5EF4-FFF2-40B4-BE49-F238E27FC236}">
                <a16:creationId xmlns:a16="http://schemas.microsoft.com/office/drawing/2014/main" id="{75759ED3-5088-32EB-627A-98EC391EA8D8}"/>
              </a:ext>
            </a:extLst>
          </p:cNvPr>
          <p:cNvCxnSpPr/>
          <p:nvPr/>
        </p:nvCxnSpPr>
        <p:spPr>
          <a:xfrm>
            <a:off x="5259421" y="1389888"/>
            <a:ext cx="50405" cy="338315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09</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JS Local Storage</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Persisting data in the browser even after page refresh.</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Local Storage – Persist Data in Browser</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457200"/>
          </a:xfrm>
          <a:prstGeom prst="rect">
            <a:avLst/>
          </a:prstGeom>
          <a:noFill/>
          <a:ln/>
        </p:spPr>
        <p:txBody>
          <a:bodyPr wrap="square" rtlCol="0" anchor="ctr"/>
          <a:lstStyle/>
          <a:p>
            <a:pPr marL="0" indent="0">
              <a:spcAft>
                <a:spcPts val="500"/>
              </a:spcAft>
              <a:buNone/>
            </a:pPr>
            <a:r>
              <a:rPr lang="en-US" sz="1400" dirty="0">
                <a:solidFill>
                  <a:srgbClr val="1E293B"/>
                </a:solidFill>
                <a:latin typeface="Calibri" pitchFamily="34" charset="0"/>
                <a:ea typeface="Calibri" pitchFamily="34" charset="-122"/>
                <a:cs typeface="Calibri" pitchFamily="34" charset="-120"/>
              </a:rPr>
              <a:t>Local Storage is a browser feature that allows you to store key-value pairs on the user's browser. Data persists even after the page is closed or refreshed — unlike React state which resets on reload.</a:t>
            </a:r>
            <a:endParaRPr lang="en-US" sz="1400" dirty="0"/>
          </a:p>
        </p:txBody>
      </p:sp>
      <p:sp>
        <p:nvSpPr>
          <p:cNvPr id="6" name="Text 4"/>
          <p:cNvSpPr/>
          <p:nvPr/>
        </p:nvSpPr>
        <p:spPr>
          <a:xfrm>
            <a:off x="201168" y="1353312"/>
            <a:ext cx="4251960" cy="274320"/>
          </a:xfrm>
          <a:prstGeom prst="rect">
            <a:avLst/>
          </a:prstGeom>
          <a:noFill/>
          <a:ln/>
        </p:spPr>
        <p:txBody>
          <a:bodyPr wrap="square" rtlCol="0" anchor="ctr"/>
          <a:lstStyle/>
          <a:p>
            <a:pPr marL="0" indent="0">
              <a:buNone/>
            </a:pPr>
            <a:r>
              <a:rPr lang="en-US" sz="1300" b="1" dirty="0">
                <a:solidFill>
                  <a:srgbClr val="0284C7"/>
                </a:solidFill>
                <a:latin typeface="Trebuchet MS" pitchFamily="34" charset="0"/>
                <a:ea typeface="Trebuchet MS" pitchFamily="34" charset="-122"/>
                <a:cs typeface="Trebuchet MS" pitchFamily="34" charset="-120"/>
              </a:rPr>
              <a:t>Local Storage API:</a:t>
            </a:r>
            <a:endParaRPr lang="en-US" sz="1300" dirty="0"/>
          </a:p>
        </p:txBody>
      </p:sp>
      <p:sp>
        <p:nvSpPr>
          <p:cNvPr id="7" name="Shape 5"/>
          <p:cNvSpPr/>
          <p:nvPr/>
        </p:nvSpPr>
        <p:spPr>
          <a:xfrm>
            <a:off x="201168" y="1664208"/>
            <a:ext cx="3942010" cy="228600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8" name="Text 6"/>
          <p:cNvSpPr/>
          <p:nvPr/>
        </p:nvSpPr>
        <p:spPr>
          <a:xfrm>
            <a:off x="310896" y="1755648"/>
            <a:ext cx="4032504" cy="210312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Store a value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localStorage.setItem('username', ‘Jeet');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Retrieve a value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const name = localStorage.getItem('username');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name = ‘Jeet'</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Remove a specific item</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localStorage.removeItem('username');</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Clear ALL local storage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localStorage.clear();</a:t>
            </a:r>
            <a:endParaRPr lang="en-US" sz="1100" dirty="0"/>
          </a:p>
        </p:txBody>
      </p:sp>
      <p:sp>
        <p:nvSpPr>
          <p:cNvPr id="9" name="Text 7"/>
          <p:cNvSpPr/>
          <p:nvPr/>
        </p:nvSpPr>
        <p:spPr>
          <a:xfrm>
            <a:off x="4681728" y="1353312"/>
            <a:ext cx="4251960" cy="274320"/>
          </a:xfrm>
          <a:prstGeom prst="rect">
            <a:avLst/>
          </a:prstGeom>
          <a:noFill/>
          <a:ln/>
        </p:spPr>
        <p:txBody>
          <a:bodyPr wrap="square" rtlCol="0" anchor="ctr"/>
          <a:lstStyle/>
          <a:p>
            <a:pPr marL="0" indent="0">
              <a:buNone/>
            </a:pPr>
            <a:r>
              <a:rPr lang="en-US" sz="1300" b="1" dirty="0">
                <a:solidFill>
                  <a:srgbClr val="0284C7"/>
                </a:solidFill>
                <a:latin typeface="Trebuchet MS" pitchFamily="34" charset="0"/>
                <a:ea typeface="Trebuchet MS" pitchFamily="34" charset="-122"/>
                <a:cs typeface="Trebuchet MS" pitchFamily="34" charset="-120"/>
              </a:rPr>
              <a:t>React + </a:t>
            </a:r>
            <a:r>
              <a:rPr lang="en-US" sz="1300" b="1">
                <a:solidFill>
                  <a:srgbClr val="0284C7"/>
                </a:solidFill>
                <a:latin typeface="Trebuchet MS" pitchFamily="34" charset="0"/>
                <a:ea typeface="Trebuchet MS" pitchFamily="34" charset="-122"/>
                <a:cs typeface="Trebuchet MS" pitchFamily="34" charset="-120"/>
              </a:rPr>
              <a:t>Local Storage:</a:t>
            </a:r>
            <a:endParaRPr lang="en-US" sz="1300" dirty="0"/>
          </a:p>
        </p:txBody>
      </p:sp>
      <p:sp>
        <p:nvSpPr>
          <p:cNvPr id="10" name="Shape 8"/>
          <p:cNvSpPr/>
          <p:nvPr/>
        </p:nvSpPr>
        <p:spPr>
          <a:xfrm>
            <a:off x="4252906" y="1664208"/>
            <a:ext cx="4680782" cy="2564892"/>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1" name="Text 9"/>
          <p:cNvSpPr/>
          <p:nvPr/>
        </p:nvSpPr>
        <p:spPr>
          <a:xfrm>
            <a:off x="4453128" y="1755648"/>
            <a:ext cx="4590288" cy="2564892"/>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function DarkModeToggle()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Load preference from localStorage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saved = localStorage.getItem('darkMode');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[dark, setDark] = useState(saved === 'true');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toggle = () =&gt;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newVal = !dark;</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setDark(newVal);</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 Save preference to localStorage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localStorage.setItem('darkMode', newVal);</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&lt;button onClick={toggle}&gt;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{dark ? '☀ Light Mode' : '🌙 Dark Mode'}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&lt;/button&gt;;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2" name="Shape 10"/>
          <p:cNvSpPr/>
          <p:nvPr/>
        </p:nvSpPr>
        <p:spPr>
          <a:xfrm>
            <a:off x="201168" y="4344339"/>
            <a:ext cx="8741664" cy="713232"/>
          </a:xfrm>
          <a:prstGeom prst="rect">
            <a:avLst/>
          </a:prstGeom>
          <a:solidFill>
            <a:srgbClr val="DBEAFE"/>
          </a:solidFill>
          <a:ln w="25400">
            <a:solidFill>
              <a:srgbClr val="0EA5E9"/>
            </a:solidFill>
            <a:prstDash val="solid"/>
          </a:ln>
          <a:effectLst>
            <a:outerShdw blurRad="101600" dist="38100" dir="8100000" algn="bl" rotWithShape="0">
              <a:srgbClr val="000000">
                <a:alpha val="12000"/>
              </a:srgbClr>
            </a:outerShdw>
          </a:effectLst>
        </p:spPr>
      </p:sp>
      <p:sp>
        <p:nvSpPr>
          <p:cNvPr id="13" name="Text 11"/>
          <p:cNvSpPr/>
          <p:nvPr/>
        </p:nvSpPr>
        <p:spPr>
          <a:xfrm>
            <a:off x="338328" y="4454067"/>
            <a:ext cx="8467344" cy="493776"/>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 Local Storage can only store strings. To store objects or arrays, use JSON.stringify() when saving and JSON.parse() when reading. Example: localStorage.setItem('cart', JSON.stringify(cartItems));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10</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Lifting State Up</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Sharing state between sibling components through a common parent.</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Lifting State Up – Concept &amp; Diagram</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04672"/>
          </a:xfrm>
          <a:prstGeom prst="rect">
            <a:avLst/>
          </a:prstGeom>
          <a:noFill/>
          <a:ln/>
        </p:spPr>
        <p:txBody>
          <a:bodyPr wrap="square" rtlCol="0" anchor="ctr"/>
          <a:lstStyle/>
          <a:p>
            <a:pPr marL="0" indent="0">
              <a:spcAft>
                <a:spcPts val="500"/>
              </a:spcAft>
              <a:buNone/>
            </a:pPr>
            <a:r>
              <a:rPr lang="en-US" sz="1400" dirty="0">
                <a:solidFill>
                  <a:srgbClr val="1E293B"/>
                </a:solidFill>
                <a:latin typeface="Calibri" pitchFamily="34" charset="0"/>
                <a:ea typeface="Calibri" pitchFamily="34" charset="-122"/>
                <a:cs typeface="Calibri" pitchFamily="34" charset="-120"/>
              </a:rPr>
              <a:t>When two sibling components need to share the same data, you cannot pass data directly between them. The solution is to move (lift) the shared state up to their common parent component.</a:t>
            </a:r>
            <a:endParaRPr lang="en-US" sz="1400" dirty="0"/>
          </a:p>
          <a:p>
            <a:pPr marL="0" indent="0">
              <a:spcAft>
                <a:spcPts val="500"/>
              </a:spcAft>
              <a:buNone/>
            </a:pPr>
            <a:r>
              <a:rPr lang="en-US" sz="1400" dirty="0">
                <a:solidFill>
                  <a:srgbClr val="1E293B"/>
                </a:solidFill>
                <a:latin typeface="Calibri" pitchFamily="34" charset="0"/>
                <a:ea typeface="Calibri" pitchFamily="34" charset="-122"/>
                <a:cs typeface="Calibri" pitchFamily="34" charset="-120"/>
              </a:rPr>
              <a:t>The parent holds the state and passes it down as props to both children. Children can also call callback functions (received as props) to update the parent's state.</a:t>
            </a:r>
            <a:endParaRPr lang="en-US" sz="1400" dirty="0"/>
          </a:p>
        </p:txBody>
      </p:sp>
      <p:sp>
        <p:nvSpPr>
          <p:cNvPr id="6" name="Shape 4"/>
          <p:cNvSpPr/>
          <p:nvPr/>
        </p:nvSpPr>
        <p:spPr>
          <a:xfrm>
            <a:off x="3474720" y="1719072"/>
            <a:ext cx="2194560" cy="502920"/>
          </a:xfrm>
          <a:prstGeom prst="rect">
            <a:avLst/>
          </a:prstGeom>
          <a:solidFill>
            <a:srgbClr val="1B3A5C"/>
          </a:solidFill>
          <a:ln w="12700">
            <a:solidFill>
              <a:srgbClr val="1B3A5C"/>
            </a:solidFill>
            <a:prstDash val="solid"/>
          </a:ln>
          <a:effectLst>
            <a:outerShdw blurRad="101600" dist="38100" dir="8100000" algn="bl" rotWithShape="0">
              <a:srgbClr val="000000">
                <a:alpha val="12000"/>
              </a:srgbClr>
            </a:outerShdw>
          </a:effectLst>
        </p:spPr>
      </p:sp>
      <p:sp>
        <p:nvSpPr>
          <p:cNvPr id="7" name="Text 5"/>
          <p:cNvSpPr/>
          <p:nvPr/>
        </p:nvSpPr>
        <p:spPr>
          <a:xfrm>
            <a:off x="3474720" y="1719072"/>
            <a:ext cx="219456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Parent (App)</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holds state</a:t>
            </a:r>
            <a:endParaRPr lang="en-US" sz="1100" dirty="0"/>
          </a:p>
        </p:txBody>
      </p:sp>
      <p:sp>
        <p:nvSpPr>
          <p:cNvPr id="8" name="Shape 6"/>
          <p:cNvSpPr/>
          <p:nvPr/>
        </p:nvSpPr>
        <p:spPr>
          <a:xfrm>
            <a:off x="3730752" y="2221992"/>
            <a:ext cx="0" cy="502920"/>
          </a:xfrm>
          <a:prstGeom prst="line">
            <a:avLst/>
          </a:prstGeom>
          <a:noFill/>
          <a:ln w="25400">
            <a:solidFill>
              <a:srgbClr val="0EA5E9"/>
            </a:solidFill>
            <a:prstDash val="solid"/>
          </a:ln>
        </p:spPr>
      </p:sp>
      <p:sp>
        <p:nvSpPr>
          <p:cNvPr id="9" name="Shape 7"/>
          <p:cNvSpPr/>
          <p:nvPr/>
        </p:nvSpPr>
        <p:spPr>
          <a:xfrm>
            <a:off x="5413248" y="2221992"/>
            <a:ext cx="0" cy="502920"/>
          </a:xfrm>
          <a:prstGeom prst="line">
            <a:avLst/>
          </a:prstGeom>
          <a:noFill/>
          <a:ln w="25400">
            <a:solidFill>
              <a:srgbClr val="0EA5E9"/>
            </a:solidFill>
            <a:prstDash val="solid"/>
          </a:ln>
        </p:spPr>
      </p:sp>
      <p:sp>
        <p:nvSpPr>
          <p:cNvPr id="10" name="Shape 8"/>
          <p:cNvSpPr/>
          <p:nvPr/>
        </p:nvSpPr>
        <p:spPr>
          <a:xfrm>
            <a:off x="1371600" y="2447448"/>
            <a:ext cx="2560320" cy="474061"/>
          </a:xfrm>
          <a:prstGeom prst="rect">
            <a:avLst/>
          </a:prstGeom>
          <a:solidFill>
            <a:srgbClr val="0284C7"/>
          </a:solidFill>
          <a:ln w="12700">
            <a:solidFill>
              <a:srgbClr val="0284C7"/>
            </a:solidFill>
            <a:prstDash val="solid"/>
          </a:ln>
          <a:effectLst>
            <a:outerShdw blurRad="101600" dist="38100" dir="8100000" algn="bl" rotWithShape="0">
              <a:srgbClr val="000000">
                <a:alpha val="12000"/>
              </a:srgbClr>
            </a:outerShdw>
          </a:effectLst>
        </p:spPr>
      </p:sp>
      <p:sp>
        <p:nvSpPr>
          <p:cNvPr id="11" name="Text 9"/>
          <p:cNvSpPr/>
          <p:nvPr/>
        </p:nvSpPr>
        <p:spPr>
          <a:xfrm>
            <a:off x="1371600" y="2447448"/>
            <a:ext cx="256032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Child 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(Input)</a:t>
            </a:r>
            <a:endParaRPr lang="en-US" sz="1100" dirty="0"/>
          </a:p>
        </p:txBody>
      </p:sp>
      <p:sp>
        <p:nvSpPr>
          <p:cNvPr id="12" name="Shape 10"/>
          <p:cNvSpPr/>
          <p:nvPr/>
        </p:nvSpPr>
        <p:spPr>
          <a:xfrm>
            <a:off x="5212080" y="2447448"/>
            <a:ext cx="2560320" cy="474061"/>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sp>
      <p:sp>
        <p:nvSpPr>
          <p:cNvPr id="13" name="Text 11"/>
          <p:cNvSpPr/>
          <p:nvPr/>
        </p:nvSpPr>
        <p:spPr>
          <a:xfrm>
            <a:off x="5212080" y="2447448"/>
            <a:ext cx="256032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Child B</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(Display)</a:t>
            </a:r>
            <a:endParaRPr lang="en-US" sz="1100" dirty="0"/>
          </a:p>
        </p:txBody>
      </p:sp>
      <p:sp>
        <p:nvSpPr>
          <p:cNvPr id="14" name="Text 12"/>
          <p:cNvSpPr/>
          <p:nvPr/>
        </p:nvSpPr>
        <p:spPr>
          <a:xfrm>
            <a:off x="1371600" y="2965205"/>
            <a:ext cx="2560320" cy="274320"/>
          </a:xfrm>
          <a:prstGeom prst="rect">
            <a:avLst/>
          </a:prstGeom>
          <a:noFill/>
          <a:ln/>
        </p:spPr>
        <p:txBody>
          <a:bodyPr wrap="square"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onChange callback ↑</a:t>
            </a:r>
            <a:endParaRPr lang="en-US" sz="1000" dirty="0"/>
          </a:p>
        </p:txBody>
      </p:sp>
      <p:sp>
        <p:nvSpPr>
          <p:cNvPr id="15" name="Text 13"/>
          <p:cNvSpPr/>
          <p:nvPr/>
        </p:nvSpPr>
        <p:spPr>
          <a:xfrm>
            <a:off x="5239512" y="2958890"/>
            <a:ext cx="2560320" cy="274320"/>
          </a:xfrm>
          <a:prstGeom prst="rect">
            <a:avLst/>
          </a:prstGeom>
          <a:noFill/>
          <a:ln/>
        </p:spPr>
        <p:txBody>
          <a:bodyPr wrap="square" rtlCol="0" anchor="ctr"/>
          <a:lstStyle/>
          <a:p>
            <a:pPr marL="0" indent="0" algn="ctr">
              <a:buNone/>
            </a:pPr>
            <a:r>
              <a:rPr lang="en-US" sz="1000" i="1" dirty="0">
                <a:solidFill>
                  <a:srgbClr val="0EA5E9"/>
                </a:solidFill>
                <a:latin typeface="Calibri" pitchFamily="34" charset="0"/>
                <a:ea typeface="Calibri" pitchFamily="34" charset="-122"/>
                <a:cs typeface="Calibri" pitchFamily="34" charset="-120"/>
              </a:rPr>
              <a:t>value as prop ↓</a:t>
            </a:r>
            <a:endParaRPr lang="en-US" sz="1000" dirty="0"/>
          </a:p>
        </p:txBody>
      </p:sp>
      <p:sp>
        <p:nvSpPr>
          <p:cNvPr id="16" name="Shape 14"/>
          <p:cNvSpPr/>
          <p:nvPr/>
        </p:nvSpPr>
        <p:spPr>
          <a:xfrm>
            <a:off x="201168" y="3317065"/>
            <a:ext cx="8741664" cy="1776143"/>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17" name="Text 15"/>
          <p:cNvSpPr/>
          <p:nvPr/>
        </p:nvSpPr>
        <p:spPr>
          <a:xfrm>
            <a:off x="310896" y="3346564"/>
            <a:ext cx="4210654" cy="145704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Parent holds state and passes to both children</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App()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const [text, setText] = useState('');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&lt;InputBox onChange={setText} /&gt;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&lt;DisplayBox value={text} /&gt;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8" name="Text 15">
            <a:extLst>
              <a:ext uri="{FF2B5EF4-FFF2-40B4-BE49-F238E27FC236}">
                <a16:creationId xmlns:a16="http://schemas.microsoft.com/office/drawing/2014/main" id="{5277C6A8-4875-643C-FA45-79D133F06DA6}"/>
              </a:ext>
            </a:extLst>
          </p:cNvPr>
          <p:cNvSpPr/>
          <p:nvPr/>
        </p:nvSpPr>
        <p:spPr>
          <a:xfrm>
            <a:off x="4707369" y="3461617"/>
            <a:ext cx="4210654" cy="1905455"/>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function InputBox({ onChange })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&lt;input onChange={e =&gt; onChange(e.target.value)} /&gt;;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DisplayBox({ value })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&lt;p&gt;You typed: {value}&lt;/p&gt;;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cxnSp>
        <p:nvCxnSpPr>
          <p:cNvPr id="20" name="Straight Connector 19">
            <a:extLst>
              <a:ext uri="{FF2B5EF4-FFF2-40B4-BE49-F238E27FC236}">
                <a16:creationId xmlns:a16="http://schemas.microsoft.com/office/drawing/2014/main" id="{A8740776-7CA5-5AE9-4205-49939A915942}"/>
              </a:ext>
            </a:extLst>
          </p:cNvPr>
          <p:cNvCxnSpPr/>
          <p:nvPr/>
        </p:nvCxnSpPr>
        <p:spPr>
          <a:xfrm>
            <a:off x="4395426" y="3461617"/>
            <a:ext cx="0" cy="1394162"/>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7200" b="1" dirty="0">
                <a:solidFill>
                  <a:srgbClr val="0D3A5C"/>
                </a:solidFill>
                <a:latin typeface="Trebuchet MS" pitchFamily="34" charset="0"/>
                <a:ea typeface="Trebuchet MS" pitchFamily="34" charset="-122"/>
                <a:cs typeface="Trebuchet MS" pitchFamily="34" charset="-120"/>
              </a:rPr>
              <a:t>11</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Composition &amp; Inheritance</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600" dirty="0">
                <a:solidFill>
                  <a:srgbClr val="A0C4E8"/>
                </a:solidFill>
                <a:latin typeface="Calibri" pitchFamily="34" charset="0"/>
                <a:ea typeface="Calibri" pitchFamily="34" charset="-122"/>
                <a:cs typeface="Calibri" pitchFamily="34" charset="-120"/>
              </a:rPr>
              <a:t>How React recommends building flexible, reusable components.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Composition vs Inheritance</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04672"/>
          </a:xfrm>
          <a:prstGeom prst="rect">
            <a:avLst/>
          </a:prstGeom>
          <a:noFill/>
          <a:ln/>
        </p:spPr>
        <p:txBody>
          <a:bodyPr wrap="square" rtlCol="0" anchor="ctr"/>
          <a:lstStyle/>
          <a:p>
            <a:pPr marL="0" indent="0">
              <a:spcAft>
                <a:spcPts val="500"/>
              </a:spcAft>
              <a:buNone/>
            </a:pPr>
            <a:r>
              <a:rPr lang="en-US" sz="1400" dirty="0">
                <a:solidFill>
                  <a:srgbClr val="1E293B"/>
                </a:solidFill>
                <a:latin typeface="Calibri" pitchFamily="34" charset="0"/>
                <a:ea typeface="Calibri" pitchFamily="34" charset="-122"/>
                <a:cs typeface="Calibri" pitchFamily="34" charset="-120"/>
              </a:rPr>
              <a:t>Composition means building components by combining smaller components together — like assembling LEGO pieces. Inheritance (OOP concept) is NOT recommended in React.</a:t>
            </a:r>
            <a:endParaRPr lang="en-US" sz="1400" dirty="0"/>
          </a:p>
          <a:p>
            <a:pPr marL="0" indent="0">
              <a:spcAft>
                <a:spcPts val="500"/>
              </a:spcAft>
              <a:buNone/>
            </a:pPr>
            <a:r>
              <a:rPr lang="en-US" sz="1400" dirty="0">
                <a:solidFill>
                  <a:srgbClr val="1E293B"/>
                </a:solidFill>
                <a:latin typeface="Calibri" pitchFamily="34" charset="0"/>
                <a:ea typeface="Calibri" pitchFamily="34" charset="-122"/>
                <a:cs typeface="Calibri" pitchFamily="34" charset="-120"/>
              </a:rPr>
              <a:t>React officially recommends Composition over Inheritance. Instead of extending a base class, you pass components as props (children) to build flexible UIs.</a:t>
            </a:r>
            <a:endParaRPr lang="en-US" sz="1400" dirty="0"/>
          </a:p>
        </p:txBody>
      </p:sp>
      <p:sp>
        <p:nvSpPr>
          <p:cNvPr id="6" name="Text 4"/>
          <p:cNvSpPr/>
          <p:nvPr/>
        </p:nvSpPr>
        <p:spPr>
          <a:xfrm>
            <a:off x="201168" y="1700784"/>
            <a:ext cx="4251960" cy="274320"/>
          </a:xfrm>
          <a:prstGeom prst="rect">
            <a:avLst/>
          </a:prstGeom>
          <a:noFill/>
          <a:ln/>
        </p:spPr>
        <p:txBody>
          <a:bodyPr wrap="square" rtlCol="0" anchor="ctr"/>
          <a:lstStyle/>
          <a:p>
            <a:pPr marL="0" indent="0">
              <a:buNone/>
            </a:pPr>
            <a:r>
              <a:rPr lang="en-US" sz="1300" b="1" dirty="0">
                <a:solidFill>
                  <a:srgbClr val="0284C7"/>
                </a:solidFill>
                <a:latin typeface="Trebuchet MS" pitchFamily="34" charset="0"/>
                <a:ea typeface="Trebuchet MS" pitchFamily="34" charset="-122"/>
                <a:cs typeface="Trebuchet MS" pitchFamily="34" charset="-120"/>
              </a:rPr>
              <a:t>Composition using children prop:</a:t>
            </a:r>
            <a:endParaRPr lang="en-US" sz="1300" dirty="0"/>
          </a:p>
        </p:txBody>
      </p:sp>
      <p:sp>
        <p:nvSpPr>
          <p:cNvPr id="7" name="Shape 5"/>
          <p:cNvSpPr/>
          <p:nvPr/>
        </p:nvSpPr>
        <p:spPr>
          <a:xfrm>
            <a:off x="201168" y="2011680"/>
            <a:ext cx="4251960" cy="2926080"/>
          </a:xfrm>
          <a:prstGeom prst="rect">
            <a:avLst/>
          </a:prstGeom>
          <a:solidFill>
            <a:srgbClr val="1E293B"/>
          </a:solidFill>
          <a:ln w="12700">
            <a:solidFill>
              <a:srgbClr val="0284C7"/>
            </a:solidFill>
            <a:prstDash val="solid"/>
          </a:ln>
          <a:effectLst>
            <a:outerShdw blurRad="101600" dist="38100" dir="8100000" algn="bl" rotWithShape="0">
              <a:srgbClr val="000000">
                <a:alpha val="12000"/>
              </a:srgbClr>
            </a:outerShdw>
          </a:effectLst>
        </p:spPr>
      </p:sp>
      <p:sp>
        <p:nvSpPr>
          <p:cNvPr id="8" name="Text 6"/>
          <p:cNvSpPr/>
          <p:nvPr/>
        </p:nvSpPr>
        <p:spPr>
          <a:xfrm>
            <a:off x="274320" y="2103120"/>
            <a:ext cx="4142232" cy="274320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Card is a generic container component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Card({ children, title })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    &lt;div className='card'&gt;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&lt;h2&gt;{title}&lt;/h2&gt;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 className='card-body'&gt;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{children}  {/* Renders whatever is inside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&lt;/div&gt;  &lt;/div&gt;  ); }</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Usage – compose with different content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function App()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return (    &lt;Card title='Student Info'&gt;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&lt;p&gt;Name: Amit&lt;/p&gt;    &lt;p&gt;Course: MCA&lt;/p&gt;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&lt;button&gt;View Profile&lt;/button&gt;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&lt;/Card&gt;  );</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9" name="Shape 7"/>
          <p:cNvSpPr/>
          <p:nvPr/>
        </p:nvSpPr>
        <p:spPr>
          <a:xfrm>
            <a:off x="4663440" y="1700784"/>
            <a:ext cx="4297680" cy="3236976"/>
          </a:xfrm>
          <a:prstGeom prst="rect">
            <a:avLst/>
          </a:prstGeom>
          <a:solidFill>
            <a:srgbClr val="0D1B2A"/>
          </a:solidFill>
          <a:ln w="12700">
            <a:solidFill>
              <a:srgbClr val="0EA5E9"/>
            </a:solidFill>
            <a:prstDash val="solid"/>
          </a:ln>
          <a:effectLst>
            <a:outerShdw blurRad="101600" dist="38100" dir="8100000" algn="bl" rotWithShape="0">
              <a:srgbClr val="000000">
                <a:alpha val="12000"/>
              </a:srgbClr>
            </a:outerShdw>
          </a:effectLst>
        </p:spPr>
      </p:sp>
      <p:sp>
        <p:nvSpPr>
          <p:cNvPr id="10" name="Text 8"/>
          <p:cNvSpPr/>
          <p:nvPr/>
        </p:nvSpPr>
        <p:spPr>
          <a:xfrm>
            <a:off x="4754880" y="1755648"/>
            <a:ext cx="4114800" cy="320040"/>
          </a:xfrm>
          <a:prstGeom prst="rect">
            <a:avLst/>
          </a:prstGeom>
          <a:noFill/>
          <a:ln/>
        </p:spPr>
        <p:txBody>
          <a:bodyPr wrap="square" rtlCol="0" anchor="ctr"/>
          <a:lstStyle/>
          <a:p>
            <a:pPr marL="0" indent="0" algn="ctr">
              <a:buNone/>
            </a:pPr>
            <a:r>
              <a:rPr lang="en-US" sz="1300" b="1" dirty="0">
                <a:solidFill>
                  <a:srgbClr val="0EA5E9"/>
                </a:solidFill>
                <a:latin typeface="Trebuchet MS" pitchFamily="34" charset="0"/>
                <a:ea typeface="Trebuchet MS" pitchFamily="34" charset="-122"/>
                <a:cs typeface="Trebuchet MS" pitchFamily="34" charset="-120"/>
              </a:rPr>
              <a:t>Why NOT Inheritance?</a:t>
            </a:r>
            <a:endParaRPr lang="en-US" sz="1300" dirty="0"/>
          </a:p>
        </p:txBody>
      </p:sp>
      <p:sp>
        <p:nvSpPr>
          <p:cNvPr id="11" name="Text 9"/>
          <p:cNvSpPr/>
          <p:nvPr/>
        </p:nvSpPr>
        <p:spPr>
          <a:xfrm>
            <a:off x="4754880" y="2176272"/>
            <a:ext cx="1371600" cy="347472"/>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Tight coupling</a:t>
            </a:r>
            <a:endParaRPr lang="en-US" sz="1100" dirty="0"/>
          </a:p>
        </p:txBody>
      </p:sp>
      <p:sp>
        <p:nvSpPr>
          <p:cNvPr id="12" name="Text 10"/>
          <p:cNvSpPr/>
          <p:nvPr/>
        </p:nvSpPr>
        <p:spPr>
          <a:xfrm>
            <a:off x="6172200" y="2176272"/>
            <a:ext cx="265176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Child class depends heavily on parent</a:t>
            </a:r>
            <a:endParaRPr lang="en-US" sz="1100" dirty="0"/>
          </a:p>
        </p:txBody>
      </p:sp>
      <p:sp>
        <p:nvSpPr>
          <p:cNvPr id="13" name="Text 11"/>
          <p:cNvSpPr/>
          <p:nvPr/>
        </p:nvSpPr>
        <p:spPr>
          <a:xfrm>
            <a:off x="4754880" y="2633472"/>
            <a:ext cx="1371600" cy="347472"/>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Hard to change</a:t>
            </a:r>
            <a:endParaRPr lang="en-US" sz="1100" dirty="0"/>
          </a:p>
        </p:txBody>
      </p:sp>
      <p:sp>
        <p:nvSpPr>
          <p:cNvPr id="14" name="Text 12"/>
          <p:cNvSpPr/>
          <p:nvPr/>
        </p:nvSpPr>
        <p:spPr>
          <a:xfrm>
            <a:off x="6172200" y="2633472"/>
            <a:ext cx="265176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Changing base breaks derived classes</a:t>
            </a:r>
            <a:endParaRPr lang="en-US" sz="1100" dirty="0"/>
          </a:p>
        </p:txBody>
      </p:sp>
      <p:sp>
        <p:nvSpPr>
          <p:cNvPr id="15" name="Text 13"/>
          <p:cNvSpPr/>
          <p:nvPr/>
        </p:nvSpPr>
        <p:spPr>
          <a:xfrm>
            <a:off x="4754880" y="3090672"/>
            <a:ext cx="1371600" cy="347472"/>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Deep hierarchies</a:t>
            </a:r>
            <a:endParaRPr lang="en-US" sz="1100" dirty="0"/>
          </a:p>
        </p:txBody>
      </p:sp>
      <p:sp>
        <p:nvSpPr>
          <p:cNvPr id="16" name="Text 14"/>
          <p:cNvSpPr/>
          <p:nvPr/>
        </p:nvSpPr>
        <p:spPr>
          <a:xfrm>
            <a:off x="6172200" y="3090672"/>
            <a:ext cx="265176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Multiple inheritance levels = confusion</a:t>
            </a:r>
            <a:endParaRPr lang="en-US" sz="1100" dirty="0"/>
          </a:p>
        </p:txBody>
      </p:sp>
      <p:sp>
        <p:nvSpPr>
          <p:cNvPr id="17" name="Text 15"/>
          <p:cNvSpPr/>
          <p:nvPr/>
        </p:nvSpPr>
        <p:spPr>
          <a:xfrm>
            <a:off x="4754880" y="3547872"/>
            <a:ext cx="1371600" cy="347472"/>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Composition wins</a:t>
            </a:r>
            <a:endParaRPr lang="en-US" sz="1100" dirty="0"/>
          </a:p>
        </p:txBody>
      </p:sp>
      <p:sp>
        <p:nvSpPr>
          <p:cNvPr id="18" name="Text 16"/>
          <p:cNvSpPr/>
          <p:nvPr/>
        </p:nvSpPr>
        <p:spPr>
          <a:xfrm>
            <a:off x="6172200" y="3547872"/>
            <a:ext cx="265176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Components are loosely coupled</a:t>
            </a:r>
            <a:endParaRPr lang="en-US" sz="1100" dirty="0"/>
          </a:p>
        </p:txBody>
      </p:sp>
      <p:sp>
        <p:nvSpPr>
          <p:cNvPr id="19" name="Text 17"/>
          <p:cNvSpPr/>
          <p:nvPr/>
        </p:nvSpPr>
        <p:spPr>
          <a:xfrm>
            <a:off x="4754880" y="4005072"/>
            <a:ext cx="1371600" cy="347472"/>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More flexible</a:t>
            </a:r>
            <a:endParaRPr lang="en-US" sz="1100" dirty="0"/>
          </a:p>
        </p:txBody>
      </p:sp>
      <p:sp>
        <p:nvSpPr>
          <p:cNvPr id="20" name="Text 18"/>
          <p:cNvSpPr/>
          <p:nvPr/>
        </p:nvSpPr>
        <p:spPr>
          <a:xfrm>
            <a:off x="6172200" y="4005072"/>
            <a:ext cx="265176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Combine any components freely</a:t>
            </a:r>
            <a:endParaRPr lang="en-US" sz="1100" dirty="0"/>
          </a:p>
        </p:txBody>
      </p:sp>
      <p:sp>
        <p:nvSpPr>
          <p:cNvPr id="21" name="Text 19"/>
          <p:cNvSpPr/>
          <p:nvPr/>
        </p:nvSpPr>
        <p:spPr>
          <a:xfrm>
            <a:off x="4754880" y="4462272"/>
            <a:ext cx="1371600" cy="347472"/>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React's approach</a:t>
            </a:r>
            <a:endParaRPr lang="en-US" sz="1100" dirty="0"/>
          </a:p>
        </p:txBody>
      </p:sp>
      <p:sp>
        <p:nvSpPr>
          <p:cNvPr id="22" name="Text 20"/>
          <p:cNvSpPr/>
          <p:nvPr/>
        </p:nvSpPr>
        <p:spPr>
          <a:xfrm>
            <a:off x="6172200" y="4462272"/>
            <a:ext cx="265176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Facebook recommends this pattern</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Unit 4 – Summary of Key Concepts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Shape 3"/>
          <p:cNvSpPr/>
          <p:nvPr/>
        </p:nvSpPr>
        <p:spPr>
          <a:xfrm>
            <a:off x="201168" y="841248"/>
            <a:ext cx="4297680" cy="749808"/>
          </a:xfrm>
          <a:prstGeom prst="rect">
            <a:avLst/>
          </a:prstGeom>
          <a:solidFill>
            <a:srgbClr val="EBF4FB"/>
          </a:solidFill>
          <a:ln w="12700">
            <a:solidFill>
              <a:srgbClr val="0EA5E9"/>
            </a:solidFill>
            <a:prstDash val="solid"/>
          </a:ln>
          <a:effectLst>
            <a:outerShdw blurRad="101600" dist="38100" dir="8100000" algn="bl" rotWithShape="0">
              <a:srgbClr val="000000">
                <a:alpha val="12000"/>
              </a:srgbClr>
            </a:outerShdw>
          </a:effectLst>
        </p:spPr>
      </p:sp>
      <p:sp>
        <p:nvSpPr>
          <p:cNvPr id="6" name="Shape 4"/>
          <p:cNvSpPr/>
          <p:nvPr/>
        </p:nvSpPr>
        <p:spPr>
          <a:xfrm>
            <a:off x="201168" y="841248"/>
            <a:ext cx="54864" cy="749808"/>
          </a:xfrm>
          <a:prstGeom prst="rect">
            <a:avLst/>
          </a:prstGeom>
          <a:solidFill>
            <a:srgbClr val="0284C7"/>
          </a:solidFill>
          <a:ln w="12700">
            <a:solidFill>
              <a:srgbClr val="0284C7"/>
            </a:solidFill>
            <a:prstDash val="solid"/>
          </a:ln>
        </p:spPr>
      </p:sp>
      <p:sp>
        <p:nvSpPr>
          <p:cNvPr id="7" name="Text 5"/>
          <p:cNvSpPr/>
          <p:nvPr/>
        </p:nvSpPr>
        <p:spPr>
          <a:xfrm>
            <a:off x="338328" y="896112"/>
            <a:ext cx="4069080" cy="256032"/>
          </a:xfrm>
          <a:prstGeom prst="rect">
            <a:avLst/>
          </a:prstGeom>
          <a:noFill/>
          <a:ln/>
        </p:spPr>
        <p:txBody>
          <a:bodyPr wrap="square" rtlCol="0" anchor="ctr"/>
          <a:lstStyle/>
          <a:p>
            <a:pPr marL="0" indent="0">
              <a:buNone/>
            </a:pPr>
            <a:r>
              <a:rPr lang="en-US" sz="1200" b="1" dirty="0">
                <a:solidFill>
                  <a:srgbClr val="1B3A5C"/>
                </a:solidFill>
                <a:latin typeface="Trebuchet MS" pitchFamily="34" charset="0"/>
                <a:ea typeface="Trebuchet MS" pitchFamily="34" charset="-122"/>
                <a:cs typeface="Trebuchet MS" pitchFamily="34" charset="-120"/>
              </a:rPr>
              <a:t>⚛ React JS</a:t>
            </a:r>
            <a:endParaRPr lang="en-US" sz="1200" dirty="0"/>
          </a:p>
        </p:txBody>
      </p:sp>
      <p:sp>
        <p:nvSpPr>
          <p:cNvPr id="8" name="Text 6"/>
          <p:cNvSpPr/>
          <p:nvPr/>
        </p:nvSpPr>
        <p:spPr>
          <a:xfrm>
            <a:off x="338328" y="1170432"/>
            <a:ext cx="406908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 JavaScript library for building fast, component-based UIs. Uses Virtual DOM for efficiency.</a:t>
            </a:r>
            <a:endParaRPr lang="en-US" sz="1100" dirty="0"/>
          </a:p>
        </p:txBody>
      </p:sp>
      <p:sp>
        <p:nvSpPr>
          <p:cNvPr id="9" name="Shape 7"/>
          <p:cNvSpPr/>
          <p:nvPr/>
        </p:nvSpPr>
        <p:spPr>
          <a:xfrm>
            <a:off x="4681728" y="841248"/>
            <a:ext cx="4297680" cy="749808"/>
          </a:xfrm>
          <a:prstGeom prst="rect">
            <a:avLst/>
          </a:prstGeom>
          <a:solidFill>
            <a:srgbClr val="EBF4FB"/>
          </a:solidFill>
          <a:ln w="12700">
            <a:solidFill>
              <a:srgbClr val="0EA5E9"/>
            </a:solidFill>
            <a:prstDash val="solid"/>
          </a:ln>
          <a:effectLst>
            <a:outerShdw blurRad="101600" dist="38100" dir="8100000" algn="bl" rotWithShape="0">
              <a:srgbClr val="000000">
                <a:alpha val="12000"/>
              </a:srgbClr>
            </a:outerShdw>
          </a:effectLst>
        </p:spPr>
      </p:sp>
      <p:sp>
        <p:nvSpPr>
          <p:cNvPr id="10" name="Shape 8"/>
          <p:cNvSpPr/>
          <p:nvPr/>
        </p:nvSpPr>
        <p:spPr>
          <a:xfrm>
            <a:off x="4681728" y="841248"/>
            <a:ext cx="54864" cy="749808"/>
          </a:xfrm>
          <a:prstGeom prst="rect">
            <a:avLst/>
          </a:prstGeom>
          <a:solidFill>
            <a:srgbClr val="0284C7"/>
          </a:solidFill>
          <a:ln w="12700">
            <a:solidFill>
              <a:srgbClr val="0284C7"/>
            </a:solidFill>
            <a:prstDash val="solid"/>
          </a:ln>
        </p:spPr>
      </p:sp>
      <p:sp>
        <p:nvSpPr>
          <p:cNvPr id="11" name="Text 9"/>
          <p:cNvSpPr/>
          <p:nvPr/>
        </p:nvSpPr>
        <p:spPr>
          <a:xfrm>
            <a:off x="4818888" y="896112"/>
            <a:ext cx="4069080" cy="256032"/>
          </a:xfrm>
          <a:prstGeom prst="rect">
            <a:avLst/>
          </a:prstGeom>
          <a:noFill/>
          <a:ln/>
        </p:spPr>
        <p:txBody>
          <a:bodyPr wrap="square" rtlCol="0" anchor="ctr"/>
          <a:lstStyle/>
          <a:p>
            <a:pPr marL="0" indent="0">
              <a:buNone/>
            </a:pPr>
            <a:r>
              <a:rPr lang="en-US" sz="1200" b="1" dirty="0">
                <a:solidFill>
                  <a:srgbClr val="1B3A5C"/>
                </a:solidFill>
                <a:latin typeface="Trebuchet MS" pitchFamily="34" charset="0"/>
                <a:ea typeface="Trebuchet MS" pitchFamily="34" charset="-122"/>
                <a:cs typeface="Trebuchet MS" pitchFamily="34" charset="-120"/>
              </a:rPr>
              <a:t>🗂 ReactDOM &amp; JSX</a:t>
            </a:r>
            <a:endParaRPr lang="en-US" sz="1200" dirty="0"/>
          </a:p>
        </p:txBody>
      </p:sp>
      <p:sp>
        <p:nvSpPr>
          <p:cNvPr id="12" name="Text 10"/>
          <p:cNvSpPr/>
          <p:nvPr/>
        </p:nvSpPr>
        <p:spPr>
          <a:xfrm>
            <a:off x="4818888" y="1170432"/>
            <a:ext cx="406908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ReactDOM connects React to the browser. JSX is HTML-like syntax inside JavaScript (transpiled by Babel).</a:t>
            </a:r>
            <a:endParaRPr lang="en-US" sz="1100" dirty="0"/>
          </a:p>
        </p:txBody>
      </p:sp>
      <p:sp>
        <p:nvSpPr>
          <p:cNvPr id="13" name="Shape 11"/>
          <p:cNvSpPr/>
          <p:nvPr/>
        </p:nvSpPr>
        <p:spPr>
          <a:xfrm>
            <a:off x="201168" y="1691640"/>
            <a:ext cx="4297680" cy="749808"/>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14" name="Shape 12"/>
          <p:cNvSpPr/>
          <p:nvPr/>
        </p:nvSpPr>
        <p:spPr>
          <a:xfrm>
            <a:off x="201168" y="1691640"/>
            <a:ext cx="54864" cy="749808"/>
          </a:xfrm>
          <a:prstGeom prst="rect">
            <a:avLst/>
          </a:prstGeom>
          <a:solidFill>
            <a:srgbClr val="0284C7"/>
          </a:solidFill>
          <a:ln w="12700">
            <a:solidFill>
              <a:srgbClr val="0284C7"/>
            </a:solidFill>
            <a:prstDash val="solid"/>
          </a:ln>
        </p:spPr>
      </p:sp>
      <p:sp>
        <p:nvSpPr>
          <p:cNvPr id="15" name="Text 13"/>
          <p:cNvSpPr/>
          <p:nvPr/>
        </p:nvSpPr>
        <p:spPr>
          <a:xfrm>
            <a:off x="338328" y="1746504"/>
            <a:ext cx="4069080" cy="256032"/>
          </a:xfrm>
          <a:prstGeom prst="rect">
            <a:avLst/>
          </a:prstGeom>
          <a:noFill/>
          <a:ln/>
        </p:spPr>
        <p:txBody>
          <a:bodyPr wrap="square" rtlCol="0" anchor="ctr"/>
          <a:lstStyle/>
          <a:p>
            <a:pPr marL="0" indent="0">
              <a:buNone/>
            </a:pPr>
            <a:r>
              <a:rPr lang="en-US" sz="1200" b="1" dirty="0">
                <a:solidFill>
                  <a:srgbClr val="1B3A5C"/>
                </a:solidFill>
                <a:latin typeface="Trebuchet MS" pitchFamily="34" charset="0"/>
                <a:ea typeface="Trebuchet MS" pitchFamily="34" charset="-122"/>
                <a:cs typeface="Trebuchet MS" pitchFamily="34" charset="-120"/>
              </a:rPr>
              <a:t>🧱 Components</a:t>
            </a:r>
            <a:endParaRPr lang="en-US" sz="1200" dirty="0"/>
          </a:p>
        </p:txBody>
      </p:sp>
      <p:sp>
        <p:nvSpPr>
          <p:cNvPr id="16" name="Text 14"/>
          <p:cNvSpPr/>
          <p:nvPr/>
        </p:nvSpPr>
        <p:spPr>
          <a:xfrm>
            <a:off x="338328" y="2020824"/>
            <a:ext cx="406908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Reusable, independent pieces of UI. Functional components (modern) or Class components (legacy).</a:t>
            </a:r>
            <a:endParaRPr lang="en-US" sz="1100" dirty="0"/>
          </a:p>
        </p:txBody>
      </p:sp>
      <p:sp>
        <p:nvSpPr>
          <p:cNvPr id="17" name="Shape 15"/>
          <p:cNvSpPr/>
          <p:nvPr/>
        </p:nvSpPr>
        <p:spPr>
          <a:xfrm>
            <a:off x="4681728" y="1691640"/>
            <a:ext cx="4297680" cy="749808"/>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18" name="Shape 16"/>
          <p:cNvSpPr/>
          <p:nvPr/>
        </p:nvSpPr>
        <p:spPr>
          <a:xfrm>
            <a:off x="4681728" y="1691640"/>
            <a:ext cx="54864" cy="749808"/>
          </a:xfrm>
          <a:prstGeom prst="rect">
            <a:avLst/>
          </a:prstGeom>
          <a:solidFill>
            <a:srgbClr val="0284C7"/>
          </a:solidFill>
          <a:ln w="12700">
            <a:solidFill>
              <a:srgbClr val="0284C7"/>
            </a:solidFill>
            <a:prstDash val="solid"/>
          </a:ln>
        </p:spPr>
      </p:sp>
      <p:sp>
        <p:nvSpPr>
          <p:cNvPr id="19" name="Text 17"/>
          <p:cNvSpPr/>
          <p:nvPr/>
        </p:nvSpPr>
        <p:spPr>
          <a:xfrm>
            <a:off x="4818888" y="1746504"/>
            <a:ext cx="4069080" cy="256032"/>
          </a:xfrm>
          <a:prstGeom prst="rect">
            <a:avLst/>
          </a:prstGeom>
          <a:noFill/>
          <a:ln/>
        </p:spPr>
        <p:txBody>
          <a:bodyPr wrap="square" rtlCol="0" anchor="ctr"/>
          <a:lstStyle/>
          <a:p>
            <a:pPr marL="0" indent="0">
              <a:buNone/>
            </a:pPr>
            <a:r>
              <a:rPr lang="en-US" sz="1200" b="1" dirty="0">
                <a:solidFill>
                  <a:srgbClr val="1B3A5C"/>
                </a:solidFill>
                <a:latin typeface="Trebuchet MS" pitchFamily="34" charset="0"/>
                <a:ea typeface="Trebuchet MS" pitchFamily="34" charset="-122"/>
                <a:cs typeface="Trebuchet MS" pitchFamily="34" charset="-120"/>
              </a:rPr>
              <a:t>📬 Props</a:t>
            </a:r>
            <a:endParaRPr lang="en-US" sz="1200" dirty="0"/>
          </a:p>
        </p:txBody>
      </p:sp>
      <p:sp>
        <p:nvSpPr>
          <p:cNvPr id="20" name="Text 18"/>
          <p:cNvSpPr/>
          <p:nvPr/>
        </p:nvSpPr>
        <p:spPr>
          <a:xfrm>
            <a:off x="4818888" y="2020824"/>
            <a:ext cx="406908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Read-only data passed from parent to child. Enables component reuse with different data.</a:t>
            </a:r>
            <a:endParaRPr lang="en-US" sz="1100" dirty="0"/>
          </a:p>
        </p:txBody>
      </p:sp>
      <p:sp>
        <p:nvSpPr>
          <p:cNvPr id="21" name="Shape 19"/>
          <p:cNvSpPr/>
          <p:nvPr/>
        </p:nvSpPr>
        <p:spPr>
          <a:xfrm>
            <a:off x="201168" y="2542032"/>
            <a:ext cx="4297680" cy="749808"/>
          </a:xfrm>
          <a:prstGeom prst="rect">
            <a:avLst/>
          </a:prstGeom>
          <a:solidFill>
            <a:srgbClr val="EBF4FB"/>
          </a:solidFill>
          <a:ln w="12700">
            <a:solidFill>
              <a:srgbClr val="0EA5E9"/>
            </a:solidFill>
            <a:prstDash val="solid"/>
          </a:ln>
          <a:effectLst>
            <a:outerShdw blurRad="101600" dist="38100" dir="8100000" algn="bl" rotWithShape="0">
              <a:srgbClr val="000000">
                <a:alpha val="12000"/>
              </a:srgbClr>
            </a:outerShdw>
          </a:effectLst>
        </p:spPr>
      </p:sp>
      <p:sp>
        <p:nvSpPr>
          <p:cNvPr id="22" name="Shape 20"/>
          <p:cNvSpPr/>
          <p:nvPr/>
        </p:nvSpPr>
        <p:spPr>
          <a:xfrm>
            <a:off x="201168" y="2542032"/>
            <a:ext cx="54864" cy="749808"/>
          </a:xfrm>
          <a:prstGeom prst="rect">
            <a:avLst/>
          </a:prstGeom>
          <a:solidFill>
            <a:srgbClr val="0284C7"/>
          </a:solidFill>
          <a:ln w="12700">
            <a:solidFill>
              <a:srgbClr val="0284C7"/>
            </a:solidFill>
            <a:prstDash val="solid"/>
          </a:ln>
        </p:spPr>
      </p:sp>
      <p:sp>
        <p:nvSpPr>
          <p:cNvPr id="23" name="Text 21"/>
          <p:cNvSpPr/>
          <p:nvPr/>
        </p:nvSpPr>
        <p:spPr>
          <a:xfrm>
            <a:off x="338328" y="2596896"/>
            <a:ext cx="4069080" cy="256032"/>
          </a:xfrm>
          <a:prstGeom prst="rect">
            <a:avLst/>
          </a:prstGeom>
          <a:noFill/>
          <a:ln/>
        </p:spPr>
        <p:txBody>
          <a:bodyPr wrap="square" rtlCol="0" anchor="ctr"/>
          <a:lstStyle/>
          <a:p>
            <a:pPr marL="0" indent="0">
              <a:buNone/>
            </a:pPr>
            <a:r>
              <a:rPr lang="en-US" sz="1200" b="1" dirty="0">
                <a:solidFill>
                  <a:srgbClr val="1B3A5C"/>
                </a:solidFill>
                <a:latin typeface="Trebuchet MS" pitchFamily="34" charset="0"/>
                <a:ea typeface="Trebuchet MS" pitchFamily="34" charset="-122"/>
                <a:cs typeface="Trebuchet MS" pitchFamily="34" charset="-120"/>
              </a:rPr>
              <a:t>💾 State</a:t>
            </a:r>
            <a:endParaRPr lang="en-US" sz="1200" dirty="0"/>
          </a:p>
        </p:txBody>
      </p:sp>
      <p:sp>
        <p:nvSpPr>
          <p:cNvPr id="24" name="Text 22"/>
          <p:cNvSpPr/>
          <p:nvPr/>
        </p:nvSpPr>
        <p:spPr>
          <a:xfrm>
            <a:off x="338328" y="2871216"/>
            <a:ext cx="406908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Internal, mutable data managed with useState Hook. Changes to state trigger re-render.</a:t>
            </a:r>
            <a:endParaRPr lang="en-US" sz="1100" dirty="0"/>
          </a:p>
        </p:txBody>
      </p:sp>
      <p:sp>
        <p:nvSpPr>
          <p:cNvPr id="25" name="Shape 23"/>
          <p:cNvSpPr/>
          <p:nvPr/>
        </p:nvSpPr>
        <p:spPr>
          <a:xfrm>
            <a:off x="4681728" y="2542032"/>
            <a:ext cx="4297680" cy="749808"/>
          </a:xfrm>
          <a:prstGeom prst="rect">
            <a:avLst/>
          </a:prstGeom>
          <a:solidFill>
            <a:srgbClr val="EBF4FB"/>
          </a:solidFill>
          <a:ln w="12700">
            <a:solidFill>
              <a:srgbClr val="0EA5E9"/>
            </a:solidFill>
            <a:prstDash val="solid"/>
          </a:ln>
          <a:effectLst>
            <a:outerShdw blurRad="101600" dist="38100" dir="8100000" algn="bl" rotWithShape="0">
              <a:srgbClr val="000000">
                <a:alpha val="12000"/>
              </a:srgbClr>
            </a:outerShdw>
          </a:effectLst>
        </p:spPr>
      </p:sp>
      <p:sp>
        <p:nvSpPr>
          <p:cNvPr id="26" name="Shape 24"/>
          <p:cNvSpPr/>
          <p:nvPr/>
        </p:nvSpPr>
        <p:spPr>
          <a:xfrm>
            <a:off x="4681728" y="2542032"/>
            <a:ext cx="54864" cy="749808"/>
          </a:xfrm>
          <a:prstGeom prst="rect">
            <a:avLst/>
          </a:prstGeom>
          <a:solidFill>
            <a:srgbClr val="0284C7"/>
          </a:solidFill>
          <a:ln w="12700">
            <a:solidFill>
              <a:srgbClr val="0284C7"/>
            </a:solidFill>
            <a:prstDash val="solid"/>
          </a:ln>
        </p:spPr>
      </p:sp>
      <p:sp>
        <p:nvSpPr>
          <p:cNvPr id="27" name="Text 25"/>
          <p:cNvSpPr/>
          <p:nvPr/>
        </p:nvSpPr>
        <p:spPr>
          <a:xfrm>
            <a:off x="4818888" y="2596896"/>
            <a:ext cx="4069080" cy="256032"/>
          </a:xfrm>
          <a:prstGeom prst="rect">
            <a:avLst/>
          </a:prstGeom>
          <a:noFill/>
          <a:ln/>
        </p:spPr>
        <p:txBody>
          <a:bodyPr wrap="square" rtlCol="0" anchor="ctr"/>
          <a:lstStyle/>
          <a:p>
            <a:pPr marL="0" indent="0">
              <a:buNone/>
            </a:pPr>
            <a:r>
              <a:rPr lang="en-US" sz="1200" b="1" dirty="0">
                <a:solidFill>
                  <a:srgbClr val="1B3A5C"/>
                </a:solidFill>
                <a:latin typeface="Trebuchet MS" pitchFamily="34" charset="0"/>
                <a:ea typeface="Trebuchet MS" pitchFamily="34" charset="-122"/>
                <a:cs typeface="Trebuchet MS" pitchFamily="34" charset="-120"/>
              </a:rPr>
              <a:t>🔄 Lifecycle</a:t>
            </a:r>
            <a:endParaRPr lang="en-US" sz="1200" dirty="0"/>
          </a:p>
        </p:txBody>
      </p:sp>
      <p:sp>
        <p:nvSpPr>
          <p:cNvPr id="28" name="Text 26"/>
          <p:cNvSpPr/>
          <p:nvPr/>
        </p:nvSpPr>
        <p:spPr>
          <a:xfrm>
            <a:off x="4818888" y="2871216"/>
            <a:ext cx="406908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Three phases: Mount, Update, Unmount. useEffect handles side effects in functional components.</a:t>
            </a:r>
            <a:endParaRPr lang="en-US" sz="1100" dirty="0"/>
          </a:p>
        </p:txBody>
      </p:sp>
      <p:sp>
        <p:nvSpPr>
          <p:cNvPr id="29" name="Shape 27"/>
          <p:cNvSpPr/>
          <p:nvPr/>
        </p:nvSpPr>
        <p:spPr>
          <a:xfrm>
            <a:off x="201168" y="3392424"/>
            <a:ext cx="4297680" cy="749808"/>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30" name="Shape 28"/>
          <p:cNvSpPr/>
          <p:nvPr/>
        </p:nvSpPr>
        <p:spPr>
          <a:xfrm>
            <a:off x="201168" y="3392424"/>
            <a:ext cx="54864" cy="749808"/>
          </a:xfrm>
          <a:prstGeom prst="rect">
            <a:avLst/>
          </a:prstGeom>
          <a:solidFill>
            <a:srgbClr val="0284C7"/>
          </a:solidFill>
          <a:ln w="12700">
            <a:solidFill>
              <a:srgbClr val="0284C7"/>
            </a:solidFill>
            <a:prstDash val="solid"/>
          </a:ln>
        </p:spPr>
      </p:sp>
      <p:sp>
        <p:nvSpPr>
          <p:cNvPr id="31" name="Text 29"/>
          <p:cNvSpPr/>
          <p:nvPr/>
        </p:nvSpPr>
        <p:spPr>
          <a:xfrm>
            <a:off x="338328" y="3447288"/>
            <a:ext cx="4069080" cy="256032"/>
          </a:xfrm>
          <a:prstGeom prst="rect">
            <a:avLst/>
          </a:prstGeom>
          <a:noFill/>
          <a:ln/>
        </p:spPr>
        <p:txBody>
          <a:bodyPr wrap="square" rtlCol="0" anchor="ctr"/>
          <a:lstStyle/>
          <a:p>
            <a:pPr marL="0" indent="0">
              <a:buNone/>
            </a:pPr>
            <a:r>
              <a:rPr lang="en-US" sz="1200" b="1" dirty="0">
                <a:solidFill>
                  <a:srgbClr val="1B3A5C"/>
                </a:solidFill>
                <a:latin typeface="Trebuchet MS" pitchFamily="34" charset="0"/>
                <a:ea typeface="Trebuchet MS" pitchFamily="34" charset="-122"/>
                <a:cs typeface="Trebuchet MS" pitchFamily="34" charset="-120"/>
              </a:rPr>
              <a:t>🎯 Events</a:t>
            </a:r>
            <a:endParaRPr lang="en-US" sz="1200" dirty="0"/>
          </a:p>
        </p:txBody>
      </p:sp>
      <p:sp>
        <p:nvSpPr>
          <p:cNvPr id="32" name="Text 30"/>
          <p:cNvSpPr/>
          <p:nvPr/>
        </p:nvSpPr>
        <p:spPr>
          <a:xfrm>
            <a:off x="338328" y="3721608"/>
            <a:ext cx="406908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Handled using camelCase (onClick, onChange). Use functions not strings as handlers.</a:t>
            </a:r>
            <a:endParaRPr lang="en-US" sz="1100" dirty="0"/>
          </a:p>
        </p:txBody>
      </p:sp>
      <p:sp>
        <p:nvSpPr>
          <p:cNvPr id="33" name="Shape 31"/>
          <p:cNvSpPr/>
          <p:nvPr/>
        </p:nvSpPr>
        <p:spPr>
          <a:xfrm>
            <a:off x="4681728" y="3392424"/>
            <a:ext cx="4297680" cy="749808"/>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34" name="Shape 32"/>
          <p:cNvSpPr/>
          <p:nvPr/>
        </p:nvSpPr>
        <p:spPr>
          <a:xfrm>
            <a:off x="4681728" y="3392424"/>
            <a:ext cx="54864" cy="749808"/>
          </a:xfrm>
          <a:prstGeom prst="rect">
            <a:avLst/>
          </a:prstGeom>
          <a:solidFill>
            <a:srgbClr val="0284C7"/>
          </a:solidFill>
          <a:ln w="12700">
            <a:solidFill>
              <a:srgbClr val="0284C7"/>
            </a:solidFill>
            <a:prstDash val="solid"/>
          </a:ln>
        </p:spPr>
      </p:sp>
      <p:sp>
        <p:nvSpPr>
          <p:cNvPr id="35" name="Text 33"/>
          <p:cNvSpPr/>
          <p:nvPr/>
        </p:nvSpPr>
        <p:spPr>
          <a:xfrm>
            <a:off x="4818888" y="3447288"/>
            <a:ext cx="4069080" cy="256032"/>
          </a:xfrm>
          <a:prstGeom prst="rect">
            <a:avLst/>
          </a:prstGeom>
          <a:noFill/>
          <a:ln/>
        </p:spPr>
        <p:txBody>
          <a:bodyPr wrap="square" rtlCol="0" anchor="ctr"/>
          <a:lstStyle/>
          <a:p>
            <a:pPr marL="0" indent="0">
              <a:buNone/>
            </a:pPr>
            <a:r>
              <a:rPr lang="en-US" sz="1200" b="1" dirty="0">
                <a:solidFill>
                  <a:srgbClr val="1B3A5C"/>
                </a:solidFill>
                <a:latin typeface="Trebuchet MS" pitchFamily="34" charset="0"/>
                <a:ea typeface="Trebuchet MS" pitchFamily="34" charset="-122"/>
                <a:cs typeface="Trebuchet MS" pitchFamily="34" charset="-120"/>
              </a:rPr>
              <a:t>🌐 Fetch API</a:t>
            </a:r>
            <a:endParaRPr lang="en-US" sz="1200" dirty="0"/>
          </a:p>
        </p:txBody>
      </p:sp>
      <p:sp>
        <p:nvSpPr>
          <p:cNvPr id="36" name="Text 34"/>
          <p:cNvSpPr/>
          <p:nvPr/>
        </p:nvSpPr>
        <p:spPr>
          <a:xfrm>
            <a:off x="4818888" y="3721608"/>
            <a:ext cx="406908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Call external APIs inside useEffect. Use .then() or async/await to handle responses.</a:t>
            </a:r>
            <a:endParaRPr lang="en-US" sz="1100" dirty="0"/>
          </a:p>
        </p:txBody>
      </p:sp>
      <p:sp>
        <p:nvSpPr>
          <p:cNvPr id="37" name="Shape 35"/>
          <p:cNvSpPr/>
          <p:nvPr/>
        </p:nvSpPr>
        <p:spPr>
          <a:xfrm>
            <a:off x="201168" y="4242816"/>
            <a:ext cx="4297680" cy="749808"/>
          </a:xfrm>
          <a:prstGeom prst="rect">
            <a:avLst/>
          </a:prstGeom>
          <a:solidFill>
            <a:srgbClr val="EBF4FB"/>
          </a:solidFill>
          <a:ln w="12700">
            <a:solidFill>
              <a:srgbClr val="0EA5E9"/>
            </a:solidFill>
            <a:prstDash val="solid"/>
          </a:ln>
          <a:effectLst>
            <a:outerShdw blurRad="101600" dist="38100" dir="8100000" algn="bl" rotWithShape="0">
              <a:srgbClr val="000000">
                <a:alpha val="12000"/>
              </a:srgbClr>
            </a:outerShdw>
          </a:effectLst>
        </p:spPr>
      </p:sp>
      <p:sp>
        <p:nvSpPr>
          <p:cNvPr id="38" name="Shape 36"/>
          <p:cNvSpPr/>
          <p:nvPr/>
        </p:nvSpPr>
        <p:spPr>
          <a:xfrm>
            <a:off x="201168" y="4242816"/>
            <a:ext cx="54864" cy="749808"/>
          </a:xfrm>
          <a:prstGeom prst="rect">
            <a:avLst/>
          </a:prstGeom>
          <a:solidFill>
            <a:srgbClr val="0284C7"/>
          </a:solidFill>
          <a:ln w="12700">
            <a:solidFill>
              <a:srgbClr val="0284C7"/>
            </a:solidFill>
            <a:prstDash val="solid"/>
          </a:ln>
        </p:spPr>
      </p:sp>
      <p:sp>
        <p:nvSpPr>
          <p:cNvPr id="39" name="Text 37"/>
          <p:cNvSpPr/>
          <p:nvPr/>
        </p:nvSpPr>
        <p:spPr>
          <a:xfrm>
            <a:off x="338328" y="4297680"/>
            <a:ext cx="4069080" cy="256032"/>
          </a:xfrm>
          <a:prstGeom prst="rect">
            <a:avLst/>
          </a:prstGeom>
          <a:noFill/>
          <a:ln/>
        </p:spPr>
        <p:txBody>
          <a:bodyPr wrap="square" rtlCol="0" anchor="ctr"/>
          <a:lstStyle/>
          <a:p>
            <a:pPr marL="0" indent="0">
              <a:buNone/>
            </a:pPr>
            <a:r>
              <a:rPr lang="en-US" sz="1200" b="1" dirty="0">
                <a:solidFill>
                  <a:srgbClr val="1B3A5C"/>
                </a:solidFill>
                <a:latin typeface="Trebuchet MS" pitchFamily="34" charset="0"/>
                <a:ea typeface="Trebuchet MS" pitchFamily="34" charset="-122"/>
                <a:cs typeface="Trebuchet MS" pitchFamily="34" charset="-120"/>
              </a:rPr>
              <a:t>📦 LocalStorage</a:t>
            </a:r>
            <a:endParaRPr lang="en-US" sz="1200" dirty="0"/>
          </a:p>
        </p:txBody>
      </p:sp>
      <p:sp>
        <p:nvSpPr>
          <p:cNvPr id="40" name="Text 38"/>
          <p:cNvSpPr/>
          <p:nvPr/>
        </p:nvSpPr>
        <p:spPr>
          <a:xfrm>
            <a:off x="338328" y="4572000"/>
            <a:ext cx="406908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Store data persistently in browser. Use JSON.stringify/parse for objects.</a:t>
            </a:r>
            <a:endParaRPr lang="en-US" sz="1100" dirty="0"/>
          </a:p>
        </p:txBody>
      </p:sp>
      <p:sp>
        <p:nvSpPr>
          <p:cNvPr id="41" name="Shape 39"/>
          <p:cNvSpPr/>
          <p:nvPr/>
        </p:nvSpPr>
        <p:spPr>
          <a:xfrm>
            <a:off x="4681728" y="4242816"/>
            <a:ext cx="4297680" cy="749808"/>
          </a:xfrm>
          <a:prstGeom prst="rect">
            <a:avLst/>
          </a:prstGeom>
          <a:solidFill>
            <a:srgbClr val="EBF4FB"/>
          </a:solidFill>
          <a:ln w="12700">
            <a:solidFill>
              <a:srgbClr val="0EA5E9"/>
            </a:solidFill>
            <a:prstDash val="solid"/>
          </a:ln>
          <a:effectLst>
            <a:outerShdw blurRad="101600" dist="38100" dir="8100000" algn="bl" rotWithShape="0">
              <a:srgbClr val="000000">
                <a:alpha val="12000"/>
              </a:srgbClr>
            </a:outerShdw>
          </a:effectLst>
        </p:spPr>
      </p:sp>
      <p:sp>
        <p:nvSpPr>
          <p:cNvPr id="42" name="Shape 40"/>
          <p:cNvSpPr/>
          <p:nvPr/>
        </p:nvSpPr>
        <p:spPr>
          <a:xfrm>
            <a:off x="4681728" y="4242816"/>
            <a:ext cx="54864" cy="749808"/>
          </a:xfrm>
          <a:prstGeom prst="rect">
            <a:avLst/>
          </a:prstGeom>
          <a:solidFill>
            <a:srgbClr val="0284C7"/>
          </a:solidFill>
          <a:ln w="12700">
            <a:solidFill>
              <a:srgbClr val="0284C7"/>
            </a:solidFill>
            <a:prstDash val="solid"/>
          </a:ln>
        </p:spPr>
      </p:sp>
      <p:sp>
        <p:nvSpPr>
          <p:cNvPr id="43" name="Text 41"/>
          <p:cNvSpPr/>
          <p:nvPr/>
        </p:nvSpPr>
        <p:spPr>
          <a:xfrm>
            <a:off x="4818888" y="4297680"/>
            <a:ext cx="4069080" cy="256032"/>
          </a:xfrm>
          <a:prstGeom prst="rect">
            <a:avLst/>
          </a:prstGeom>
          <a:noFill/>
          <a:ln/>
        </p:spPr>
        <p:txBody>
          <a:bodyPr wrap="square" rtlCol="0" anchor="ctr"/>
          <a:lstStyle/>
          <a:p>
            <a:pPr marL="0" indent="0">
              <a:buNone/>
            </a:pPr>
            <a:r>
              <a:rPr lang="en-US" sz="1200" b="1" dirty="0">
                <a:solidFill>
                  <a:srgbClr val="1B3A5C"/>
                </a:solidFill>
                <a:latin typeface="Trebuchet MS" pitchFamily="34" charset="0"/>
                <a:ea typeface="Trebuchet MS" pitchFamily="34" charset="-122"/>
                <a:cs typeface="Trebuchet MS" pitchFamily="34" charset="-120"/>
              </a:rPr>
              <a:t>⬆ Lifting State</a:t>
            </a:r>
            <a:endParaRPr lang="en-US" sz="1200" dirty="0"/>
          </a:p>
        </p:txBody>
      </p:sp>
      <p:sp>
        <p:nvSpPr>
          <p:cNvPr id="44" name="Text 42"/>
          <p:cNvSpPr/>
          <p:nvPr/>
        </p:nvSpPr>
        <p:spPr>
          <a:xfrm>
            <a:off x="4818888" y="4572000"/>
            <a:ext cx="406908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Move shared state to nearest common parent. Pass data down and callbacks up.</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8">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Practice Questions – Set 1 (Theory)</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Shape 3"/>
          <p:cNvSpPr/>
          <p:nvPr/>
        </p:nvSpPr>
        <p:spPr>
          <a:xfrm>
            <a:off x="201168" y="841248"/>
            <a:ext cx="548640" cy="502920"/>
          </a:xfrm>
          <a:prstGeom prst="rect">
            <a:avLst/>
          </a:prstGeom>
          <a:solidFill>
            <a:srgbClr val="1B3A5C"/>
          </a:solidFill>
          <a:ln w="12700">
            <a:solidFill>
              <a:srgbClr val="1B3A5C"/>
            </a:solidFill>
            <a:prstDash val="solid"/>
          </a:ln>
        </p:spPr>
      </p:sp>
      <p:sp>
        <p:nvSpPr>
          <p:cNvPr id="6" name="Text 4"/>
          <p:cNvSpPr/>
          <p:nvPr/>
        </p:nvSpPr>
        <p:spPr>
          <a:xfrm>
            <a:off x="201168" y="841248"/>
            <a:ext cx="548640" cy="50292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Q1</a:t>
            </a:r>
            <a:endParaRPr lang="en-US" sz="1200" dirty="0"/>
          </a:p>
        </p:txBody>
      </p:sp>
      <p:sp>
        <p:nvSpPr>
          <p:cNvPr id="7" name="Shape 5"/>
          <p:cNvSpPr/>
          <p:nvPr/>
        </p:nvSpPr>
        <p:spPr>
          <a:xfrm>
            <a:off x="795528" y="841248"/>
            <a:ext cx="8138160" cy="502920"/>
          </a:xfrm>
          <a:prstGeom prst="rect">
            <a:avLst/>
          </a:prstGeom>
          <a:solidFill>
            <a:srgbClr val="EBF4FB"/>
          </a:solidFill>
          <a:ln w="12700">
            <a:solidFill>
              <a:srgbClr val="CBD5E1"/>
            </a:solidFill>
            <a:prstDash val="solid"/>
          </a:ln>
        </p:spPr>
      </p:sp>
      <p:sp>
        <p:nvSpPr>
          <p:cNvPr id="8" name="Text 6"/>
          <p:cNvSpPr/>
          <p:nvPr/>
        </p:nvSpPr>
        <p:spPr>
          <a:xfrm>
            <a:off x="886968" y="896112"/>
            <a:ext cx="7955280" cy="39319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What is React JS? How is it different from a framework like Angular? Explain the role of Virtual DOM in React.</a:t>
            </a:r>
            <a:endParaRPr lang="en-US" sz="1250" dirty="0"/>
          </a:p>
        </p:txBody>
      </p:sp>
      <p:sp>
        <p:nvSpPr>
          <p:cNvPr id="9" name="Shape 7"/>
          <p:cNvSpPr/>
          <p:nvPr/>
        </p:nvSpPr>
        <p:spPr>
          <a:xfrm>
            <a:off x="201168" y="1453896"/>
            <a:ext cx="548640" cy="502920"/>
          </a:xfrm>
          <a:prstGeom prst="rect">
            <a:avLst/>
          </a:prstGeom>
          <a:solidFill>
            <a:srgbClr val="1B3A5C"/>
          </a:solidFill>
          <a:ln w="12700">
            <a:solidFill>
              <a:srgbClr val="1B3A5C"/>
            </a:solidFill>
            <a:prstDash val="solid"/>
          </a:ln>
        </p:spPr>
      </p:sp>
      <p:sp>
        <p:nvSpPr>
          <p:cNvPr id="10" name="Text 8"/>
          <p:cNvSpPr/>
          <p:nvPr/>
        </p:nvSpPr>
        <p:spPr>
          <a:xfrm>
            <a:off x="201168" y="1453896"/>
            <a:ext cx="548640" cy="50292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Q2</a:t>
            </a:r>
            <a:endParaRPr lang="en-US" sz="1200" dirty="0"/>
          </a:p>
        </p:txBody>
      </p:sp>
      <p:sp>
        <p:nvSpPr>
          <p:cNvPr id="11" name="Shape 9"/>
          <p:cNvSpPr/>
          <p:nvPr/>
        </p:nvSpPr>
        <p:spPr>
          <a:xfrm>
            <a:off x="795528" y="1453896"/>
            <a:ext cx="8138160" cy="502920"/>
          </a:xfrm>
          <a:prstGeom prst="rect">
            <a:avLst/>
          </a:prstGeom>
          <a:solidFill>
            <a:srgbClr val="FFFFFF"/>
          </a:solidFill>
          <a:ln w="12700">
            <a:solidFill>
              <a:srgbClr val="CBD5E1"/>
            </a:solidFill>
            <a:prstDash val="solid"/>
          </a:ln>
        </p:spPr>
      </p:sp>
      <p:sp>
        <p:nvSpPr>
          <p:cNvPr id="12" name="Text 10"/>
          <p:cNvSpPr/>
          <p:nvPr/>
        </p:nvSpPr>
        <p:spPr>
          <a:xfrm>
            <a:off x="886968" y="1508760"/>
            <a:ext cx="7955280" cy="39319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What is JSX? What are the important rules of JSX? Write a JSX code snippet that renders a list of 5 student names.</a:t>
            </a:r>
            <a:endParaRPr lang="en-US" sz="1250" dirty="0"/>
          </a:p>
        </p:txBody>
      </p:sp>
      <p:sp>
        <p:nvSpPr>
          <p:cNvPr id="13" name="Shape 11"/>
          <p:cNvSpPr/>
          <p:nvPr/>
        </p:nvSpPr>
        <p:spPr>
          <a:xfrm>
            <a:off x="201168" y="2066544"/>
            <a:ext cx="548640" cy="502920"/>
          </a:xfrm>
          <a:prstGeom prst="rect">
            <a:avLst/>
          </a:prstGeom>
          <a:solidFill>
            <a:srgbClr val="1B3A5C"/>
          </a:solidFill>
          <a:ln w="12700">
            <a:solidFill>
              <a:srgbClr val="1B3A5C"/>
            </a:solidFill>
            <a:prstDash val="solid"/>
          </a:ln>
        </p:spPr>
      </p:sp>
      <p:sp>
        <p:nvSpPr>
          <p:cNvPr id="14" name="Text 12"/>
          <p:cNvSpPr/>
          <p:nvPr/>
        </p:nvSpPr>
        <p:spPr>
          <a:xfrm>
            <a:off x="201168" y="2066544"/>
            <a:ext cx="548640" cy="50292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Q3</a:t>
            </a:r>
            <a:endParaRPr lang="en-US" sz="1200" dirty="0"/>
          </a:p>
        </p:txBody>
      </p:sp>
      <p:sp>
        <p:nvSpPr>
          <p:cNvPr id="15" name="Shape 13"/>
          <p:cNvSpPr/>
          <p:nvPr/>
        </p:nvSpPr>
        <p:spPr>
          <a:xfrm>
            <a:off x="795528" y="2066544"/>
            <a:ext cx="8138160" cy="502920"/>
          </a:xfrm>
          <a:prstGeom prst="rect">
            <a:avLst/>
          </a:prstGeom>
          <a:solidFill>
            <a:srgbClr val="EBF4FB"/>
          </a:solidFill>
          <a:ln w="12700">
            <a:solidFill>
              <a:srgbClr val="CBD5E1"/>
            </a:solidFill>
            <a:prstDash val="solid"/>
          </a:ln>
        </p:spPr>
      </p:sp>
      <p:sp>
        <p:nvSpPr>
          <p:cNvPr id="16" name="Text 14"/>
          <p:cNvSpPr/>
          <p:nvPr/>
        </p:nvSpPr>
        <p:spPr>
          <a:xfrm>
            <a:off x="886968" y="2121408"/>
            <a:ext cx="7955280" cy="39319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Differentiate between Functional Components and Class Components with suitable code examples.</a:t>
            </a:r>
            <a:endParaRPr lang="en-US" sz="1250" dirty="0"/>
          </a:p>
        </p:txBody>
      </p:sp>
      <p:sp>
        <p:nvSpPr>
          <p:cNvPr id="17" name="Shape 15"/>
          <p:cNvSpPr/>
          <p:nvPr/>
        </p:nvSpPr>
        <p:spPr>
          <a:xfrm>
            <a:off x="201168" y="2679192"/>
            <a:ext cx="548640" cy="502920"/>
          </a:xfrm>
          <a:prstGeom prst="rect">
            <a:avLst/>
          </a:prstGeom>
          <a:solidFill>
            <a:srgbClr val="1B3A5C"/>
          </a:solidFill>
          <a:ln w="12700">
            <a:solidFill>
              <a:srgbClr val="1B3A5C"/>
            </a:solidFill>
            <a:prstDash val="solid"/>
          </a:ln>
        </p:spPr>
      </p:sp>
      <p:sp>
        <p:nvSpPr>
          <p:cNvPr id="18" name="Text 16"/>
          <p:cNvSpPr/>
          <p:nvPr/>
        </p:nvSpPr>
        <p:spPr>
          <a:xfrm>
            <a:off x="201168" y="2679192"/>
            <a:ext cx="548640" cy="50292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Q4</a:t>
            </a:r>
            <a:endParaRPr lang="en-US" sz="1200" dirty="0"/>
          </a:p>
        </p:txBody>
      </p:sp>
      <p:sp>
        <p:nvSpPr>
          <p:cNvPr id="19" name="Shape 17"/>
          <p:cNvSpPr/>
          <p:nvPr/>
        </p:nvSpPr>
        <p:spPr>
          <a:xfrm>
            <a:off x="795528" y="2679192"/>
            <a:ext cx="8138160" cy="502920"/>
          </a:xfrm>
          <a:prstGeom prst="rect">
            <a:avLst/>
          </a:prstGeom>
          <a:solidFill>
            <a:srgbClr val="FFFFFF"/>
          </a:solidFill>
          <a:ln w="12700">
            <a:solidFill>
              <a:srgbClr val="CBD5E1"/>
            </a:solidFill>
            <a:prstDash val="solid"/>
          </a:ln>
        </p:spPr>
      </p:sp>
      <p:sp>
        <p:nvSpPr>
          <p:cNvPr id="20" name="Text 18"/>
          <p:cNvSpPr/>
          <p:nvPr/>
        </p:nvSpPr>
        <p:spPr>
          <a:xfrm>
            <a:off x="886968" y="2734056"/>
            <a:ext cx="7955280" cy="39319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What are Props? Explain with an example how data is passed from a parent component to a child component.</a:t>
            </a:r>
            <a:endParaRPr lang="en-US" sz="1250" dirty="0"/>
          </a:p>
        </p:txBody>
      </p:sp>
      <p:sp>
        <p:nvSpPr>
          <p:cNvPr id="21" name="Shape 19"/>
          <p:cNvSpPr/>
          <p:nvPr/>
        </p:nvSpPr>
        <p:spPr>
          <a:xfrm>
            <a:off x="201168" y="3291840"/>
            <a:ext cx="548640" cy="502920"/>
          </a:xfrm>
          <a:prstGeom prst="rect">
            <a:avLst/>
          </a:prstGeom>
          <a:solidFill>
            <a:srgbClr val="1B3A5C"/>
          </a:solidFill>
          <a:ln w="12700">
            <a:solidFill>
              <a:srgbClr val="1B3A5C"/>
            </a:solidFill>
            <a:prstDash val="solid"/>
          </a:ln>
        </p:spPr>
      </p:sp>
      <p:sp>
        <p:nvSpPr>
          <p:cNvPr id="22" name="Text 20"/>
          <p:cNvSpPr/>
          <p:nvPr/>
        </p:nvSpPr>
        <p:spPr>
          <a:xfrm>
            <a:off x="201168" y="3291840"/>
            <a:ext cx="548640" cy="50292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Q5</a:t>
            </a:r>
            <a:endParaRPr lang="en-US" sz="1200" dirty="0"/>
          </a:p>
        </p:txBody>
      </p:sp>
      <p:sp>
        <p:nvSpPr>
          <p:cNvPr id="23" name="Shape 21"/>
          <p:cNvSpPr/>
          <p:nvPr/>
        </p:nvSpPr>
        <p:spPr>
          <a:xfrm>
            <a:off x="795528" y="3291840"/>
            <a:ext cx="8138160" cy="502920"/>
          </a:xfrm>
          <a:prstGeom prst="rect">
            <a:avLst/>
          </a:prstGeom>
          <a:solidFill>
            <a:srgbClr val="EBF4FB"/>
          </a:solidFill>
          <a:ln w="12700">
            <a:solidFill>
              <a:srgbClr val="CBD5E1"/>
            </a:solidFill>
            <a:prstDash val="solid"/>
          </a:ln>
        </p:spPr>
      </p:sp>
      <p:sp>
        <p:nvSpPr>
          <p:cNvPr id="24" name="Text 22"/>
          <p:cNvSpPr/>
          <p:nvPr/>
        </p:nvSpPr>
        <p:spPr>
          <a:xfrm>
            <a:off x="886968" y="3346704"/>
            <a:ext cx="7955280" cy="39319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Explain the concept of State in React. Write a React program that implements a counter using useState Hook.</a:t>
            </a:r>
            <a:endParaRPr lang="en-US" sz="1250" dirty="0"/>
          </a:p>
        </p:txBody>
      </p:sp>
      <p:sp>
        <p:nvSpPr>
          <p:cNvPr id="25" name="Shape 23"/>
          <p:cNvSpPr/>
          <p:nvPr/>
        </p:nvSpPr>
        <p:spPr>
          <a:xfrm>
            <a:off x="201168" y="3904488"/>
            <a:ext cx="548640" cy="502920"/>
          </a:xfrm>
          <a:prstGeom prst="rect">
            <a:avLst/>
          </a:prstGeom>
          <a:solidFill>
            <a:srgbClr val="1B3A5C"/>
          </a:solidFill>
          <a:ln w="12700">
            <a:solidFill>
              <a:srgbClr val="1B3A5C"/>
            </a:solidFill>
            <a:prstDash val="solid"/>
          </a:ln>
        </p:spPr>
      </p:sp>
      <p:sp>
        <p:nvSpPr>
          <p:cNvPr id="26" name="Text 24"/>
          <p:cNvSpPr/>
          <p:nvPr/>
        </p:nvSpPr>
        <p:spPr>
          <a:xfrm>
            <a:off x="201168" y="3904488"/>
            <a:ext cx="548640" cy="50292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Q6</a:t>
            </a:r>
            <a:endParaRPr lang="en-US" sz="1200" dirty="0"/>
          </a:p>
        </p:txBody>
      </p:sp>
      <p:sp>
        <p:nvSpPr>
          <p:cNvPr id="27" name="Shape 25"/>
          <p:cNvSpPr/>
          <p:nvPr/>
        </p:nvSpPr>
        <p:spPr>
          <a:xfrm>
            <a:off x="795528" y="3904488"/>
            <a:ext cx="8138160" cy="502920"/>
          </a:xfrm>
          <a:prstGeom prst="rect">
            <a:avLst/>
          </a:prstGeom>
          <a:solidFill>
            <a:srgbClr val="FFFFFF"/>
          </a:solidFill>
          <a:ln w="12700">
            <a:solidFill>
              <a:srgbClr val="CBD5E1"/>
            </a:solidFill>
            <a:prstDash val="solid"/>
          </a:ln>
        </p:spPr>
      </p:sp>
      <p:sp>
        <p:nvSpPr>
          <p:cNvPr id="28" name="Text 26"/>
          <p:cNvSpPr/>
          <p:nvPr/>
        </p:nvSpPr>
        <p:spPr>
          <a:xfrm>
            <a:off x="886968" y="3959352"/>
            <a:ext cx="7955280" cy="39319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What is the Component Lifecycle? Explain the three phases with examples. How does useEffect replicate lifecycle in functional components?</a:t>
            </a:r>
            <a:endParaRPr lang="en-US" sz="1250" dirty="0"/>
          </a:p>
        </p:txBody>
      </p:sp>
      <p:sp>
        <p:nvSpPr>
          <p:cNvPr id="29" name="Shape 27"/>
          <p:cNvSpPr/>
          <p:nvPr/>
        </p:nvSpPr>
        <p:spPr>
          <a:xfrm>
            <a:off x="201168" y="4517136"/>
            <a:ext cx="548640" cy="502920"/>
          </a:xfrm>
          <a:prstGeom prst="rect">
            <a:avLst/>
          </a:prstGeom>
          <a:solidFill>
            <a:srgbClr val="1B3A5C"/>
          </a:solidFill>
          <a:ln w="12700">
            <a:solidFill>
              <a:srgbClr val="1B3A5C"/>
            </a:solidFill>
            <a:prstDash val="solid"/>
          </a:ln>
        </p:spPr>
      </p:sp>
      <p:sp>
        <p:nvSpPr>
          <p:cNvPr id="30" name="Text 28"/>
          <p:cNvSpPr/>
          <p:nvPr/>
        </p:nvSpPr>
        <p:spPr>
          <a:xfrm>
            <a:off x="201168" y="4517136"/>
            <a:ext cx="548640" cy="502920"/>
          </a:xfrm>
          <a:prstGeom prst="rect">
            <a:avLst/>
          </a:prstGeom>
          <a:noFill/>
          <a:ln/>
        </p:spPr>
        <p:txBody>
          <a:bodyPr wrap="square" rtlCol="0" anchor="ctr"/>
          <a:lstStyle/>
          <a:p>
            <a:pPr marL="0" indent="0" algn="ctr">
              <a:buNone/>
            </a:pPr>
            <a:r>
              <a:rPr lang="en-US" sz="1200" b="1" dirty="0">
                <a:solidFill>
                  <a:srgbClr val="0EA5E9"/>
                </a:solidFill>
                <a:latin typeface="Trebuchet MS" pitchFamily="34" charset="0"/>
                <a:ea typeface="Trebuchet MS" pitchFamily="34" charset="-122"/>
                <a:cs typeface="Trebuchet MS" pitchFamily="34" charset="-120"/>
              </a:rPr>
              <a:t>Q7</a:t>
            </a:r>
            <a:endParaRPr lang="en-US" sz="1200" dirty="0"/>
          </a:p>
        </p:txBody>
      </p:sp>
      <p:sp>
        <p:nvSpPr>
          <p:cNvPr id="31" name="Shape 29"/>
          <p:cNvSpPr/>
          <p:nvPr/>
        </p:nvSpPr>
        <p:spPr>
          <a:xfrm>
            <a:off x="795528" y="4517136"/>
            <a:ext cx="8138160" cy="502920"/>
          </a:xfrm>
          <a:prstGeom prst="rect">
            <a:avLst/>
          </a:prstGeom>
          <a:solidFill>
            <a:srgbClr val="EBF4FB"/>
          </a:solidFill>
          <a:ln w="12700">
            <a:solidFill>
              <a:srgbClr val="CBD5E1"/>
            </a:solidFill>
            <a:prstDash val="solid"/>
          </a:ln>
        </p:spPr>
      </p:sp>
      <p:sp>
        <p:nvSpPr>
          <p:cNvPr id="32" name="Text 30"/>
          <p:cNvSpPr/>
          <p:nvPr/>
        </p:nvSpPr>
        <p:spPr>
          <a:xfrm>
            <a:off x="886968" y="4572000"/>
            <a:ext cx="7955280" cy="39319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What is Lifting State Up? In which situation is it required? Explain with a block diagram and code example.</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9">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Practical Activities – Hands-On Lab</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Shape 3"/>
          <p:cNvSpPr/>
          <p:nvPr/>
        </p:nvSpPr>
        <p:spPr>
          <a:xfrm>
            <a:off x="201168" y="841248"/>
            <a:ext cx="4297680" cy="123444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6" name="Shape 4"/>
          <p:cNvSpPr/>
          <p:nvPr/>
        </p:nvSpPr>
        <p:spPr>
          <a:xfrm>
            <a:off x="201168" y="841248"/>
            <a:ext cx="4297680" cy="347472"/>
          </a:xfrm>
          <a:prstGeom prst="rect">
            <a:avLst/>
          </a:prstGeom>
          <a:solidFill>
            <a:srgbClr val="1B3A5C"/>
          </a:solidFill>
          <a:ln w="12700">
            <a:solidFill>
              <a:srgbClr val="1B3A5C"/>
            </a:solidFill>
            <a:prstDash val="solid"/>
          </a:ln>
        </p:spPr>
      </p:sp>
      <p:sp>
        <p:nvSpPr>
          <p:cNvPr id="7" name="Text 5"/>
          <p:cNvSpPr/>
          <p:nvPr/>
        </p:nvSpPr>
        <p:spPr>
          <a:xfrm>
            <a:off x="292608" y="886968"/>
            <a:ext cx="3200400" cy="25603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Lab 1: Hello World in React</a:t>
            </a:r>
            <a:endParaRPr lang="en-US" sz="1200" dirty="0"/>
          </a:p>
        </p:txBody>
      </p:sp>
      <p:sp>
        <p:nvSpPr>
          <p:cNvPr id="8" name="Shape 6"/>
          <p:cNvSpPr/>
          <p:nvPr/>
        </p:nvSpPr>
        <p:spPr>
          <a:xfrm>
            <a:off x="3538728" y="886968"/>
            <a:ext cx="868680" cy="256032"/>
          </a:xfrm>
          <a:prstGeom prst="rect">
            <a:avLst/>
          </a:prstGeom>
          <a:solidFill>
            <a:srgbClr val="10B981"/>
          </a:solidFill>
          <a:ln w="12700">
            <a:solidFill>
              <a:srgbClr val="10B981"/>
            </a:solidFill>
            <a:prstDash val="solid"/>
          </a:ln>
        </p:spPr>
      </p:sp>
      <p:sp>
        <p:nvSpPr>
          <p:cNvPr id="9" name="Text 7"/>
          <p:cNvSpPr/>
          <p:nvPr/>
        </p:nvSpPr>
        <p:spPr>
          <a:xfrm>
            <a:off x="3538728" y="886968"/>
            <a:ext cx="86868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0" name="Text 8"/>
          <p:cNvSpPr/>
          <p:nvPr/>
        </p:nvSpPr>
        <p:spPr>
          <a:xfrm>
            <a:off x="292608" y="1252728"/>
            <a:ext cx="4114800" cy="749808"/>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Setup React using Create React App. Create your first component that displays your name and course name.</a:t>
            </a:r>
            <a:endParaRPr lang="en-US" sz="1150" dirty="0"/>
          </a:p>
        </p:txBody>
      </p:sp>
      <p:sp>
        <p:nvSpPr>
          <p:cNvPr id="11" name="Shape 9"/>
          <p:cNvSpPr/>
          <p:nvPr/>
        </p:nvSpPr>
        <p:spPr>
          <a:xfrm>
            <a:off x="4681728" y="841248"/>
            <a:ext cx="4297680" cy="123444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12" name="Shape 10"/>
          <p:cNvSpPr/>
          <p:nvPr/>
        </p:nvSpPr>
        <p:spPr>
          <a:xfrm>
            <a:off x="4681728" y="841248"/>
            <a:ext cx="4297680" cy="347472"/>
          </a:xfrm>
          <a:prstGeom prst="rect">
            <a:avLst/>
          </a:prstGeom>
          <a:solidFill>
            <a:srgbClr val="1B3A5C"/>
          </a:solidFill>
          <a:ln w="12700">
            <a:solidFill>
              <a:srgbClr val="1B3A5C"/>
            </a:solidFill>
            <a:prstDash val="solid"/>
          </a:ln>
        </p:spPr>
      </p:sp>
      <p:sp>
        <p:nvSpPr>
          <p:cNvPr id="13" name="Text 11"/>
          <p:cNvSpPr/>
          <p:nvPr/>
        </p:nvSpPr>
        <p:spPr>
          <a:xfrm>
            <a:off x="4773168" y="886968"/>
            <a:ext cx="3200400" cy="25603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Lab 2: Counter App</a:t>
            </a:r>
            <a:endParaRPr lang="en-US" sz="1200" dirty="0"/>
          </a:p>
        </p:txBody>
      </p:sp>
      <p:sp>
        <p:nvSpPr>
          <p:cNvPr id="14" name="Shape 12"/>
          <p:cNvSpPr/>
          <p:nvPr/>
        </p:nvSpPr>
        <p:spPr>
          <a:xfrm>
            <a:off x="8019288" y="886968"/>
            <a:ext cx="868680" cy="256032"/>
          </a:xfrm>
          <a:prstGeom prst="rect">
            <a:avLst/>
          </a:prstGeom>
          <a:solidFill>
            <a:srgbClr val="10B981"/>
          </a:solidFill>
          <a:ln w="12700">
            <a:solidFill>
              <a:srgbClr val="10B981"/>
            </a:solidFill>
            <a:prstDash val="solid"/>
          </a:ln>
        </p:spPr>
      </p:sp>
      <p:sp>
        <p:nvSpPr>
          <p:cNvPr id="15" name="Text 13"/>
          <p:cNvSpPr/>
          <p:nvPr/>
        </p:nvSpPr>
        <p:spPr>
          <a:xfrm>
            <a:off x="8019288" y="886968"/>
            <a:ext cx="86868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6" name="Text 14"/>
          <p:cNvSpPr/>
          <p:nvPr/>
        </p:nvSpPr>
        <p:spPr>
          <a:xfrm>
            <a:off x="4773168" y="1252728"/>
            <a:ext cx="4114800" cy="749808"/>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Build a counter with Increment, Decrement, and Reset buttons using useState. Display count in real time.</a:t>
            </a:r>
            <a:endParaRPr lang="en-US" sz="1150" dirty="0"/>
          </a:p>
        </p:txBody>
      </p:sp>
      <p:sp>
        <p:nvSpPr>
          <p:cNvPr id="17" name="Shape 15"/>
          <p:cNvSpPr/>
          <p:nvPr/>
        </p:nvSpPr>
        <p:spPr>
          <a:xfrm>
            <a:off x="201168" y="2212848"/>
            <a:ext cx="4297680" cy="123444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18" name="Shape 16"/>
          <p:cNvSpPr/>
          <p:nvPr/>
        </p:nvSpPr>
        <p:spPr>
          <a:xfrm>
            <a:off x="201168" y="2212848"/>
            <a:ext cx="4297680" cy="347472"/>
          </a:xfrm>
          <a:prstGeom prst="rect">
            <a:avLst/>
          </a:prstGeom>
          <a:solidFill>
            <a:srgbClr val="1B3A5C"/>
          </a:solidFill>
          <a:ln w="12700">
            <a:solidFill>
              <a:srgbClr val="1B3A5C"/>
            </a:solidFill>
            <a:prstDash val="solid"/>
          </a:ln>
        </p:spPr>
      </p:sp>
      <p:sp>
        <p:nvSpPr>
          <p:cNvPr id="19" name="Text 17"/>
          <p:cNvSpPr/>
          <p:nvPr/>
        </p:nvSpPr>
        <p:spPr>
          <a:xfrm>
            <a:off x="292608" y="2258568"/>
            <a:ext cx="3200400" cy="25603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Lab 3: Student Profile Card</a:t>
            </a:r>
            <a:endParaRPr lang="en-US" sz="1200" dirty="0"/>
          </a:p>
        </p:txBody>
      </p:sp>
      <p:sp>
        <p:nvSpPr>
          <p:cNvPr id="20" name="Shape 18"/>
          <p:cNvSpPr/>
          <p:nvPr/>
        </p:nvSpPr>
        <p:spPr>
          <a:xfrm>
            <a:off x="3538728" y="2258568"/>
            <a:ext cx="868680" cy="256032"/>
          </a:xfrm>
          <a:prstGeom prst="rect">
            <a:avLst/>
          </a:prstGeom>
          <a:solidFill>
            <a:srgbClr val="F59E0B"/>
          </a:solidFill>
          <a:ln w="12700">
            <a:solidFill>
              <a:srgbClr val="F59E0B"/>
            </a:solidFill>
            <a:prstDash val="solid"/>
          </a:ln>
        </p:spPr>
      </p:sp>
      <p:sp>
        <p:nvSpPr>
          <p:cNvPr id="21" name="Text 19"/>
          <p:cNvSpPr/>
          <p:nvPr/>
        </p:nvSpPr>
        <p:spPr>
          <a:xfrm>
            <a:off x="3538728" y="2258568"/>
            <a:ext cx="86868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2" name="Text 20"/>
          <p:cNvSpPr/>
          <p:nvPr/>
        </p:nvSpPr>
        <p:spPr>
          <a:xfrm>
            <a:off x="292608" y="2624328"/>
            <a:ext cx="4114800" cy="749808"/>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Create a reusable ProfileCard component. Pass name, roll number, and department as props. Render 5 cards in App.</a:t>
            </a:r>
            <a:endParaRPr lang="en-US" sz="1150" dirty="0"/>
          </a:p>
        </p:txBody>
      </p:sp>
      <p:sp>
        <p:nvSpPr>
          <p:cNvPr id="23" name="Shape 21"/>
          <p:cNvSpPr/>
          <p:nvPr/>
        </p:nvSpPr>
        <p:spPr>
          <a:xfrm>
            <a:off x="4681728" y="2212848"/>
            <a:ext cx="4297680" cy="123444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24" name="Shape 22"/>
          <p:cNvSpPr/>
          <p:nvPr/>
        </p:nvSpPr>
        <p:spPr>
          <a:xfrm>
            <a:off x="4681728" y="2212848"/>
            <a:ext cx="4297680" cy="347472"/>
          </a:xfrm>
          <a:prstGeom prst="rect">
            <a:avLst/>
          </a:prstGeom>
          <a:solidFill>
            <a:srgbClr val="1B3A5C"/>
          </a:solidFill>
          <a:ln w="12700">
            <a:solidFill>
              <a:srgbClr val="1B3A5C"/>
            </a:solidFill>
            <a:prstDash val="solid"/>
          </a:ln>
        </p:spPr>
      </p:sp>
      <p:sp>
        <p:nvSpPr>
          <p:cNvPr id="25" name="Text 23"/>
          <p:cNvSpPr/>
          <p:nvPr/>
        </p:nvSpPr>
        <p:spPr>
          <a:xfrm>
            <a:off x="4773168" y="2258568"/>
            <a:ext cx="3200400" cy="25603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Lab 4: Todo List with Local Storage</a:t>
            </a:r>
            <a:endParaRPr lang="en-US" sz="1200" dirty="0"/>
          </a:p>
        </p:txBody>
      </p:sp>
      <p:sp>
        <p:nvSpPr>
          <p:cNvPr id="26" name="Shape 24"/>
          <p:cNvSpPr/>
          <p:nvPr/>
        </p:nvSpPr>
        <p:spPr>
          <a:xfrm>
            <a:off x="8019288" y="2258568"/>
            <a:ext cx="868680" cy="256032"/>
          </a:xfrm>
          <a:prstGeom prst="rect">
            <a:avLst/>
          </a:prstGeom>
          <a:solidFill>
            <a:srgbClr val="F59E0B"/>
          </a:solidFill>
          <a:ln w="12700">
            <a:solidFill>
              <a:srgbClr val="F59E0B"/>
            </a:solidFill>
            <a:prstDash val="solid"/>
          </a:ln>
        </p:spPr>
      </p:sp>
      <p:sp>
        <p:nvSpPr>
          <p:cNvPr id="27" name="Text 25"/>
          <p:cNvSpPr/>
          <p:nvPr/>
        </p:nvSpPr>
        <p:spPr>
          <a:xfrm>
            <a:off x="8019288" y="2258568"/>
            <a:ext cx="86868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8" name="Text 26"/>
          <p:cNvSpPr/>
          <p:nvPr/>
        </p:nvSpPr>
        <p:spPr>
          <a:xfrm>
            <a:off x="4773168" y="2624328"/>
            <a:ext cx="4114800" cy="749808"/>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Build a Todo app. Add/delete todos. Persist todos in localStorage so they survive page refresh.</a:t>
            </a:r>
            <a:endParaRPr lang="en-US" sz="1150" dirty="0"/>
          </a:p>
        </p:txBody>
      </p:sp>
      <p:sp>
        <p:nvSpPr>
          <p:cNvPr id="29" name="Shape 27"/>
          <p:cNvSpPr/>
          <p:nvPr/>
        </p:nvSpPr>
        <p:spPr>
          <a:xfrm>
            <a:off x="201168" y="3584448"/>
            <a:ext cx="4297680" cy="123444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30" name="Shape 28"/>
          <p:cNvSpPr/>
          <p:nvPr/>
        </p:nvSpPr>
        <p:spPr>
          <a:xfrm>
            <a:off x="201168" y="3584448"/>
            <a:ext cx="4297680" cy="347472"/>
          </a:xfrm>
          <a:prstGeom prst="rect">
            <a:avLst/>
          </a:prstGeom>
          <a:solidFill>
            <a:srgbClr val="1B3A5C"/>
          </a:solidFill>
          <a:ln w="12700">
            <a:solidFill>
              <a:srgbClr val="1B3A5C"/>
            </a:solidFill>
            <a:prstDash val="solid"/>
          </a:ln>
        </p:spPr>
      </p:sp>
      <p:sp>
        <p:nvSpPr>
          <p:cNvPr id="31" name="Text 29"/>
          <p:cNvSpPr/>
          <p:nvPr/>
        </p:nvSpPr>
        <p:spPr>
          <a:xfrm>
            <a:off x="292608" y="3630168"/>
            <a:ext cx="3200400" cy="25603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Lab 5: User List from API</a:t>
            </a:r>
            <a:endParaRPr lang="en-US" sz="1200" dirty="0"/>
          </a:p>
        </p:txBody>
      </p:sp>
      <p:sp>
        <p:nvSpPr>
          <p:cNvPr id="32" name="Shape 30"/>
          <p:cNvSpPr/>
          <p:nvPr/>
        </p:nvSpPr>
        <p:spPr>
          <a:xfrm>
            <a:off x="3538728" y="3630168"/>
            <a:ext cx="868680" cy="256032"/>
          </a:xfrm>
          <a:prstGeom prst="rect">
            <a:avLst/>
          </a:prstGeom>
          <a:solidFill>
            <a:srgbClr val="F59E0B"/>
          </a:solidFill>
          <a:ln w="12700">
            <a:solidFill>
              <a:srgbClr val="F59E0B"/>
            </a:solidFill>
            <a:prstDash val="solid"/>
          </a:ln>
        </p:spPr>
      </p:sp>
      <p:sp>
        <p:nvSpPr>
          <p:cNvPr id="33" name="Text 31"/>
          <p:cNvSpPr/>
          <p:nvPr/>
        </p:nvSpPr>
        <p:spPr>
          <a:xfrm>
            <a:off x="3538728" y="3630168"/>
            <a:ext cx="86868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4" name="Text 32"/>
          <p:cNvSpPr/>
          <p:nvPr/>
        </p:nvSpPr>
        <p:spPr>
          <a:xfrm>
            <a:off x="292608" y="3995928"/>
            <a:ext cx="4114800" cy="749808"/>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Fetch users from https://jsonplaceholder.typicode.com/users. Display name &amp; email in a table using useEffect + fetch.</a:t>
            </a:r>
            <a:endParaRPr lang="en-US" sz="1150" dirty="0"/>
          </a:p>
        </p:txBody>
      </p:sp>
      <p:sp>
        <p:nvSpPr>
          <p:cNvPr id="35" name="Shape 33"/>
          <p:cNvSpPr/>
          <p:nvPr/>
        </p:nvSpPr>
        <p:spPr>
          <a:xfrm>
            <a:off x="4681728" y="3584448"/>
            <a:ext cx="4297680" cy="1234440"/>
          </a:xfrm>
          <a:prstGeom prst="rect">
            <a:avLst/>
          </a:prstGeom>
          <a:solidFill>
            <a:srgbClr val="FFFFFF"/>
          </a:solidFill>
          <a:ln w="12700">
            <a:solidFill>
              <a:srgbClr val="0EA5E9"/>
            </a:solidFill>
            <a:prstDash val="solid"/>
          </a:ln>
          <a:effectLst>
            <a:outerShdw blurRad="101600" dist="38100" dir="8100000" algn="bl" rotWithShape="0">
              <a:srgbClr val="000000">
                <a:alpha val="12000"/>
              </a:srgbClr>
            </a:outerShdw>
          </a:effectLst>
        </p:spPr>
      </p:sp>
      <p:sp>
        <p:nvSpPr>
          <p:cNvPr id="36" name="Shape 34"/>
          <p:cNvSpPr/>
          <p:nvPr/>
        </p:nvSpPr>
        <p:spPr>
          <a:xfrm>
            <a:off x="4681728" y="3584448"/>
            <a:ext cx="4297680" cy="347472"/>
          </a:xfrm>
          <a:prstGeom prst="rect">
            <a:avLst/>
          </a:prstGeom>
          <a:solidFill>
            <a:srgbClr val="1B3A5C"/>
          </a:solidFill>
          <a:ln w="12700">
            <a:solidFill>
              <a:srgbClr val="1B3A5C"/>
            </a:solidFill>
            <a:prstDash val="solid"/>
          </a:ln>
        </p:spPr>
      </p:sp>
      <p:sp>
        <p:nvSpPr>
          <p:cNvPr id="37" name="Text 35"/>
          <p:cNvSpPr/>
          <p:nvPr/>
        </p:nvSpPr>
        <p:spPr>
          <a:xfrm>
            <a:off x="4773168" y="3630168"/>
            <a:ext cx="3200400" cy="25603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Lab 6: Temperature Converter (Lifting State)</a:t>
            </a:r>
            <a:endParaRPr lang="en-US" sz="1200" dirty="0"/>
          </a:p>
        </p:txBody>
      </p:sp>
      <p:sp>
        <p:nvSpPr>
          <p:cNvPr id="38" name="Shape 36"/>
          <p:cNvSpPr/>
          <p:nvPr/>
        </p:nvSpPr>
        <p:spPr>
          <a:xfrm>
            <a:off x="8019288" y="3630168"/>
            <a:ext cx="868680" cy="256032"/>
          </a:xfrm>
          <a:prstGeom prst="rect">
            <a:avLst/>
          </a:prstGeom>
          <a:solidFill>
            <a:srgbClr val="EF4444"/>
          </a:solidFill>
          <a:ln w="12700">
            <a:solidFill>
              <a:srgbClr val="EF4444"/>
            </a:solidFill>
            <a:prstDash val="solid"/>
          </a:ln>
        </p:spPr>
      </p:sp>
      <p:sp>
        <p:nvSpPr>
          <p:cNvPr id="39" name="Text 37"/>
          <p:cNvSpPr/>
          <p:nvPr/>
        </p:nvSpPr>
        <p:spPr>
          <a:xfrm>
            <a:off x="8019288" y="3630168"/>
            <a:ext cx="86868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Hard</a:t>
            </a:r>
            <a:endParaRPr lang="en-US" sz="1000" dirty="0"/>
          </a:p>
        </p:txBody>
      </p:sp>
      <p:sp>
        <p:nvSpPr>
          <p:cNvPr id="40" name="Text 38"/>
          <p:cNvSpPr/>
          <p:nvPr/>
        </p:nvSpPr>
        <p:spPr>
          <a:xfrm>
            <a:off x="4773168" y="3995928"/>
            <a:ext cx="4114800" cy="749808"/>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Build Celsius and Fahrenheit input boxes. Use lifting state to sync values via a parent App component.</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Shape 2"/>
          <p:cNvSpPr/>
          <p:nvPr/>
        </p:nvSpPr>
        <p:spPr>
          <a:xfrm>
            <a:off x="1371600" y="914400"/>
            <a:ext cx="6400800" cy="3291840"/>
          </a:xfrm>
          <a:prstGeom prst="rect">
            <a:avLst/>
          </a:prstGeom>
          <a:solidFill>
            <a:srgbClr val="1B3A5C">
              <a:alpha val="85000"/>
            </a:srgbClr>
          </a:solidFill>
          <a:ln w="25400">
            <a:solidFill>
              <a:srgbClr val="0EA5E9"/>
            </a:solidFill>
            <a:prstDash val="solid"/>
          </a:ln>
          <a:effectLst>
            <a:outerShdw blurRad="101600" dist="38100" dir="8100000" algn="bl" rotWithShape="0">
              <a:srgbClr val="000000">
                <a:alpha val="12000"/>
              </a:srgbClr>
            </a:outerShdw>
          </a:effectLst>
        </p:spPr>
      </p:sp>
      <p:sp>
        <p:nvSpPr>
          <p:cNvPr id="5" name="Text 3"/>
          <p:cNvSpPr/>
          <p:nvPr/>
        </p:nvSpPr>
        <p:spPr>
          <a:xfrm>
            <a:off x="1554480" y="1505601"/>
            <a:ext cx="6035040" cy="502920"/>
          </a:xfrm>
          <a:prstGeom prst="rect">
            <a:avLst/>
          </a:prstGeom>
          <a:noFill/>
          <a:ln/>
        </p:spPr>
        <p:txBody>
          <a:bodyPr wrap="square" rtlCol="0" anchor="ctr"/>
          <a:lstStyle/>
          <a:p>
            <a:pPr marL="0" indent="0" algn="ctr">
              <a:buNone/>
            </a:pPr>
            <a:r>
              <a:rPr lang="en-US" sz="2200" b="1" dirty="0">
                <a:solidFill>
                  <a:srgbClr val="0EA5E9"/>
                </a:solidFill>
                <a:latin typeface="Trebuchet MS" pitchFamily="34" charset="0"/>
                <a:ea typeface="Trebuchet MS" pitchFamily="34" charset="-122"/>
                <a:cs typeface="Trebuchet MS" pitchFamily="34" charset="-120"/>
              </a:rPr>
              <a:t>Unit 4 Complete!</a:t>
            </a:r>
            <a:endParaRPr lang="en-US" sz="2200" dirty="0"/>
          </a:p>
        </p:txBody>
      </p:sp>
      <p:sp>
        <p:nvSpPr>
          <p:cNvPr id="6" name="Shape 4"/>
          <p:cNvSpPr/>
          <p:nvPr/>
        </p:nvSpPr>
        <p:spPr>
          <a:xfrm>
            <a:off x="2926080" y="2054241"/>
            <a:ext cx="3291840" cy="36576"/>
          </a:xfrm>
          <a:prstGeom prst="rect">
            <a:avLst/>
          </a:prstGeom>
          <a:solidFill>
            <a:srgbClr val="0EA5E9"/>
          </a:solidFill>
          <a:ln w="12700">
            <a:solidFill>
              <a:srgbClr val="0EA5E9"/>
            </a:solidFill>
            <a:prstDash val="solid"/>
          </a:ln>
        </p:spPr>
      </p:sp>
      <p:sp>
        <p:nvSpPr>
          <p:cNvPr id="7" name="Text 5"/>
          <p:cNvSpPr/>
          <p:nvPr/>
        </p:nvSpPr>
        <p:spPr>
          <a:xfrm>
            <a:off x="1554480" y="2145681"/>
            <a:ext cx="6035040" cy="457200"/>
          </a:xfrm>
          <a:prstGeom prst="rect">
            <a:avLst/>
          </a:prstGeom>
          <a:noFill/>
          <a:ln/>
        </p:spPr>
        <p:txBody>
          <a:bodyPr wrap="square" rtlCol="0" anchor="ctr"/>
          <a:lstStyle/>
          <a:p>
            <a:pPr marL="0" indent="0" algn="ctr">
              <a:buNone/>
            </a:pPr>
            <a:r>
              <a:rPr lang="en-US" sz="1800" dirty="0">
                <a:solidFill>
                  <a:srgbClr val="FFFFFF"/>
                </a:solidFill>
                <a:latin typeface="Trebuchet MS" pitchFamily="34" charset="0"/>
                <a:ea typeface="Trebuchet MS" pitchFamily="34" charset="-122"/>
                <a:cs typeface="Trebuchet MS" pitchFamily="34" charset="-120"/>
              </a:rPr>
              <a:t>React JS – Advanced Client Side Programming</a:t>
            </a:r>
            <a:endParaRPr lang="en-US" sz="1800" dirty="0"/>
          </a:p>
        </p:txBody>
      </p:sp>
      <p:sp>
        <p:nvSpPr>
          <p:cNvPr id="8" name="Text 6"/>
          <p:cNvSpPr/>
          <p:nvPr/>
        </p:nvSpPr>
        <p:spPr>
          <a:xfrm>
            <a:off x="1554480" y="2648601"/>
            <a:ext cx="6035040" cy="822960"/>
          </a:xfrm>
          <a:prstGeom prst="rect">
            <a:avLst/>
          </a:prstGeom>
          <a:noFill/>
          <a:ln/>
        </p:spPr>
        <p:txBody>
          <a:bodyPr wrap="square" rtlCol="0" anchor="ctr"/>
          <a:lstStyle/>
          <a:p>
            <a:pPr marL="0" indent="0" algn="ctr">
              <a:buNone/>
            </a:pPr>
            <a:r>
              <a:rPr lang="en-US" sz="1400" dirty="0">
                <a:solidFill>
                  <a:srgbClr val="A0C4E8"/>
                </a:solidFill>
                <a:latin typeface="Calibri" pitchFamily="34" charset="0"/>
                <a:ea typeface="Calibri" pitchFamily="34" charset="-122"/>
                <a:cs typeface="Calibri" pitchFamily="34" charset="-120"/>
              </a:rPr>
              <a:t>Unit 4</a:t>
            </a:r>
            <a:endParaRPr lang="en-US" sz="1400" dirty="0"/>
          </a:p>
          <a:p>
            <a:pPr marL="0" indent="0" algn="ctr">
              <a:buNone/>
            </a:pPr>
            <a:r>
              <a:rPr lang="en-US" sz="1150" dirty="0">
                <a:solidFill>
                  <a:srgbClr val="A0C4E8"/>
                </a:solidFill>
                <a:latin typeface="Calibri" pitchFamily="34" charset="0"/>
                <a:ea typeface="Calibri" pitchFamily="34" charset="-122"/>
                <a:cs typeface="Calibri" pitchFamily="34" charset="-120"/>
              </a:rPr>
              <a:t>Topics Covered: ReactDOM · JSX · Components · Props · State · Lifecycle · Events · Fetch · LocalStorage · Lifting State · Composition</a:t>
            </a:r>
            <a:endParaRPr lang="en-US" sz="1400" dirty="0"/>
          </a:p>
        </p:txBody>
      </p:sp>
      <p:sp>
        <p:nvSpPr>
          <p:cNvPr id="10" name="Text 8"/>
          <p:cNvSpPr/>
          <p:nvPr/>
        </p:nvSpPr>
        <p:spPr>
          <a:xfrm>
            <a:off x="457200" y="4617720"/>
            <a:ext cx="8229600" cy="274320"/>
          </a:xfrm>
          <a:prstGeom prst="rect">
            <a:avLst/>
          </a:prstGeom>
          <a:noFill/>
          <a:ln/>
        </p:spPr>
        <p:txBody>
          <a:bodyPr wrap="square" rtlCol="0" anchor="ctr"/>
          <a:lstStyle/>
          <a:p>
            <a:pPr marL="0" indent="0" algn="ctr">
              <a:buNone/>
            </a:pPr>
            <a:r>
              <a:rPr lang="en-US" sz="1100" dirty="0">
                <a:solidFill>
                  <a:srgbClr val="4A7A9B"/>
                </a:solidFill>
                <a:latin typeface="Calibri" pitchFamily="34" charset="0"/>
                <a:ea typeface="Calibri" pitchFamily="34" charset="-122"/>
                <a:cs typeface="Calibri" pitchFamily="34" charset="-120"/>
              </a:rPr>
              <a:t>MR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TotalTime>
  <Words>5261</Words>
  <Application>Microsoft Office PowerPoint</Application>
  <PresentationFormat>On-screen Show (16:9)</PresentationFormat>
  <Paragraphs>789</Paragraphs>
  <Slides>45</Slides>
  <Notes>45</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vt:lpstr>
      <vt:lpstr>Consolas</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Advanced Client Side Programming – React JS</dc:title>
  <dc:subject>PptxGenJS Presentation</dc:subject>
  <dc:creator>PptxGenJS</dc:creator>
  <cp:lastModifiedBy>Mitul Rathod</cp:lastModifiedBy>
  <cp:revision>19</cp:revision>
  <dcterms:created xsi:type="dcterms:W3CDTF">2026-04-12T13:32:46Z</dcterms:created>
  <dcterms:modified xsi:type="dcterms:W3CDTF">2026-04-16T16:24:34Z</dcterms:modified>
</cp:coreProperties>
</file>