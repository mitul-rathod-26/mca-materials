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85" r:id="rId8"/>
    <p:sldId id="262" r:id="rId9"/>
    <p:sldId id="286" r:id="rId10"/>
    <p:sldId id="263" r:id="rId11"/>
    <p:sldId id="264" r:id="rId12"/>
    <p:sldId id="287" r:id="rId13"/>
    <p:sldId id="265" r:id="rId14"/>
    <p:sldId id="266" r:id="rId15"/>
    <p:sldId id="288" r:id="rId16"/>
    <p:sldId id="289" r:id="rId17"/>
    <p:sldId id="290" r:id="rId18"/>
    <p:sldId id="267" r:id="rId19"/>
    <p:sldId id="291" r:id="rId20"/>
    <p:sldId id="292" r:id="rId21"/>
    <p:sldId id="293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94" r:id="rId37"/>
    <p:sldId id="295" r:id="rId38"/>
    <p:sldId id="296" r:id="rId39"/>
    <p:sldId id="297" r:id="rId40"/>
    <p:sldId id="298" r:id="rId41"/>
    <p:sldId id="299" r:id="rId42"/>
    <p:sldId id="282" r:id="rId43"/>
    <p:sldId id="283" r:id="rId44"/>
    <p:sldId id="284" r:id="rId4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23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C252C-E455-93BC-894E-ED32BF8F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6285E-D1F9-9F74-1F89-793287804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1FDED-0676-A79F-761A-F2EA2AE82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20021-3BD5-850F-A456-734079138C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74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62B4-20E8-3DD3-30E8-7A2EB1E2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82F85-E675-3ED5-4BEF-90DFB4628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12202-4016-1460-8AA7-D532F0B39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D8CD4-3553-7F85-9DC6-93D447E8A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05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383D-CBC9-F4E1-5DA7-777E8466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E6358-1B7F-1AF8-4BC7-1BDFD301F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5290-DEF5-8949-09D4-A105F760B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D528E-F51C-CB36-3024-74C328C0F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84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839B1-0056-DEA4-28B8-B69A6A67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DBCD7-13A6-80EF-249E-230594B16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65BC5-A1D0-BA84-61C4-D05296E76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0EFCE-5E33-8F11-EC6D-02DAAD0D2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72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03E5-644A-FF29-DEFF-ACD1EC06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947CF-0C26-C193-1180-3E97F0D4A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8F36C-BA5E-8B78-350A-AE9430438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C4EF-28E5-EB39-1C05-AEF8561B3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19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FCC74-3B26-4C40-DB15-E712F0B5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9820E-0F46-4CB4-6FE1-D51FCFB14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37B7D-8C6F-9743-E3E3-9FDB2148E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8D94B-D542-D879-4836-032DD8504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90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2E9B-51C9-DE41-94DE-170B0FFE4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34FEF-47A1-E738-5271-158D28277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0292A-91C5-534E-DD4C-CF40510B1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6A3A-BC88-294D-856E-2EB564CCD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08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C8F3C-6C0F-53C8-9D8C-B1D01FF1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AF11A-2548-8119-0316-997B43318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C1C2A-23F4-392D-20ED-E173407FA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5B3A8-4D12-0DE7-6916-E12EDD108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25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8617-0485-5405-4871-A6E3A723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569E8-8361-2CD8-B024-583CC1FFC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4DA42-079E-C7DF-EE2C-069BF30CD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8ABB-1C54-5199-9B58-3225CAFEE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259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54B72-5056-1723-4E18-1297DF7B1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0D43D-2DA8-9D83-1CBB-F645ECDCA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D86AD-EF84-6806-85B2-7940BD2B4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16CC8-624E-60A2-7B2A-ACACD14C6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198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595C-3630-CEAB-F21D-AC381C53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6B2C8-56B5-FA46-3E22-ADF1052A2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FDEA3-758B-FD3C-489C-ED881240C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E57AC-3405-5705-0311-2FE6A4EFA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096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50CB-EA14-1913-749D-BE1F2659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ECEE4-D9C5-3608-F928-16FB6FB6E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EAA1C-861B-1927-22C0-CFB7BF1AB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71687-A4B5-CFE9-50C0-2D2742E47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871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69410-2B09-875B-2FB3-3309E392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41DF5-ACA4-E3D5-0844-52FCDAC02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A91F1-27E7-3EE2-D9DC-CB28C9BD3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9E462-39EE-274F-D20B-347337681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467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ECC19-4A22-5D5D-DB1A-0DC1E7D7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3B20A-D856-62AF-3DD6-658F29304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769C3-B88F-FE7D-3F9D-130E6DAB4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FDA1-C119-322B-595E-32470B820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6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try/download/communit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godb.com/products/platform/atlas-database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1645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Node JS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Database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834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 |  Course Code: MC02094041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274320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74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&amp; MongoDB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603504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6035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Shell Queries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932688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9326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Parsing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261872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261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+ MongoDB CRUD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159105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5910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NodeJS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1920240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920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in NodeJS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2249424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494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4480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  ·  25% Weightage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Unit 3 Topics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097280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NoSQL Databases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93392"/>
            <a:ext cx="50292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993392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System Overview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9504"/>
            <a:ext cx="502920" cy="685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889504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999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Querying with MongoDB Shell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85616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85616"/>
            <a:ext cx="50292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3785616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8953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Parsing in Express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97280"/>
            <a:ext cx="50292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1097280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12070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MongoDB Connection &amp; CRUD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993392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993392"/>
            <a:ext cx="50292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1993392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2103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SQL Databases from NodeJS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9504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89504"/>
            <a:ext cx="502920" cy="6858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2889504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2999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Cookies in NodeJS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785616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785616"/>
            <a:ext cx="502920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4681728" y="3785616"/>
            <a:ext cx="475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38953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with NodeJS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NoSQL Databases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NoSQL? Why use it? Types of NoSQL databases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NoSQL?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= "Not Only SQL"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databases do NOT use the traditional table-row structure of Relational Databases (RDBMS).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designed to handle large volumes of unstructured or semi-structured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868680"/>
            <a:ext cx="3200400" cy="65836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896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06440" y="1143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Strozz, 1998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200400" cy="65836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for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06440" y="1965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SQL / Not 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514600"/>
            <a:ext cx="3200400" cy="65836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788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Facebook, Twitter, Amazon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337560"/>
            <a:ext cx="3200400" cy="65836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3611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Real-time web apps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1945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a fixed schema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store structured, semi-structured, unstructured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distributed data stores with huge storage needs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05656"/>
            <a:ext cx="8412480" cy="7315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71871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of SQL like a spreadsheet (fixed rows &amp; columns). NoSQL is like a folder of notes — each note can have different content!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 — Key Differences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138160" cy="3931921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RDBMS (SQL)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(in a table)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/ Key-Value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— must define before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— no fixed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across multiple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documents (no joins)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(upgrade hardware)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(add more servers)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PostgreSQL, Oracle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Redis, Cassandra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Transactions, financial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data, real-time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NoSQL? When to Use It?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companies like Google, Facebook &amp; Amazon chose NoSQL: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gets slow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massive data volumes, SQL response time degrades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13441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SQL is costly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hardware (vertical scaling) is expensive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schema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fields in SQL requires ALTER TABLE (risky)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6700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works naturally across multiple servers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NoSQL when: Data is huge &amp; growing  ·  Schema changes frequently  ·  No complex joins needed  ·  Horizontal scaling is required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>
            <a:extLst>
              <a:ext uri="{FF2B5EF4-FFF2-40B4-BE49-F238E27FC236}">
                <a16:creationId xmlns:a16="http://schemas.microsoft.com/office/drawing/2014/main" id="{39226FE8-FCA1-51C5-A19A-90B1A3B02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88" y="281732"/>
            <a:ext cx="6946386" cy="458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7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NoSQL Databases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type. Data stored as key→value pairs. Very fast.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Redis, Memcached, DynamoDB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Caching, session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41605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as JSON/BSON documents. Each document can have different fields.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MongoDB, CouchDB, Cloudant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Content management, user profiles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41605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(Tabular)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columns instead of rows. Great for analytics.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HBase, BigTable, Cassandra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Analytics, time-series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34640"/>
            <a:ext cx="41605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nodes and edges (relationships).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Neo4j, Amazon Neptune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Social networks, recommendation engines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64156-8860-1D63-4097-BA0A976C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F00E9C-FEEB-A6A9-0313-15106F46174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B8BBE3-708F-5755-028B-64C8485E1E4A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GO FOR NOSQL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FDC2DE-622A-477B-3ECF-42195A644049}"/>
              </a:ext>
            </a:extLst>
          </p:cNvPr>
          <p:cNvSpPr/>
          <p:nvPr/>
        </p:nvSpPr>
        <p:spPr>
          <a:xfrm>
            <a:off x="274320" y="822960"/>
            <a:ext cx="8040624" cy="219771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A08120-B524-4DE2-80FF-B39E0D8500ED}"/>
              </a:ext>
            </a:extLst>
          </p:cNvPr>
          <p:cNvSpPr/>
          <p:nvPr/>
        </p:nvSpPr>
        <p:spPr>
          <a:xfrm>
            <a:off x="274320" y="822960"/>
            <a:ext cx="8040624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A64BFB4-E198-EC3C-FFC1-265C99872BF6}"/>
              </a:ext>
            </a:extLst>
          </p:cNvPr>
          <p:cNvSpPr/>
          <p:nvPr/>
        </p:nvSpPr>
        <p:spPr>
          <a:xfrm>
            <a:off x="384048" y="896112"/>
            <a:ext cx="700430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would want to choose NoSQL over relational database: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FAF2C5-75C5-A902-1EB9-B7B10AF2864D}"/>
              </a:ext>
            </a:extLst>
          </p:cNvPr>
          <p:cNvSpPr/>
          <p:nvPr/>
        </p:nvSpPr>
        <p:spPr>
          <a:xfrm>
            <a:off x="534519" y="1365021"/>
            <a:ext cx="7232094" cy="1374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sz="1000" dirty="0"/>
              <a:t>When you want to store and retrieve huge amount of data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sz="1000" dirty="0"/>
              <a:t>The relationship between the data you store is not that important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sz="1000" dirty="0"/>
              <a:t>The data is not structured and changing over time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sz="1000" dirty="0"/>
              <a:t>Constraints and Joins support is not required at database level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sz="1000" dirty="0"/>
              <a:t>The data is growing continuously and you need to scale the database regular to handle the data</a:t>
            </a:r>
            <a:endParaRPr lang="en-US" sz="95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3C2352C7-859A-30D1-F199-87030CDEF6FB}"/>
              </a:ext>
            </a:extLst>
          </p:cNvPr>
          <p:cNvSpPr/>
          <p:nvPr/>
        </p:nvSpPr>
        <p:spPr>
          <a:xfrm>
            <a:off x="294289" y="3245596"/>
            <a:ext cx="8040624" cy="17691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10AE751B-782F-CE35-BE6F-947774B27FA1}"/>
              </a:ext>
            </a:extLst>
          </p:cNvPr>
          <p:cNvSpPr/>
          <p:nvPr/>
        </p:nvSpPr>
        <p:spPr>
          <a:xfrm>
            <a:off x="294289" y="3245595"/>
            <a:ext cx="8040624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B4163D1F-B6A6-1D53-3350-FE3F1BE6F979}"/>
              </a:ext>
            </a:extLst>
          </p:cNvPr>
          <p:cNvSpPr/>
          <p:nvPr/>
        </p:nvSpPr>
        <p:spPr>
          <a:xfrm>
            <a:off x="404017" y="3318747"/>
            <a:ext cx="700430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NOSQL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4DEA61C1-C550-5CB8-1AEB-DA082A5E97A2}"/>
              </a:ext>
            </a:extLst>
          </p:cNvPr>
          <p:cNvSpPr/>
          <p:nvPr/>
        </p:nvSpPr>
        <p:spPr>
          <a:xfrm>
            <a:off x="534519" y="3582072"/>
            <a:ext cx="7232094" cy="101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000" dirty="0"/>
              <a:t>High scalability</a:t>
            </a:r>
            <a:endParaRPr lang="en-US" sz="1000" dirty="0"/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000" dirty="0"/>
              <a:t>High Availability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795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System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MongoDB? Architecture, Features, Why use MongoDB?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MongoDB?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document-oriented NoSQL database used for high-volume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Collections and Documents instead of Tables and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key-value pairs stored in BSON format (Binary JSON)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= equivalent of a table in RDBMS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= equivalent of a row/record in RDBMS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Emerged in the mid-2000s — became very popular for web apps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Schema-less — different documents in a collection can have different fields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804672"/>
            <a:ext cx="338328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804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 →  MongoDB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152144"/>
            <a:ext cx="3383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95160" y="1188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1655064"/>
            <a:ext cx="3383280" cy="47548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2157984"/>
            <a:ext cx="3383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2194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2660904"/>
            <a:ext cx="3383280" cy="47548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2697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0" y="3163824"/>
            <a:ext cx="3383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507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Real-world analogy: A Collection is like a folder of student records. Each record (Document) can have different fields — one student has email, another has phone.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925D5-1A8A-5688-CD3F-C9B0B181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D66679-6103-212E-20C5-0DF531B9ACDA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54028A-5D2C-D6BF-75C9-79F9101E98E4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MongoDB?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C0D7C-6B32-8B50-BCD3-24998BEC31B4}"/>
              </a:ext>
            </a:extLst>
          </p:cNvPr>
          <p:cNvSpPr/>
          <p:nvPr/>
        </p:nvSpPr>
        <p:spPr>
          <a:xfrm>
            <a:off x="320040" y="99060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using tables and rows as in the traditional relational databases, MongoDB makes use of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consist of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which are the basic unit of data in MongoDB.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contain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of documents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function which is the equivalent of relational database tables.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database which came into light around the mid-2000s.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document-oriented, schema-less database that stores data in JSON-like BSON documents. It has many features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scalability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framework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read/write operations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collections</a:t>
            </a:r>
            <a:endParaRPr lang="en-US" sz="13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182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Architecture — Key Components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document. Auto-generated if not provided.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MongoDB documents — equivalent to an RDBMS table.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3736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01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holding multiple collections.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73736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01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record stored as BSON (Binary JSON) key-value pairs.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5176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name-value pair inside a document — equivalent to a column.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651760"/>
            <a:ext cx="40690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65176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the result set of a query.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3630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MongoDB Document  (Student Collection):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913632"/>
            <a:ext cx="8366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ObjectId("64a1b2c3d4e5f6a7b8c9d0e1"),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"Raj Patel",  "age": 22,  "city": "Surat",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"courses": ["FSD", "AI", "Cloud"],  "active": true 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Features &amp; Why Use MongoDB?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697480" cy="129844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data across multiple servers for horizontal scaling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36392" y="822960"/>
            <a:ext cx="2697480" cy="129844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machines instead of upgrading 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6752" y="822960"/>
            <a:ext cx="2697480" cy="129844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ensures data is never lost even if a server fails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31720"/>
            <a:ext cx="2697480" cy="129844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Read/Write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speed — no JOIN overhead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36392" y="2331720"/>
            <a:ext cx="2697480" cy="129844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4612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pipeline for complex data analysis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6752" y="2331720"/>
            <a:ext cx="2697480" cy="129844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2648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rules can be applied per collection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FBD62-9017-E6F0-E1C2-78C67B29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286EC3-A015-056E-417A-3B440057CC4F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26ECAC-B04E-15CE-B7DE-30B6272325CB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00FE48-7613-2769-2F7E-5BFD9775A130}"/>
              </a:ext>
            </a:extLst>
          </p:cNvPr>
          <p:cNvSpPr/>
          <p:nvPr/>
        </p:nvSpPr>
        <p:spPr>
          <a:xfrm>
            <a:off x="320040" y="99060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_id : &lt;</a:t>
            </a:r>
            <a:r>
              <a:rPr lang="en-US" sz="13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&gt;,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3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CustomerName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Tom,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Order: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{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13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111,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Product: Pen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Quantity: 5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}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90F3DE5-51D6-1B78-C889-7EF8F3CFF75A}"/>
              </a:ext>
            </a:extLst>
          </p:cNvPr>
          <p:cNvSpPr/>
          <p:nvPr/>
        </p:nvSpPr>
        <p:spPr>
          <a:xfrm>
            <a:off x="5486400" y="1152144"/>
            <a:ext cx="33832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E88BC2-7B80-220A-3EAF-4A29DCF5CB81}"/>
              </a:ext>
            </a:extLst>
          </p:cNvPr>
          <p:cNvSpPr/>
          <p:nvPr/>
        </p:nvSpPr>
        <p:spPr>
          <a:xfrm>
            <a:off x="4655820" y="2956560"/>
            <a:ext cx="1668780" cy="9525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Example of how data can be embedded in a document </a:t>
            </a:r>
            <a:endParaRPr lang="en-IN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A4FF09E6-91A5-0E40-A27C-7BC81D53D8F7}"/>
              </a:ext>
            </a:extLst>
          </p:cNvPr>
          <p:cNvSpPr/>
          <p:nvPr/>
        </p:nvSpPr>
        <p:spPr>
          <a:xfrm>
            <a:off x="3368040" y="2907030"/>
            <a:ext cx="1287780" cy="100203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16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ECBB6-0A0F-682F-B6DE-052754478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4E7DB9-CDCD-3524-DE89-D111D0BCA4C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21029B-1A42-45A4-6AAD-D9CDDC50B1E8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301FD8-63B0-18F8-A307-C3732DBB0878}"/>
              </a:ext>
            </a:extLst>
          </p:cNvPr>
          <p:cNvSpPr/>
          <p:nvPr/>
        </p:nvSpPr>
        <p:spPr>
          <a:xfrm>
            <a:off x="320040" y="1296924"/>
            <a:ext cx="5189220" cy="324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{</a:t>
            </a:r>
            <a:br>
              <a:rPr lang="en-US" b="1" dirty="0"/>
            </a:br>
            <a:r>
              <a:rPr lang="en-US" b="1" dirty="0"/>
              <a:t>	</a:t>
            </a:r>
            <a:r>
              <a:rPr lang="en-US" dirty="0"/>
              <a:t>“_id”: Object(‘69b993efc72d5c0211f2a727’),</a:t>
            </a:r>
          </a:p>
          <a:p>
            <a:pPr lvl="2"/>
            <a:r>
              <a:rPr lang="en-US" dirty="0"/>
              <a:t>“name”: "Jeel“,</a:t>
            </a:r>
          </a:p>
          <a:p>
            <a:pPr lvl="2"/>
            <a:r>
              <a:rPr lang="en-US" dirty="0"/>
              <a:t>“course”: "MCA“,</a:t>
            </a:r>
          </a:p>
          <a:p>
            <a:pPr lvl="2"/>
            <a:r>
              <a:rPr lang="en-US" dirty="0"/>
              <a:t>“</a:t>
            </a:r>
            <a:r>
              <a:rPr lang="en-US" dirty="0" err="1"/>
              <a:t>sem</a:t>
            </a:r>
            <a:r>
              <a:rPr lang="en-US" dirty="0"/>
              <a:t>”: 2,</a:t>
            </a:r>
          </a:p>
          <a:p>
            <a:pPr lvl="2"/>
            <a:r>
              <a:rPr lang="en-US" dirty="0"/>
              <a:t>“mobile”: “+91 6352565458”,</a:t>
            </a:r>
          </a:p>
          <a:p>
            <a:pPr>
              <a:lnSpc>
                <a:spcPct val="150000"/>
              </a:lnSpc>
            </a:pP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},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{},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F40FD9-9C16-FDB9-53ED-86C0D572E986}"/>
              </a:ext>
            </a:extLst>
          </p:cNvPr>
          <p:cNvSpPr/>
          <p:nvPr/>
        </p:nvSpPr>
        <p:spPr>
          <a:xfrm>
            <a:off x="182880" y="1152144"/>
            <a:ext cx="5478780" cy="3579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7B49194-44EE-052A-20D7-798BACDAEDEA}"/>
              </a:ext>
            </a:extLst>
          </p:cNvPr>
          <p:cNvSpPr/>
          <p:nvPr/>
        </p:nvSpPr>
        <p:spPr>
          <a:xfrm>
            <a:off x="1242060" y="778764"/>
            <a:ext cx="124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D9DDE5-08E1-7561-4900-A9DDAE2306B9}"/>
              </a:ext>
            </a:extLst>
          </p:cNvPr>
          <p:cNvSpPr/>
          <p:nvPr/>
        </p:nvSpPr>
        <p:spPr>
          <a:xfrm>
            <a:off x="461010" y="1565148"/>
            <a:ext cx="4994910" cy="24262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DCE9B671-7CB4-6879-ABD6-D119058918C9}"/>
              </a:ext>
            </a:extLst>
          </p:cNvPr>
          <p:cNvSpPr/>
          <p:nvPr/>
        </p:nvSpPr>
        <p:spPr>
          <a:xfrm>
            <a:off x="3459480" y="3893820"/>
            <a:ext cx="124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1A62E07-7EE7-8CA2-0F51-6C47A18E34C9}"/>
              </a:ext>
            </a:extLst>
          </p:cNvPr>
          <p:cNvSpPr/>
          <p:nvPr/>
        </p:nvSpPr>
        <p:spPr>
          <a:xfrm>
            <a:off x="1333500" y="4760976"/>
            <a:ext cx="124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95B82D-97AC-5FF8-5945-8D7C50C3EDD0}"/>
              </a:ext>
            </a:extLst>
          </p:cNvPr>
          <p:cNvCxnSpPr>
            <a:cxnSpLocks/>
          </p:cNvCxnSpPr>
          <p:nvPr/>
        </p:nvCxnSpPr>
        <p:spPr>
          <a:xfrm flipV="1">
            <a:off x="1562100" y="3421380"/>
            <a:ext cx="0" cy="139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530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F09FF-CE54-E342-6453-9F1708BC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D9371D-6E2D-7EBA-73A9-97A56DE9D1F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DAF6C5-A709-BE00-73A6-7C53AEB77C17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MongoDB?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FFAAD6-E08A-717D-C639-E188537801BB}"/>
              </a:ext>
            </a:extLst>
          </p:cNvPr>
          <p:cNvSpPr/>
          <p:nvPr/>
        </p:nvSpPr>
        <p:spPr>
          <a:xfrm>
            <a:off x="678180" y="716280"/>
            <a:ext cx="698754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Document-oriented: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MongoDB very flexible and adaptable to real business world situation and requirements.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queries: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supports searching by field, range queries, and regular expression searches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can be created to improve the performance of searches within MongoDB</a:t>
            </a:r>
          </a:p>
        </p:txBody>
      </p:sp>
    </p:spTree>
    <p:extLst>
      <p:ext uri="{BB962C8B-B14F-4D97-AF65-F5344CB8AC3E}">
        <p14:creationId xmlns:p14="http://schemas.microsoft.com/office/powerpoint/2010/main" val="10001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Querying with MongoDB Shell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Installing, connecting and running queries from the Mongo shell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C3791-7ACD-97F3-EE32-734C3F54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B4C7B6-0B04-0892-5313-8F608FD93C1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156D05-BC49-92AD-0E83-5B092DD26AB2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MONGODB MONGO SHELL?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D2D208-6B21-7CF4-B0A8-1F52DEBDBA55}"/>
              </a:ext>
            </a:extLst>
          </p:cNvPr>
          <p:cNvSpPr/>
          <p:nvPr/>
        </p:nvSpPr>
        <p:spPr>
          <a:xfrm>
            <a:off x="320040" y="822960"/>
            <a:ext cx="732282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Mongo shell is an interactive JavaScript interface that allows you to interact with MongoDB instances through the command line.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can be used for: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operations such as maintenance of database instances</a:t>
            </a:r>
          </a:p>
        </p:txBody>
      </p:sp>
    </p:spTree>
    <p:extLst>
      <p:ext uri="{BB962C8B-B14F-4D97-AF65-F5344CB8AC3E}">
        <p14:creationId xmlns:p14="http://schemas.microsoft.com/office/powerpoint/2010/main" val="3869131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8AA74-CCE5-D6F2-129C-16CC4429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6308EE-5AF7-A04A-799F-F576B595BE9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7F1B8F-AC92-3AC2-91A4-365ADF2A0765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MONGO SHELL FEATURES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937C64-0C89-7CFA-7F02-7AC86852DB4B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Mongo shell is the default client for the MongoDB database server.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command-line interface (CLI), where the input and output are all console-based.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MongoDB queries from the Mongo shell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data and perform administration operations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previous commands in the mongo shell with up and down arrow keys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error messages, so you know what went wrong with your commands</a:t>
            </a:r>
          </a:p>
        </p:txBody>
      </p:sp>
    </p:spTree>
    <p:extLst>
      <p:ext uri="{BB962C8B-B14F-4D97-AF65-F5344CB8AC3E}">
        <p14:creationId xmlns:p14="http://schemas.microsoft.com/office/powerpoint/2010/main" val="1314191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95FC1-C6E6-4D5A-D954-3D7D67E3C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4E4199-180B-380B-5DB6-87427377A85E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749B49-B86A-5E1B-6B08-D56318ACCB9F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MONGODB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077617-A45C-A52E-F8B2-CE6D52BEE760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https://www.mongodb.com/try/download/community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Atlas: </a:t>
            </a: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https://www.mongodb.com/products/platform/atlas-database</a:t>
            </a:r>
            <a:r>
              <a:rPr lang="en-IN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br>
              <a:rPr lang="en-IN" sz="1400" dirty="0"/>
            </a:br>
            <a:endParaRPr lang="en-US" sz="13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0999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Shell — What &amp; How to Connect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MongoDB Shell (mongosh) is an interactive JavaScript interface to work with MongoDB from the command 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32186"/>
            <a:ext cx="4023360" cy="263441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4173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MongoDB queries from the shell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JavaScript as its scripting language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data &amp; perform admin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↑↓ arrows to navigate command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Tab to auto-complete commands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helpful error messages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251960" cy="263441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1371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Connection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81728" y="1691640"/>
            <a:ext cx="4041648" cy="226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Install MongoDB from mongodb.com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Start MongoDB server: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 net start MongoDB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(or: mongod --dbpath /data/db)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Open a NEW terminal and type: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 mongo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(or &gt; mongosh)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You are now connected! 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Default port: 27017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different port: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&gt; mongo --port 28010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4288536"/>
            <a:ext cx="8366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GUI Alternatives to Shell: MongoDB Compass (Official GUI)  ·  Robo 3T  ·  NoSQLBooster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Compass if you prefer a visual interface over typing commands!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MongoDB Shell Commands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206241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dbs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all databases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 Student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(or create) a database named 'Student'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current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collections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all collections in current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db.users.insertOne({name:'Raj'})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one document into 'users'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db.users.find()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all documents from 'users'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db.users.find().forEach(printjson)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Pretty-print all documents as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db.users.findOne({name:'Raj'})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first matching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db.users.updateOne({name:'Raj'},{$set:{age:25}})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one matching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db.users.deleteOne({name:'Raj'})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first matching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help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all available shell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db.help()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all methods available on current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Parsing in Express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body-parser middleware and how to use it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Body-Parser &amp; Why Do We Need It?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submits a form or sends data via POST/PUT request, that data travels in the HTTP request body. Express cannot read this data by default — we need body-parser middleware.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914400"/>
          </a:xfrm>
          <a:prstGeom prst="rect">
            <a:avLst/>
          </a:prstGeom>
          <a:solidFill>
            <a:srgbClr val="F97316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" y="1901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POST request with form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31136" y="1691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965960" cy="914400"/>
          </a:xfrm>
          <a:prstGeom prst="rect">
            <a:avLst/>
          </a:prstGeom>
          <a:solidFill>
            <a:srgbClr val="F97316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41448" y="1901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body-parser middleware reads the body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79976" y="170173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965960" cy="9144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0288" y="1901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available as req.body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28816" y="170078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20840" y="1508760"/>
            <a:ext cx="1965960" cy="914400"/>
          </a:xfrm>
          <a:prstGeom prst="rect">
            <a:avLst/>
          </a:prstGeom>
          <a:solidFill>
            <a:srgbClr val="F97316">
              <a:alpha val="3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39128" y="1901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 handler can now use req.body.name, etc.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8595360" cy="2514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633472"/>
            <a:ext cx="4160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Install dependencies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body-parser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Setup in app.js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bodyParser = require('body-parser');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 to parse JSON bodies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app.use(bodyParser.json());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 to parse form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app.use(bodyParser.urlencoded({ extended: true }));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3F76D5F-05A4-8893-DB0E-2FF0DF08EE70}"/>
              </a:ext>
            </a:extLst>
          </p:cNvPr>
          <p:cNvSpPr/>
          <p:nvPr/>
        </p:nvSpPr>
        <p:spPr>
          <a:xfrm>
            <a:off x="4587233" y="2633472"/>
            <a:ext cx="4160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('/register',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email } = req.body;  // ✅ Works now!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console.log(name, email);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res.send('User registered: ' + name);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MongoDB Connection &amp; CRUD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NodeJS to MongoDB · Create · Read · Update · Delete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MongoDB Driver &amp; Connect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Create, Read, Update, Delete — the four basic database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63624"/>
            <a:ext cx="34547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>
              <a:solidFill>
                <a:srgbClr val="7DD3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950" dirty="0">
              <a:solidFill>
                <a:srgbClr val="7DD3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Install MongoDB driver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mongodb --save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Connect to MongoDB (index.js)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MongoClient } = require('mongodb');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Connection URL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uri = 'mongodb://127.0.0.1:27017';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 = new MongoClient(uri);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4C1E8DE-E50E-7A2F-F7C4-2C535CD90C39}"/>
              </a:ext>
            </a:extLst>
          </p:cNvPr>
          <p:cNvSpPr/>
          <p:nvPr/>
        </p:nvSpPr>
        <p:spPr>
          <a:xfrm>
            <a:off x="4101659" y="1269232"/>
            <a:ext cx="453258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>
              <a:solidFill>
                <a:srgbClr val="7DD3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connectDB()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client.connect();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console.log('✅ Connected to MongoDB!');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Select database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db = client.db('Student');  // Creates 'Student' DB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Create collection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db.createCollection('users');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console.log('✅ Collection created!');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console.error('❌ Error:', err);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client.close();  // Always close connection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connectDB();</a:t>
            </a:r>
            <a:endParaRPr lang="en-US" sz="9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EC12C8-6AFB-ADEE-E537-EF670027056F}"/>
              </a:ext>
            </a:extLst>
          </p:cNvPr>
          <p:cNvCxnSpPr>
            <a:cxnSpLocks/>
          </p:cNvCxnSpPr>
          <p:nvPr/>
        </p:nvCxnSpPr>
        <p:spPr>
          <a:xfrm>
            <a:off x="3670212" y="1432134"/>
            <a:ext cx="0" cy="26038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Adding Data to MongoDB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insertOne() — Add a single document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6052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2588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 = client.db('Student');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collection = db.collection('users');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ONE 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collection.insertOne({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'Raj Patel',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'Surat',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'active'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console.log('Inserted ID:', result.insertedId);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insertMany() — Add multiple documents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6052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2588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‘Meet', age: 20, city: 'Surat'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‘Akash', age: 24, city: 'Bardoli'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‘Pranav', age: 21, city: 'Vyara'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collection.insertMany(users);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console.log(`${result.insertedCount} inserted`);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Points: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879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auto-generates a unique _id for each document if you don't provide one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file: node insert.js  |  insertMany() returns the count of inserted documents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Fetching Data from MongoDB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findOne() — Find a single document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2057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80160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ONE document by 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await collection.findOne(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'Raj Patel'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(user)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console.log('Found:', user);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console.log('User not found.');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347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822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— Find all documents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2057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ALL documents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await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collection.find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toArray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console.log('All users:', users);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Filter: find active users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active = await collection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.find({ status: 'active' 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.toArray();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355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 — Filter data with conditions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8595360" cy="117043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840480"/>
            <a:ext cx="8321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Users aged more than 20: { age: { $gt: 20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Users in Surat: { city: 'Surat'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Users aged 18 to 25: { age: { $gte: 18, $lte: 25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results = await collection.find({ age: { $gt: 20 } }).toArray();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console.log(results);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— Modifying MongoDB Data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Change existing records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801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updateOne — change ONE 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r1 = await collection.updateOne(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'Raj Patel' },    // filter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city: 'Ahmedabad' } } // update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console.log(r1.matchedCount, r1.modifiedCount);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updateMany — change MULTIPLE records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r2 = await collection.updateMany(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city: 'Bardoli'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status: 'active'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console.log(`${r2.modifiedCount} updated`);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822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Remove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deleteOne — remove ONE 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r1 = await collection.deleteOne(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'Raj Patel'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console.log('Deleted:', r1.deletedCount);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deleteMany — remove MULTIPLE records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r2 = await collection.deleteMany(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status: 'Inactive'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console.log(`${r2.deletedCount} docs deleted`);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858768"/>
            <a:ext cx="2011680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insertOne() / insertMany()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23160" y="3858768"/>
            <a:ext cx="201168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findOne() / find()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3858768"/>
            <a:ext cx="201168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updateOne() / updateMany()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3858768"/>
            <a:ext cx="201168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deleteOne() / deleteMany()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SQL Databases from NodeJS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MySQL to NodeJS · Querying using mysql2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NodeJS — Setup &amp; CRUD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can also connect to traditional SQL databases like MySQL using the mysql2 npm package.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7553" y="1636458"/>
            <a:ext cx="3908272" cy="309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Install MySQL driver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mysql2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Create connection (db.js)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mysql = require('mysql2');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connection = mysql.createConnection({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'localhost',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'root',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'yourpassword',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'mydatabase'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connection.connect((err)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(err) { console.error('❌ Error:', err); return;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console.log('✅ Connected to MySQL!');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BCFA3E1-C468-A926-73FA-5E7F4EB4B1B8}"/>
              </a:ext>
            </a:extLst>
          </p:cNvPr>
          <p:cNvSpPr/>
          <p:nvPr/>
        </p:nvSpPr>
        <p:spPr>
          <a:xfrm>
            <a:off x="4574627" y="1545018"/>
            <a:ext cx="4203613" cy="2900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INSERT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sql = 'INSERT INTO users (name, email) VALUES (?, ?)';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values = ['Meera', 'meera@gmail.com'];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connection.query(sql, values, (err, result)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console.log('Inserted ID:', result.insertId);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4: SELECT / READ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connection.query('SELECT * FROM users', (err, results)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console.log('All users:', results);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5: Close connection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connection.end();</a:t>
            </a:r>
            <a:endParaRPr lang="en-US" sz="9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C645A1-2788-E5C7-947F-AF2D2429FE91}"/>
              </a:ext>
            </a:extLst>
          </p:cNvPr>
          <p:cNvCxnSpPr/>
          <p:nvPr/>
        </p:nvCxnSpPr>
        <p:spPr>
          <a:xfrm>
            <a:off x="4395425" y="1545018"/>
            <a:ext cx="0" cy="290085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Cookies in NodeJS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cookies? Setting, reading and deleting cookies with Express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— What Are They &amp; How to Use Them?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are small pieces of data stored in the user's browser and sent automatically with every HTTP request to the server.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651760" cy="822960"/>
          </a:xfrm>
          <a:prstGeom prst="rect">
            <a:avLst/>
          </a:prstGeom>
          <a:solidFill>
            <a:srgbClr val="FDF2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users logged 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261872"/>
            <a:ext cx="2651760" cy="822960"/>
          </a:xfrm>
          <a:prstGeom prst="rect">
            <a:avLst/>
          </a:prstGeom>
          <a:solidFill>
            <a:srgbClr val="FDF2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Preferences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language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261872"/>
            <a:ext cx="2651760" cy="822960"/>
          </a:xfrm>
          <a:prstGeom prst="rect">
            <a:avLst/>
          </a:prstGeom>
          <a:solidFill>
            <a:srgbClr val="FDF2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ad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8595360" cy="2761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1" y="2240280"/>
            <a:ext cx="47659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Install packages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cookie-parser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Setup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cookieParser = require('cookie-parser');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app.use(cookieParser()); // This reads cookies from requests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SET a cookie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app.get('/set-cookie',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res.cookie('username', ‘Meet',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900000,   // expires in 15 minutes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httpOnly: true // cannot be accessed by JavaScript- security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res.send('Cookie set! ✅');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2C1E86E-9C91-8940-C95C-3FC8A8F4B180}"/>
              </a:ext>
            </a:extLst>
          </p:cNvPr>
          <p:cNvSpPr/>
          <p:nvPr/>
        </p:nvSpPr>
        <p:spPr>
          <a:xfrm>
            <a:off x="5351860" y="2229244"/>
            <a:ext cx="3825245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4: READ a cookie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app.get('/get-cookie',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console.log(req.cookies.username); // ‘Meet'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res.send(req.cookies);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5: DELETE a cookie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app.get('/delete-cookie',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res.clearCookie('username');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res.send('Cookie deleted! 🗑️');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app.listen(5000);</a:t>
            </a:r>
            <a:endParaRPr lang="en-US" sz="95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92EE0B-DFB8-F0BB-00D6-23572F6A377C}"/>
              </a:ext>
            </a:extLst>
          </p:cNvPr>
          <p:cNvCxnSpPr/>
          <p:nvPr/>
        </p:nvCxnSpPr>
        <p:spPr>
          <a:xfrm>
            <a:off x="5177393" y="2434195"/>
            <a:ext cx="0" cy="21630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with NodeJS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Session &amp; Cookies · OAuth — Protecting your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578B8-5E6B-FDF8-CD73-B9239F1E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4A2C74-DE79-D488-EF69-72BC47FB040A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00B45E-CE4E-09E5-C59E-50EB22D3CED1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USER AUTHENTICATION WITH NODE.JS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407BD5-02E6-8A91-528C-91003F3A3DF1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is essential for securing applications.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Node.js, authentication can be implemented using JWT (JSON Web Tokens), session-based authentication, or OAuth (Google, Facebook, etc.).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of Authentication: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(Token-based)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Cookies-based authentication (Stateful authentication)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authentication (Google, Facebook, GitHub login)</a:t>
            </a:r>
          </a:p>
        </p:txBody>
      </p:sp>
    </p:spTree>
    <p:extLst>
      <p:ext uri="{BB962C8B-B14F-4D97-AF65-F5344CB8AC3E}">
        <p14:creationId xmlns:p14="http://schemas.microsoft.com/office/powerpoint/2010/main" val="1578497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37317-10FF-2E40-D509-1B7A375E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25F32-1998-FAC6-9C5A-C02594848C2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134978-7C12-1121-7C7B-92185285E70F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(TOKEN-BASED)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77705A-0C01-BEB2-E6DF-BA6C58E74CE3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REST APIs, stateless authentication, mobile apps.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Server generates JWT token → Sent to client → Used in requests for authentication.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-y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express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cookie-parser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3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framework.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JWT tokens.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passwords.</a:t>
            </a:r>
          </a:p>
        </p:txBody>
      </p:sp>
    </p:spTree>
    <p:extLst>
      <p:ext uri="{BB962C8B-B14F-4D97-AF65-F5344CB8AC3E}">
        <p14:creationId xmlns:p14="http://schemas.microsoft.com/office/powerpoint/2010/main" val="952171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A4EED-B789-3FCF-F19C-33AED6C6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72FA35-DCB1-55C0-72C2-569B12CFF7D8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B076B7-ACF8-80C7-56D6-F31AF5966F6F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(TOKEN-BASED)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4D9284-DB03-DAB7-7678-1E7C50C4AD0B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environment variables.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cookie-parser →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cookies.</a:t>
            </a:r>
          </a:p>
        </p:txBody>
      </p:sp>
    </p:spTree>
    <p:extLst>
      <p:ext uri="{BB962C8B-B14F-4D97-AF65-F5344CB8AC3E}">
        <p14:creationId xmlns:p14="http://schemas.microsoft.com/office/powerpoint/2010/main" val="3173114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30746-006D-B59B-6916-16C0DA8E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B54FAE-CF00-A631-51CC-11A894F5183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84807E-70E3-04FE-B4D5-E63C897F28E2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COOKIE-BASED AUTHENTICATION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BBC61B-3850-E080-2625-289C113F9DC0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Web applications that require stateful authentication.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Server stores session → Sends session ID as a cookie → Validates user for requests.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express-session connect-mongo mongoose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300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400" b="1" dirty="0"/>
              <a:t>Stateful</a:t>
            </a:r>
            <a:r>
              <a:rPr lang="en-US" sz="1400" dirty="0"/>
              <a:t> authentication means the server stores user session data and uses it to identify the user in future requests.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“Login → Server saves user → Gives session ID → Server checks saved data every time”</a:t>
            </a:r>
          </a:p>
          <a:p>
            <a:pPr algn="just">
              <a:lnSpc>
                <a:spcPct val="150000"/>
              </a:lnSpc>
            </a:pPr>
            <a:endParaRPr lang="en-US" sz="1300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8077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AA0DD-33BF-EA21-EE0D-D7FCFDA6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087445-B049-1F81-37C2-2A0194EB8FE4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C100E1-3BF0-A0CB-60DA-407ACBF157B9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AUTHENTICATION (GOOGLE, FACEBOOK, GITHUB)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6D5AF5-EFA1-AAB4-2AE6-78415A37EF67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Websites allowing login with Google, Facebook, etc.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Login with Google → Redirects to Google → Google returns user info → Server creates a session.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passport passport-google-oauth20 express-session</a:t>
            </a:r>
          </a:p>
        </p:txBody>
      </p:sp>
    </p:spTree>
    <p:extLst>
      <p:ext uri="{BB962C8B-B14F-4D97-AF65-F5344CB8AC3E}">
        <p14:creationId xmlns:p14="http://schemas.microsoft.com/office/powerpoint/2010/main" val="1761212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25AC3-F48A-0917-17EE-98D3046C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03D94F-E818-D57D-A688-68DDD7816C0E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AAACD3-652A-8D7A-1896-8B1E400F924D}"/>
              </a:ext>
            </a:extLst>
          </p:cNvPr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AUTHENTICATION METHOD TO CHOOSE?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0E206E-0A39-C8B6-8819-488C814B3610}"/>
              </a:ext>
            </a:extLst>
          </p:cNvPr>
          <p:cNvSpPr/>
          <p:nvPr/>
        </p:nvSpPr>
        <p:spPr>
          <a:xfrm>
            <a:off x="365760" y="655320"/>
            <a:ext cx="8412480" cy="38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300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005329-E06C-A23D-DE31-D0EDFAF75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490243"/>
              </p:ext>
            </p:extLst>
          </p:nvPr>
        </p:nvGraphicFramePr>
        <p:xfrm>
          <a:off x="743712" y="1511808"/>
          <a:ext cx="8080248" cy="2976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0192">
                  <a:extLst>
                    <a:ext uri="{9D8B030D-6E8A-4147-A177-3AD203B41FA5}">
                      <a16:colId xmlns:a16="http://schemas.microsoft.com/office/drawing/2014/main" val="146969666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814743419"/>
                    </a:ext>
                  </a:extLst>
                </a:gridCol>
              </a:tblGrid>
              <a:tr h="48176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Best For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528477"/>
                  </a:ext>
                </a:extLst>
              </a:tr>
              <a:tr h="831537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JWT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REST APIs, stateless authentication, mobile apps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07186"/>
                  </a:ext>
                </a:extLst>
              </a:tr>
              <a:tr h="831537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Sessions &amp; Cookies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Traditional web apps with session tracking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751843"/>
                  </a:ext>
                </a:extLst>
              </a:tr>
              <a:tr h="831537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OAuth (Google, Facebook, GitHub)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Social logins, third-party 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240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61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Methods —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= Verifying the identity of a user. The 3 main methods in NodeJS: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73152" cy="10241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JWT (JSON Web Token)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REST APIs, Mobile Apps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3350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Server creates JWT token → Client stores token → Sends token in each request header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1901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jsonwebtoken bcryptjs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68880"/>
            <a:ext cx="73152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14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Session &amp; Cookies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Web apps with session tracking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2374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Server creates session → Sends session ID as cookie → Validates session on each request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3090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express-session connect-mongo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57600"/>
            <a:ext cx="73152" cy="10241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03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OAuth (Social Login)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59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Websites with social logins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7124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Login with Google → Redirects to Google → Google returns user info → Server creates session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42793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passport passport-google-oauth20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274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Rule: REST API → JWT  |  Web App with State → Sessions  |  Social Login → OAuth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— Step-by-Step 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14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1" y="1097280"/>
            <a:ext cx="429022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Install: npm install express jsonwebtoken bcryptjs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jwt = require('jsonwebtoken');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bcrypt = require('bcryptjs');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SECRET = 'my_secret_key';  // Store in .env file!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---- REGISTER ROUTE ----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app.post('/register',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password } = req.body;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hashedPassword = await bcrypt.hash(password, 10);  // Hash password!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Save username + hashedPassword to database...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message: 'User registered ✅'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---- LOGIN ROUTE ----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app.post('/login',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password } = req.body;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Fetch user from DB... (example: const user = ...)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isValid = await bcrypt.compare(password, user.hashedPassword);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(!isValid) return res.status(401).json({ message: '❌ Invalid credentials' });</a:t>
            </a:r>
            <a:endParaRPr lang="en-US" sz="9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549E3E-8A75-56C2-FF5F-2C225B90CF14}"/>
              </a:ext>
            </a:extLst>
          </p:cNvPr>
          <p:cNvSpPr/>
          <p:nvPr/>
        </p:nvSpPr>
        <p:spPr>
          <a:xfrm>
            <a:off x="4987047" y="824011"/>
            <a:ext cx="3745473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  <a:p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Create JWT Token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jwt.sign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username }, SECRET, {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expiresIn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'1h' });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token });  // Send token to client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</a:p>
          <a:p>
            <a:pPr marL="0" indent="0">
              <a:buNone/>
            </a:pPr>
            <a:b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b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---- PROTECTED ROUTE (verifies token) ----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('/dashboard',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req.headers.authorization?.split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 ')[1];  // Bearer TOKEN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decoded =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jwt.verify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(token, SECRET);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`Welcome, ${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decoded.username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}! ✅`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(403).</a:t>
            </a:r>
            <a:r>
              <a:rPr lang="en-US" sz="95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'❌ Access denied'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8859F5-6A0C-D2B5-E82A-872041CE5A77}"/>
              </a:ext>
            </a:extLst>
          </p:cNvPr>
          <p:cNvCxnSpPr/>
          <p:nvPr/>
        </p:nvCxnSpPr>
        <p:spPr>
          <a:xfrm>
            <a:off x="4773038" y="1097280"/>
            <a:ext cx="0" cy="33385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Summary &amp; Quick Revision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1005840"/>
            <a:ext cx="208483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69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NoSQL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48132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Non-relational DB. Not Only SQL. Schema-less. 3 Types: Key-Value, Document, Column.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00584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1005840"/>
            <a:ext cx="2084832" cy="411480"/>
          </a:xfrm>
          <a:prstGeom prst="rect">
            <a:avLst/>
          </a:prstGeom>
          <a:solidFill>
            <a:srgbClr val="0D9488">
              <a:alpha val="8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69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MongoDB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48132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Document-oriented NoSQL DB. Collections = Tables, Documents = Rows, Fields = Columns.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05840"/>
            <a:ext cx="2084832" cy="411480"/>
          </a:xfrm>
          <a:prstGeom prst="rect">
            <a:avLst/>
          </a:prstGeom>
          <a:solidFill>
            <a:srgbClr val="0D9488">
              <a:alpha val="7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69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Mongo Shell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48132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MongoDB. Commands: show dbs, use, find(), insertOne(), updateOne(), deleteOne()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05840"/>
            <a:ext cx="2084832" cy="411480"/>
          </a:xfrm>
          <a:prstGeom prst="rect">
            <a:avLst/>
          </a:prstGeom>
          <a:solidFill>
            <a:srgbClr val="0D9488">
              <a:alpha val="6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069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Body-Parser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148132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middleware. Reads POST request body. Access data via req.body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" y="297180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" y="2971800"/>
            <a:ext cx="208483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035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NodeJS + MongoDB CRUD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344728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MongoClient → connect → db.collection → insertOne/find/updateOne/deleteOne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297180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77440" y="2971800"/>
            <a:ext cx="2084832" cy="411480"/>
          </a:xfrm>
          <a:prstGeom prst="rect">
            <a:avLst/>
          </a:prstGeom>
          <a:solidFill>
            <a:srgbClr val="0D9488">
              <a:alpha val="8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035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MySQL + NodeJS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44728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mysql2 → createConnection → query() for SQL operations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97180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971800"/>
            <a:ext cx="2084832" cy="411480"/>
          </a:xfrm>
          <a:prstGeom prst="rect">
            <a:avLst/>
          </a:prstGeom>
          <a:solidFill>
            <a:srgbClr val="0D9488">
              <a:alpha val="7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035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Cookies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44728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cookie-parser middleware. res.cookie() to SET, req.cookies to READ, res.clearCookie() to DELETE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971800"/>
            <a:ext cx="2084832" cy="173736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0" y="2971800"/>
            <a:ext cx="2084832" cy="411480"/>
          </a:xfrm>
          <a:prstGeom prst="rect">
            <a:avLst/>
          </a:prstGeom>
          <a:solidFill>
            <a:srgbClr val="0D9488">
              <a:alpha val="6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3035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Authentication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447288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(stateless APIs), Sessions/Cookies (web apps), OAuth (social logins)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Semester 2  ·  Full Stack Development  ·  Course Code: MC02094041  · MR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4268</Words>
  <Application>Microsoft Office PowerPoint</Application>
  <PresentationFormat>On-screen Show (16:9)</PresentationFormat>
  <Paragraphs>683</Paragraphs>
  <Slides>44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3 - Advanced Node JS and Database</dc:title>
  <dc:subject>PptxGenJS Presentation</dc:subject>
  <dc:creator>PptxGenJS</dc:creator>
  <cp:lastModifiedBy>Mitul Rathod</cp:lastModifiedBy>
  <cp:revision>20</cp:revision>
  <dcterms:created xsi:type="dcterms:W3CDTF">2026-03-17T03:54:53Z</dcterms:created>
  <dcterms:modified xsi:type="dcterms:W3CDTF">2026-04-09T17:33:43Z</dcterms:modified>
</cp:coreProperties>
</file>