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53"/>
  </p:notesMasterIdLst>
  <p:sldIdLst>
    <p:sldId id="257" r:id="rId5"/>
    <p:sldId id="259" r:id="rId6"/>
    <p:sldId id="260" r:id="rId7"/>
    <p:sldId id="261" r:id="rId8"/>
    <p:sldId id="262" r:id="rId9"/>
    <p:sldId id="263" r:id="rId10"/>
    <p:sldId id="264" r:id="rId11"/>
    <p:sldId id="269" r:id="rId12"/>
    <p:sldId id="270" r:id="rId13"/>
    <p:sldId id="271" r:id="rId14"/>
    <p:sldId id="266" r:id="rId15"/>
    <p:sldId id="265" r:id="rId16"/>
    <p:sldId id="267" r:id="rId17"/>
    <p:sldId id="268"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305" r:id="rId39"/>
    <p:sldId id="296" r:id="rId40"/>
    <p:sldId id="298" r:id="rId41"/>
    <p:sldId id="297" r:id="rId42"/>
    <p:sldId id="292" r:id="rId43"/>
    <p:sldId id="293" r:id="rId44"/>
    <p:sldId id="294" r:id="rId45"/>
    <p:sldId id="295" r:id="rId46"/>
    <p:sldId id="299" r:id="rId47"/>
    <p:sldId id="300" r:id="rId48"/>
    <p:sldId id="301" r:id="rId49"/>
    <p:sldId id="304" r:id="rId50"/>
    <p:sldId id="302" r:id="rId51"/>
    <p:sldId id="30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19" autoAdjust="0"/>
  </p:normalViewPr>
  <p:slideViewPr>
    <p:cSldViewPr snapToGrid="0">
      <p:cViewPr varScale="1">
        <p:scale>
          <a:sx n="87" d="100"/>
          <a:sy n="87" d="100"/>
        </p:scale>
        <p:origin x="48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C7F3C-CF45-41FA-B144-76323269B491}" type="datetimeFigureOut">
              <a:rPr lang="en-IN" smtClean="0"/>
              <a:t>23-02-2026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69A01F-8822-443C-9EE4-6FBFDC8583A4}" type="slidenum">
              <a:rPr lang="en-IN" smtClean="0"/>
              <a:t>‹#›</a:t>
            </a:fld>
            <a:endParaRPr lang="en-IN"/>
          </a:p>
        </p:txBody>
      </p:sp>
    </p:spTree>
    <p:extLst>
      <p:ext uri="{BB962C8B-B14F-4D97-AF65-F5344CB8AC3E}">
        <p14:creationId xmlns:p14="http://schemas.microsoft.com/office/powerpoint/2010/main" val="222916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1" dirty="0"/>
              <a:t>Web</a:t>
            </a:r>
            <a:r>
              <a:rPr lang="en-US" sz="1600" dirty="0"/>
              <a:t>, is a collection of websites that we can open using the Internet.</a:t>
            </a:r>
            <a:endParaRPr lang="en-IN" sz="1600" kern="1200" dirty="0">
              <a:solidFill>
                <a:schemeClr val="tx1">
                  <a:lumMod val="75000"/>
                  <a:lumOff val="25000"/>
                </a:schemeClr>
              </a:solidFill>
              <a:latin typeface="Cambria" panose="02040503050406030204" pitchFamily="18" charset="0"/>
              <a:ea typeface="Cambria" panose="02040503050406030204" pitchFamily="18" charset="0"/>
              <a:cs typeface="+mn-cs"/>
            </a:endParaRPr>
          </a:p>
        </p:txBody>
      </p:sp>
      <p:sp>
        <p:nvSpPr>
          <p:cNvPr id="4" name="Slide Number Placeholder 3"/>
          <p:cNvSpPr>
            <a:spLocks noGrp="1"/>
          </p:cNvSpPr>
          <p:nvPr>
            <p:ph type="sldNum" sz="quarter" idx="5"/>
          </p:nvPr>
        </p:nvSpPr>
        <p:spPr/>
        <p:txBody>
          <a:bodyPr/>
          <a:lstStyle/>
          <a:p>
            <a:fld id="{8869A01F-8822-443C-9EE4-6FBFDC8583A4}" type="slidenum">
              <a:rPr lang="en-IN" smtClean="0"/>
              <a:t>2</a:t>
            </a:fld>
            <a:endParaRPr lang="en-IN"/>
          </a:p>
        </p:txBody>
      </p:sp>
    </p:spTree>
    <p:extLst>
      <p:ext uri="{BB962C8B-B14F-4D97-AF65-F5344CB8AC3E}">
        <p14:creationId xmlns:p14="http://schemas.microsoft.com/office/powerpoint/2010/main" val="2936603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a:t>The World Wide Web is a collection of connected websites that we access through the Internet to get information, watch videos, and use online services.</a:t>
            </a:r>
            <a:endParaRPr lang="en-IN" sz="1600" kern="1200">
              <a:solidFill>
                <a:schemeClr val="tx1">
                  <a:lumMod val="75000"/>
                  <a:lumOff val="25000"/>
                </a:schemeClr>
              </a:solidFill>
              <a:latin typeface="Cambria" panose="02040503050406030204" pitchFamily="18" charset="0"/>
              <a:ea typeface="Cambria" panose="02040503050406030204" pitchFamily="18" charset="0"/>
              <a:cs typeface="+mn-cs"/>
            </a:endParaRPr>
          </a:p>
        </p:txBody>
      </p:sp>
      <p:sp>
        <p:nvSpPr>
          <p:cNvPr id="4" name="Slide Number Placeholder 3"/>
          <p:cNvSpPr>
            <a:spLocks noGrp="1"/>
          </p:cNvSpPr>
          <p:nvPr>
            <p:ph type="sldNum" sz="quarter" idx="5"/>
          </p:nvPr>
        </p:nvSpPr>
        <p:spPr/>
        <p:txBody>
          <a:bodyPr/>
          <a:lstStyle/>
          <a:p>
            <a:fld id="{8869A01F-8822-443C-9EE4-6FBFDC8583A4}" type="slidenum">
              <a:rPr lang="en-IN" smtClean="0"/>
              <a:t>3</a:t>
            </a:fld>
            <a:endParaRPr lang="en-IN"/>
          </a:p>
        </p:txBody>
      </p:sp>
    </p:spTree>
    <p:extLst>
      <p:ext uri="{BB962C8B-B14F-4D97-AF65-F5344CB8AC3E}">
        <p14:creationId xmlns:p14="http://schemas.microsoft.com/office/powerpoint/2010/main" val="475429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69A01F-8822-443C-9EE4-6FBFDC8583A4}" type="slidenum">
              <a:rPr lang="en-IN" smtClean="0"/>
              <a:t>17</a:t>
            </a:fld>
            <a:endParaRPr lang="en-IN"/>
          </a:p>
        </p:txBody>
      </p:sp>
    </p:spTree>
    <p:extLst>
      <p:ext uri="{BB962C8B-B14F-4D97-AF65-F5344CB8AC3E}">
        <p14:creationId xmlns:p14="http://schemas.microsoft.com/office/powerpoint/2010/main" val="37064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540B9-E384-0A84-DB4C-67D917347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4515E-6F37-275D-D893-FAA76CEFB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7664D6-2BCF-387E-AF61-920E77E171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37140D-1306-0FC4-FB64-BAEFDA652309}"/>
              </a:ext>
            </a:extLst>
          </p:cNvPr>
          <p:cNvSpPr>
            <a:spLocks noGrp="1"/>
          </p:cNvSpPr>
          <p:nvPr>
            <p:ph type="sldNum" sz="quarter" idx="5"/>
          </p:nvPr>
        </p:nvSpPr>
        <p:spPr/>
        <p:txBody>
          <a:bodyPr/>
          <a:lstStyle/>
          <a:p>
            <a:fld id="{8869A01F-8822-443C-9EE4-6FBFDC8583A4}" type="slidenum">
              <a:rPr lang="en-IN" smtClean="0"/>
              <a:t>18</a:t>
            </a:fld>
            <a:endParaRPr lang="en-IN"/>
          </a:p>
        </p:txBody>
      </p:sp>
    </p:spTree>
    <p:extLst>
      <p:ext uri="{BB962C8B-B14F-4D97-AF65-F5344CB8AC3E}">
        <p14:creationId xmlns:p14="http://schemas.microsoft.com/office/powerpoint/2010/main" val="12159064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5E19-F318-B631-D34B-19566301C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A78D1-74F4-793C-C9CD-316589250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D18F0-8D99-5A0E-6361-54320FB28F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8987E4-6418-EC8E-9768-84A047E40D05}"/>
              </a:ext>
            </a:extLst>
          </p:cNvPr>
          <p:cNvSpPr>
            <a:spLocks noGrp="1"/>
          </p:cNvSpPr>
          <p:nvPr>
            <p:ph type="sldNum" sz="quarter" idx="5"/>
          </p:nvPr>
        </p:nvSpPr>
        <p:spPr/>
        <p:txBody>
          <a:bodyPr/>
          <a:lstStyle/>
          <a:p>
            <a:fld id="{8869A01F-8822-443C-9EE4-6FBFDC8583A4}" type="slidenum">
              <a:rPr lang="en-IN" smtClean="0"/>
              <a:t>19</a:t>
            </a:fld>
            <a:endParaRPr lang="en-IN"/>
          </a:p>
        </p:txBody>
      </p:sp>
    </p:spTree>
    <p:extLst>
      <p:ext uri="{BB962C8B-B14F-4D97-AF65-F5344CB8AC3E}">
        <p14:creationId xmlns:p14="http://schemas.microsoft.com/office/powerpoint/2010/main" val="3076589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5CBCC-DB83-08B2-61B2-4B628A65C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8BCE06-F971-EE0D-2348-9F8DE30EC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3D9C8-2514-E0B6-CC77-3995772BFE6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D019B1-D36C-1462-7846-CF3CB257C3C0}"/>
              </a:ext>
            </a:extLst>
          </p:cNvPr>
          <p:cNvSpPr>
            <a:spLocks noGrp="1"/>
          </p:cNvSpPr>
          <p:nvPr>
            <p:ph type="sldNum" sz="quarter" idx="5"/>
          </p:nvPr>
        </p:nvSpPr>
        <p:spPr/>
        <p:txBody>
          <a:bodyPr/>
          <a:lstStyle/>
          <a:p>
            <a:fld id="{8869A01F-8822-443C-9EE4-6FBFDC8583A4}" type="slidenum">
              <a:rPr lang="en-IN" smtClean="0"/>
              <a:t>20</a:t>
            </a:fld>
            <a:endParaRPr lang="en-IN"/>
          </a:p>
        </p:txBody>
      </p:sp>
    </p:spTree>
    <p:extLst>
      <p:ext uri="{BB962C8B-B14F-4D97-AF65-F5344CB8AC3E}">
        <p14:creationId xmlns:p14="http://schemas.microsoft.com/office/powerpoint/2010/main" val="1737569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509E1-3B50-0EAD-7362-0788CB9DD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604F9-14A0-04EF-1570-4DD844F42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2BC90C-9CC9-B35F-1F89-1EFFE34AA53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D3B57D-7DEC-6C4E-AD9A-93DFCE1B4B89}"/>
              </a:ext>
            </a:extLst>
          </p:cNvPr>
          <p:cNvSpPr>
            <a:spLocks noGrp="1"/>
          </p:cNvSpPr>
          <p:nvPr>
            <p:ph type="sldNum" sz="quarter" idx="5"/>
          </p:nvPr>
        </p:nvSpPr>
        <p:spPr/>
        <p:txBody>
          <a:bodyPr/>
          <a:lstStyle/>
          <a:p>
            <a:fld id="{8869A01F-8822-443C-9EE4-6FBFDC8583A4}" type="slidenum">
              <a:rPr lang="en-IN" smtClean="0"/>
              <a:t>21</a:t>
            </a:fld>
            <a:endParaRPr lang="en-IN"/>
          </a:p>
        </p:txBody>
      </p:sp>
    </p:spTree>
    <p:extLst>
      <p:ext uri="{BB962C8B-B14F-4D97-AF65-F5344CB8AC3E}">
        <p14:creationId xmlns:p14="http://schemas.microsoft.com/office/powerpoint/2010/main" val="15385329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58810-FE43-8F68-4AD1-0AA1D8EA5F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D793C-FB49-EA0E-36C8-D7359F8A72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2C756-7F36-0B60-5039-BB82BAF0F2A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6CD4DB-81EA-0E9A-A016-93F4AA4BFF10}"/>
              </a:ext>
            </a:extLst>
          </p:cNvPr>
          <p:cNvSpPr>
            <a:spLocks noGrp="1"/>
          </p:cNvSpPr>
          <p:nvPr>
            <p:ph type="sldNum" sz="quarter" idx="5"/>
          </p:nvPr>
        </p:nvSpPr>
        <p:spPr/>
        <p:txBody>
          <a:bodyPr/>
          <a:lstStyle/>
          <a:p>
            <a:fld id="{8869A01F-8822-443C-9EE4-6FBFDC8583A4}" type="slidenum">
              <a:rPr lang="en-IN" smtClean="0"/>
              <a:t>22</a:t>
            </a:fld>
            <a:endParaRPr lang="en-IN"/>
          </a:p>
        </p:txBody>
      </p:sp>
    </p:spTree>
    <p:extLst>
      <p:ext uri="{BB962C8B-B14F-4D97-AF65-F5344CB8AC3E}">
        <p14:creationId xmlns:p14="http://schemas.microsoft.com/office/powerpoint/2010/main" val="2567268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9CE9-0D30-1381-5D1F-97E6A6C77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CFE44-C64E-D428-A8CF-5BF5564C6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89A40-B4B2-D235-0948-DD85320EA5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213E6C-8B81-3BF4-4FA2-F84DFB06520D}"/>
              </a:ext>
            </a:extLst>
          </p:cNvPr>
          <p:cNvSpPr>
            <a:spLocks noGrp="1"/>
          </p:cNvSpPr>
          <p:nvPr>
            <p:ph type="sldNum" sz="quarter" idx="5"/>
          </p:nvPr>
        </p:nvSpPr>
        <p:spPr/>
        <p:txBody>
          <a:bodyPr/>
          <a:lstStyle/>
          <a:p>
            <a:fld id="{8869A01F-8822-443C-9EE4-6FBFDC8583A4}" type="slidenum">
              <a:rPr lang="en-IN" smtClean="0"/>
              <a:t>23</a:t>
            </a:fld>
            <a:endParaRPr lang="en-IN"/>
          </a:p>
        </p:txBody>
      </p:sp>
    </p:spTree>
    <p:extLst>
      <p:ext uri="{BB962C8B-B14F-4D97-AF65-F5344CB8AC3E}">
        <p14:creationId xmlns:p14="http://schemas.microsoft.com/office/powerpoint/2010/main" val="2331294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3375-7320-DC69-1AC9-ADD93904EA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80AD7-1AB6-D8B9-3280-258A41CABA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06D8B-DE3C-378A-2C1E-08BA851DB6D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F22E16-D278-FBFE-CECE-057C2783D957}"/>
              </a:ext>
            </a:extLst>
          </p:cNvPr>
          <p:cNvSpPr>
            <a:spLocks noGrp="1"/>
          </p:cNvSpPr>
          <p:nvPr>
            <p:ph type="sldNum" sz="quarter" idx="5"/>
          </p:nvPr>
        </p:nvSpPr>
        <p:spPr/>
        <p:txBody>
          <a:bodyPr/>
          <a:lstStyle/>
          <a:p>
            <a:fld id="{8869A01F-8822-443C-9EE4-6FBFDC8583A4}" type="slidenum">
              <a:rPr lang="en-IN" smtClean="0"/>
              <a:t>24</a:t>
            </a:fld>
            <a:endParaRPr lang="en-IN"/>
          </a:p>
        </p:txBody>
      </p:sp>
    </p:spTree>
    <p:extLst>
      <p:ext uri="{BB962C8B-B14F-4D97-AF65-F5344CB8AC3E}">
        <p14:creationId xmlns:p14="http://schemas.microsoft.com/office/powerpoint/2010/main" val="2978972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2655A-5C5D-D943-8D1E-E01BDF3D5D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6C70D-63D3-58C8-DE10-64599B63E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B7F4F5-A082-F260-7DB3-F3A2A4E6C43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2C6FA2B-F441-AF16-EB6B-A36A93A34CAB}"/>
              </a:ext>
            </a:extLst>
          </p:cNvPr>
          <p:cNvSpPr>
            <a:spLocks noGrp="1"/>
          </p:cNvSpPr>
          <p:nvPr>
            <p:ph type="sldNum" sz="quarter" idx="5"/>
          </p:nvPr>
        </p:nvSpPr>
        <p:spPr/>
        <p:txBody>
          <a:bodyPr/>
          <a:lstStyle/>
          <a:p>
            <a:fld id="{8869A01F-8822-443C-9EE4-6FBFDC8583A4}" type="slidenum">
              <a:rPr lang="en-IN" smtClean="0"/>
              <a:t>25</a:t>
            </a:fld>
            <a:endParaRPr lang="en-IN"/>
          </a:p>
        </p:txBody>
      </p:sp>
    </p:spTree>
    <p:extLst>
      <p:ext uri="{BB962C8B-B14F-4D97-AF65-F5344CB8AC3E}">
        <p14:creationId xmlns:p14="http://schemas.microsoft.com/office/powerpoint/2010/main" val="2083643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78151-863E-E467-1740-BB730009D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4BD41-0FC4-00E3-D203-BBF61A34ED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1ACC8-DC3E-76E0-7F6A-1C2A0C8B1B9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543B75-7AE0-D709-F7BC-899012E06E9C}"/>
              </a:ext>
            </a:extLst>
          </p:cNvPr>
          <p:cNvSpPr>
            <a:spLocks noGrp="1"/>
          </p:cNvSpPr>
          <p:nvPr>
            <p:ph type="sldNum" sz="quarter" idx="5"/>
          </p:nvPr>
        </p:nvSpPr>
        <p:spPr/>
        <p:txBody>
          <a:bodyPr/>
          <a:lstStyle/>
          <a:p>
            <a:fld id="{8869A01F-8822-443C-9EE4-6FBFDC8583A4}" type="slidenum">
              <a:rPr lang="en-IN" smtClean="0"/>
              <a:t>26</a:t>
            </a:fld>
            <a:endParaRPr lang="en-IN"/>
          </a:p>
        </p:txBody>
      </p:sp>
    </p:spTree>
    <p:extLst>
      <p:ext uri="{BB962C8B-B14F-4D97-AF65-F5344CB8AC3E}">
        <p14:creationId xmlns:p14="http://schemas.microsoft.com/office/powerpoint/2010/main" val="2164862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D158-25A0-9B12-DB4C-A95F668D09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658AB6-C46B-9BF9-094F-9C7D6A5583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FA91B-72C4-6E32-DE20-12B223D088A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F86722-B079-CD2D-D20B-CE85CCD00264}"/>
              </a:ext>
            </a:extLst>
          </p:cNvPr>
          <p:cNvSpPr>
            <a:spLocks noGrp="1"/>
          </p:cNvSpPr>
          <p:nvPr>
            <p:ph type="sldNum" sz="quarter" idx="5"/>
          </p:nvPr>
        </p:nvSpPr>
        <p:spPr/>
        <p:txBody>
          <a:bodyPr/>
          <a:lstStyle/>
          <a:p>
            <a:fld id="{8869A01F-8822-443C-9EE4-6FBFDC8583A4}" type="slidenum">
              <a:rPr lang="en-IN" smtClean="0"/>
              <a:t>27</a:t>
            </a:fld>
            <a:endParaRPr lang="en-IN"/>
          </a:p>
        </p:txBody>
      </p:sp>
    </p:spTree>
    <p:extLst>
      <p:ext uri="{BB962C8B-B14F-4D97-AF65-F5344CB8AC3E}">
        <p14:creationId xmlns:p14="http://schemas.microsoft.com/office/powerpoint/2010/main" val="10468189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DF0BC-7383-2CE5-4438-8F99C749B2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6CD0F-2D52-A9AD-2D82-912CD22240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F1AAA-2B3D-95ED-54AB-935F29BFAE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B53021A-D6D1-64EF-BB6E-BD27EA5543AF}"/>
              </a:ext>
            </a:extLst>
          </p:cNvPr>
          <p:cNvSpPr>
            <a:spLocks noGrp="1"/>
          </p:cNvSpPr>
          <p:nvPr>
            <p:ph type="sldNum" sz="quarter" idx="5"/>
          </p:nvPr>
        </p:nvSpPr>
        <p:spPr/>
        <p:txBody>
          <a:bodyPr/>
          <a:lstStyle/>
          <a:p>
            <a:fld id="{8869A01F-8822-443C-9EE4-6FBFDC8583A4}" type="slidenum">
              <a:rPr lang="en-IN" smtClean="0"/>
              <a:t>28</a:t>
            </a:fld>
            <a:endParaRPr lang="en-IN"/>
          </a:p>
        </p:txBody>
      </p:sp>
    </p:spTree>
    <p:extLst>
      <p:ext uri="{BB962C8B-B14F-4D97-AF65-F5344CB8AC3E}">
        <p14:creationId xmlns:p14="http://schemas.microsoft.com/office/powerpoint/2010/main" val="1283861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E996F-7BD1-8CE6-2C29-5897A65BF5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F9B342-CB87-AE0E-4FAF-F607070E96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83B31-DEAA-39DF-A226-ABA8E3812B3A}"/>
              </a:ext>
            </a:extLst>
          </p:cNvPr>
          <p:cNvSpPr>
            <a:spLocks noGrp="1"/>
          </p:cNvSpPr>
          <p:nvPr>
            <p:ph type="body" idx="1"/>
          </p:nvPr>
        </p:nvSpPr>
        <p:spPr/>
        <p:txBody>
          <a:bodyPr/>
          <a:lstStyle/>
          <a:p>
            <a:r>
              <a:rPr lang="en-IN" dirty="0"/>
              <a:t>https://css-tricks.com/snippets/css/a-guide-to-flexbox/</a:t>
            </a:r>
          </a:p>
        </p:txBody>
      </p:sp>
      <p:sp>
        <p:nvSpPr>
          <p:cNvPr id="4" name="Slide Number Placeholder 3">
            <a:extLst>
              <a:ext uri="{FF2B5EF4-FFF2-40B4-BE49-F238E27FC236}">
                <a16:creationId xmlns:a16="http://schemas.microsoft.com/office/drawing/2014/main" id="{08A3E0E2-D474-5C5B-B0B5-90A4CCB6DE8D}"/>
              </a:ext>
            </a:extLst>
          </p:cNvPr>
          <p:cNvSpPr>
            <a:spLocks noGrp="1"/>
          </p:cNvSpPr>
          <p:nvPr>
            <p:ph type="sldNum" sz="quarter" idx="5"/>
          </p:nvPr>
        </p:nvSpPr>
        <p:spPr/>
        <p:txBody>
          <a:bodyPr/>
          <a:lstStyle/>
          <a:p>
            <a:fld id="{8869A01F-8822-443C-9EE4-6FBFDC8583A4}" type="slidenum">
              <a:rPr lang="en-IN" smtClean="0"/>
              <a:t>29</a:t>
            </a:fld>
            <a:endParaRPr lang="en-IN"/>
          </a:p>
        </p:txBody>
      </p:sp>
    </p:spTree>
    <p:extLst>
      <p:ext uri="{BB962C8B-B14F-4D97-AF65-F5344CB8AC3E}">
        <p14:creationId xmlns:p14="http://schemas.microsoft.com/office/powerpoint/2010/main" val="3401266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9CE89-91F0-EB36-43C8-8414EE4D24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AD500D-66B0-8F1B-7DE8-F7B14AF1D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E0389D-9BFE-C4E7-565F-A7D7C4A102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800B5A-5DF3-28DA-66B1-8D86DC87FCD5}"/>
              </a:ext>
            </a:extLst>
          </p:cNvPr>
          <p:cNvSpPr>
            <a:spLocks noGrp="1"/>
          </p:cNvSpPr>
          <p:nvPr>
            <p:ph type="sldNum" sz="quarter" idx="5"/>
          </p:nvPr>
        </p:nvSpPr>
        <p:spPr/>
        <p:txBody>
          <a:bodyPr/>
          <a:lstStyle/>
          <a:p>
            <a:fld id="{8869A01F-8822-443C-9EE4-6FBFDC8583A4}" type="slidenum">
              <a:rPr lang="en-IN" smtClean="0"/>
              <a:t>30</a:t>
            </a:fld>
            <a:endParaRPr lang="en-IN"/>
          </a:p>
        </p:txBody>
      </p:sp>
    </p:spTree>
    <p:extLst>
      <p:ext uri="{BB962C8B-B14F-4D97-AF65-F5344CB8AC3E}">
        <p14:creationId xmlns:p14="http://schemas.microsoft.com/office/powerpoint/2010/main" val="782954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1C8FD-443E-E9C2-B6F4-17E843DF5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E2CBED-80CE-01D6-4D52-66D0B2FE2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5BDBB-ED44-9117-23F3-0190B16B57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B02CD8-8218-9A00-8CD9-3B49F6D52EAF}"/>
              </a:ext>
            </a:extLst>
          </p:cNvPr>
          <p:cNvSpPr>
            <a:spLocks noGrp="1"/>
          </p:cNvSpPr>
          <p:nvPr>
            <p:ph type="sldNum" sz="quarter" idx="5"/>
          </p:nvPr>
        </p:nvSpPr>
        <p:spPr/>
        <p:txBody>
          <a:bodyPr/>
          <a:lstStyle/>
          <a:p>
            <a:fld id="{8869A01F-8822-443C-9EE4-6FBFDC8583A4}" type="slidenum">
              <a:rPr lang="en-IN" smtClean="0"/>
              <a:t>31</a:t>
            </a:fld>
            <a:endParaRPr lang="en-IN"/>
          </a:p>
        </p:txBody>
      </p:sp>
    </p:spTree>
    <p:extLst>
      <p:ext uri="{BB962C8B-B14F-4D97-AF65-F5344CB8AC3E}">
        <p14:creationId xmlns:p14="http://schemas.microsoft.com/office/powerpoint/2010/main" val="23330577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F426A-B9BE-9739-BC34-C7770726D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C193F1-E5F9-D9CA-EABD-BAD4F4B71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5EDD7E-4A20-031C-FC49-20303E312FC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F8A7527-8C03-E13E-A6FE-F864F78E91CF}"/>
              </a:ext>
            </a:extLst>
          </p:cNvPr>
          <p:cNvSpPr>
            <a:spLocks noGrp="1"/>
          </p:cNvSpPr>
          <p:nvPr>
            <p:ph type="sldNum" sz="quarter" idx="5"/>
          </p:nvPr>
        </p:nvSpPr>
        <p:spPr/>
        <p:txBody>
          <a:bodyPr/>
          <a:lstStyle/>
          <a:p>
            <a:fld id="{8869A01F-8822-443C-9EE4-6FBFDC8583A4}" type="slidenum">
              <a:rPr lang="en-IN" smtClean="0"/>
              <a:t>32</a:t>
            </a:fld>
            <a:endParaRPr lang="en-IN"/>
          </a:p>
        </p:txBody>
      </p:sp>
    </p:spTree>
    <p:extLst>
      <p:ext uri="{BB962C8B-B14F-4D97-AF65-F5344CB8AC3E}">
        <p14:creationId xmlns:p14="http://schemas.microsoft.com/office/powerpoint/2010/main" val="1888739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2891E-BFA2-76B9-D6A5-530C2FC15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B418A-F74D-FB0E-24B1-A6E3CD6B0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A21B3-27EB-F210-1751-4520BA4E68B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966705F-894C-0E05-2120-A6535C192833}"/>
              </a:ext>
            </a:extLst>
          </p:cNvPr>
          <p:cNvSpPr>
            <a:spLocks noGrp="1"/>
          </p:cNvSpPr>
          <p:nvPr>
            <p:ph type="sldNum" sz="quarter" idx="5"/>
          </p:nvPr>
        </p:nvSpPr>
        <p:spPr/>
        <p:txBody>
          <a:bodyPr/>
          <a:lstStyle/>
          <a:p>
            <a:fld id="{8869A01F-8822-443C-9EE4-6FBFDC8583A4}" type="slidenum">
              <a:rPr lang="en-IN" smtClean="0"/>
              <a:t>33</a:t>
            </a:fld>
            <a:endParaRPr lang="en-IN"/>
          </a:p>
        </p:txBody>
      </p:sp>
    </p:spTree>
    <p:extLst>
      <p:ext uri="{BB962C8B-B14F-4D97-AF65-F5344CB8AC3E}">
        <p14:creationId xmlns:p14="http://schemas.microsoft.com/office/powerpoint/2010/main" val="1987172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63D68-B257-71B1-2244-355226297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4BCFD-5A38-B92A-9E16-9BECE1EFF0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8D3BF-5442-DFFA-A498-95BB071578A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F09B4B-F295-DAF3-0574-8D2284873F3F}"/>
              </a:ext>
            </a:extLst>
          </p:cNvPr>
          <p:cNvSpPr>
            <a:spLocks noGrp="1"/>
          </p:cNvSpPr>
          <p:nvPr>
            <p:ph type="sldNum" sz="quarter" idx="5"/>
          </p:nvPr>
        </p:nvSpPr>
        <p:spPr/>
        <p:txBody>
          <a:bodyPr/>
          <a:lstStyle/>
          <a:p>
            <a:fld id="{8869A01F-8822-443C-9EE4-6FBFDC8583A4}" type="slidenum">
              <a:rPr lang="en-IN" smtClean="0"/>
              <a:t>34</a:t>
            </a:fld>
            <a:endParaRPr lang="en-IN"/>
          </a:p>
        </p:txBody>
      </p:sp>
    </p:spTree>
    <p:extLst>
      <p:ext uri="{BB962C8B-B14F-4D97-AF65-F5344CB8AC3E}">
        <p14:creationId xmlns:p14="http://schemas.microsoft.com/office/powerpoint/2010/main" val="34755032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A0EA3-E9E8-AE21-2EDE-C12F6E5AEC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C35AD-EE8A-2F1E-0A75-14CD51E2A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084F2C-FB01-6E95-9F0A-A6E1906DF0A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3A152BC-F620-7F9E-2F38-5C28CB00373C}"/>
              </a:ext>
            </a:extLst>
          </p:cNvPr>
          <p:cNvSpPr>
            <a:spLocks noGrp="1"/>
          </p:cNvSpPr>
          <p:nvPr>
            <p:ph type="sldNum" sz="quarter" idx="5"/>
          </p:nvPr>
        </p:nvSpPr>
        <p:spPr/>
        <p:txBody>
          <a:bodyPr/>
          <a:lstStyle/>
          <a:p>
            <a:fld id="{8869A01F-8822-443C-9EE4-6FBFDC8583A4}" type="slidenum">
              <a:rPr lang="en-IN" smtClean="0"/>
              <a:t>35</a:t>
            </a:fld>
            <a:endParaRPr lang="en-IN"/>
          </a:p>
        </p:txBody>
      </p:sp>
    </p:spTree>
    <p:extLst>
      <p:ext uri="{BB962C8B-B14F-4D97-AF65-F5344CB8AC3E}">
        <p14:creationId xmlns:p14="http://schemas.microsoft.com/office/powerpoint/2010/main" val="2074621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45DCB-89CD-40F3-FE79-E7436A27E6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E0AC0-08A3-8C05-68B6-E481CB729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40BC43-A28E-C956-7699-C406936A9A0D}"/>
              </a:ext>
            </a:extLst>
          </p:cNvPr>
          <p:cNvSpPr>
            <a:spLocks noGrp="1"/>
          </p:cNvSpPr>
          <p:nvPr>
            <p:ph type="body" idx="1"/>
          </p:nvPr>
        </p:nvSpPr>
        <p:spPr/>
        <p:txBody>
          <a:bodyPr/>
          <a:lstStyle/>
          <a:p>
            <a:r>
              <a:rPr lang="en-IN" sz="1200" b="1" i="0" kern="1200" dirty="0">
                <a:solidFill>
                  <a:schemeClr val="tx1"/>
                </a:solidFill>
                <a:effectLst/>
                <a:latin typeface="+mn-lt"/>
                <a:ea typeface="+mn-ea"/>
                <a:cs typeface="+mn-cs"/>
              </a:rPr>
              <a:t>Reserved Keywords: </a:t>
            </a:r>
            <a:r>
              <a:rPr lang="en-IN" sz="1200" b="0" i="0" kern="1200" dirty="0">
                <a:solidFill>
                  <a:schemeClr val="tx1"/>
                </a:solidFill>
                <a:effectLst/>
                <a:latin typeface="+mn-lt"/>
                <a:ea typeface="+mn-ea"/>
                <a:cs typeface="+mn-cs"/>
              </a:rPr>
              <a:t>let, </a:t>
            </a:r>
            <a:r>
              <a:rPr lang="en-IN" sz="1200" b="0" i="0" kern="1200" dirty="0" err="1">
                <a:solidFill>
                  <a:schemeClr val="tx1"/>
                </a:solidFill>
                <a:effectLst/>
                <a:latin typeface="+mn-lt"/>
                <a:ea typeface="+mn-ea"/>
                <a:cs typeface="+mn-cs"/>
              </a:rPr>
              <a:t>const</a:t>
            </a:r>
            <a:r>
              <a:rPr lang="en-IN" sz="1200" b="0" i="0" kern="1200" dirty="0">
                <a:solidFill>
                  <a:schemeClr val="tx1"/>
                </a:solidFill>
                <a:effectLst/>
                <a:latin typeface="+mn-lt"/>
                <a:ea typeface="+mn-ea"/>
                <a:cs typeface="+mn-cs"/>
              </a:rPr>
              <a:t>, var, function, if, else, etc., </a:t>
            </a:r>
            <a:r>
              <a:rPr lang="en-US" sz="1200" b="0" i="0" kern="1200" dirty="0">
                <a:solidFill>
                  <a:schemeClr val="tx1"/>
                </a:solidFill>
                <a:effectLst/>
                <a:latin typeface="+mn-lt"/>
                <a:ea typeface="+mn-ea"/>
                <a:cs typeface="+mn-cs"/>
              </a:rPr>
              <a:t>are "reserved" by JavaScript and cannot be used as variable names.</a:t>
            </a:r>
            <a:endParaRPr lang="en-IN" dirty="0"/>
          </a:p>
        </p:txBody>
      </p:sp>
      <p:sp>
        <p:nvSpPr>
          <p:cNvPr id="4" name="Slide Number Placeholder 3">
            <a:extLst>
              <a:ext uri="{FF2B5EF4-FFF2-40B4-BE49-F238E27FC236}">
                <a16:creationId xmlns:a16="http://schemas.microsoft.com/office/drawing/2014/main" id="{8BAB7CF2-D2B2-B13A-8C9B-8AB5DED91160}"/>
              </a:ext>
            </a:extLst>
          </p:cNvPr>
          <p:cNvSpPr>
            <a:spLocks noGrp="1"/>
          </p:cNvSpPr>
          <p:nvPr>
            <p:ph type="sldNum" sz="quarter" idx="5"/>
          </p:nvPr>
        </p:nvSpPr>
        <p:spPr/>
        <p:txBody>
          <a:bodyPr/>
          <a:lstStyle/>
          <a:p>
            <a:fld id="{8869A01F-8822-443C-9EE4-6FBFDC8583A4}" type="slidenum">
              <a:rPr lang="en-IN" smtClean="0"/>
              <a:t>36</a:t>
            </a:fld>
            <a:endParaRPr lang="en-IN"/>
          </a:p>
        </p:txBody>
      </p:sp>
    </p:spTree>
    <p:extLst>
      <p:ext uri="{BB962C8B-B14F-4D97-AF65-F5344CB8AC3E}">
        <p14:creationId xmlns:p14="http://schemas.microsoft.com/office/powerpoint/2010/main" val="37719237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DF652-F71E-C880-C6CC-00C9ED1433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8B176-874E-FAC0-14B5-54C06405D3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A1251-ED4F-4C9B-83C4-AB6A882E6F54}"/>
              </a:ext>
            </a:extLst>
          </p:cNvPr>
          <p:cNvSpPr>
            <a:spLocks noGrp="1"/>
          </p:cNvSpPr>
          <p:nvPr>
            <p:ph type="body" idx="1"/>
          </p:nvPr>
        </p:nvSpPr>
        <p:spPr/>
        <p:txBody>
          <a:bodyPr/>
          <a:lstStyle/>
          <a:p>
            <a:r>
              <a:rPr lang="en-US" sz="1200" b="1" i="0" kern="1200" dirty="0">
                <a:solidFill>
                  <a:schemeClr val="tx1"/>
                </a:solidFill>
                <a:effectLst/>
                <a:latin typeface="+mn-lt"/>
                <a:ea typeface="+mn-ea"/>
                <a:cs typeface="+mn-cs"/>
              </a:rPr>
              <a:t>Block scope :</a:t>
            </a:r>
            <a:br>
              <a:rPr lang="en-US" sz="1200" b="1" i="0" kern="1200" dirty="0">
                <a:solidFill>
                  <a:schemeClr val="tx1"/>
                </a:solidFill>
                <a:effectLst/>
                <a:latin typeface="+mn-lt"/>
                <a:ea typeface="+mn-ea"/>
                <a:cs typeface="+mn-cs"/>
              </a:rPr>
            </a:br>
            <a:r>
              <a:rPr lang="en-US" sz="1200" b="1" i="0" kern="1200" dirty="0">
                <a:solidFill>
                  <a:schemeClr val="tx1"/>
                </a:solidFill>
                <a:effectLst/>
                <a:latin typeface="+mn-lt"/>
                <a:ea typeface="+mn-ea"/>
                <a:cs typeface="+mn-cs"/>
              </a:rPr>
              <a:t>{ let name = “John”; console.log(name);}</a:t>
            </a:r>
          </a:p>
          <a:p>
            <a:r>
              <a:rPr lang="en-US" sz="1200" b="1" i="0" kern="1200" dirty="0">
                <a:solidFill>
                  <a:schemeClr val="tx1"/>
                </a:solidFill>
                <a:effectLst/>
                <a:latin typeface="+mn-lt"/>
                <a:ea typeface="+mn-ea"/>
                <a:cs typeface="+mn-cs"/>
              </a:rPr>
              <a:t>{ let name = “Wick”; console.log(name);}</a:t>
            </a:r>
            <a:endParaRPr lang="en-IN" dirty="0"/>
          </a:p>
        </p:txBody>
      </p:sp>
      <p:sp>
        <p:nvSpPr>
          <p:cNvPr id="4" name="Slide Number Placeholder 3">
            <a:extLst>
              <a:ext uri="{FF2B5EF4-FFF2-40B4-BE49-F238E27FC236}">
                <a16:creationId xmlns:a16="http://schemas.microsoft.com/office/drawing/2014/main" id="{4EAA521B-FB51-B04B-7F9B-8FEFB2143D37}"/>
              </a:ext>
            </a:extLst>
          </p:cNvPr>
          <p:cNvSpPr>
            <a:spLocks noGrp="1"/>
          </p:cNvSpPr>
          <p:nvPr>
            <p:ph type="sldNum" sz="quarter" idx="5"/>
          </p:nvPr>
        </p:nvSpPr>
        <p:spPr/>
        <p:txBody>
          <a:bodyPr/>
          <a:lstStyle/>
          <a:p>
            <a:fld id="{8869A01F-8822-443C-9EE4-6FBFDC8583A4}" type="slidenum">
              <a:rPr lang="en-IN" smtClean="0"/>
              <a:t>37</a:t>
            </a:fld>
            <a:endParaRPr lang="en-IN"/>
          </a:p>
        </p:txBody>
      </p:sp>
    </p:spTree>
    <p:extLst>
      <p:ext uri="{BB962C8B-B14F-4D97-AF65-F5344CB8AC3E}">
        <p14:creationId xmlns:p14="http://schemas.microsoft.com/office/powerpoint/2010/main" val="1355148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3D8C-46D5-59DA-3332-F0D61CFBE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BC9A32-EAD3-4B65-3214-808C00C21B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E1E04-17E1-B111-A0C9-EEC60F9EA7F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011B7D-D1AF-EBB9-A913-0233DBE1FF96}"/>
              </a:ext>
            </a:extLst>
          </p:cNvPr>
          <p:cNvSpPr>
            <a:spLocks noGrp="1"/>
          </p:cNvSpPr>
          <p:nvPr>
            <p:ph type="sldNum" sz="quarter" idx="5"/>
          </p:nvPr>
        </p:nvSpPr>
        <p:spPr/>
        <p:txBody>
          <a:bodyPr/>
          <a:lstStyle/>
          <a:p>
            <a:fld id="{8869A01F-8822-443C-9EE4-6FBFDC8583A4}" type="slidenum">
              <a:rPr lang="en-IN" smtClean="0"/>
              <a:t>38</a:t>
            </a:fld>
            <a:endParaRPr lang="en-IN"/>
          </a:p>
        </p:txBody>
      </p:sp>
    </p:spTree>
    <p:extLst>
      <p:ext uri="{BB962C8B-B14F-4D97-AF65-F5344CB8AC3E}">
        <p14:creationId xmlns:p14="http://schemas.microsoft.com/office/powerpoint/2010/main" val="2967816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3D37B-511D-5ECA-ACF2-D3D87C902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F0332F-F89C-6C84-BDEA-580AFB763D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2E9CC9-E29D-DC71-8FC9-1A0D1F3AE8A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274A4AB-61F3-9CCB-1351-923C83E9DB30}"/>
              </a:ext>
            </a:extLst>
          </p:cNvPr>
          <p:cNvSpPr>
            <a:spLocks noGrp="1"/>
          </p:cNvSpPr>
          <p:nvPr>
            <p:ph type="sldNum" sz="quarter" idx="5"/>
          </p:nvPr>
        </p:nvSpPr>
        <p:spPr/>
        <p:txBody>
          <a:bodyPr/>
          <a:lstStyle/>
          <a:p>
            <a:fld id="{8869A01F-8822-443C-9EE4-6FBFDC8583A4}" type="slidenum">
              <a:rPr lang="en-IN" smtClean="0"/>
              <a:t>39</a:t>
            </a:fld>
            <a:endParaRPr lang="en-IN"/>
          </a:p>
        </p:txBody>
      </p:sp>
    </p:spTree>
    <p:extLst>
      <p:ext uri="{BB962C8B-B14F-4D97-AF65-F5344CB8AC3E}">
        <p14:creationId xmlns:p14="http://schemas.microsoft.com/office/powerpoint/2010/main" val="4364310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7160F-A41E-8A46-CC72-987B32C85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3197C-DC26-E3E7-6786-E83B591B4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5AECB-DC14-BEF2-5397-82E28C933FB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0F7EDD-00B2-830F-30E4-004802184A47}"/>
              </a:ext>
            </a:extLst>
          </p:cNvPr>
          <p:cNvSpPr>
            <a:spLocks noGrp="1"/>
          </p:cNvSpPr>
          <p:nvPr>
            <p:ph type="sldNum" sz="quarter" idx="5"/>
          </p:nvPr>
        </p:nvSpPr>
        <p:spPr/>
        <p:txBody>
          <a:bodyPr/>
          <a:lstStyle/>
          <a:p>
            <a:fld id="{8869A01F-8822-443C-9EE4-6FBFDC8583A4}" type="slidenum">
              <a:rPr lang="en-IN" smtClean="0"/>
              <a:t>40</a:t>
            </a:fld>
            <a:endParaRPr lang="en-IN"/>
          </a:p>
        </p:txBody>
      </p:sp>
    </p:spTree>
    <p:extLst>
      <p:ext uri="{BB962C8B-B14F-4D97-AF65-F5344CB8AC3E}">
        <p14:creationId xmlns:p14="http://schemas.microsoft.com/office/powerpoint/2010/main" val="6074872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6D796-EFBC-9C6F-969D-A19D2A7C22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7AC57-70D3-B717-EEAF-EF252BB82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642CE-0C32-280A-286B-1D839EEBE7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D5036A-81A3-7392-5274-2F93721168C5}"/>
              </a:ext>
            </a:extLst>
          </p:cNvPr>
          <p:cNvSpPr>
            <a:spLocks noGrp="1"/>
          </p:cNvSpPr>
          <p:nvPr>
            <p:ph type="sldNum" sz="quarter" idx="5"/>
          </p:nvPr>
        </p:nvSpPr>
        <p:spPr/>
        <p:txBody>
          <a:bodyPr/>
          <a:lstStyle/>
          <a:p>
            <a:fld id="{8869A01F-8822-443C-9EE4-6FBFDC8583A4}" type="slidenum">
              <a:rPr lang="en-IN" smtClean="0"/>
              <a:t>41</a:t>
            </a:fld>
            <a:endParaRPr lang="en-IN"/>
          </a:p>
        </p:txBody>
      </p:sp>
    </p:spTree>
    <p:extLst>
      <p:ext uri="{BB962C8B-B14F-4D97-AF65-F5344CB8AC3E}">
        <p14:creationId xmlns:p14="http://schemas.microsoft.com/office/powerpoint/2010/main" val="10293112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E680-5B6D-50FC-CE15-0EB12D029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D4C4B-C3D1-33C0-B6A3-7CBB4006E8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CD9D0-40DC-8873-82DD-344105D009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36B7F1-802F-39FF-6E04-95B8EF29B875}"/>
              </a:ext>
            </a:extLst>
          </p:cNvPr>
          <p:cNvSpPr>
            <a:spLocks noGrp="1"/>
          </p:cNvSpPr>
          <p:nvPr>
            <p:ph type="sldNum" sz="quarter" idx="5"/>
          </p:nvPr>
        </p:nvSpPr>
        <p:spPr/>
        <p:txBody>
          <a:bodyPr/>
          <a:lstStyle/>
          <a:p>
            <a:fld id="{8869A01F-8822-443C-9EE4-6FBFDC8583A4}" type="slidenum">
              <a:rPr lang="en-IN" smtClean="0"/>
              <a:t>42</a:t>
            </a:fld>
            <a:endParaRPr lang="en-IN"/>
          </a:p>
        </p:txBody>
      </p:sp>
    </p:spTree>
    <p:extLst>
      <p:ext uri="{BB962C8B-B14F-4D97-AF65-F5344CB8AC3E}">
        <p14:creationId xmlns:p14="http://schemas.microsoft.com/office/powerpoint/2010/main" val="34998683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FF010-8099-1061-0DBC-EC6C801AD3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1BC145-61FF-AFE0-6218-A562E34575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7FFD9-5688-50F1-6553-30AA43AAF31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D013C09-37BA-4D1F-8E81-54463DD4D487}"/>
              </a:ext>
            </a:extLst>
          </p:cNvPr>
          <p:cNvSpPr>
            <a:spLocks noGrp="1"/>
          </p:cNvSpPr>
          <p:nvPr>
            <p:ph type="sldNum" sz="quarter" idx="5"/>
          </p:nvPr>
        </p:nvSpPr>
        <p:spPr/>
        <p:txBody>
          <a:bodyPr/>
          <a:lstStyle/>
          <a:p>
            <a:fld id="{8869A01F-8822-443C-9EE4-6FBFDC8583A4}" type="slidenum">
              <a:rPr lang="en-IN" smtClean="0"/>
              <a:t>43</a:t>
            </a:fld>
            <a:endParaRPr lang="en-IN"/>
          </a:p>
        </p:txBody>
      </p:sp>
    </p:spTree>
    <p:extLst>
      <p:ext uri="{BB962C8B-B14F-4D97-AF65-F5344CB8AC3E}">
        <p14:creationId xmlns:p14="http://schemas.microsoft.com/office/powerpoint/2010/main" val="1475827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DFE47-62F2-AA01-0BF6-FF5FC71F1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7E473-B8E1-DC5D-8E30-E3EC72D5CC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6BA90-34EE-DF25-C0A6-A9D432309F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6C666E-8F72-D2D6-D3EB-2948F154F0F5}"/>
              </a:ext>
            </a:extLst>
          </p:cNvPr>
          <p:cNvSpPr>
            <a:spLocks noGrp="1"/>
          </p:cNvSpPr>
          <p:nvPr>
            <p:ph type="sldNum" sz="quarter" idx="5"/>
          </p:nvPr>
        </p:nvSpPr>
        <p:spPr/>
        <p:txBody>
          <a:bodyPr/>
          <a:lstStyle/>
          <a:p>
            <a:fld id="{8869A01F-8822-443C-9EE4-6FBFDC8583A4}" type="slidenum">
              <a:rPr lang="en-IN" smtClean="0"/>
              <a:t>44</a:t>
            </a:fld>
            <a:endParaRPr lang="en-IN"/>
          </a:p>
        </p:txBody>
      </p:sp>
    </p:spTree>
    <p:extLst>
      <p:ext uri="{BB962C8B-B14F-4D97-AF65-F5344CB8AC3E}">
        <p14:creationId xmlns:p14="http://schemas.microsoft.com/office/powerpoint/2010/main" val="41573353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84D2-8266-414A-2E5A-3B18BC04C7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F2C85-A2B5-E78A-FBD0-E323FEAB4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23AF06-E2F7-F9C8-74E9-FB17F425569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95926C-5EAA-7DC2-14FE-C0FBD93E4329}"/>
              </a:ext>
            </a:extLst>
          </p:cNvPr>
          <p:cNvSpPr>
            <a:spLocks noGrp="1"/>
          </p:cNvSpPr>
          <p:nvPr>
            <p:ph type="sldNum" sz="quarter" idx="5"/>
          </p:nvPr>
        </p:nvSpPr>
        <p:spPr/>
        <p:txBody>
          <a:bodyPr/>
          <a:lstStyle/>
          <a:p>
            <a:fld id="{8869A01F-8822-443C-9EE4-6FBFDC8583A4}" type="slidenum">
              <a:rPr lang="en-IN" smtClean="0"/>
              <a:t>45</a:t>
            </a:fld>
            <a:endParaRPr lang="en-IN"/>
          </a:p>
        </p:txBody>
      </p:sp>
    </p:spTree>
    <p:extLst>
      <p:ext uri="{BB962C8B-B14F-4D97-AF65-F5344CB8AC3E}">
        <p14:creationId xmlns:p14="http://schemas.microsoft.com/office/powerpoint/2010/main" val="3343040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368DA-9D84-B5E7-D1D0-33714C476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10AF8-9F78-4D57-3A4E-5986AF8AD3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DE4C1-80EC-6D6A-DDAE-8656CABD39C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ED164D1-F63A-D245-D4C8-2FF695496B30}"/>
              </a:ext>
            </a:extLst>
          </p:cNvPr>
          <p:cNvSpPr>
            <a:spLocks noGrp="1"/>
          </p:cNvSpPr>
          <p:nvPr>
            <p:ph type="sldNum" sz="quarter" idx="5"/>
          </p:nvPr>
        </p:nvSpPr>
        <p:spPr/>
        <p:txBody>
          <a:bodyPr/>
          <a:lstStyle/>
          <a:p>
            <a:fld id="{8869A01F-8822-443C-9EE4-6FBFDC8583A4}" type="slidenum">
              <a:rPr lang="en-IN" smtClean="0"/>
              <a:t>46</a:t>
            </a:fld>
            <a:endParaRPr lang="en-IN"/>
          </a:p>
        </p:txBody>
      </p:sp>
    </p:spTree>
    <p:extLst>
      <p:ext uri="{BB962C8B-B14F-4D97-AF65-F5344CB8AC3E}">
        <p14:creationId xmlns:p14="http://schemas.microsoft.com/office/powerpoint/2010/main" val="2426650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21F2F-7EAC-821A-FB93-488AA8A10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F43FE-B74C-BD6D-5DE3-A3CCF8C09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116D04-1763-1DF3-F272-3A860D19A18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91AABB-3BE1-3C00-9B88-F080C4168DAD}"/>
              </a:ext>
            </a:extLst>
          </p:cNvPr>
          <p:cNvSpPr>
            <a:spLocks noGrp="1"/>
          </p:cNvSpPr>
          <p:nvPr>
            <p:ph type="sldNum" sz="quarter" idx="5"/>
          </p:nvPr>
        </p:nvSpPr>
        <p:spPr/>
        <p:txBody>
          <a:bodyPr/>
          <a:lstStyle/>
          <a:p>
            <a:fld id="{8869A01F-8822-443C-9EE4-6FBFDC8583A4}" type="slidenum">
              <a:rPr lang="en-IN" smtClean="0"/>
              <a:t>47</a:t>
            </a:fld>
            <a:endParaRPr lang="en-IN"/>
          </a:p>
        </p:txBody>
      </p:sp>
    </p:spTree>
    <p:extLst>
      <p:ext uri="{BB962C8B-B14F-4D97-AF65-F5344CB8AC3E}">
        <p14:creationId xmlns:p14="http://schemas.microsoft.com/office/powerpoint/2010/main" val="13713985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09B2D-5E45-3320-C000-BF41F92A6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AE7F0-4C7E-619C-3969-4E2C552AB6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D6931-5FFE-8EAC-A645-C38F24805F1C}"/>
              </a:ext>
            </a:extLst>
          </p:cNvPr>
          <p:cNvSpPr>
            <a:spLocks noGrp="1"/>
          </p:cNvSpPr>
          <p:nvPr>
            <p:ph type="body" idx="1"/>
          </p:nvPr>
        </p:nvSpPr>
        <p:spPr/>
        <p:txBody>
          <a:bodyPr/>
          <a:lstStyle/>
          <a:p>
            <a:r>
              <a:rPr lang="en-IN" sz="1200" b="1" dirty="0">
                <a:latin typeface="Cambria" panose="02040503050406030204" pitchFamily="18" charset="0"/>
                <a:ea typeface="Cambria" panose="02040503050406030204" pitchFamily="18" charset="0"/>
              </a:rPr>
              <a:t>Status Code: </a:t>
            </a:r>
            <a:br>
              <a:rPr lang="en-IN" sz="1200" dirty="0">
                <a:latin typeface="Cambria" panose="02040503050406030204" pitchFamily="18" charset="0"/>
                <a:ea typeface="Cambria" panose="02040503050406030204" pitchFamily="18" charset="0"/>
              </a:rPr>
            </a:br>
            <a:r>
              <a:rPr lang="en-IN" sz="1200" dirty="0">
                <a:latin typeface="Cambria" panose="02040503050406030204" pitchFamily="18" charset="0"/>
                <a:ea typeface="Cambria" panose="02040503050406030204" pitchFamily="18" charset="0"/>
              </a:rPr>
              <a:t>GET (200 (OK), POST (201 (Created)), PUT 200 or 204, DELETE 200 or 204</a:t>
            </a:r>
          </a:p>
        </p:txBody>
      </p:sp>
      <p:sp>
        <p:nvSpPr>
          <p:cNvPr id="4" name="Slide Number Placeholder 3">
            <a:extLst>
              <a:ext uri="{FF2B5EF4-FFF2-40B4-BE49-F238E27FC236}">
                <a16:creationId xmlns:a16="http://schemas.microsoft.com/office/drawing/2014/main" id="{3DED50D3-23B9-45F6-8C42-35B160CF82A1}"/>
              </a:ext>
            </a:extLst>
          </p:cNvPr>
          <p:cNvSpPr>
            <a:spLocks noGrp="1"/>
          </p:cNvSpPr>
          <p:nvPr>
            <p:ph type="sldNum" sz="quarter" idx="5"/>
          </p:nvPr>
        </p:nvSpPr>
        <p:spPr/>
        <p:txBody>
          <a:bodyPr/>
          <a:lstStyle/>
          <a:p>
            <a:fld id="{8869A01F-8822-443C-9EE4-6FBFDC8583A4}" type="slidenum">
              <a:rPr lang="en-IN" smtClean="0"/>
              <a:t>48</a:t>
            </a:fld>
            <a:endParaRPr lang="en-IN"/>
          </a:p>
        </p:txBody>
      </p:sp>
    </p:spTree>
    <p:extLst>
      <p:ext uri="{BB962C8B-B14F-4D97-AF65-F5344CB8AC3E}">
        <p14:creationId xmlns:p14="http://schemas.microsoft.com/office/powerpoint/2010/main" val="3493905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2/23/2026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2/23/2026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2/23/2026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2/23/2026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2/23/2026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2/23/2026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2/23/2026</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web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webp"/><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css-tricks.com/snippets/css/a-guide-to-flexbox/"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www.geeksforgeeks.org/computer-networks/web-browser/" TargetMode="External"/><Relationship Id="rId7" Type="http://schemas.openxmlformats.org/officeDocument/2006/relationships/hyperlink" Target="https://www.geeksforgeeks.org/angular-js/angular-tutorial/"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www.geeksforgeeks.org/reactjs/react/" TargetMode="External"/><Relationship Id="rId5" Type="http://schemas.openxmlformats.org/officeDocument/2006/relationships/hyperlink" Target="https://www.geeksforgeeks.org/computer-networks/what-is-server/" TargetMode="External"/><Relationship Id="rId4" Type="http://schemas.openxmlformats.org/officeDocument/2006/relationships/hyperlink" Target="https://www.geeksforgeeks.org/system-design/client-server-model/"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46533" y="352216"/>
            <a:ext cx="10993549" cy="1475013"/>
          </a:xfrm>
        </p:spPr>
        <p:txBody>
          <a:bodyPr>
            <a:normAutofit/>
          </a:bodyPr>
          <a:lstStyle/>
          <a:p>
            <a:r>
              <a:rPr lang="en-IN"/>
              <a:t>UNIT-1 : Introduction </a:t>
            </a:r>
            <a:r>
              <a:rPr lang="en-IN" dirty="0"/>
              <a:t>to Web</a:t>
            </a: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pic>
        <p:nvPicPr>
          <p:cNvPr id="4" name="Picture 3">
            <a:extLst>
              <a:ext uri="{FF2B5EF4-FFF2-40B4-BE49-F238E27FC236}">
                <a16:creationId xmlns:a16="http://schemas.microsoft.com/office/drawing/2014/main" id="{7D7DBCB8-292E-AE83-70CE-442D852B7E64}"/>
              </a:ext>
            </a:extLst>
          </p:cNvPr>
          <p:cNvPicPr>
            <a:picLocks noChangeAspect="1"/>
          </p:cNvPicPr>
          <p:nvPr/>
        </p:nvPicPr>
        <p:blipFill>
          <a:blip r:embed="rId2"/>
          <a:srcRect l="12097" t="13941" r="10083" b="10480"/>
          <a:stretch>
            <a:fillRect/>
          </a:stretch>
        </p:blipFill>
        <p:spPr>
          <a:xfrm>
            <a:off x="2377764" y="1928656"/>
            <a:ext cx="7436471" cy="4594195"/>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39C6F4-B167-29CF-1F0D-30597BD2D63B}"/>
              </a:ext>
            </a:extLst>
          </p:cNvPr>
          <p:cNvSpPr>
            <a:spLocks noGrp="1"/>
          </p:cNvSpPr>
          <p:nvPr>
            <p:ph type="title"/>
          </p:nvPr>
        </p:nvSpPr>
        <p:spPr/>
        <p:txBody>
          <a:bodyPr/>
          <a:lstStyle/>
          <a:p>
            <a:r>
              <a:rPr lang="en-US" dirty="0"/>
              <a:t>What is web</a:t>
            </a:r>
            <a:endParaRPr lang="en-IN" dirty="0"/>
          </a:p>
        </p:txBody>
      </p:sp>
      <p:sp>
        <p:nvSpPr>
          <p:cNvPr id="8" name="Content Placeholder 7">
            <a:extLst>
              <a:ext uri="{FF2B5EF4-FFF2-40B4-BE49-F238E27FC236}">
                <a16:creationId xmlns:a16="http://schemas.microsoft.com/office/drawing/2014/main" id="{C1EE4DC2-135C-2052-FBF8-3DEE2D01A805}"/>
              </a:ext>
            </a:extLst>
          </p:cNvPr>
          <p:cNvSpPr>
            <a:spLocks noGrp="1"/>
          </p:cNvSpPr>
          <p:nvPr>
            <p:ph idx="1"/>
          </p:nvPr>
        </p:nvSpPr>
        <p:spPr/>
        <p:txBody>
          <a:bodyPr>
            <a:normAutofit/>
          </a:bodyPr>
          <a:lstStyle/>
          <a:p>
            <a:pPr lvl="0"/>
            <a:r>
              <a:rPr lang="en-IN" sz="1600" dirty="0">
                <a:latin typeface="Cambria" panose="02040503050406030204" pitchFamily="18" charset="0"/>
                <a:ea typeface="Cambria" panose="02040503050406030204" pitchFamily="18" charset="0"/>
              </a:rPr>
              <a:t>The World Wide Web allows computer users to execute web-based applications and to locate and view multimedia-based documents on almost any subject over the Internet.</a:t>
            </a:r>
          </a:p>
          <a:p>
            <a:pPr lvl="0"/>
            <a:r>
              <a:rPr lang="en-US" sz="1600" dirty="0">
                <a:latin typeface="Cambria" panose="02040503050406030204" pitchFamily="18" charset="0"/>
                <a:ea typeface="Cambria" panose="02040503050406030204" pitchFamily="18" charset="0"/>
              </a:rPr>
              <a:t>The World Wide Web (WWW), often called the Web, is a system of interconnected webpages and information that you can access using the Internet. It was created to help people share and find information easily, using links that connect different pages together.</a:t>
            </a:r>
          </a:p>
          <a:p>
            <a:pPr lvl="0"/>
            <a:r>
              <a:rPr lang="en-US" sz="1600" dirty="0">
                <a:latin typeface="Cambria" panose="02040503050406030204" pitchFamily="18" charset="0"/>
                <a:ea typeface="Cambria" panose="02040503050406030204" pitchFamily="18" charset="0"/>
              </a:rPr>
              <a:t>The Web allows us to browse websites, watch videos, shop online, and connect with others around the world through our computers and phones.</a:t>
            </a:r>
            <a:endParaRPr lang="en-IN" sz="1600" dirty="0">
              <a:latin typeface="Cambria" panose="02040503050406030204" pitchFamily="18" charset="0"/>
              <a:ea typeface="Cambria" panose="02040503050406030204" pitchFamily="18" charset="0"/>
            </a:endParaRPr>
          </a:p>
          <a:p>
            <a:pPr lvl="0"/>
            <a:r>
              <a:rPr lang="en-IN" sz="1600" dirty="0">
                <a:latin typeface="Cambria" panose="02040503050406030204" pitchFamily="18" charset="0"/>
                <a:ea typeface="Cambria" panose="02040503050406030204" pitchFamily="18" charset="0"/>
              </a:rPr>
              <a:t>In 1989, Tim Berners-Lee of CERN (the European Organization for Nuclear Research) began to develop a technology for sharing information via hyperlinked text documents.</a:t>
            </a:r>
          </a:p>
          <a:p>
            <a:pPr lvl="0"/>
            <a:r>
              <a:rPr lang="en-IN" sz="1600" dirty="0">
                <a:latin typeface="Cambria" panose="02040503050406030204" pitchFamily="18" charset="0"/>
                <a:ea typeface="Cambria" panose="02040503050406030204" pitchFamily="18" charset="0"/>
              </a:rPr>
              <a:t>Berners-Lee called his invention the </a:t>
            </a:r>
            <a:r>
              <a:rPr lang="en-IN" sz="1600" dirty="0" err="1">
                <a:latin typeface="Cambria" panose="02040503050406030204" pitchFamily="18" charset="0"/>
                <a:ea typeface="Cambria" panose="02040503050406030204" pitchFamily="18" charset="0"/>
              </a:rPr>
              <a:t>HyperText</a:t>
            </a:r>
            <a:r>
              <a:rPr lang="en-IN" sz="1600" dirty="0">
                <a:latin typeface="Cambria" panose="02040503050406030204" pitchFamily="18" charset="0"/>
                <a:ea typeface="Cambria" panose="02040503050406030204" pitchFamily="18" charset="0"/>
              </a:rPr>
              <a:t> Markup Language (HTML).</a:t>
            </a:r>
          </a:p>
          <a:p>
            <a:pPr marL="0" indent="0">
              <a:buNone/>
            </a:pPr>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727484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945D3-D7F5-DE04-4002-76596FCA09A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2A8DFD4-CDD7-5014-5BD8-6EDC4088945A}"/>
              </a:ext>
            </a:extLst>
          </p:cNvPr>
          <p:cNvSpPr>
            <a:spLocks noGrp="1"/>
          </p:cNvSpPr>
          <p:nvPr>
            <p:ph type="title"/>
          </p:nvPr>
        </p:nvSpPr>
        <p:spPr/>
        <p:txBody>
          <a:bodyPr/>
          <a:lstStyle/>
          <a:p>
            <a:r>
              <a:rPr lang="en-US" dirty="0"/>
              <a:t>What is web</a:t>
            </a:r>
            <a:endParaRPr lang="en-IN" dirty="0"/>
          </a:p>
        </p:txBody>
      </p:sp>
      <p:sp>
        <p:nvSpPr>
          <p:cNvPr id="8" name="Content Placeholder 7">
            <a:extLst>
              <a:ext uri="{FF2B5EF4-FFF2-40B4-BE49-F238E27FC236}">
                <a16:creationId xmlns:a16="http://schemas.microsoft.com/office/drawing/2014/main" id="{D41B07C6-E885-B516-2F39-7F73AAFD133D}"/>
              </a:ext>
            </a:extLst>
          </p:cNvPr>
          <p:cNvSpPr>
            <a:spLocks noGrp="1"/>
          </p:cNvSpPr>
          <p:nvPr>
            <p:ph idx="1"/>
          </p:nvPr>
        </p:nvSpPr>
        <p:spPr/>
        <p:txBody>
          <a:bodyPr>
            <a:normAutofit/>
          </a:bodyPr>
          <a:lstStyle/>
          <a:p>
            <a:pPr lvl="0" algn="just"/>
            <a:r>
              <a:rPr lang="en-IN" dirty="0">
                <a:latin typeface="Cambria" panose="02040503050406030204" pitchFamily="18" charset="0"/>
                <a:ea typeface="Cambria" panose="02040503050406030204" pitchFamily="18" charset="0"/>
              </a:rPr>
              <a:t>He also wrote communication protocols to form the backbone of his new information system, which he called the World Wide Web.</a:t>
            </a:r>
          </a:p>
          <a:p>
            <a:pPr lvl="0" algn="just"/>
            <a:r>
              <a:rPr lang="en-IN" dirty="0">
                <a:latin typeface="Cambria" panose="02040503050406030204" pitchFamily="18" charset="0"/>
                <a:ea typeface="Cambria" panose="02040503050406030204" pitchFamily="18" charset="0"/>
              </a:rPr>
              <a:t>In particular, he wrote the Hypertext Transfer Protocol (HTTP)—a communications protocol used to send information over the web.</a:t>
            </a:r>
          </a:p>
          <a:p>
            <a:pPr lvl="0" algn="just"/>
            <a:r>
              <a:rPr lang="en-IN" dirty="0">
                <a:latin typeface="Cambria" panose="02040503050406030204" pitchFamily="18" charset="0"/>
                <a:ea typeface="Cambria" panose="02040503050406030204" pitchFamily="18" charset="0"/>
              </a:rPr>
              <a:t>The URL (Uniform Resource Locator) specifies the address (i.e., location) of the web page displayed in the browser window.</a:t>
            </a:r>
          </a:p>
          <a:p>
            <a:pPr lvl="0" algn="just"/>
            <a:r>
              <a:rPr lang="en-IN" dirty="0">
                <a:latin typeface="Cambria" panose="02040503050406030204" pitchFamily="18" charset="0"/>
                <a:ea typeface="Cambria" panose="02040503050406030204" pitchFamily="18" charset="0"/>
              </a:rPr>
              <a:t>Each web page on the Internet is associated with a unique URL. URLs usually begin with http://.</a:t>
            </a:r>
          </a:p>
        </p:txBody>
      </p:sp>
    </p:spTree>
    <p:extLst>
      <p:ext uri="{BB962C8B-B14F-4D97-AF65-F5344CB8AC3E}">
        <p14:creationId xmlns:p14="http://schemas.microsoft.com/office/powerpoint/2010/main" val="2132337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96F32-4FF9-CD47-6A1E-8CB66F3CE69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7024710-02FA-9D94-B37E-9B15CE066B72}"/>
              </a:ext>
            </a:extLst>
          </p:cNvPr>
          <p:cNvSpPr>
            <a:spLocks noGrp="1"/>
          </p:cNvSpPr>
          <p:nvPr>
            <p:ph type="title"/>
          </p:nvPr>
        </p:nvSpPr>
        <p:spPr/>
        <p:txBody>
          <a:bodyPr/>
          <a:lstStyle/>
          <a:p>
            <a:r>
              <a:rPr lang="en-IN" b="1" dirty="0"/>
              <a:t>SERVER – CLIENT COMMUNICATION PROTOCOL (HTTP)</a:t>
            </a:r>
            <a:endParaRPr lang="en-IN" dirty="0"/>
          </a:p>
        </p:txBody>
      </p:sp>
      <p:sp>
        <p:nvSpPr>
          <p:cNvPr id="8" name="Content Placeholder 7">
            <a:extLst>
              <a:ext uri="{FF2B5EF4-FFF2-40B4-BE49-F238E27FC236}">
                <a16:creationId xmlns:a16="http://schemas.microsoft.com/office/drawing/2014/main" id="{45799BDC-7B58-8567-25A2-6271A18CF69F}"/>
              </a:ext>
            </a:extLst>
          </p:cNvPr>
          <p:cNvSpPr>
            <a:spLocks noGrp="1"/>
          </p:cNvSpPr>
          <p:nvPr>
            <p:ph idx="1"/>
          </p:nvPr>
        </p:nvSpPr>
        <p:spPr/>
        <p:txBody>
          <a:bodyPr>
            <a:normAutofit/>
          </a:bodyPr>
          <a:lstStyle/>
          <a:p>
            <a:pPr lvl="0" algn="just"/>
            <a:r>
              <a:rPr lang="en-IN" b="1" dirty="0">
                <a:latin typeface="Cambria" panose="02040503050406030204" pitchFamily="18" charset="0"/>
                <a:ea typeface="Cambria" panose="02040503050406030204" pitchFamily="18" charset="0"/>
              </a:rPr>
              <a:t>HTTP stands for </a:t>
            </a:r>
            <a:r>
              <a:rPr lang="en-IN" b="1" dirty="0" err="1">
                <a:latin typeface="Cambria" panose="02040503050406030204" pitchFamily="18" charset="0"/>
                <a:ea typeface="Cambria" panose="02040503050406030204" pitchFamily="18" charset="0"/>
              </a:rPr>
              <a:t>HyperText</a:t>
            </a:r>
            <a:r>
              <a:rPr lang="en-IN" b="1" dirty="0">
                <a:latin typeface="Cambria" panose="02040503050406030204" pitchFamily="18" charset="0"/>
                <a:ea typeface="Cambria" panose="02040503050406030204" pitchFamily="18" charset="0"/>
              </a:rPr>
              <a:t> Transfer Protocol.</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It is a </a:t>
            </a:r>
            <a:r>
              <a:rPr lang="en-IN" b="1" dirty="0">
                <a:latin typeface="Cambria" panose="02040503050406030204" pitchFamily="18" charset="0"/>
                <a:ea typeface="Cambria" panose="02040503050406030204" pitchFamily="18" charset="0"/>
              </a:rPr>
              <a:t>protocol used to access the data on the World Wide Web (www).</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The </a:t>
            </a:r>
            <a:r>
              <a:rPr lang="en-IN" b="1" dirty="0">
                <a:latin typeface="Cambria" panose="02040503050406030204" pitchFamily="18" charset="0"/>
                <a:ea typeface="Cambria" panose="02040503050406030204" pitchFamily="18" charset="0"/>
              </a:rPr>
              <a:t>HTTP protocol can be used to transfer the data</a:t>
            </a:r>
            <a:r>
              <a:rPr lang="en-IN" dirty="0">
                <a:latin typeface="Cambria" panose="02040503050406030204" pitchFamily="18" charset="0"/>
                <a:ea typeface="Cambria" panose="02040503050406030204" pitchFamily="18" charset="0"/>
              </a:rPr>
              <a:t> in the form of </a:t>
            </a:r>
            <a:r>
              <a:rPr lang="en-IN" b="1" dirty="0">
                <a:latin typeface="Cambria" panose="02040503050406030204" pitchFamily="18" charset="0"/>
                <a:ea typeface="Cambria" panose="02040503050406030204" pitchFamily="18" charset="0"/>
              </a:rPr>
              <a:t>plain text, hypertext, audio, video, and so on.</a:t>
            </a:r>
            <a:endParaRPr lang="en-IN" dirty="0">
              <a:latin typeface="Cambria" panose="02040503050406030204" pitchFamily="18" charset="0"/>
              <a:ea typeface="Cambria" panose="02040503050406030204" pitchFamily="18" charset="0"/>
            </a:endParaRPr>
          </a:p>
          <a:p>
            <a:pPr lvl="0" algn="just"/>
            <a:r>
              <a:rPr lang="en-IN" dirty="0">
                <a:latin typeface="Cambria" panose="02040503050406030204" pitchFamily="18" charset="0"/>
                <a:ea typeface="Cambria" panose="02040503050406030204" pitchFamily="18" charset="0"/>
              </a:rPr>
              <a:t>This protocol is known as </a:t>
            </a:r>
            <a:r>
              <a:rPr lang="en-IN" b="1" dirty="0" err="1">
                <a:latin typeface="Cambria" panose="02040503050406030204" pitchFamily="18" charset="0"/>
                <a:ea typeface="Cambria" panose="02040503050406030204" pitchFamily="18" charset="0"/>
              </a:rPr>
              <a:t>HyperText</a:t>
            </a:r>
            <a:r>
              <a:rPr lang="en-IN" b="1" dirty="0">
                <a:latin typeface="Cambria" panose="02040503050406030204" pitchFamily="18" charset="0"/>
                <a:ea typeface="Cambria" panose="02040503050406030204" pitchFamily="18" charset="0"/>
              </a:rPr>
              <a:t> Transfer Protocol</a:t>
            </a:r>
            <a:r>
              <a:rPr lang="en-IN" dirty="0">
                <a:latin typeface="Cambria" panose="02040503050406030204" pitchFamily="18" charset="0"/>
                <a:ea typeface="Cambria" panose="02040503050406030204" pitchFamily="18" charset="0"/>
              </a:rPr>
              <a:t> because of </a:t>
            </a:r>
            <a:r>
              <a:rPr lang="en-IN" b="1" dirty="0">
                <a:latin typeface="Cambria" panose="02040503050406030204" pitchFamily="18" charset="0"/>
                <a:ea typeface="Cambria" panose="02040503050406030204" pitchFamily="18" charset="0"/>
              </a:rPr>
              <a:t>its efficiency</a:t>
            </a:r>
            <a:r>
              <a:rPr lang="en-IN" dirty="0">
                <a:latin typeface="Cambria" panose="02040503050406030204" pitchFamily="18" charset="0"/>
                <a:ea typeface="Cambria" panose="02040503050406030204" pitchFamily="18" charset="0"/>
              </a:rPr>
              <a:t> that allows us to use in a hypertext environment where there are </a:t>
            </a:r>
            <a:r>
              <a:rPr lang="en-IN" b="1" dirty="0">
                <a:latin typeface="Cambria" panose="02040503050406030204" pitchFamily="18" charset="0"/>
                <a:ea typeface="Cambria" panose="02040503050406030204" pitchFamily="18" charset="0"/>
              </a:rPr>
              <a:t>rapid jumps from one document to another document.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79737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76F41-36DE-88B6-0FC5-8B874E3A36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8D6850-146F-5ECF-7A4F-50A7B338F4F2}"/>
              </a:ext>
            </a:extLst>
          </p:cNvPr>
          <p:cNvSpPr>
            <a:spLocks noGrp="1"/>
          </p:cNvSpPr>
          <p:nvPr>
            <p:ph type="title"/>
          </p:nvPr>
        </p:nvSpPr>
        <p:spPr/>
        <p:txBody>
          <a:bodyPr/>
          <a:lstStyle/>
          <a:p>
            <a:r>
              <a:rPr lang="en-IN" b="1" dirty="0"/>
              <a:t>Server</a:t>
            </a:r>
            <a:endParaRPr lang="en-IN" dirty="0"/>
          </a:p>
        </p:txBody>
      </p:sp>
      <p:sp>
        <p:nvSpPr>
          <p:cNvPr id="8" name="Content Placeholder 7">
            <a:extLst>
              <a:ext uri="{FF2B5EF4-FFF2-40B4-BE49-F238E27FC236}">
                <a16:creationId xmlns:a16="http://schemas.microsoft.com/office/drawing/2014/main" id="{0BC03894-FBEA-47F3-2031-2B8929389ADB}"/>
              </a:ext>
            </a:extLst>
          </p:cNvPr>
          <p:cNvSpPr>
            <a:spLocks noGrp="1"/>
          </p:cNvSpPr>
          <p:nvPr>
            <p:ph idx="1"/>
          </p:nvPr>
        </p:nvSpPr>
        <p:spPr/>
        <p:txBody>
          <a:bodyPr>
            <a:normAutofit/>
          </a:bodyPr>
          <a:lstStyle/>
          <a:p>
            <a:pPr marL="0" indent="0" algn="just">
              <a:buNone/>
            </a:pPr>
            <a:r>
              <a:rPr lang="en-IN" dirty="0">
                <a:latin typeface="Cambria" panose="02040503050406030204" pitchFamily="18" charset="0"/>
                <a:ea typeface="Cambria" panose="02040503050406030204" pitchFamily="18" charset="0"/>
              </a:rPr>
              <a:t>“A server is a powerful system that listens for and responds to client requests by delivering data or performing tasks. Servers often handle multiple simultaneous client requests. “</a:t>
            </a:r>
          </a:p>
          <a:p>
            <a:pPr marL="0" indent="0" algn="just">
              <a:buNone/>
            </a:pPr>
            <a:r>
              <a:rPr lang="en-IN" dirty="0">
                <a:latin typeface="Cambria" panose="02040503050406030204" pitchFamily="18" charset="0"/>
                <a:ea typeface="Cambria" panose="02040503050406030204" pitchFamily="18" charset="0"/>
              </a:rPr>
              <a:t>“A </a:t>
            </a:r>
            <a:r>
              <a:rPr lang="en-IN" b="1" dirty="0">
                <a:latin typeface="Cambria" panose="02040503050406030204" pitchFamily="18" charset="0"/>
                <a:ea typeface="Cambria" panose="02040503050406030204" pitchFamily="18" charset="0"/>
              </a:rPr>
              <a:t>server</a:t>
            </a:r>
            <a:r>
              <a:rPr lang="en-IN" dirty="0">
                <a:latin typeface="Cambria" panose="02040503050406030204" pitchFamily="18" charset="0"/>
                <a:ea typeface="Cambria" panose="02040503050406030204" pitchFamily="18" charset="0"/>
              </a:rPr>
              <a:t> is a system or software application that </a:t>
            </a:r>
            <a:r>
              <a:rPr lang="en-IN" b="1" dirty="0">
                <a:latin typeface="Cambria" panose="02040503050406030204" pitchFamily="18" charset="0"/>
                <a:ea typeface="Cambria" panose="02040503050406030204" pitchFamily="18" charset="0"/>
              </a:rPr>
              <a:t>receives requests from clients</a:t>
            </a:r>
            <a:r>
              <a:rPr lang="en-IN" dirty="0">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processes them</a:t>
            </a:r>
            <a:r>
              <a:rPr lang="en-IN" dirty="0">
                <a:latin typeface="Cambria" panose="02040503050406030204" pitchFamily="18" charset="0"/>
                <a:ea typeface="Cambria" panose="02040503050406030204" pitchFamily="18" charset="0"/>
              </a:rPr>
              <a:t>, and </a:t>
            </a:r>
            <a:r>
              <a:rPr lang="en-IN" b="1" dirty="0">
                <a:latin typeface="Cambria" panose="02040503050406030204" pitchFamily="18" charset="0"/>
                <a:ea typeface="Cambria" panose="02040503050406030204" pitchFamily="18" charset="0"/>
              </a:rPr>
              <a:t>returns appropriate responses</a:t>
            </a:r>
            <a:r>
              <a:rPr lang="en-IN" dirty="0">
                <a:latin typeface="Cambria" panose="02040503050406030204" pitchFamily="18" charset="0"/>
                <a:ea typeface="Cambria" panose="02040503050406030204" pitchFamily="18" charset="0"/>
              </a:rPr>
              <a:t> over a network”.</a:t>
            </a:r>
          </a:p>
          <a:p>
            <a:pPr marL="0" indent="0" algn="just">
              <a:buNone/>
            </a:pPr>
            <a:r>
              <a:rPr lang="en-IN" dirty="0">
                <a:latin typeface="Cambria" panose="02040503050406030204" pitchFamily="18" charset="0"/>
                <a:ea typeface="Cambria" panose="02040503050406030204" pitchFamily="18" charset="0"/>
              </a:rPr>
              <a:t>Common server applications include:</a:t>
            </a:r>
          </a:p>
          <a:p>
            <a:pPr lvl="1" algn="just"/>
            <a:r>
              <a:rPr lang="en-IN" sz="1700" dirty="0">
                <a:latin typeface="Cambria" panose="02040503050406030204" pitchFamily="18" charset="0"/>
                <a:ea typeface="Cambria" panose="02040503050406030204" pitchFamily="18" charset="0"/>
              </a:rPr>
              <a:t>Web Servers (e.g., Apache, Nginx)</a:t>
            </a:r>
          </a:p>
          <a:p>
            <a:pPr lvl="1" algn="just"/>
            <a:r>
              <a:rPr lang="en-IN" sz="1700" dirty="0">
                <a:latin typeface="Cambria" panose="02040503050406030204" pitchFamily="18" charset="0"/>
                <a:ea typeface="Cambria" panose="02040503050406030204" pitchFamily="18" charset="0"/>
              </a:rPr>
              <a:t>Email Servers</a:t>
            </a:r>
          </a:p>
          <a:p>
            <a:pPr lvl="1" algn="just"/>
            <a:r>
              <a:rPr lang="en-IN" sz="1700" dirty="0">
                <a:latin typeface="Cambria" panose="02040503050406030204" pitchFamily="18" charset="0"/>
                <a:ea typeface="Cambria" panose="02040503050406030204" pitchFamily="18" charset="0"/>
              </a:rPr>
              <a:t>Database servers</a:t>
            </a:r>
          </a:p>
        </p:txBody>
      </p:sp>
    </p:spTree>
    <p:extLst>
      <p:ext uri="{BB962C8B-B14F-4D97-AF65-F5344CB8AC3E}">
        <p14:creationId xmlns:p14="http://schemas.microsoft.com/office/powerpoint/2010/main" val="537370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AFD27-CD05-1885-0024-585796E5140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83968AE-E856-D0FC-BF46-F65EE9344656}"/>
              </a:ext>
            </a:extLst>
          </p:cNvPr>
          <p:cNvSpPr>
            <a:spLocks noGrp="1"/>
          </p:cNvSpPr>
          <p:nvPr>
            <p:ph type="title"/>
          </p:nvPr>
        </p:nvSpPr>
        <p:spPr/>
        <p:txBody>
          <a:bodyPr/>
          <a:lstStyle/>
          <a:p>
            <a:r>
              <a:rPr lang="en-IN" b="1" dirty="0"/>
              <a:t>client</a:t>
            </a:r>
            <a:endParaRPr lang="en-IN" dirty="0"/>
          </a:p>
        </p:txBody>
      </p:sp>
      <p:sp>
        <p:nvSpPr>
          <p:cNvPr id="8" name="Content Placeholder 7">
            <a:extLst>
              <a:ext uri="{FF2B5EF4-FFF2-40B4-BE49-F238E27FC236}">
                <a16:creationId xmlns:a16="http://schemas.microsoft.com/office/drawing/2014/main" id="{2F54FEA3-F744-5188-4F29-F1245D5F292A}"/>
              </a:ext>
            </a:extLst>
          </p:cNvPr>
          <p:cNvSpPr>
            <a:spLocks noGrp="1"/>
          </p:cNvSpPr>
          <p:nvPr>
            <p:ph idx="1"/>
          </p:nvPr>
        </p:nvSpPr>
        <p:spPr/>
        <p:txBody>
          <a:bodyPr>
            <a:normAutofit/>
          </a:bodyPr>
          <a:lstStyle/>
          <a:p>
            <a:pPr marL="0" indent="0">
              <a:buNone/>
            </a:pPr>
            <a:r>
              <a:rPr lang="en-IN" dirty="0">
                <a:latin typeface="Cambria" panose="02040503050406030204" pitchFamily="18" charset="0"/>
                <a:ea typeface="Cambria" panose="02040503050406030204" pitchFamily="18" charset="0"/>
              </a:rPr>
              <a:t>“A </a:t>
            </a:r>
            <a:r>
              <a:rPr lang="en-IN" b="1" dirty="0">
                <a:latin typeface="Cambria" panose="02040503050406030204" pitchFamily="18" charset="0"/>
                <a:ea typeface="Cambria" panose="02040503050406030204" pitchFamily="18" charset="0"/>
              </a:rPr>
              <a:t>client</a:t>
            </a:r>
            <a:r>
              <a:rPr lang="en-IN" dirty="0">
                <a:latin typeface="Cambria" panose="02040503050406030204" pitchFamily="18" charset="0"/>
                <a:ea typeface="Cambria" panose="02040503050406030204" pitchFamily="18" charset="0"/>
              </a:rPr>
              <a:t> is any device or software that initiates communication by requesting data or services from a server.”</a:t>
            </a:r>
          </a:p>
          <a:p>
            <a:pPr marL="0" indent="0">
              <a:buNone/>
            </a:pPr>
            <a:r>
              <a:rPr lang="en-IN" dirty="0">
                <a:latin typeface="Cambria" panose="02040503050406030204" pitchFamily="18" charset="0"/>
                <a:ea typeface="Cambria" panose="02040503050406030204" pitchFamily="18" charset="0"/>
              </a:rPr>
              <a:t>“A </a:t>
            </a:r>
            <a:r>
              <a:rPr lang="en-IN" b="1" dirty="0">
                <a:latin typeface="Cambria" panose="02040503050406030204" pitchFamily="18" charset="0"/>
                <a:ea typeface="Cambria" panose="02040503050406030204" pitchFamily="18" charset="0"/>
              </a:rPr>
              <a:t>client</a:t>
            </a:r>
            <a:r>
              <a:rPr lang="en-IN" dirty="0">
                <a:latin typeface="Cambria" panose="02040503050406030204" pitchFamily="18" charset="0"/>
                <a:ea typeface="Cambria" panose="02040503050406030204" pitchFamily="18" charset="0"/>
              </a:rPr>
              <a:t> is a software application or device that </a:t>
            </a:r>
            <a:r>
              <a:rPr lang="en-IN" b="1" dirty="0">
                <a:latin typeface="Cambria" panose="02040503050406030204" pitchFamily="18" charset="0"/>
                <a:ea typeface="Cambria" panose="02040503050406030204" pitchFamily="18" charset="0"/>
              </a:rPr>
              <a:t>initiates requests</a:t>
            </a:r>
            <a:r>
              <a:rPr lang="en-IN" dirty="0">
                <a:latin typeface="Cambria" panose="02040503050406030204" pitchFamily="18" charset="0"/>
                <a:ea typeface="Cambria" panose="02040503050406030204" pitchFamily="18" charset="0"/>
              </a:rPr>
              <a:t> for services or resources over a network and </a:t>
            </a:r>
            <a:r>
              <a:rPr lang="en-IN" b="1" dirty="0">
                <a:latin typeface="Cambria" panose="02040503050406030204" pitchFamily="18" charset="0"/>
                <a:ea typeface="Cambria" panose="02040503050406030204" pitchFamily="18" charset="0"/>
              </a:rPr>
              <a:t>presents the response to the user.”</a:t>
            </a:r>
            <a:endParaRPr lang="en-IN" dirty="0">
              <a:latin typeface="Cambria" panose="02040503050406030204" pitchFamily="18" charset="0"/>
              <a:ea typeface="Cambria" panose="02040503050406030204" pitchFamily="18" charset="0"/>
            </a:endParaRPr>
          </a:p>
          <a:p>
            <a:pPr marL="0" indent="0">
              <a:buNone/>
            </a:pPr>
            <a:r>
              <a:rPr lang="en-IN" dirty="0">
                <a:latin typeface="Cambria" panose="02040503050406030204" pitchFamily="18" charset="0"/>
                <a:ea typeface="Cambria" panose="02040503050406030204" pitchFamily="18" charset="0"/>
              </a:rPr>
              <a:t>Common client applications include:</a:t>
            </a:r>
          </a:p>
          <a:p>
            <a:pPr fontAlgn="base"/>
            <a:r>
              <a:rPr lang="en-IN" dirty="0">
                <a:latin typeface="Cambria" panose="02040503050406030204" pitchFamily="18" charset="0"/>
                <a:ea typeface="Cambria" panose="02040503050406030204" pitchFamily="18" charset="0"/>
              </a:rPr>
              <a:t>Web browsers (e.g., Chrome, Firefox), or a Frontend application (React, Angular, mobile apps)</a:t>
            </a:r>
          </a:p>
          <a:p>
            <a:pPr fontAlgn="base"/>
            <a:r>
              <a:rPr lang="en-IN" dirty="0">
                <a:latin typeface="Cambria" panose="02040503050406030204" pitchFamily="18" charset="0"/>
                <a:ea typeface="Cambria" panose="02040503050406030204" pitchFamily="18" charset="0"/>
              </a:rPr>
              <a:t>Email apps (e.g., Gmail, Outlook)</a:t>
            </a:r>
          </a:p>
        </p:txBody>
      </p:sp>
    </p:spTree>
    <p:extLst>
      <p:ext uri="{BB962C8B-B14F-4D97-AF65-F5344CB8AC3E}">
        <p14:creationId xmlns:p14="http://schemas.microsoft.com/office/powerpoint/2010/main" val="3211355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38EAE49-6F2E-6BA3-2FCC-4F19CB62A4D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15142" y="1246413"/>
            <a:ext cx="9361715" cy="4680858"/>
          </a:xfrm>
          <a:prstGeom prst="rect">
            <a:avLst/>
          </a:prstGeom>
          <a:noFill/>
          <a:ln>
            <a:noFill/>
          </a:ln>
        </p:spPr>
      </p:pic>
    </p:spTree>
    <p:extLst>
      <p:ext uri="{BB962C8B-B14F-4D97-AF65-F5344CB8AC3E}">
        <p14:creationId xmlns:p14="http://schemas.microsoft.com/office/powerpoint/2010/main" val="4189502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1EF03-BB03-24C8-8144-F3461620C52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6EB9419-B780-5868-4673-16A630B581AF}"/>
              </a:ext>
            </a:extLst>
          </p:cNvPr>
          <p:cNvPicPr>
            <a:picLocks noChangeAspect="1"/>
          </p:cNvPicPr>
          <p:nvPr/>
        </p:nvPicPr>
        <p:blipFill>
          <a:blip r:embed="rId2"/>
          <a:stretch>
            <a:fillRect/>
          </a:stretch>
        </p:blipFill>
        <p:spPr>
          <a:xfrm>
            <a:off x="1016000" y="889000"/>
            <a:ext cx="10160000" cy="5080000"/>
          </a:xfrm>
          <a:prstGeom prst="rect">
            <a:avLst/>
          </a:prstGeom>
        </p:spPr>
      </p:pic>
    </p:spTree>
    <p:extLst>
      <p:ext uri="{BB962C8B-B14F-4D97-AF65-F5344CB8AC3E}">
        <p14:creationId xmlns:p14="http://schemas.microsoft.com/office/powerpoint/2010/main" val="341622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3A97-B154-CAAD-D81E-34A51DFFEC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022EF6A-60A5-B425-7BF5-1477C3B355CF}"/>
              </a:ext>
            </a:extLst>
          </p:cNvPr>
          <p:cNvPicPr>
            <a:picLocks noChangeAspect="1"/>
          </p:cNvPicPr>
          <p:nvPr/>
        </p:nvPicPr>
        <p:blipFill>
          <a:blip r:embed="rId2"/>
          <a:stretch>
            <a:fillRect/>
          </a:stretch>
        </p:blipFill>
        <p:spPr>
          <a:xfrm>
            <a:off x="1016000" y="889000"/>
            <a:ext cx="10160000" cy="5080000"/>
          </a:xfrm>
          <a:prstGeom prst="rect">
            <a:avLst/>
          </a:prstGeom>
        </p:spPr>
      </p:pic>
    </p:spTree>
    <p:extLst>
      <p:ext uri="{BB962C8B-B14F-4D97-AF65-F5344CB8AC3E}">
        <p14:creationId xmlns:p14="http://schemas.microsoft.com/office/powerpoint/2010/main" val="16427992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F303-A074-A0AE-AED8-463E72780B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C23F5FE-E9F7-C3FA-5E82-23FF2D949D72}"/>
              </a:ext>
            </a:extLst>
          </p:cNvPr>
          <p:cNvPicPr>
            <a:picLocks noChangeAspect="1"/>
          </p:cNvPicPr>
          <p:nvPr/>
        </p:nvPicPr>
        <p:blipFill>
          <a:blip r:embed="rId2"/>
          <a:stretch>
            <a:fillRect/>
          </a:stretch>
        </p:blipFill>
        <p:spPr>
          <a:xfrm>
            <a:off x="1016000" y="889000"/>
            <a:ext cx="10160000" cy="5080000"/>
          </a:xfrm>
          <a:prstGeom prst="rect">
            <a:avLst/>
          </a:prstGeom>
        </p:spPr>
      </p:pic>
    </p:spTree>
    <p:extLst>
      <p:ext uri="{BB962C8B-B14F-4D97-AF65-F5344CB8AC3E}">
        <p14:creationId xmlns:p14="http://schemas.microsoft.com/office/powerpoint/2010/main" val="2443394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C7D2-D210-629E-5DF2-73AC3187865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D3B139D-630C-4E4D-FC28-261280B45C30}"/>
              </a:ext>
            </a:extLst>
          </p:cNvPr>
          <p:cNvSpPr>
            <a:spLocks noGrp="1"/>
          </p:cNvSpPr>
          <p:nvPr>
            <p:ph type="title"/>
          </p:nvPr>
        </p:nvSpPr>
        <p:spPr/>
        <p:txBody>
          <a:bodyPr>
            <a:normAutofit/>
          </a:bodyPr>
          <a:lstStyle/>
          <a:p>
            <a:r>
              <a:rPr lang="en-IN" b="1" dirty="0"/>
              <a:t>Basic Characteristics of HTTP</a:t>
            </a:r>
            <a:endParaRPr lang="en-IN" dirty="0"/>
          </a:p>
        </p:txBody>
      </p:sp>
      <p:sp>
        <p:nvSpPr>
          <p:cNvPr id="8" name="Content Placeholder 7">
            <a:extLst>
              <a:ext uri="{FF2B5EF4-FFF2-40B4-BE49-F238E27FC236}">
                <a16:creationId xmlns:a16="http://schemas.microsoft.com/office/drawing/2014/main" id="{800DD192-2431-46AC-F124-8486D8CA5B72}"/>
              </a:ext>
            </a:extLst>
          </p:cNvPr>
          <p:cNvSpPr>
            <a:spLocks noGrp="1"/>
          </p:cNvSpPr>
          <p:nvPr>
            <p:ph idx="1"/>
          </p:nvPr>
        </p:nvSpPr>
        <p:spPr/>
        <p:txBody>
          <a:bodyPr>
            <a:normAutofit/>
          </a:bodyPr>
          <a:lstStyle/>
          <a:p>
            <a:pPr lvl="0"/>
            <a:r>
              <a:rPr lang="en-IN" dirty="0">
                <a:latin typeface="Cambria" panose="02040503050406030204" pitchFamily="18" charset="0"/>
                <a:ea typeface="Cambria" panose="02040503050406030204" pitchFamily="18" charset="0"/>
              </a:rPr>
              <a:t>It is the protocol that </a:t>
            </a:r>
            <a:r>
              <a:rPr lang="en-IN" b="1" dirty="0">
                <a:latin typeface="Cambria" panose="02040503050406030204" pitchFamily="18" charset="0"/>
                <a:ea typeface="Cambria" panose="02040503050406030204" pitchFamily="18" charset="0"/>
              </a:rPr>
              <a:t>allows web servers and browsers to exchange data over the web.</a:t>
            </a:r>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It is a </a:t>
            </a:r>
            <a:r>
              <a:rPr lang="en-IN" b="1" dirty="0">
                <a:latin typeface="Cambria" panose="02040503050406030204" pitchFamily="18" charset="0"/>
                <a:ea typeface="Cambria" panose="02040503050406030204" pitchFamily="18" charset="0"/>
              </a:rPr>
              <a:t>request response protocol.</a:t>
            </a:r>
            <a:endParaRPr lang="en-IN"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It </a:t>
            </a:r>
            <a:r>
              <a:rPr lang="en-IN" b="1" dirty="0">
                <a:latin typeface="Cambria" panose="02040503050406030204" pitchFamily="18" charset="0"/>
                <a:ea typeface="Cambria" panose="02040503050406030204" pitchFamily="18" charset="0"/>
              </a:rPr>
              <a:t>uses the reliable TCP connections</a:t>
            </a:r>
            <a:r>
              <a:rPr lang="en-IN" dirty="0">
                <a:latin typeface="Cambria" panose="02040503050406030204" pitchFamily="18" charset="0"/>
                <a:ea typeface="Cambria" panose="02040503050406030204" pitchFamily="18" charset="0"/>
              </a:rPr>
              <a:t> by default on </a:t>
            </a:r>
            <a:r>
              <a:rPr lang="en-IN" b="1" dirty="0">
                <a:latin typeface="Cambria" panose="02040503050406030204" pitchFamily="18" charset="0"/>
                <a:ea typeface="Cambria" panose="02040503050406030204" pitchFamily="18" charset="0"/>
              </a:rPr>
              <a:t>TCP port 80.</a:t>
            </a:r>
            <a:endParaRPr lang="en-IN" dirty="0">
              <a:latin typeface="Cambria" panose="02040503050406030204" pitchFamily="18" charset="0"/>
              <a:ea typeface="Cambria" panose="02040503050406030204" pitchFamily="18" charset="0"/>
            </a:endParaRPr>
          </a:p>
          <a:p>
            <a:pPr lvl="1"/>
            <a:r>
              <a:rPr lang="en-IN" sz="1700" b="1" i="1" dirty="0">
                <a:latin typeface="Cambria" panose="02040503050406030204" pitchFamily="18" charset="0"/>
                <a:ea typeface="Cambria" panose="02040503050406030204" pitchFamily="18" charset="0"/>
              </a:rPr>
              <a:t>TCP </a:t>
            </a:r>
            <a:r>
              <a:rPr lang="en-IN" sz="1700" i="1" dirty="0">
                <a:latin typeface="Cambria" panose="02040503050406030204" pitchFamily="18" charset="0"/>
                <a:ea typeface="Cambria" panose="02040503050406030204" pitchFamily="18" charset="0"/>
              </a:rPr>
              <a:t>(Transmission Control Protocol) is a communication rule that makes sure HTTP data is safely sent between client and server.</a:t>
            </a:r>
            <a:endParaRPr lang="en-IN" sz="1700" dirty="0">
              <a:latin typeface="Cambria" panose="02040503050406030204" pitchFamily="18" charset="0"/>
              <a:ea typeface="Cambria" panose="02040503050406030204" pitchFamily="18" charset="0"/>
            </a:endParaRPr>
          </a:p>
          <a:p>
            <a:pPr lvl="0"/>
            <a:r>
              <a:rPr lang="en-IN" dirty="0">
                <a:latin typeface="Cambria" panose="02040503050406030204" pitchFamily="18" charset="0"/>
                <a:ea typeface="Cambria" panose="02040503050406030204" pitchFamily="18" charset="0"/>
              </a:rPr>
              <a:t>It is </a:t>
            </a:r>
            <a:r>
              <a:rPr lang="en-IN" b="1" dirty="0">
                <a:latin typeface="Cambria" panose="02040503050406030204" pitchFamily="18" charset="0"/>
                <a:ea typeface="Cambria" panose="02040503050406030204" pitchFamily="18" charset="0"/>
              </a:rPr>
              <a:t>stateless</a:t>
            </a:r>
            <a:r>
              <a:rPr lang="en-IN" dirty="0">
                <a:latin typeface="Cambria" panose="02040503050406030204" pitchFamily="18" charset="0"/>
                <a:ea typeface="Cambria" panose="02040503050406030204" pitchFamily="18" charset="0"/>
              </a:rPr>
              <a:t> means each request is considered as the new request. In other words, server doesn't recognize the user by default.</a:t>
            </a:r>
          </a:p>
        </p:txBody>
      </p:sp>
    </p:spTree>
    <p:extLst>
      <p:ext uri="{BB962C8B-B14F-4D97-AF65-F5344CB8AC3E}">
        <p14:creationId xmlns:p14="http://schemas.microsoft.com/office/powerpoint/2010/main" val="2433070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D5CD9-59B1-AC11-1BB4-3574F32486C8}"/>
              </a:ext>
            </a:extLst>
          </p:cNvPr>
          <p:cNvSpPr>
            <a:spLocks noGrp="1"/>
          </p:cNvSpPr>
          <p:nvPr>
            <p:ph type="title"/>
          </p:nvPr>
        </p:nvSpPr>
        <p:spPr/>
        <p:txBody>
          <a:bodyPr/>
          <a:lstStyle/>
          <a:p>
            <a:r>
              <a:rPr lang="en-IN" dirty="0"/>
              <a:t>Structure of HTML Documents</a:t>
            </a:r>
          </a:p>
        </p:txBody>
      </p:sp>
    </p:spTree>
    <p:extLst>
      <p:ext uri="{BB962C8B-B14F-4D97-AF65-F5344CB8AC3E}">
        <p14:creationId xmlns:p14="http://schemas.microsoft.com/office/powerpoint/2010/main" val="1703185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ML: Features, Application and History - GeeksforGeeks">
            <a:extLst>
              <a:ext uri="{FF2B5EF4-FFF2-40B4-BE49-F238E27FC236}">
                <a16:creationId xmlns:a16="http://schemas.microsoft.com/office/drawing/2014/main" id="{7ECCD1C8-226A-8CE0-AEE4-59ABC37F62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186" y="192826"/>
            <a:ext cx="9312729" cy="6472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659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9571F-9A4F-7FC4-DF37-92B0EF28D9A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2C62B69-D264-99C2-9570-F9F8BA2F6259}"/>
              </a:ext>
            </a:extLst>
          </p:cNvPr>
          <p:cNvSpPr>
            <a:spLocks noGrp="1"/>
          </p:cNvSpPr>
          <p:nvPr>
            <p:ph type="title"/>
          </p:nvPr>
        </p:nvSpPr>
        <p:spPr/>
        <p:txBody>
          <a:bodyPr>
            <a:normAutofit/>
          </a:bodyPr>
          <a:lstStyle/>
          <a:p>
            <a:r>
              <a:rPr lang="en-IN" dirty="0"/>
              <a:t>Basic Markup tags</a:t>
            </a:r>
          </a:p>
        </p:txBody>
      </p:sp>
      <p:sp>
        <p:nvSpPr>
          <p:cNvPr id="8" name="Content Placeholder 7">
            <a:extLst>
              <a:ext uri="{FF2B5EF4-FFF2-40B4-BE49-F238E27FC236}">
                <a16:creationId xmlns:a16="http://schemas.microsoft.com/office/drawing/2014/main" id="{887C6DAF-952D-4B82-68A0-9A51E2D559AE}"/>
              </a:ext>
            </a:extLst>
          </p:cNvPr>
          <p:cNvSpPr>
            <a:spLocks noGrp="1"/>
          </p:cNvSpPr>
          <p:nvPr>
            <p:ph idx="1"/>
          </p:nvPr>
        </p:nvSpPr>
        <p:spPr/>
        <p:txBody>
          <a:bodyPr>
            <a:normAutofit/>
          </a:bodyPr>
          <a:lstStyle/>
          <a:p>
            <a:pPr lvl="0" algn="just"/>
            <a:r>
              <a:rPr lang="en-IN" b="1" dirty="0">
                <a:latin typeface="Cambria" panose="02040503050406030204" pitchFamily="18" charset="0"/>
                <a:ea typeface="Cambria" panose="02040503050406030204" pitchFamily="18" charset="0"/>
              </a:rPr>
              <a:t>HTML</a:t>
            </a:r>
            <a:r>
              <a:rPr lang="en-IN" dirty="0">
                <a:latin typeface="Cambria" panose="02040503050406030204" pitchFamily="18" charset="0"/>
                <a:ea typeface="Cambria" panose="02040503050406030204" pitchFamily="18" charset="0"/>
              </a:rPr>
              <a:t> (Hyper Text Markup Language) uses various tags to structures contents on the web. Here’s a list of essential markup tags that are fundamental for creating HTML documents.</a:t>
            </a:r>
          </a:p>
          <a:p>
            <a:pPr lvl="0" algn="just"/>
            <a:r>
              <a:rPr lang="en-IN" b="1" dirty="0">
                <a:latin typeface="Cambria" panose="02040503050406030204" pitchFamily="18" charset="0"/>
                <a:ea typeface="Cambria" panose="02040503050406030204" pitchFamily="18" charset="0"/>
              </a:rPr>
              <a:t>Essential HTML tags:</a:t>
            </a:r>
          </a:p>
          <a:p>
            <a:pPr lvl="1" algn="just"/>
            <a:r>
              <a:rPr lang="en-US" sz="1700" b="1" dirty="0">
                <a:latin typeface="Cambria" panose="02040503050406030204" pitchFamily="18" charset="0"/>
                <a:ea typeface="Cambria" panose="02040503050406030204" pitchFamily="18" charset="0"/>
              </a:rPr>
              <a:t>&lt;!DOCTYPE html&gt;:</a:t>
            </a:r>
            <a:r>
              <a:rPr lang="en-US" sz="1700" dirty="0">
                <a:latin typeface="Cambria" panose="02040503050406030204" pitchFamily="18" charset="0"/>
                <a:ea typeface="Cambria" panose="02040503050406030204" pitchFamily="18" charset="0"/>
              </a:rPr>
              <a:t> Declares the document type and version of HTML being used.</a:t>
            </a:r>
          </a:p>
          <a:p>
            <a:pPr lvl="1" algn="just"/>
            <a:r>
              <a:rPr lang="en-US" sz="1700" b="1" dirty="0">
                <a:latin typeface="Cambria" panose="02040503050406030204" pitchFamily="18" charset="0"/>
                <a:ea typeface="Cambria" panose="02040503050406030204" pitchFamily="18" charset="0"/>
              </a:rPr>
              <a:t>&lt;html&gt;:</a:t>
            </a:r>
            <a:r>
              <a:rPr lang="en-US" sz="1700" dirty="0">
                <a:latin typeface="Cambria" panose="02040503050406030204" pitchFamily="18" charset="0"/>
                <a:ea typeface="Cambria" panose="02040503050406030204" pitchFamily="18" charset="0"/>
              </a:rPr>
              <a:t> The root element that wraps the entire HTML document.</a:t>
            </a:r>
          </a:p>
          <a:p>
            <a:pPr lvl="1" algn="just"/>
            <a:r>
              <a:rPr lang="en-US" sz="1700" b="1" dirty="0">
                <a:latin typeface="Cambria" panose="02040503050406030204" pitchFamily="18" charset="0"/>
                <a:ea typeface="Cambria" panose="02040503050406030204" pitchFamily="18" charset="0"/>
              </a:rPr>
              <a:t>&lt;head&gt;:</a:t>
            </a:r>
            <a:r>
              <a:rPr lang="en-US" sz="1700" dirty="0">
                <a:latin typeface="Cambria" panose="02040503050406030204" pitchFamily="18" charset="0"/>
                <a:ea typeface="Cambria" panose="02040503050406030204" pitchFamily="18" charset="0"/>
              </a:rPr>
              <a:t> Contains meta-information about the document, such as the title and links to stylesheets.</a:t>
            </a:r>
          </a:p>
          <a:p>
            <a:pPr lvl="1" algn="just"/>
            <a:r>
              <a:rPr lang="en-US" sz="1700" b="1" dirty="0">
                <a:latin typeface="Cambria" panose="02040503050406030204" pitchFamily="18" charset="0"/>
                <a:ea typeface="Cambria" panose="02040503050406030204" pitchFamily="18" charset="0"/>
              </a:rPr>
              <a:t>&lt;title&gt;:</a:t>
            </a:r>
            <a:r>
              <a:rPr lang="en-US" sz="1700" dirty="0">
                <a:latin typeface="Cambria" panose="02040503050406030204" pitchFamily="18" charset="0"/>
                <a:ea typeface="Cambria" panose="02040503050406030204" pitchFamily="18" charset="0"/>
              </a:rPr>
              <a:t> Sets the title of the document, displayed in the browser's title bar.</a:t>
            </a:r>
          </a:p>
          <a:p>
            <a:pPr lvl="1" algn="just"/>
            <a:r>
              <a:rPr lang="en-US" sz="1700" b="1" dirty="0">
                <a:latin typeface="Cambria" panose="02040503050406030204" pitchFamily="18" charset="0"/>
                <a:ea typeface="Cambria" panose="02040503050406030204" pitchFamily="18" charset="0"/>
              </a:rPr>
              <a:t>&lt;body&gt;:</a:t>
            </a:r>
            <a:r>
              <a:rPr lang="en-US" sz="1700" dirty="0">
                <a:latin typeface="Cambria" panose="02040503050406030204" pitchFamily="18" charset="0"/>
                <a:ea typeface="Cambria" panose="02040503050406030204" pitchFamily="18" charset="0"/>
              </a:rPr>
              <a:t> The main content container for all visible elements on the page.</a:t>
            </a:r>
          </a:p>
        </p:txBody>
      </p:sp>
    </p:spTree>
    <p:extLst>
      <p:ext uri="{BB962C8B-B14F-4D97-AF65-F5344CB8AC3E}">
        <p14:creationId xmlns:p14="http://schemas.microsoft.com/office/powerpoint/2010/main" val="3911300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28C7E-9C85-EBCB-332C-DCDAEF46D1C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2E099AB-FF8D-5B4C-9015-9782380DAA44}"/>
              </a:ext>
            </a:extLst>
          </p:cNvPr>
          <p:cNvSpPr>
            <a:spLocks noGrp="1"/>
          </p:cNvSpPr>
          <p:nvPr>
            <p:ph type="title"/>
          </p:nvPr>
        </p:nvSpPr>
        <p:spPr/>
        <p:txBody>
          <a:bodyPr>
            <a:normAutofit/>
          </a:bodyPr>
          <a:lstStyle/>
          <a:p>
            <a:r>
              <a:rPr lang="en-IN" dirty="0"/>
              <a:t>Basic Markup tags</a:t>
            </a:r>
          </a:p>
        </p:txBody>
      </p:sp>
      <p:sp>
        <p:nvSpPr>
          <p:cNvPr id="8" name="Content Placeholder 7">
            <a:extLst>
              <a:ext uri="{FF2B5EF4-FFF2-40B4-BE49-F238E27FC236}">
                <a16:creationId xmlns:a16="http://schemas.microsoft.com/office/drawing/2014/main" id="{72F85385-DC3A-D0DF-497B-203B9814509C}"/>
              </a:ext>
            </a:extLst>
          </p:cNvPr>
          <p:cNvSpPr>
            <a:spLocks noGrp="1"/>
          </p:cNvSpPr>
          <p:nvPr>
            <p:ph idx="1"/>
          </p:nvPr>
        </p:nvSpPr>
        <p:spPr/>
        <p:txBody>
          <a:bodyPr>
            <a:noAutofit/>
          </a:bodyPr>
          <a:lstStyle/>
          <a:p>
            <a:pPr lvl="0" algn="just"/>
            <a:r>
              <a:rPr lang="en-US" b="1" dirty="0">
                <a:latin typeface="Cambria" panose="02040503050406030204" pitchFamily="18" charset="0"/>
                <a:ea typeface="Cambria" panose="02040503050406030204" pitchFamily="18" charset="0"/>
              </a:rPr>
              <a:t>Headings:</a:t>
            </a:r>
          </a:p>
          <a:p>
            <a:pPr lvl="1" algn="just"/>
            <a:r>
              <a:rPr lang="en-US" sz="1700" dirty="0">
                <a:latin typeface="Cambria" panose="02040503050406030204" pitchFamily="18" charset="0"/>
                <a:ea typeface="Cambria" panose="02040503050406030204" pitchFamily="18" charset="0"/>
              </a:rPr>
              <a:t> &lt;h1&gt; to &lt;h6&gt;: Define headings, with &lt;h1&gt; being the most important and &lt;h6&gt; the least important.</a:t>
            </a:r>
          </a:p>
          <a:p>
            <a:pPr lvl="0" algn="just"/>
            <a:r>
              <a:rPr lang="en-IN" b="1" dirty="0">
                <a:latin typeface="Cambria" panose="02040503050406030204" pitchFamily="18" charset="0"/>
                <a:ea typeface="Cambria" panose="02040503050406030204" pitchFamily="18" charset="0"/>
              </a:rPr>
              <a:t>Text Formatting:</a:t>
            </a:r>
          </a:p>
          <a:p>
            <a:pPr lvl="1" algn="just"/>
            <a:r>
              <a:rPr lang="en-IN" sz="1700" b="1" dirty="0">
                <a:latin typeface="Cambria" panose="02040503050406030204" pitchFamily="18" charset="0"/>
                <a:ea typeface="Cambria" panose="02040503050406030204" pitchFamily="18" charset="0"/>
              </a:rPr>
              <a:t>&lt;p&gt;:</a:t>
            </a:r>
            <a:r>
              <a:rPr lang="en-IN" sz="1700" dirty="0">
                <a:latin typeface="Cambria" panose="02040503050406030204" pitchFamily="18" charset="0"/>
                <a:ea typeface="Cambria" panose="02040503050406030204" pitchFamily="18" charset="0"/>
              </a:rPr>
              <a:t> Defines a paragraph</a:t>
            </a:r>
          </a:p>
          <a:p>
            <a:pPr lvl="1" algn="just"/>
            <a:r>
              <a:rPr lang="en-IN" sz="1700" b="1" dirty="0">
                <a:latin typeface="Cambria" panose="02040503050406030204" pitchFamily="18" charset="0"/>
                <a:ea typeface="Cambria" panose="02040503050406030204" pitchFamily="18" charset="0"/>
              </a:rPr>
              <a:t>&lt;b&gt;:</a:t>
            </a:r>
            <a:r>
              <a:rPr lang="en-IN" sz="1700" dirty="0">
                <a:latin typeface="Cambria" panose="02040503050406030204" pitchFamily="18" charset="0"/>
                <a:ea typeface="Cambria" panose="02040503050406030204" pitchFamily="18" charset="0"/>
              </a:rPr>
              <a:t> Makes text bold</a:t>
            </a:r>
          </a:p>
          <a:p>
            <a:pPr lvl="1" algn="just"/>
            <a:r>
              <a:rPr lang="en-US" sz="1700" b="1" dirty="0">
                <a:latin typeface="Cambria" panose="02040503050406030204" pitchFamily="18" charset="0"/>
                <a:ea typeface="Cambria" panose="02040503050406030204" pitchFamily="18" charset="0"/>
              </a:rPr>
              <a:t>&lt;strong&gt;:</a:t>
            </a:r>
            <a:r>
              <a:rPr lang="en-US" sz="1700" dirty="0">
                <a:latin typeface="Cambria" panose="02040503050406030204" pitchFamily="18" charset="0"/>
                <a:ea typeface="Cambria" panose="02040503050406030204" pitchFamily="18" charset="0"/>
              </a:rPr>
              <a:t> Indicates strong importance (also bold)</a:t>
            </a:r>
          </a:p>
          <a:p>
            <a:pPr lvl="1" algn="just"/>
            <a:r>
              <a:rPr lang="en-IN" sz="1700" b="1" dirty="0">
                <a:latin typeface="Cambria" panose="02040503050406030204" pitchFamily="18" charset="0"/>
                <a:ea typeface="Cambria" panose="02040503050406030204" pitchFamily="18" charset="0"/>
              </a:rPr>
              <a:t>&lt;</a:t>
            </a:r>
            <a:r>
              <a:rPr lang="en-IN" sz="1700" b="1" dirty="0" err="1">
                <a:latin typeface="Cambria" panose="02040503050406030204" pitchFamily="18" charset="0"/>
                <a:ea typeface="Cambria" panose="02040503050406030204" pitchFamily="18" charset="0"/>
              </a:rPr>
              <a:t>i</a:t>
            </a:r>
            <a:r>
              <a:rPr lang="en-IN" sz="1700" b="1" dirty="0">
                <a:latin typeface="Cambria" panose="02040503050406030204" pitchFamily="18" charset="0"/>
                <a:ea typeface="Cambria" panose="02040503050406030204" pitchFamily="18" charset="0"/>
              </a:rPr>
              <a:t>&gt;:</a:t>
            </a:r>
            <a:r>
              <a:rPr lang="en-IN" sz="1700" dirty="0">
                <a:latin typeface="Cambria" panose="02040503050406030204" pitchFamily="18" charset="0"/>
                <a:ea typeface="Cambria" panose="02040503050406030204" pitchFamily="18" charset="0"/>
              </a:rPr>
              <a:t> Italicizes text</a:t>
            </a:r>
          </a:p>
          <a:p>
            <a:pPr lvl="1" algn="just"/>
            <a:r>
              <a:rPr lang="en-US" sz="1700" b="1" dirty="0">
                <a:latin typeface="Cambria" panose="02040503050406030204" pitchFamily="18" charset="0"/>
                <a:ea typeface="Cambria" panose="02040503050406030204" pitchFamily="18" charset="0"/>
              </a:rPr>
              <a:t>&lt;</a:t>
            </a:r>
            <a:r>
              <a:rPr lang="en-US" sz="1700" b="1" dirty="0" err="1">
                <a:latin typeface="Cambria" panose="02040503050406030204" pitchFamily="18" charset="0"/>
                <a:ea typeface="Cambria" panose="02040503050406030204" pitchFamily="18" charset="0"/>
              </a:rPr>
              <a:t>em</a:t>
            </a:r>
            <a:r>
              <a:rPr lang="en-US" sz="1700" b="1" dirty="0">
                <a:latin typeface="Cambria" panose="02040503050406030204" pitchFamily="18" charset="0"/>
                <a:ea typeface="Cambria" panose="02040503050406030204" pitchFamily="18" charset="0"/>
              </a:rPr>
              <a:t>&gt;:</a:t>
            </a:r>
            <a:r>
              <a:rPr lang="en-US" sz="1700" dirty="0">
                <a:latin typeface="Cambria" panose="02040503050406030204" pitchFamily="18" charset="0"/>
                <a:ea typeface="Cambria" panose="02040503050406030204" pitchFamily="18" charset="0"/>
              </a:rPr>
              <a:t> Emphasizes text (also italic)</a:t>
            </a:r>
          </a:p>
          <a:p>
            <a:pPr lvl="1" algn="just"/>
            <a:r>
              <a:rPr lang="en-US" sz="1700" b="1" dirty="0">
                <a:latin typeface="Cambria" panose="02040503050406030204" pitchFamily="18" charset="0"/>
                <a:ea typeface="Cambria" panose="02040503050406030204" pitchFamily="18" charset="0"/>
              </a:rPr>
              <a:t>&lt;</a:t>
            </a:r>
            <a:r>
              <a:rPr lang="en-US" sz="1700" b="1" dirty="0" err="1">
                <a:latin typeface="Cambria" panose="02040503050406030204" pitchFamily="18" charset="0"/>
                <a:ea typeface="Cambria" panose="02040503050406030204" pitchFamily="18" charset="0"/>
              </a:rPr>
              <a:t>br</a:t>
            </a:r>
            <a:r>
              <a:rPr lang="en-US" sz="1700" b="1" dirty="0">
                <a:latin typeface="Cambria" panose="02040503050406030204" pitchFamily="18" charset="0"/>
                <a:ea typeface="Cambria" panose="02040503050406030204" pitchFamily="18" charset="0"/>
              </a:rPr>
              <a:t>&gt;:</a:t>
            </a:r>
            <a:r>
              <a:rPr lang="en-US" sz="1700" dirty="0">
                <a:latin typeface="Cambria" panose="02040503050406030204" pitchFamily="18" charset="0"/>
                <a:ea typeface="Cambria" panose="02040503050406030204" pitchFamily="18" charset="0"/>
              </a:rPr>
              <a:t> Inserts a line break</a:t>
            </a:r>
          </a:p>
          <a:p>
            <a:pPr lvl="1" algn="just"/>
            <a:r>
              <a:rPr lang="en-US" sz="1700" b="1" dirty="0">
                <a:latin typeface="Cambria" panose="02040503050406030204" pitchFamily="18" charset="0"/>
                <a:ea typeface="Cambria" panose="02040503050406030204" pitchFamily="18" charset="0"/>
              </a:rPr>
              <a:t>&lt;</a:t>
            </a:r>
            <a:r>
              <a:rPr lang="en-US" sz="1700" b="1" dirty="0" err="1">
                <a:latin typeface="Cambria" panose="02040503050406030204" pitchFamily="18" charset="0"/>
                <a:ea typeface="Cambria" panose="02040503050406030204" pitchFamily="18" charset="0"/>
              </a:rPr>
              <a:t>hr</a:t>
            </a:r>
            <a:r>
              <a:rPr lang="en-US" sz="1700" b="1" dirty="0">
                <a:latin typeface="Cambria" panose="02040503050406030204" pitchFamily="18" charset="0"/>
                <a:ea typeface="Cambria" panose="02040503050406030204" pitchFamily="18" charset="0"/>
              </a:rPr>
              <a:t>&gt;:</a:t>
            </a:r>
            <a:r>
              <a:rPr lang="en-US" sz="1700" dirty="0">
                <a:latin typeface="Cambria" panose="02040503050406030204" pitchFamily="18" charset="0"/>
                <a:ea typeface="Cambria" panose="02040503050406030204" pitchFamily="18" charset="0"/>
              </a:rPr>
              <a:t> Creates a horizontal rule</a:t>
            </a:r>
          </a:p>
        </p:txBody>
      </p:sp>
    </p:spTree>
    <p:extLst>
      <p:ext uri="{BB962C8B-B14F-4D97-AF65-F5344CB8AC3E}">
        <p14:creationId xmlns:p14="http://schemas.microsoft.com/office/powerpoint/2010/main" val="3073166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1EFA-31A4-C00C-D22A-33C20C16D78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652EE88-6B7B-03F5-D585-3193E72A38D9}"/>
              </a:ext>
            </a:extLst>
          </p:cNvPr>
          <p:cNvSpPr>
            <a:spLocks noGrp="1"/>
          </p:cNvSpPr>
          <p:nvPr>
            <p:ph type="title"/>
          </p:nvPr>
        </p:nvSpPr>
        <p:spPr/>
        <p:txBody>
          <a:bodyPr>
            <a:normAutofit/>
          </a:bodyPr>
          <a:lstStyle/>
          <a:p>
            <a:r>
              <a:rPr lang="en-IN" dirty="0"/>
              <a:t>Basic Markup tags</a:t>
            </a:r>
          </a:p>
        </p:txBody>
      </p:sp>
      <p:sp>
        <p:nvSpPr>
          <p:cNvPr id="8" name="Content Placeholder 7">
            <a:extLst>
              <a:ext uri="{FF2B5EF4-FFF2-40B4-BE49-F238E27FC236}">
                <a16:creationId xmlns:a16="http://schemas.microsoft.com/office/drawing/2014/main" id="{45F95AE4-5280-24D8-0AC1-DC77D63465A6}"/>
              </a:ext>
            </a:extLst>
          </p:cNvPr>
          <p:cNvSpPr>
            <a:spLocks noGrp="1"/>
          </p:cNvSpPr>
          <p:nvPr>
            <p:ph idx="1"/>
          </p:nvPr>
        </p:nvSpPr>
        <p:spPr/>
        <p:txBody>
          <a:bodyPr>
            <a:noAutofit/>
          </a:bodyPr>
          <a:lstStyle/>
          <a:p>
            <a:pPr lvl="0" algn="just"/>
            <a:r>
              <a:rPr lang="en-US" b="1" dirty="0">
                <a:latin typeface="Cambria" panose="02040503050406030204" pitchFamily="18" charset="0"/>
                <a:ea typeface="Cambria" panose="02040503050406030204" pitchFamily="18" charset="0"/>
              </a:rPr>
              <a:t>Forms and Input Elements:</a:t>
            </a:r>
          </a:p>
          <a:p>
            <a:pPr lvl="1" algn="just"/>
            <a:r>
              <a:rPr lang="en-US" sz="1700" b="1" dirty="0">
                <a:latin typeface="Cambria" panose="02040503050406030204" pitchFamily="18" charset="0"/>
                <a:ea typeface="Cambria" panose="02040503050406030204" pitchFamily="18" charset="0"/>
              </a:rPr>
              <a:t>&lt;form&gt;:</a:t>
            </a:r>
            <a:r>
              <a:rPr lang="en-US" sz="1700" dirty="0">
                <a:latin typeface="Cambria" panose="02040503050406030204" pitchFamily="18" charset="0"/>
                <a:ea typeface="Cambria" panose="02040503050406030204" pitchFamily="18" charset="0"/>
              </a:rPr>
              <a:t> Defines a form for user input</a:t>
            </a:r>
          </a:p>
          <a:p>
            <a:pPr lvl="1" algn="just"/>
            <a:r>
              <a:rPr lang="en-US" sz="1700" b="1" dirty="0">
                <a:latin typeface="Cambria" panose="02040503050406030204" pitchFamily="18" charset="0"/>
                <a:ea typeface="Cambria" panose="02040503050406030204" pitchFamily="18" charset="0"/>
              </a:rPr>
              <a:t>&lt;input type=“type”&gt;: </a:t>
            </a:r>
            <a:r>
              <a:rPr lang="en-US" sz="1700" dirty="0">
                <a:latin typeface="Cambria" panose="02040503050406030204" pitchFamily="18" charset="0"/>
                <a:ea typeface="Cambria" panose="02040503050406030204" pitchFamily="18" charset="0"/>
              </a:rPr>
              <a:t>Creates an input field for text</a:t>
            </a:r>
          </a:p>
          <a:p>
            <a:pPr lvl="1" algn="just"/>
            <a:r>
              <a:rPr lang="en-US" sz="1700" b="1" dirty="0">
                <a:latin typeface="Cambria" panose="02040503050406030204" pitchFamily="18" charset="0"/>
                <a:ea typeface="Cambria" panose="02040503050406030204" pitchFamily="18" charset="0"/>
              </a:rPr>
              <a:t>&lt;</a:t>
            </a:r>
            <a:r>
              <a:rPr lang="en-US" sz="1700" b="1" dirty="0" err="1">
                <a:latin typeface="Cambria" panose="02040503050406030204" pitchFamily="18" charset="0"/>
                <a:ea typeface="Cambria" panose="02040503050406030204" pitchFamily="18" charset="0"/>
              </a:rPr>
              <a:t>textarea</a:t>
            </a:r>
            <a:r>
              <a:rPr lang="en-US" sz="1700" b="1" dirty="0">
                <a:latin typeface="Cambria" panose="02040503050406030204" pitchFamily="18" charset="0"/>
                <a:ea typeface="Cambria" panose="02040503050406030204" pitchFamily="18" charset="0"/>
              </a:rPr>
              <a:t>&gt;:</a:t>
            </a:r>
            <a:r>
              <a:rPr lang="en-US" sz="1700" dirty="0">
                <a:latin typeface="Cambria" panose="02040503050406030204" pitchFamily="18" charset="0"/>
                <a:ea typeface="Cambria" panose="02040503050406030204" pitchFamily="18" charset="0"/>
              </a:rPr>
              <a:t> Defines a multiline text input area</a:t>
            </a:r>
          </a:p>
          <a:p>
            <a:pPr lvl="1" algn="just"/>
            <a:r>
              <a:rPr lang="en-US" sz="1700" b="1" dirty="0">
                <a:latin typeface="Cambria" panose="02040503050406030204" pitchFamily="18" charset="0"/>
                <a:ea typeface="Cambria" panose="02040503050406030204" pitchFamily="18" charset="0"/>
              </a:rPr>
              <a:t>&lt;button&gt;:</a:t>
            </a:r>
            <a:r>
              <a:rPr lang="en-US" sz="1700" dirty="0">
                <a:latin typeface="Cambria" panose="02040503050406030204" pitchFamily="18" charset="0"/>
                <a:ea typeface="Cambria" panose="02040503050406030204" pitchFamily="18" charset="0"/>
              </a:rPr>
              <a:t> Represents a clickable button</a:t>
            </a:r>
          </a:p>
          <a:p>
            <a:pPr lvl="0" algn="just"/>
            <a:r>
              <a:rPr lang="en-IN" b="1" dirty="0">
                <a:latin typeface="Cambria" panose="02040503050406030204" pitchFamily="18" charset="0"/>
                <a:ea typeface="Cambria" panose="02040503050406030204" pitchFamily="18" charset="0"/>
              </a:rPr>
              <a:t>Tables:</a:t>
            </a:r>
          </a:p>
          <a:p>
            <a:pPr lvl="1" algn="just"/>
            <a:r>
              <a:rPr lang="en-IN" sz="1700" b="1" dirty="0">
                <a:latin typeface="Cambria" panose="02040503050406030204" pitchFamily="18" charset="0"/>
                <a:ea typeface="Cambria" panose="02040503050406030204" pitchFamily="18" charset="0"/>
              </a:rPr>
              <a:t>&lt;table&gt;:</a:t>
            </a:r>
            <a:r>
              <a:rPr lang="en-IN" sz="1700" dirty="0">
                <a:latin typeface="Cambria" panose="02040503050406030204" pitchFamily="18" charset="0"/>
                <a:ea typeface="Cambria" panose="02040503050406030204" pitchFamily="18" charset="0"/>
              </a:rPr>
              <a:t> Defines a table</a:t>
            </a:r>
          </a:p>
          <a:p>
            <a:pPr lvl="1" algn="just"/>
            <a:r>
              <a:rPr lang="en-IN" sz="1700" b="1" dirty="0">
                <a:latin typeface="Cambria" panose="02040503050406030204" pitchFamily="18" charset="0"/>
                <a:ea typeface="Cambria" panose="02040503050406030204" pitchFamily="18" charset="0"/>
              </a:rPr>
              <a:t>&lt;tr&gt;: </a:t>
            </a:r>
            <a:r>
              <a:rPr lang="en-IN" sz="1700" dirty="0">
                <a:latin typeface="Cambria" panose="02040503050406030204" pitchFamily="18" charset="0"/>
                <a:ea typeface="Cambria" panose="02040503050406030204" pitchFamily="18" charset="0"/>
              </a:rPr>
              <a:t>Represents a table row</a:t>
            </a:r>
          </a:p>
          <a:p>
            <a:pPr lvl="1" algn="just"/>
            <a:r>
              <a:rPr lang="en-IN" sz="1700" b="1" dirty="0">
                <a:latin typeface="Cambria" panose="02040503050406030204" pitchFamily="18" charset="0"/>
                <a:ea typeface="Cambria" panose="02040503050406030204" pitchFamily="18" charset="0"/>
              </a:rPr>
              <a:t>&lt;td&gt;: </a:t>
            </a:r>
            <a:r>
              <a:rPr lang="en-IN" sz="1700" dirty="0">
                <a:latin typeface="Cambria" panose="02040503050406030204" pitchFamily="18" charset="0"/>
                <a:ea typeface="Cambria" panose="02040503050406030204" pitchFamily="18" charset="0"/>
              </a:rPr>
              <a:t>Represents a cell in a table row</a:t>
            </a:r>
          </a:p>
          <a:p>
            <a:pPr lvl="1" algn="just"/>
            <a:r>
              <a:rPr lang="en-IN" sz="1700" b="1" dirty="0">
                <a:latin typeface="Cambria" panose="02040503050406030204" pitchFamily="18" charset="0"/>
                <a:ea typeface="Cambria" panose="02040503050406030204" pitchFamily="18" charset="0"/>
              </a:rPr>
              <a:t>&lt;</a:t>
            </a:r>
            <a:r>
              <a:rPr lang="en-IN" sz="1700" b="1" dirty="0" err="1">
                <a:latin typeface="Cambria" panose="02040503050406030204" pitchFamily="18" charset="0"/>
                <a:ea typeface="Cambria" panose="02040503050406030204" pitchFamily="18" charset="0"/>
              </a:rPr>
              <a:t>th</a:t>
            </a:r>
            <a:r>
              <a:rPr lang="en-IN" sz="1700" b="1" dirty="0">
                <a:latin typeface="Cambria" panose="02040503050406030204" pitchFamily="18" charset="0"/>
                <a:ea typeface="Cambria" panose="02040503050406030204" pitchFamily="18" charset="0"/>
              </a:rPr>
              <a:t>&gt;: </a:t>
            </a:r>
            <a:r>
              <a:rPr lang="en-IN" sz="1700" dirty="0">
                <a:latin typeface="Cambria" panose="02040503050406030204" pitchFamily="18" charset="0"/>
                <a:ea typeface="Cambria" panose="02040503050406030204" pitchFamily="18" charset="0"/>
              </a:rPr>
              <a:t>Represents a header cell in a table</a:t>
            </a:r>
          </a:p>
        </p:txBody>
      </p:sp>
    </p:spTree>
    <p:extLst>
      <p:ext uri="{BB962C8B-B14F-4D97-AF65-F5344CB8AC3E}">
        <p14:creationId xmlns:p14="http://schemas.microsoft.com/office/powerpoint/2010/main" val="75736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2098A-FEA8-BC6D-B2DC-13E67A656D9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8B6C67D-966F-D3B1-0757-E72FDA5E075A}"/>
              </a:ext>
            </a:extLst>
          </p:cNvPr>
          <p:cNvSpPr>
            <a:spLocks noGrp="1"/>
          </p:cNvSpPr>
          <p:nvPr>
            <p:ph type="title"/>
          </p:nvPr>
        </p:nvSpPr>
        <p:spPr/>
        <p:txBody>
          <a:bodyPr>
            <a:normAutofit/>
          </a:bodyPr>
          <a:lstStyle/>
          <a:p>
            <a:r>
              <a:rPr lang="en-IN" dirty="0"/>
              <a:t>Basic Markup tags</a:t>
            </a:r>
          </a:p>
        </p:txBody>
      </p:sp>
      <p:sp>
        <p:nvSpPr>
          <p:cNvPr id="8" name="Content Placeholder 7">
            <a:extLst>
              <a:ext uri="{FF2B5EF4-FFF2-40B4-BE49-F238E27FC236}">
                <a16:creationId xmlns:a16="http://schemas.microsoft.com/office/drawing/2014/main" id="{5617BB80-5B37-B92D-45FB-9CD453F904D4}"/>
              </a:ext>
            </a:extLst>
          </p:cNvPr>
          <p:cNvSpPr>
            <a:spLocks noGrp="1"/>
          </p:cNvSpPr>
          <p:nvPr>
            <p:ph idx="1"/>
          </p:nvPr>
        </p:nvSpPr>
        <p:spPr/>
        <p:txBody>
          <a:bodyPr>
            <a:noAutofit/>
          </a:bodyPr>
          <a:lstStyle/>
          <a:p>
            <a:pPr lvl="0" algn="just"/>
            <a:r>
              <a:rPr lang="en-IN" b="1" dirty="0">
                <a:latin typeface="Cambria" panose="02040503050406030204" pitchFamily="18" charset="0"/>
                <a:ea typeface="Cambria" panose="02040503050406030204" pitchFamily="18" charset="0"/>
              </a:rPr>
              <a:t>Containers:</a:t>
            </a:r>
          </a:p>
          <a:p>
            <a:pPr lvl="1" algn="just"/>
            <a:r>
              <a:rPr lang="en-US" sz="1700" b="1" dirty="0">
                <a:latin typeface="Cambria" panose="02040503050406030204" pitchFamily="18" charset="0"/>
                <a:ea typeface="Cambria" panose="02040503050406030204" pitchFamily="18" charset="0"/>
              </a:rPr>
              <a:t>&lt;div&gt;: </a:t>
            </a:r>
            <a:r>
              <a:rPr lang="en-US" sz="1700" dirty="0">
                <a:latin typeface="Cambria" panose="02040503050406030204" pitchFamily="18" charset="0"/>
                <a:ea typeface="Cambria" panose="02040503050406030204" pitchFamily="18" charset="0"/>
              </a:rPr>
              <a:t>A generic container for grouping content</a:t>
            </a:r>
          </a:p>
          <a:p>
            <a:pPr lvl="1" algn="just"/>
            <a:r>
              <a:rPr lang="en-US" sz="1700" b="1" dirty="0">
                <a:latin typeface="Cambria" panose="02040503050406030204" pitchFamily="18" charset="0"/>
                <a:ea typeface="Cambria" panose="02040503050406030204" pitchFamily="18" charset="0"/>
              </a:rPr>
              <a:t>&lt;span&gt;: </a:t>
            </a:r>
            <a:r>
              <a:rPr lang="en-US" sz="1700" dirty="0">
                <a:latin typeface="Cambria" panose="02040503050406030204" pitchFamily="18" charset="0"/>
                <a:ea typeface="Cambria" panose="02040503050406030204" pitchFamily="18" charset="0"/>
              </a:rPr>
              <a:t>An inline container for styling parts of text</a:t>
            </a:r>
            <a:endParaRPr lang="en-IN" sz="1700" dirty="0">
              <a:latin typeface="Cambria" panose="02040503050406030204" pitchFamily="18" charset="0"/>
              <a:ea typeface="Cambria" panose="02040503050406030204" pitchFamily="18" charset="0"/>
            </a:endParaRPr>
          </a:p>
          <a:p>
            <a:pPr lvl="0" algn="just"/>
            <a:r>
              <a:rPr lang="en-US" b="1" dirty="0">
                <a:latin typeface="Cambria" panose="02040503050406030204" pitchFamily="18" charset="0"/>
                <a:ea typeface="Cambria" panose="02040503050406030204" pitchFamily="18" charset="0"/>
              </a:rPr>
              <a:t>List:</a:t>
            </a:r>
          </a:p>
          <a:p>
            <a:pPr lvl="1" algn="just"/>
            <a:r>
              <a:rPr lang="en-IN" sz="1700" b="1" dirty="0">
                <a:latin typeface="Cambria" panose="02040503050406030204" pitchFamily="18" charset="0"/>
                <a:ea typeface="Cambria" panose="02040503050406030204" pitchFamily="18" charset="0"/>
              </a:rPr>
              <a:t>&lt;ul&gt;: </a:t>
            </a:r>
            <a:r>
              <a:rPr lang="en-IN" sz="1700" dirty="0">
                <a:latin typeface="Cambria" panose="02040503050406030204" pitchFamily="18" charset="0"/>
                <a:ea typeface="Cambria" panose="02040503050406030204" pitchFamily="18" charset="0"/>
              </a:rPr>
              <a:t>Defines an unordered list (bulleted)</a:t>
            </a:r>
          </a:p>
          <a:p>
            <a:pPr lvl="1" algn="just"/>
            <a:r>
              <a:rPr lang="en-US" sz="1700" b="1" dirty="0">
                <a:latin typeface="Cambria" panose="02040503050406030204" pitchFamily="18" charset="0"/>
                <a:ea typeface="Cambria" panose="02040503050406030204" pitchFamily="18" charset="0"/>
              </a:rPr>
              <a:t>&lt;</a:t>
            </a:r>
            <a:r>
              <a:rPr lang="en-US" sz="1700" b="1" dirty="0" err="1">
                <a:latin typeface="Cambria" panose="02040503050406030204" pitchFamily="18" charset="0"/>
                <a:ea typeface="Cambria" panose="02040503050406030204" pitchFamily="18" charset="0"/>
              </a:rPr>
              <a:t>ol</a:t>
            </a:r>
            <a:r>
              <a:rPr lang="en-US" sz="1700" b="1" dirty="0">
                <a:latin typeface="Cambria" panose="02040503050406030204" pitchFamily="18" charset="0"/>
                <a:ea typeface="Cambria" panose="02040503050406030204" pitchFamily="18" charset="0"/>
              </a:rPr>
              <a:t>&gt;: </a:t>
            </a:r>
            <a:r>
              <a:rPr lang="en-US" sz="1700" dirty="0">
                <a:latin typeface="Cambria" panose="02040503050406030204" pitchFamily="18" charset="0"/>
                <a:ea typeface="Cambria" panose="02040503050406030204" pitchFamily="18" charset="0"/>
              </a:rPr>
              <a:t>Defines an ordered list (numbered)</a:t>
            </a:r>
          </a:p>
          <a:p>
            <a:pPr lvl="1" algn="just"/>
            <a:r>
              <a:rPr lang="en-US" sz="1700" b="1" dirty="0">
                <a:latin typeface="Cambria" panose="02040503050406030204" pitchFamily="18" charset="0"/>
                <a:ea typeface="Cambria" panose="02040503050406030204" pitchFamily="18" charset="0"/>
              </a:rPr>
              <a:t>&lt;li&gt;: </a:t>
            </a:r>
            <a:r>
              <a:rPr lang="en-US" sz="1700" dirty="0">
                <a:latin typeface="Cambria" panose="02040503050406030204" pitchFamily="18" charset="0"/>
                <a:ea typeface="Cambria" panose="02040503050406030204" pitchFamily="18" charset="0"/>
              </a:rPr>
              <a:t>Represents a list item within &lt;ul&gt; or &lt;</a:t>
            </a:r>
            <a:r>
              <a:rPr lang="en-US" sz="1700" dirty="0" err="1">
                <a:latin typeface="Cambria" panose="02040503050406030204" pitchFamily="18" charset="0"/>
                <a:ea typeface="Cambria" panose="02040503050406030204" pitchFamily="18" charset="0"/>
              </a:rPr>
              <a:t>ol</a:t>
            </a:r>
            <a:r>
              <a:rPr lang="en-US" sz="1700" dirty="0">
                <a:latin typeface="Cambria" panose="02040503050406030204" pitchFamily="18" charset="0"/>
                <a:ea typeface="Cambria" panose="02040503050406030204" pitchFamily="18" charset="0"/>
              </a:rPr>
              <a:t>&gt;</a:t>
            </a:r>
          </a:p>
          <a:p>
            <a:pPr lvl="0" algn="just"/>
            <a:r>
              <a:rPr lang="en-IN" b="1" dirty="0">
                <a:latin typeface="Cambria" panose="02040503050406030204" pitchFamily="18" charset="0"/>
                <a:ea typeface="Cambria" panose="02040503050406030204" pitchFamily="18" charset="0"/>
              </a:rPr>
              <a:t>Links</a:t>
            </a:r>
            <a:r>
              <a:rPr lang="en-IN" dirty="0">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and</a:t>
            </a:r>
            <a:r>
              <a:rPr lang="en-IN" dirty="0">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Images</a:t>
            </a:r>
            <a:r>
              <a:rPr lang="en-IN" dirty="0">
                <a:latin typeface="Cambria" panose="02040503050406030204" pitchFamily="18" charset="0"/>
                <a:ea typeface="Cambria" panose="02040503050406030204" pitchFamily="18" charset="0"/>
              </a:rPr>
              <a:t> </a:t>
            </a:r>
            <a:r>
              <a:rPr lang="en-IN" b="1" dirty="0">
                <a:latin typeface="Cambria" panose="02040503050406030204" pitchFamily="18" charset="0"/>
                <a:ea typeface="Cambria" panose="02040503050406030204" pitchFamily="18" charset="0"/>
              </a:rPr>
              <a:t>:</a:t>
            </a:r>
          </a:p>
          <a:p>
            <a:pPr lvl="1" algn="just"/>
            <a:r>
              <a:rPr lang="en-US" sz="1700" b="1" dirty="0">
                <a:latin typeface="Cambria" panose="02040503050406030204" pitchFamily="18" charset="0"/>
                <a:ea typeface="Cambria" panose="02040503050406030204" pitchFamily="18" charset="0"/>
              </a:rPr>
              <a:t>&lt;a </a:t>
            </a:r>
            <a:r>
              <a:rPr lang="en-US" sz="1700" b="1" dirty="0" err="1">
                <a:latin typeface="Cambria" panose="02040503050406030204" pitchFamily="18" charset="0"/>
                <a:ea typeface="Cambria" panose="02040503050406030204" pitchFamily="18" charset="0"/>
              </a:rPr>
              <a:t>href</a:t>
            </a:r>
            <a:r>
              <a:rPr lang="en-US" sz="1700" b="1" dirty="0">
                <a:latin typeface="Cambria" panose="02040503050406030204" pitchFamily="18" charset="0"/>
                <a:ea typeface="Cambria" panose="02040503050406030204" pitchFamily="18" charset="0"/>
              </a:rPr>
              <a:t>="URL"&gt;: </a:t>
            </a:r>
            <a:r>
              <a:rPr lang="en-US" sz="1700" dirty="0">
                <a:latin typeface="Cambria" panose="02040503050406030204" pitchFamily="18" charset="0"/>
                <a:ea typeface="Cambria" panose="02040503050406030204" pitchFamily="18" charset="0"/>
              </a:rPr>
              <a:t>Creates hyperlinks to other pages or resources </a:t>
            </a:r>
          </a:p>
          <a:p>
            <a:pPr lvl="1" algn="just"/>
            <a:r>
              <a:rPr lang="en-IN" sz="1700" b="1" dirty="0">
                <a:latin typeface="Cambria" panose="02040503050406030204" pitchFamily="18" charset="0"/>
                <a:ea typeface="Cambria" panose="02040503050406030204" pitchFamily="18" charset="0"/>
              </a:rPr>
              <a:t>&lt;</a:t>
            </a:r>
            <a:r>
              <a:rPr lang="en-IN" sz="1700" b="1" dirty="0" err="1">
                <a:latin typeface="Cambria" panose="02040503050406030204" pitchFamily="18" charset="0"/>
                <a:ea typeface="Cambria" panose="02040503050406030204" pitchFamily="18" charset="0"/>
              </a:rPr>
              <a:t>img</a:t>
            </a:r>
            <a:r>
              <a:rPr lang="en-IN" sz="1700" b="1" dirty="0">
                <a:latin typeface="Cambria" panose="02040503050406030204" pitchFamily="18" charset="0"/>
                <a:ea typeface="Cambria" panose="02040503050406030204" pitchFamily="18" charset="0"/>
              </a:rPr>
              <a:t> </a:t>
            </a:r>
            <a:r>
              <a:rPr lang="en-IN" sz="1700" b="1" dirty="0" err="1">
                <a:latin typeface="Cambria" panose="02040503050406030204" pitchFamily="18" charset="0"/>
                <a:ea typeface="Cambria" panose="02040503050406030204" pitchFamily="18" charset="0"/>
              </a:rPr>
              <a:t>src</a:t>
            </a:r>
            <a:r>
              <a:rPr lang="en-IN" sz="1700" b="1" dirty="0">
                <a:latin typeface="Cambria" panose="02040503050406030204" pitchFamily="18" charset="0"/>
                <a:ea typeface="Cambria" panose="02040503050406030204" pitchFamily="18" charset="0"/>
              </a:rPr>
              <a:t>="image.jpg" alt="description"&gt;: </a:t>
            </a:r>
            <a:r>
              <a:rPr lang="en-IN" sz="1700" dirty="0">
                <a:latin typeface="Cambria" panose="02040503050406030204" pitchFamily="18" charset="0"/>
                <a:ea typeface="Cambria" panose="02040503050406030204" pitchFamily="18" charset="0"/>
              </a:rPr>
              <a:t>Embeds images in the document</a:t>
            </a:r>
          </a:p>
          <a:p>
            <a:pPr lvl="1" algn="just"/>
            <a:endParaRPr lang="en-IN"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880176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96482-7241-F4E9-34AF-F192D6D0FB3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3A90481-5CED-B169-C4E6-F137D5812BD2}"/>
              </a:ext>
            </a:extLst>
          </p:cNvPr>
          <p:cNvSpPr>
            <a:spLocks noGrp="1"/>
          </p:cNvSpPr>
          <p:nvPr>
            <p:ph type="title"/>
          </p:nvPr>
        </p:nvSpPr>
        <p:spPr/>
        <p:txBody>
          <a:bodyPr>
            <a:normAutofit/>
          </a:bodyPr>
          <a:lstStyle/>
          <a:p>
            <a:r>
              <a:rPr lang="en-IN" dirty="0"/>
              <a:t>Basic Markup tags</a:t>
            </a:r>
          </a:p>
        </p:txBody>
      </p:sp>
      <p:sp>
        <p:nvSpPr>
          <p:cNvPr id="8" name="Content Placeholder 7">
            <a:extLst>
              <a:ext uri="{FF2B5EF4-FFF2-40B4-BE49-F238E27FC236}">
                <a16:creationId xmlns:a16="http://schemas.microsoft.com/office/drawing/2014/main" id="{1B320E18-D720-EEB6-8A43-9969EBE8093D}"/>
              </a:ext>
            </a:extLst>
          </p:cNvPr>
          <p:cNvSpPr>
            <a:spLocks noGrp="1"/>
          </p:cNvSpPr>
          <p:nvPr>
            <p:ph idx="1"/>
          </p:nvPr>
        </p:nvSpPr>
        <p:spPr/>
        <p:txBody>
          <a:bodyPr>
            <a:noAutofit/>
          </a:bodyPr>
          <a:lstStyle/>
          <a:p>
            <a:pPr lvl="0" algn="just"/>
            <a:r>
              <a:rPr lang="en-IN" b="1" dirty="0">
                <a:latin typeface="Cambria" panose="02040503050406030204" pitchFamily="18" charset="0"/>
                <a:ea typeface="Cambria" panose="02040503050406030204" pitchFamily="18" charset="0"/>
              </a:rPr>
              <a:t>Semantic Elements :</a:t>
            </a:r>
          </a:p>
          <a:p>
            <a:pPr lvl="1" algn="just"/>
            <a:r>
              <a:rPr lang="en-US" sz="1700" b="1" dirty="0">
                <a:latin typeface="Cambria" panose="02040503050406030204" pitchFamily="18" charset="0"/>
                <a:ea typeface="Cambria" panose="02040503050406030204" pitchFamily="18" charset="0"/>
              </a:rPr>
              <a:t>&lt;header&gt;: </a:t>
            </a:r>
            <a:r>
              <a:rPr lang="en-US" sz="1700" dirty="0">
                <a:latin typeface="Cambria" panose="02040503050406030204" pitchFamily="18" charset="0"/>
                <a:ea typeface="Cambria" panose="02040503050406030204" pitchFamily="18" charset="0"/>
              </a:rPr>
              <a:t>Defines a header for a document or section </a:t>
            </a:r>
          </a:p>
          <a:p>
            <a:pPr lvl="1" algn="just"/>
            <a:r>
              <a:rPr lang="en-US" sz="1700" b="1" dirty="0">
                <a:latin typeface="Cambria" panose="02040503050406030204" pitchFamily="18" charset="0"/>
                <a:ea typeface="Cambria" panose="02040503050406030204" pitchFamily="18" charset="0"/>
              </a:rPr>
              <a:t>&lt;footer&gt;:</a:t>
            </a:r>
            <a:r>
              <a:rPr lang="en-US" sz="1700" dirty="0">
                <a:latin typeface="Cambria" panose="02040503050406030204" pitchFamily="18" charset="0"/>
                <a:ea typeface="Cambria" panose="02040503050406030204" pitchFamily="18" charset="0"/>
              </a:rPr>
              <a:t> Defines a footer for a document or section</a:t>
            </a:r>
          </a:p>
          <a:p>
            <a:pPr lvl="1" algn="just"/>
            <a:r>
              <a:rPr lang="en-IN" sz="1700" b="1" dirty="0">
                <a:latin typeface="Cambria" panose="02040503050406030204" pitchFamily="18" charset="0"/>
                <a:ea typeface="Cambria" panose="02040503050406030204" pitchFamily="18" charset="0"/>
              </a:rPr>
              <a:t>&lt;article&gt;:</a:t>
            </a:r>
            <a:r>
              <a:rPr lang="en-IN" sz="1700" dirty="0">
                <a:latin typeface="Cambria" panose="02040503050406030204" pitchFamily="18" charset="0"/>
                <a:ea typeface="Cambria" panose="02040503050406030204" pitchFamily="18" charset="0"/>
              </a:rPr>
              <a:t> Represents independent content</a:t>
            </a:r>
          </a:p>
          <a:p>
            <a:pPr lvl="1" algn="just"/>
            <a:r>
              <a:rPr lang="en-US" sz="1700" b="1" dirty="0">
                <a:latin typeface="Cambria" panose="02040503050406030204" pitchFamily="18" charset="0"/>
                <a:ea typeface="Cambria" panose="02040503050406030204" pitchFamily="18" charset="0"/>
              </a:rPr>
              <a:t>&lt;section&gt;:</a:t>
            </a:r>
            <a:r>
              <a:rPr lang="en-US" sz="1700" dirty="0">
                <a:latin typeface="Cambria" panose="02040503050406030204" pitchFamily="18" charset="0"/>
                <a:ea typeface="Cambria" panose="02040503050406030204" pitchFamily="18" charset="0"/>
              </a:rPr>
              <a:t> Defines sections within a document</a:t>
            </a:r>
            <a:endParaRPr lang="en-IN"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560971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0E350-7A5F-D4A4-0102-8B61F1A2834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2DB85F7-2519-B4B3-DAA0-DF70FEFDB22E}"/>
              </a:ext>
            </a:extLst>
          </p:cNvPr>
          <p:cNvSpPr>
            <a:spLocks noGrp="1"/>
          </p:cNvSpPr>
          <p:nvPr>
            <p:ph type="title"/>
          </p:nvPr>
        </p:nvSpPr>
        <p:spPr/>
        <p:txBody>
          <a:bodyPr>
            <a:normAutofit/>
          </a:bodyPr>
          <a:lstStyle/>
          <a:p>
            <a:r>
              <a:rPr lang="en-US" dirty="0"/>
              <a:t>WORKING WITH TEXT AND IMAGES USING CSS</a:t>
            </a:r>
            <a:endParaRPr lang="en-IN" dirty="0"/>
          </a:p>
        </p:txBody>
      </p:sp>
      <p:sp>
        <p:nvSpPr>
          <p:cNvPr id="8" name="Content Placeholder 7">
            <a:extLst>
              <a:ext uri="{FF2B5EF4-FFF2-40B4-BE49-F238E27FC236}">
                <a16:creationId xmlns:a16="http://schemas.microsoft.com/office/drawing/2014/main" id="{F2FC43E5-BBE9-7ED9-E83B-A2F28E175998}"/>
              </a:ext>
            </a:extLst>
          </p:cNvPr>
          <p:cNvSpPr>
            <a:spLocks noGrp="1"/>
          </p:cNvSpPr>
          <p:nvPr>
            <p:ph idx="1"/>
          </p:nvPr>
        </p:nvSpPr>
        <p:spPr>
          <a:xfrm>
            <a:off x="581192" y="2340864"/>
            <a:ext cx="11029615" cy="4446016"/>
          </a:xfrm>
        </p:spPr>
        <p:txBody>
          <a:bodyPr>
            <a:noAutofit/>
          </a:bodyPr>
          <a:lstStyle/>
          <a:p>
            <a:pPr lvl="0" algn="just"/>
            <a:r>
              <a:rPr lang="en-US" sz="1600" dirty="0">
                <a:latin typeface="Cambria" panose="02040503050406030204" pitchFamily="18" charset="0"/>
                <a:ea typeface="Cambria" panose="02040503050406030204" pitchFamily="18" charset="0"/>
              </a:rPr>
              <a:t>CSS (Cascading Style Sheets) is a powerful tool for styling text and images on web pages.</a:t>
            </a:r>
          </a:p>
          <a:p>
            <a:pPr lvl="0" algn="just"/>
            <a:r>
              <a:rPr lang="en-US" sz="1600" dirty="0">
                <a:latin typeface="Cambria" panose="02040503050406030204" pitchFamily="18" charset="0"/>
                <a:ea typeface="Cambria" panose="02040503050406030204" pitchFamily="18" charset="0"/>
              </a:rPr>
              <a:t>Following CSS properties that can enhance the appearance of text and images, making your web content more visually appealing and easier to read.</a:t>
            </a:r>
          </a:p>
          <a:p>
            <a:pPr marL="0" lvl="0" indent="0" algn="just">
              <a:buNone/>
            </a:pPr>
            <a:r>
              <a:rPr lang="en-IN" b="1" dirty="0">
                <a:solidFill>
                  <a:srgbClr val="FF0000"/>
                </a:solidFill>
                <a:latin typeface="Cambria" panose="02040503050406030204" pitchFamily="18" charset="0"/>
                <a:ea typeface="Cambria" panose="02040503050406030204" pitchFamily="18" charset="0"/>
              </a:rPr>
              <a:t>Text Styling:</a:t>
            </a:r>
          </a:p>
          <a:p>
            <a:pPr lvl="1"/>
            <a:r>
              <a:rPr lang="en-IN" sz="1600" b="1" dirty="0">
                <a:latin typeface="Cambria" panose="02040503050406030204" pitchFamily="18" charset="0"/>
                <a:ea typeface="Cambria" panose="02040503050406030204" pitchFamily="18" charset="0"/>
              </a:rPr>
              <a:t>Font Properties</a:t>
            </a:r>
            <a:endParaRPr lang="en-IN" sz="1600" dirty="0">
              <a:latin typeface="Cambria" panose="02040503050406030204" pitchFamily="18" charset="0"/>
              <a:ea typeface="Cambria" panose="02040503050406030204" pitchFamily="18" charset="0"/>
            </a:endParaRPr>
          </a:p>
          <a:p>
            <a:pPr lvl="2">
              <a:lnSpc>
                <a:spcPct val="150000"/>
              </a:lnSpc>
            </a:pPr>
            <a:r>
              <a:rPr lang="en-IN" sz="1600" b="1" dirty="0">
                <a:latin typeface="Cambria" panose="02040503050406030204" pitchFamily="18" charset="0"/>
                <a:ea typeface="Cambria" panose="02040503050406030204" pitchFamily="18" charset="0"/>
              </a:rPr>
              <a:t>font-family:</a:t>
            </a:r>
            <a:r>
              <a:rPr lang="en-IN" sz="1600" dirty="0">
                <a:latin typeface="Cambria" panose="02040503050406030204" pitchFamily="18" charset="0"/>
                <a:ea typeface="Cambria" panose="02040503050406030204" pitchFamily="18" charset="0"/>
              </a:rPr>
              <a:t> Sets the font type</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p { font-family: Arial, sans-serif; }</a:t>
            </a:r>
          </a:p>
          <a:p>
            <a:pPr lvl="2">
              <a:lnSpc>
                <a:spcPct val="150000"/>
              </a:lnSpc>
            </a:pPr>
            <a:r>
              <a:rPr lang="en-IN" sz="1600" b="1" dirty="0">
                <a:latin typeface="Cambria" panose="02040503050406030204" pitchFamily="18" charset="0"/>
                <a:ea typeface="Cambria" panose="02040503050406030204" pitchFamily="18" charset="0"/>
              </a:rPr>
              <a:t>font-size:</a:t>
            </a:r>
            <a:r>
              <a:rPr lang="en-IN" sz="1600" dirty="0">
                <a:latin typeface="Cambria" panose="02040503050406030204" pitchFamily="18" charset="0"/>
                <a:ea typeface="Cambria" panose="02040503050406030204" pitchFamily="18" charset="0"/>
              </a:rPr>
              <a:t> Adjusts text size</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h1 { font-size: 24px; }</a:t>
            </a:r>
          </a:p>
          <a:p>
            <a:pPr lvl="2"/>
            <a:r>
              <a:rPr lang="en-IN" sz="1600" b="1" dirty="0">
                <a:latin typeface="Cambria" panose="02040503050406030204" pitchFamily="18" charset="0"/>
                <a:ea typeface="Cambria" panose="02040503050406030204" pitchFamily="18" charset="0"/>
              </a:rPr>
              <a:t>font-weight:</a:t>
            </a:r>
            <a:r>
              <a:rPr lang="en-IN" sz="1600" dirty="0">
                <a:latin typeface="Cambria" panose="02040503050406030204" pitchFamily="18" charset="0"/>
                <a:ea typeface="Cambria" panose="02040503050406030204" pitchFamily="18" charset="0"/>
              </a:rPr>
              <a:t> Controls boldness (e.g., normal, bold)</a:t>
            </a:r>
          </a:p>
          <a:p>
            <a:pPr lvl="2"/>
            <a:r>
              <a:rPr lang="en-IN" sz="1600" b="1" dirty="0">
                <a:latin typeface="Cambria" panose="02040503050406030204" pitchFamily="18" charset="0"/>
                <a:ea typeface="Cambria" panose="02040503050406030204" pitchFamily="18" charset="0"/>
              </a:rPr>
              <a:t>font-style:</a:t>
            </a:r>
            <a:r>
              <a:rPr lang="en-IN" sz="1600" dirty="0">
                <a:latin typeface="Cambria" panose="02040503050406030204" pitchFamily="18" charset="0"/>
                <a:ea typeface="Cambria" panose="02040503050406030204" pitchFamily="18" charset="0"/>
              </a:rPr>
              <a:t> Defines style (e.g., italic)</a:t>
            </a:r>
          </a:p>
          <a:p>
            <a:pPr lvl="1" algn="just"/>
            <a:endParaRPr lang="en-IN"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55103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F0D50-CE17-3621-AF4C-1FE8B0C636E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F43373F-4609-1469-B7B3-077BC403882A}"/>
              </a:ext>
            </a:extLst>
          </p:cNvPr>
          <p:cNvSpPr>
            <a:spLocks noGrp="1"/>
          </p:cNvSpPr>
          <p:nvPr>
            <p:ph type="title"/>
          </p:nvPr>
        </p:nvSpPr>
        <p:spPr/>
        <p:txBody>
          <a:bodyPr>
            <a:normAutofit/>
          </a:bodyPr>
          <a:lstStyle/>
          <a:p>
            <a:r>
              <a:rPr lang="en-US" dirty="0"/>
              <a:t>WORKING WITH TEXT AND IMAGES USING CSS</a:t>
            </a:r>
            <a:endParaRPr lang="en-IN" dirty="0"/>
          </a:p>
        </p:txBody>
      </p:sp>
      <p:sp>
        <p:nvSpPr>
          <p:cNvPr id="8" name="Content Placeholder 7">
            <a:extLst>
              <a:ext uri="{FF2B5EF4-FFF2-40B4-BE49-F238E27FC236}">
                <a16:creationId xmlns:a16="http://schemas.microsoft.com/office/drawing/2014/main" id="{2399882C-2AD8-0130-1186-13854A8C9E75}"/>
              </a:ext>
            </a:extLst>
          </p:cNvPr>
          <p:cNvSpPr>
            <a:spLocks noGrp="1"/>
          </p:cNvSpPr>
          <p:nvPr>
            <p:ph idx="1"/>
          </p:nvPr>
        </p:nvSpPr>
        <p:spPr>
          <a:xfrm>
            <a:off x="581192" y="2340864"/>
            <a:ext cx="11029615" cy="3814980"/>
          </a:xfrm>
        </p:spPr>
        <p:txBody>
          <a:bodyPr>
            <a:noAutofit/>
          </a:bodyPr>
          <a:lstStyle/>
          <a:p>
            <a:r>
              <a:rPr lang="en-IN" b="1" dirty="0">
                <a:latin typeface="Cambria" panose="02040503050406030204" pitchFamily="18" charset="0"/>
                <a:ea typeface="Cambria" panose="02040503050406030204" pitchFamily="18" charset="0"/>
              </a:rPr>
              <a:t>Text Decoration</a:t>
            </a:r>
            <a:endParaRPr lang="en-IN" dirty="0">
              <a:latin typeface="Cambria" panose="02040503050406030204" pitchFamily="18" charset="0"/>
              <a:ea typeface="Cambria" panose="02040503050406030204" pitchFamily="18" charset="0"/>
            </a:endParaRPr>
          </a:p>
          <a:p>
            <a:pPr lvl="1"/>
            <a:r>
              <a:rPr lang="en-IN" sz="1700" b="1" dirty="0">
                <a:latin typeface="Cambria" panose="02040503050406030204" pitchFamily="18" charset="0"/>
                <a:ea typeface="Cambria" panose="02040503050406030204" pitchFamily="18" charset="0"/>
              </a:rPr>
              <a:t>text-decoration:</a:t>
            </a:r>
            <a:r>
              <a:rPr lang="en-IN" sz="1700" dirty="0">
                <a:latin typeface="Cambria" panose="02040503050406030204" pitchFamily="18" charset="0"/>
                <a:ea typeface="Cambria" panose="02040503050406030204" pitchFamily="18" charset="0"/>
              </a:rPr>
              <a:t> Adds effects like underline or strikethrough</a:t>
            </a:r>
          </a:p>
          <a:p>
            <a:pPr lvl="2"/>
            <a:r>
              <a:rPr lang="en-US" sz="1700" dirty="0">
                <a:latin typeface="Cambria" panose="02040503050406030204" pitchFamily="18" charset="0"/>
                <a:ea typeface="Cambria" panose="02040503050406030204" pitchFamily="18" charset="0"/>
              </a:rPr>
              <a:t>a {    text-decoration: none;   /* Removes underline */ }</a:t>
            </a:r>
          </a:p>
          <a:p>
            <a:r>
              <a:rPr lang="en-US" b="1" dirty="0">
                <a:latin typeface="Cambria" panose="02040503050406030204" pitchFamily="18" charset="0"/>
                <a:ea typeface="Cambria" panose="02040503050406030204" pitchFamily="18" charset="0"/>
              </a:rPr>
              <a:t>Text Alignment</a:t>
            </a:r>
            <a:endParaRPr lang="en-US" dirty="0">
              <a:latin typeface="Cambria" panose="02040503050406030204" pitchFamily="18" charset="0"/>
              <a:ea typeface="Cambria" panose="02040503050406030204" pitchFamily="18" charset="0"/>
            </a:endParaRPr>
          </a:p>
          <a:p>
            <a:pPr lvl="1"/>
            <a:r>
              <a:rPr lang="en-US" sz="1700" b="1" dirty="0">
                <a:latin typeface="Cambria" panose="02040503050406030204" pitchFamily="18" charset="0"/>
                <a:ea typeface="Cambria" panose="02040503050406030204" pitchFamily="18" charset="0"/>
              </a:rPr>
              <a:t>text-align:</a:t>
            </a:r>
            <a:r>
              <a:rPr lang="en-US" sz="1700" dirty="0">
                <a:latin typeface="Cambria" panose="02040503050406030204" pitchFamily="18" charset="0"/>
                <a:ea typeface="Cambria" panose="02040503050406030204" pitchFamily="18" charset="0"/>
              </a:rPr>
              <a:t> Aligns text (e.g., left, center, right)</a:t>
            </a:r>
          </a:p>
          <a:p>
            <a:r>
              <a:rPr lang="en-US" b="1" dirty="0">
                <a:latin typeface="Cambria" panose="02040503050406030204" pitchFamily="18" charset="0"/>
                <a:ea typeface="Cambria" panose="02040503050406030204" pitchFamily="18" charset="0"/>
              </a:rPr>
              <a:t>Spacing</a:t>
            </a:r>
            <a:endParaRPr lang="en-US" dirty="0">
              <a:latin typeface="Cambria" panose="02040503050406030204" pitchFamily="18" charset="0"/>
              <a:ea typeface="Cambria" panose="02040503050406030204" pitchFamily="18" charset="0"/>
            </a:endParaRPr>
          </a:p>
          <a:p>
            <a:pPr lvl="1"/>
            <a:r>
              <a:rPr lang="en-US" sz="1700" b="1" dirty="0">
                <a:latin typeface="Cambria" panose="02040503050406030204" pitchFamily="18" charset="0"/>
                <a:ea typeface="Cambria" panose="02040503050406030204" pitchFamily="18" charset="0"/>
              </a:rPr>
              <a:t>line-height, letter-spacing, and word-spacing</a:t>
            </a:r>
            <a:r>
              <a:rPr lang="en-US" sz="1700" dirty="0">
                <a:latin typeface="Cambria" panose="02040503050406030204" pitchFamily="18" charset="0"/>
                <a:ea typeface="Cambria" panose="02040503050406030204" pitchFamily="18" charset="0"/>
              </a:rPr>
              <a:t> adjust spacing between lines and characters.</a:t>
            </a:r>
          </a:p>
          <a:p>
            <a:endParaRPr lang="en-US" dirty="0">
              <a:latin typeface="Cambria" panose="02040503050406030204" pitchFamily="18" charset="0"/>
              <a:ea typeface="Cambria" panose="02040503050406030204" pitchFamily="18" charset="0"/>
            </a:endParaRPr>
          </a:p>
          <a:p>
            <a:pPr marL="324000" lvl="1" indent="0">
              <a:buNone/>
            </a:pPr>
            <a:endParaRPr lang="en-IN"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71486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8B185-5A5E-666E-9A2C-7B2EFD813BE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479FC0C-DD07-F01B-1B2B-10AF20C99C35}"/>
              </a:ext>
            </a:extLst>
          </p:cNvPr>
          <p:cNvSpPr>
            <a:spLocks noGrp="1"/>
          </p:cNvSpPr>
          <p:nvPr>
            <p:ph type="title"/>
          </p:nvPr>
        </p:nvSpPr>
        <p:spPr/>
        <p:txBody>
          <a:bodyPr>
            <a:normAutofit/>
          </a:bodyPr>
          <a:lstStyle/>
          <a:p>
            <a:r>
              <a:rPr lang="en-US" dirty="0"/>
              <a:t>WORKING WITH TEXT AND IMAGES USING CSS</a:t>
            </a:r>
            <a:endParaRPr lang="en-IN" dirty="0"/>
          </a:p>
        </p:txBody>
      </p:sp>
      <p:sp>
        <p:nvSpPr>
          <p:cNvPr id="8" name="Content Placeholder 7">
            <a:extLst>
              <a:ext uri="{FF2B5EF4-FFF2-40B4-BE49-F238E27FC236}">
                <a16:creationId xmlns:a16="http://schemas.microsoft.com/office/drawing/2014/main" id="{FDB1D0C6-1FEF-E9C2-921D-504E3D6CA24E}"/>
              </a:ext>
            </a:extLst>
          </p:cNvPr>
          <p:cNvSpPr>
            <a:spLocks noGrp="1"/>
          </p:cNvSpPr>
          <p:nvPr>
            <p:ph idx="1"/>
          </p:nvPr>
        </p:nvSpPr>
        <p:spPr>
          <a:xfrm>
            <a:off x="581192" y="2340864"/>
            <a:ext cx="11029615" cy="3814980"/>
          </a:xfrm>
        </p:spPr>
        <p:txBody>
          <a:bodyPr>
            <a:noAutofit/>
          </a:bodyPr>
          <a:lstStyle/>
          <a:p>
            <a:pPr marL="0" indent="0">
              <a:buNone/>
            </a:pPr>
            <a:r>
              <a:rPr lang="en-IN" b="1" dirty="0">
                <a:solidFill>
                  <a:srgbClr val="FF0000"/>
                </a:solidFill>
                <a:latin typeface="Cambria" panose="02040503050406030204" pitchFamily="18" charset="0"/>
                <a:ea typeface="Cambria" panose="02040503050406030204" pitchFamily="18" charset="0"/>
              </a:rPr>
              <a:t>Image Styling</a:t>
            </a:r>
            <a:r>
              <a:rPr lang="en-IN" b="1" dirty="0">
                <a:latin typeface="Cambria" panose="02040503050406030204" pitchFamily="18" charset="0"/>
                <a:ea typeface="Cambria" panose="02040503050406030204" pitchFamily="18" charset="0"/>
              </a:rPr>
              <a:t> :</a:t>
            </a:r>
          </a:p>
          <a:p>
            <a:pPr lvl="1"/>
            <a:r>
              <a:rPr lang="en-IN" sz="1600" b="1" dirty="0">
                <a:latin typeface="Cambria" panose="02040503050406030204" pitchFamily="18" charset="0"/>
                <a:ea typeface="Cambria" panose="02040503050406030204" pitchFamily="18" charset="0"/>
              </a:rPr>
              <a:t>Image Size</a:t>
            </a:r>
          </a:p>
          <a:p>
            <a:pPr lvl="2"/>
            <a:r>
              <a:rPr lang="en-US" sz="1600" dirty="0" err="1">
                <a:latin typeface="Cambria" panose="02040503050406030204" pitchFamily="18" charset="0"/>
                <a:ea typeface="Cambria" panose="02040503050406030204" pitchFamily="18" charset="0"/>
              </a:rPr>
              <a:t>img</a:t>
            </a:r>
            <a:r>
              <a:rPr lang="en-US" sz="1600" dirty="0">
                <a:latin typeface="Cambria" panose="02040503050406030204" pitchFamily="18" charset="0"/>
                <a:ea typeface="Cambria" panose="02040503050406030204" pitchFamily="18" charset="0"/>
              </a:rPr>
              <a:t> {    width: 100%;        /* Responsive */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height: auto;       /* Maintains aspect ratio */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a:t>
            </a:r>
          </a:p>
          <a:p>
            <a:pPr lvl="1"/>
            <a:r>
              <a:rPr lang="en-IN" sz="1600" b="1" dirty="0">
                <a:latin typeface="Cambria" panose="02040503050406030204" pitchFamily="18" charset="0"/>
                <a:ea typeface="Cambria" panose="02040503050406030204" pitchFamily="18" charset="0"/>
              </a:rPr>
              <a:t>Borders and Opacity</a:t>
            </a:r>
          </a:p>
          <a:p>
            <a:pPr lvl="2"/>
            <a:r>
              <a:rPr lang="en-IN" sz="1600" dirty="0" err="1">
                <a:latin typeface="Cambria" panose="02040503050406030204" pitchFamily="18" charset="0"/>
                <a:ea typeface="Cambria" panose="02040503050406030204" pitchFamily="18" charset="0"/>
              </a:rPr>
              <a:t>img</a:t>
            </a:r>
            <a:r>
              <a:rPr lang="en-IN" sz="1600" dirty="0">
                <a:latin typeface="Cambria" panose="02040503050406030204" pitchFamily="18" charset="0"/>
                <a:ea typeface="Cambria" panose="02040503050406030204" pitchFamily="18" charset="0"/>
              </a:rPr>
              <a:t> {    border: 2px solid #000;   /* Solid border */    </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opacity: 0.8;             /* Slight transparency */</a:t>
            </a:r>
            <a:br>
              <a:rPr lang="en-IN" sz="1600" dirty="0">
                <a:latin typeface="Cambria" panose="02040503050406030204" pitchFamily="18" charset="0"/>
                <a:ea typeface="Cambria" panose="02040503050406030204" pitchFamily="18" charset="0"/>
              </a:rPr>
            </a:br>
            <a:r>
              <a:rPr lang="en-IN" sz="16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187988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82792-C998-AE25-3A6F-9071E66D588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205DA19-D78E-7A36-2806-27D4F2546488}"/>
              </a:ext>
            </a:extLst>
          </p:cNvPr>
          <p:cNvSpPr>
            <a:spLocks noGrp="1"/>
          </p:cNvSpPr>
          <p:nvPr>
            <p:ph type="title"/>
          </p:nvPr>
        </p:nvSpPr>
        <p:spPr/>
        <p:txBody>
          <a:bodyPr>
            <a:normAutofit/>
          </a:bodyPr>
          <a:lstStyle/>
          <a:p>
            <a:r>
              <a:rPr lang="en-US" dirty="0"/>
              <a:t>WORKING WITH TEXT AND IMAGES USING CSS</a:t>
            </a:r>
            <a:endParaRPr lang="en-IN" dirty="0"/>
          </a:p>
        </p:txBody>
      </p:sp>
      <p:sp>
        <p:nvSpPr>
          <p:cNvPr id="8" name="Content Placeholder 7">
            <a:extLst>
              <a:ext uri="{FF2B5EF4-FFF2-40B4-BE49-F238E27FC236}">
                <a16:creationId xmlns:a16="http://schemas.microsoft.com/office/drawing/2014/main" id="{A2DD0C53-9C79-9153-49AE-E1320601EF81}"/>
              </a:ext>
            </a:extLst>
          </p:cNvPr>
          <p:cNvSpPr>
            <a:spLocks noGrp="1"/>
          </p:cNvSpPr>
          <p:nvPr>
            <p:ph idx="1"/>
          </p:nvPr>
        </p:nvSpPr>
        <p:spPr>
          <a:xfrm>
            <a:off x="581192" y="2340864"/>
            <a:ext cx="11029615" cy="3814980"/>
          </a:xfrm>
        </p:spPr>
        <p:txBody>
          <a:bodyPr>
            <a:noAutofit/>
          </a:bodyPr>
          <a:lstStyle/>
          <a:p>
            <a:r>
              <a:rPr lang="en-IN" b="1" dirty="0">
                <a:latin typeface="Cambria" panose="02040503050406030204" pitchFamily="18" charset="0"/>
                <a:ea typeface="Cambria" panose="02040503050406030204" pitchFamily="18" charset="0"/>
              </a:rPr>
              <a:t>Background Images </a:t>
            </a:r>
          </a:p>
          <a:p>
            <a:pPr lvl="1"/>
            <a:r>
              <a:rPr lang="en-US" sz="1700" dirty="0">
                <a:latin typeface="Cambria" panose="02040503050406030204" pitchFamily="18" charset="0"/>
                <a:ea typeface="Cambria" panose="02040503050406030204" pitchFamily="18" charset="0"/>
              </a:rPr>
              <a:t>div </a:t>
            </a:r>
            <a:br>
              <a:rPr lang="en-US" sz="1700" dirty="0">
                <a:latin typeface="Cambria" panose="02040503050406030204" pitchFamily="18" charset="0"/>
                <a:ea typeface="Cambria" panose="02040503050406030204" pitchFamily="18" charset="0"/>
              </a:rPr>
            </a:br>
            <a:r>
              <a:rPr lang="en-US" sz="1700" dirty="0">
                <a:latin typeface="Cambria" panose="02040503050406030204" pitchFamily="18" charset="0"/>
                <a:ea typeface="Cambria" panose="02040503050406030204" pitchFamily="18" charset="0"/>
              </a:rPr>
              <a:t>{    </a:t>
            </a:r>
            <a:br>
              <a:rPr lang="en-US" sz="1700" dirty="0">
                <a:latin typeface="Cambria" panose="02040503050406030204" pitchFamily="18" charset="0"/>
                <a:ea typeface="Cambria" panose="02040503050406030204" pitchFamily="18" charset="0"/>
              </a:rPr>
            </a:br>
            <a:r>
              <a:rPr lang="en-US" sz="1700" dirty="0">
                <a:latin typeface="Cambria" panose="02040503050406030204" pitchFamily="18" charset="0"/>
                <a:ea typeface="Cambria" panose="02040503050406030204" pitchFamily="18" charset="0"/>
              </a:rPr>
              <a:t>   	    background-image: </a:t>
            </a:r>
            <a:r>
              <a:rPr lang="en-US" sz="1700" dirty="0" err="1">
                <a:latin typeface="Cambria" panose="02040503050406030204" pitchFamily="18" charset="0"/>
                <a:ea typeface="Cambria" panose="02040503050406030204" pitchFamily="18" charset="0"/>
              </a:rPr>
              <a:t>url</a:t>
            </a:r>
            <a:r>
              <a:rPr lang="en-US" sz="1700" dirty="0">
                <a:latin typeface="Cambria" panose="02040503050406030204" pitchFamily="18" charset="0"/>
                <a:ea typeface="Cambria" panose="02040503050406030204" pitchFamily="18" charset="0"/>
              </a:rPr>
              <a:t>('background.jpg');    </a:t>
            </a:r>
            <a:br>
              <a:rPr lang="en-US" sz="1700" dirty="0">
                <a:latin typeface="Cambria" panose="02040503050406030204" pitchFamily="18" charset="0"/>
                <a:ea typeface="Cambria" panose="02040503050406030204" pitchFamily="18" charset="0"/>
              </a:rPr>
            </a:br>
            <a:r>
              <a:rPr lang="en-US" sz="1700" dirty="0">
                <a:latin typeface="Cambria" panose="02040503050406030204" pitchFamily="18" charset="0"/>
                <a:ea typeface="Cambria" panose="02040503050406030204" pitchFamily="18" charset="0"/>
              </a:rPr>
              <a:t>	    background-size: cover;   /* Covers the entire div */</a:t>
            </a:r>
            <a:br>
              <a:rPr lang="en-US" sz="1700" dirty="0">
                <a:latin typeface="Cambria" panose="02040503050406030204" pitchFamily="18" charset="0"/>
                <a:ea typeface="Cambria" panose="02040503050406030204" pitchFamily="18" charset="0"/>
              </a:rPr>
            </a:br>
            <a:r>
              <a:rPr lang="en-US" sz="1700" dirty="0">
                <a:latin typeface="Cambria" panose="02040503050406030204" pitchFamily="18" charset="0"/>
                <a:ea typeface="Cambria" panose="02040503050406030204" pitchFamily="18" charset="0"/>
              </a:rPr>
              <a:t>}</a:t>
            </a:r>
            <a:endParaRPr lang="en-IN"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66074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68F6D-E9DC-42AB-88DF-CB405EB0F1E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61B381D-1717-6DD1-28A1-DCD469F5374A}"/>
              </a:ext>
            </a:extLst>
          </p:cNvPr>
          <p:cNvSpPr>
            <a:spLocks noGrp="1"/>
          </p:cNvSpPr>
          <p:nvPr>
            <p:ph type="title"/>
          </p:nvPr>
        </p:nvSpPr>
        <p:spPr/>
        <p:txBody>
          <a:bodyPr>
            <a:normAutofit/>
          </a:bodyPr>
          <a:lstStyle/>
          <a:p>
            <a:r>
              <a:rPr lang="en-IN" b="1" dirty="0"/>
              <a:t>CSS SELECTORS</a:t>
            </a:r>
            <a:endParaRPr lang="en-IN" dirty="0"/>
          </a:p>
        </p:txBody>
      </p:sp>
      <p:sp>
        <p:nvSpPr>
          <p:cNvPr id="8" name="Content Placeholder 7">
            <a:extLst>
              <a:ext uri="{FF2B5EF4-FFF2-40B4-BE49-F238E27FC236}">
                <a16:creationId xmlns:a16="http://schemas.microsoft.com/office/drawing/2014/main" id="{46A4630F-901D-60ED-23DF-43FB05367292}"/>
              </a:ext>
            </a:extLst>
          </p:cNvPr>
          <p:cNvSpPr>
            <a:spLocks noGrp="1"/>
          </p:cNvSpPr>
          <p:nvPr>
            <p:ph idx="1"/>
          </p:nvPr>
        </p:nvSpPr>
        <p:spPr>
          <a:xfrm>
            <a:off x="581192" y="2340864"/>
            <a:ext cx="11029615" cy="3814980"/>
          </a:xfrm>
        </p:spPr>
        <p:txBody>
          <a:bodyPr>
            <a:noAutofit/>
          </a:bodyPr>
          <a:lstStyle/>
          <a:p>
            <a:r>
              <a:rPr lang="en-US" dirty="0">
                <a:latin typeface="Cambria" panose="02040503050406030204" pitchFamily="18" charset="0"/>
                <a:ea typeface="Cambria" panose="02040503050406030204" pitchFamily="18" charset="0"/>
              </a:rPr>
              <a:t>CSS selectors are </a:t>
            </a:r>
            <a:r>
              <a:rPr lang="en-US" b="1" dirty="0">
                <a:latin typeface="Cambria" panose="02040503050406030204" pitchFamily="18" charset="0"/>
                <a:ea typeface="Cambria" panose="02040503050406030204" pitchFamily="18" charset="0"/>
              </a:rPr>
              <a:t>used to choose which HTML elements you want to style.</a:t>
            </a:r>
          </a:p>
          <a:p>
            <a:r>
              <a:rPr lang="en-US" dirty="0">
                <a:latin typeface="Cambria" panose="02040503050406030204" pitchFamily="18" charset="0"/>
                <a:ea typeface="Cambria" panose="02040503050406030204" pitchFamily="18" charset="0"/>
              </a:rPr>
              <a:t>Here are the different types of CSS selectors and how they work.</a:t>
            </a:r>
          </a:p>
          <a:p>
            <a:pPr marL="0" indent="0">
              <a:lnSpc>
                <a:spcPct val="150000"/>
              </a:lnSpc>
              <a:buNone/>
            </a:pPr>
            <a:r>
              <a:rPr lang="en-US" b="1" dirty="0">
                <a:latin typeface="Cambria" panose="02040503050406030204" pitchFamily="18" charset="0"/>
                <a:ea typeface="Cambria" panose="02040503050406030204" pitchFamily="18" charset="0"/>
              </a:rPr>
              <a:t>1) Element Selector:</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This selects </a:t>
            </a:r>
            <a:r>
              <a:rPr lang="en-US" b="1" dirty="0">
                <a:latin typeface="Cambria" panose="02040503050406030204" pitchFamily="18" charset="0"/>
                <a:ea typeface="Cambria" panose="02040503050406030204" pitchFamily="18" charset="0"/>
              </a:rPr>
              <a:t>all elements of a specific type</a:t>
            </a:r>
            <a:r>
              <a:rPr lang="en-US" dirty="0">
                <a:latin typeface="Cambria" panose="02040503050406030204" pitchFamily="18" charset="0"/>
                <a:ea typeface="Cambria" panose="02040503050406030204" pitchFamily="18" charset="0"/>
              </a:rPr>
              <a:t> (like all &lt;h1&gt; tags).</a:t>
            </a:r>
          </a:p>
          <a:p>
            <a:pPr marL="324000" lvl="1" indent="0">
              <a:buNone/>
            </a:pPr>
            <a:r>
              <a:rPr lang="en-US" sz="1700" dirty="0">
                <a:latin typeface="Cambria" panose="02040503050406030204" pitchFamily="18" charset="0"/>
                <a:ea typeface="Cambria" panose="02040503050406030204" pitchFamily="18" charset="0"/>
              </a:rPr>
              <a:t>	h1 {    </a:t>
            </a:r>
            <a:br>
              <a:rPr lang="en-US" sz="1700" dirty="0">
                <a:latin typeface="Cambria" panose="02040503050406030204" pitchFamily="18" charset="0"/>
                <a:ea typeface="Cambria" panose="02040503050406030204" pitchFamily="18" charset="0"/>
              </a:rPr>
            </a:br>
            <a:r>
              <a:rPr lang="en-US" sz="1700" dirty="0">
                <a:latin typeface="Cambria" panose="02040503050406030204" pitchFamily="18" charset="0"/>
                <a:ea typeface="Cambria" panose="02040503050406030204" pitchFamily="18" charset="0"/>
              </a:rPr>
              <a:t>		color: blue;    /* Makes all &lt;h1&gt; text blue */</a:t>
            </a:r>
            <a:br>
              <a:rPr lang="en-US" sz="1700" dirty="0">
                <a:latin typeface="Cambria" panose="02040503050406030204" pitchFamily="18" charset="0"/>
                <a:ea typeface="Cambria" panose="02040503050406030204" pitchFamily="18" charset="0"/>
              </a:rPr>
            </a:br>
            <a:r>
              <a:rPr lang="en-US" sz="17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710952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A3D4A-E33F-6055-D720-F571A838455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2468B21-4D13-B50C-5409-95F63CDF275A}"/>
              </a:ext>
            </a:extLst>
          </p:cNvPr>
          <p:cNvSpPr>
            <a:spLocks noGrp="1"/>
          </p:cNvSpPr>
          <p:nvPr>
            <p:ph type="title"/>
          </p:nvPr>
        </p:nvSpPr>
        <p:spPr/>
        <p:txBody>
          <a:bodyPr>
            <a:normAutofit/>
          </a:bodyPr>
          <a:lstStyle/>
          <a:p>
            <a:r>
              <a:rPr lang="en-IN" b="1" dirty="0"/>
              <a:t>CSS SELECTORS</a:t>
            </a:r>
            <a:endParaRPr lang="en-IN" dirty="0"/>
          </a:p>
        </p:txBody>
      </p:sp>
      <p:sp>
        <p:nvSpPr>
          <p:cNvPr id="8" name="Content Placeholder 7">
            <a:extLst>
              <a:ext uri="{FF2B5EF4-FFF2-40B4-BE49-F238E27FC236}">
                <a16:creationId xmlns:a16="http://schemas.microsoft.com/office/drawing/2014/main" id="{152B543B-83E9-E504-7F8E-BA89F4B88FC3}"/>
              </a:ext>
            </a:extLst>
          </p:cNvPr>
          <p:cNvSpPr>
            <a:spLocks noGrp="1"/>
          </p:cNvSpPr>
          <p:nvPr>
            <p:ph idx="1"/>
          </p:nvPr>
        </p:nvSpPr>
        <p:spPr>
          <a:xfrm>
            <a:off x="581192" y="2340864"/>
            <a:ext cx="11029615" cy="3814980"/>
          </a:xfrm>
        </p:spPr>
        <p:txBody>
          <a:bodyPr>
            <a:noAutofit/>
          </a:bodyPr>
          <a:lstStyle/>
          <a:p>
            <a:pPr marL="0" indent="0">
              <a:lnSpc>
                <a:spcPct val="150000"/>
              </a:lnSpc>
              <a:buNone/>
            </a:pPr>
            <a:r>
              <a:rPr lang="en-US" b="1" dirty="0">
                <a:latin typeface="Cambria" panose="02040503050406030204" pitchFamily="18" charset="0"/>
                <a:ea typeface="Cambria" panose="02040503050406030204" pitchFamily="18" charset="0"/>
              </a:rPr>
              <a:t>2) ID Selector:</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a:t>This targets a </a:t>
            </a:r>
            <a:r>
              <a:rPr lang="en-US" b="1" dirty="0"/>
              <a:t>unique element with a specific id.</a:t>
            </a:r>
            <a:r>
              <a:rPr lang="en-US" dirty="0"/>
              <a:t> An id should be unique on a page.</a:t>
            </a:r>
            <a:endParaRPr lang="en-US" dirty="0">
              <a:latin typeface="Cambria" panose="02040503050406030204" pitchFamily="18" charset="0"/>
              <a:ea typeface="Cambria" panose="02040503050406030204" pitchFamily="18" charset="0"/>
            </a:endParaRPr>
          </a:p>
          <a:p>
            <a:pPr marL="0" indent="0">
              <a:lnSpc>
                <a:spcPct val="150000"/>
              </a:lnSpc>
              <a:buNone/>
            </a:pPr>
            <a:r>
              <a:rPr lang="en-US" dirty="0">
                <a:latin typeface="Cambria" panose="02040503050406030204" pitchFamily="18" charset="0"/>
                <a:ea typeface="Cambria" panose="02040503050406030204" pitchFamily="18" charset="0"/>
              </a:rPr>
              <a:t>	#header {    background-color: gray;   /* Styles the element with id="header" */	}</a:t>
            </a:r>
          </a:p>
          <a:p>
            <a:pPr marL="0" indent="0">
              <a:lnSpc>
                <a:spcPct val="150000"/>
              </a:lnSpc>
              <a:buNone/>
            </a:pPr>
            <a:r>
              <a:rPr lang="en-US" b="1" dirty="0">
                <a:latin typeface="Cambria" panose="02040503050406030204" pitchFamily="18" charset="0"/>
                <a:ea typeface="Cambria" panose="02040503050406030204" pitchFamily="18" charset="0"/>
              </a:rPr>
              <a:t>3) Class Selector:</a:t>
            </a:r>
            <a:r>
              <a:rPr lang="en-US" dirty="0">
                <a:latin typeface="Cambria" panose="02040503050406030204" pitchFamily="18" charset="0"/>
                <a:ea typeface="Cambria" panose="02040503050406030204" pitchFamily="18" charset="0"/>
              </a:rPr>
              <a:t> </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a:t>This selects </a:t>
            </a:r>
            <a:r>
              <a:rPr lang="en-US" b="1" dirty="0"/>
              <a:t>all elements that have a specific class.</a:t>
            </a:r>
            <a:r>
              <a:rPr lang="en-US" dirty="0"/>
              <a:t> Classes can be used multiple times on a page</a:t>
            </a:r>
            <a:endParaRPr lang="en-US" dirty="0">
              <a:latin typeface="Cambria" panose="02040503050406030204" pitchFamily="18" charset="0"/>
              <a:ea typeface="Cambria" panose="02040503050406030204" pitchFamily="18" charset="0"/>
            </a:endParaRPr>
          </a:p>
          <a:p>
            <a:pPr marL="0" indent="0">
              <a:lnSpc>
                <a:spcPct val="150000"/>
              </a:lnSpc>
              <a:buNone/>
            </a:pPr>
            <a:r>
              <a:rPr lang="en-US" dirty="0">
                <a:latin typeface="Cambria" panose="02040503050406030204" pitchFamily="18" charset="0"/>
                <a:ea typeface="Cambria" panose="02040503050406030204" pitchFamily="18" charset="0"/>
              </a:rPr>
              <a:t>	.highlight {    color: yellow;   /* Styles all elements with class="highlight" */ }</a:t>
            </a:r>
          </a:p>
        </p:txBody>
      </p:sp>
    </p:spTree>
    <p:extLst>
      <p:ext uri="{BB962C8B-B14F-4D97-AF65-F5344CB8AC3E}">
        <p14:creationId xmlns:p14="http://schemas.microsoft.com/office/powerpoint/2010/main" val="23259455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2AFF-1E66-91CB-9EDD-78CF68EE1FB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623C672-5437-5DE1-8C0E-CE59D1B5A7AA}"/>
              </a:ext>
            </a:extLst>
          </p:cNvPr>
          <p:cNvSpPr>
            <a:spLocks noGrp="1"/>
          </p:cNvSpPr>
          <p:nvPr>
            <p:ph type="title"/>
          </p:nvPr>
        </p:nvSpPr>
        <p:spPr>
          <a:xfrm>
            <a:off x="581192" y="590396"/>
            <a:ext cx="11029616" cy="1188720"/>
          </a:xfrm>
        </p:spPr>
        <p:txBody>
          <a:bodyPr>
            <a:normAutofit/>
          </a:bodyPr>
          <a:lstStyle/>
          <a:p>
            <a:r>
              <a:rPr lang="en-IN" b="1" dirty="0"/>
              <a:t>CSS SELECTORS</a:t>
            </a:r>
            <a:endParaRPr lang="en-IN" dirty="0"/>
          </a:p>
        </p:txBody>
      </p:sp>
      <p:sp>
        <p:nvSpPr>
          <p:cNvPr id="8" name="Content Placeholder 7">
            <a:extLst>
              <a:ext uri="{FF2B5EF4-FFF2-40B4-BE49-F238E27FC236}">
                <a16:creationId xmlns:a16="http://schemas.microsoft.com/office/drawing/2014/main" id="{4F76CA15-145C-7FE2-CAED-18C3162679B7}"/>
              </a:ext>
            </a:extLst>
          </p:cNvPr>
          <p:cNvSpPr>
            <a:spLocks noGrp="1"/>
          </p:cNvSpPr>
          <p:nvPr>
            <p:ph idx="1"/>
          </p:nvPr>
        </p:nvSpPr>
        <p:spPr>
          <a:xfrm>
            <a:off x="581191" y="2198624"/>
            <a:ext cx="11029615" cy="4425696"/>
          </a:xfrm>
        </p:spPr>
        <p:txBody>
          <a:bodyPr>
            <a:noAutofit/>
          </a:bodyPr>
          <a:lstStyle/>
          <a:p>
            <a:pPr marL="0" indent="0">
              <a:lnSpc>
                <a:spcPct val="150000"/>
              </a:lnSpc>
              <a:buNone/>
            </a:pPr>
            <a:r>
              <a:rPr lang="en-US" sz="1600" b="1" dirty="0">
                <a:latin typeface="Cambria" panose="02040503050406030204" pitchFamily="18" charset="0"/>
                <a:ea typeface="Cambria" panose="02040503050406030204" pitchFamily="18" charset="0"/>
              </a:rPr>
              <a:t>4) </a:t>
            </a:r>
            <a:r>
              <a:rPr lang="en-IN" sz="1600" b="1" dirty="0">
                <a:latin typeface="Cambria" panose="02040503050406030204" pitchFamily="18" charset="0"/>
                <a:ea typeface="Cambria" panose="02040503050406030204" pitchFamily="18" charset="0"/>
              </a:rPr>
              <a:t>Universal</a:t>
            </a:r>
            <a:r>
              <a:rPr lang="en-IN"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 Selector (*):</a:t>
            </a:r>
            <a:r>
              <a:rPr lang="en-US" sz="1600" dirty="0">
                <a:latin typeface="Cambria" panose="02040503050406030204" pitchFamily="18" charset="0"/>
                <a:ea typeface="Cambria" panose="02040503050406030204" pitchFamily="18" charset="0"/>
              </a:rPr>
              <a:t>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This applies styles to </a:t>
            </a:r>
            <a:r>
              <a:rPr lang="en-US" sz="1600" b="1" dirty="0">
                <a:latin typeface="Cambria" panose="02040503050406030204" pitchFamily="18" charset="0"/>
                <a:ea typeface="Cambria" panose="02040503050406030204" pitchFamily="18" charset="0"/>
              </a:rPr>
              <a:t>every single element</a:t>
            </a:r>
            <a:r>
              <a:rPr lang="en-US" sz="1600" dirty="0">
                <a:latin typeface="Cambria" panose="02040503050406030204" pitchFamily="18" charset="0"/>
                <a:ea typeface="Cambria" panose="02040503050406030204" pitchFamily="18" charset="0"/>
              </a:rPr>
              <a:t> on the page.</a:t>
            </a:r>
          </a:p>
          <a:p>
            <a:pPr marL="594000" lvl="2" indent="0">
              <a:lnSpc>
                <a:spcPct val="150000"/>
              </a:lnSpc>
              <a:buNone/>
            </a:pPr>
            <a:r>
              <a:rPr lang="en-US" sz="1600" dirty="0">
                <a:latin typeface="Cambria" panose="02040503050406030204" pitchFamily="18" charset="0"/>
                <a:ea typeface="Cambria" panose="02040503050406030204" pitchFamily="18" charset="0"/>
              </a:rPr>
              <a:t>* {</a:t>
            </a:r>
          </a:p>
          <a:p>
            <a:pPr marL="594000" lvl="2" indent="0">
              <a:lnSpc>
                <a:spcPct val="150000"/>
              </a:lnSpc>
              <a:buNone/>
            </a:pPr>
            <a:r>
              <a:rPr lang="en-US" sz="1600" dirty="0">
                <a:latin typeface="Cambria" panose="02040503050406030204" pitchFamily="18" charset="0"/>
                <a:ea typeface="Cambria" panose="02040503050406030204" pitchFamily="18" charset="0"/>
              </a:rPr>
              <a:t>    margin: 0;   /* Removes margin from all elements */</a:t>
            </a:r>
          </a:p>
          <a:p>
            <a:pPr marL="594000" lvl="2" indent="0">
              <a:lnSpc>
                <a:spcPct val="150000"/>
              </a:lnSpc>
              <a:buNone/>
            </a:pPr>
            <a:r>
              <a:rPr lang="en-US" sz="1600" dirty="0">
                <a:latin typeface="Cambria" panose="02040503050406030204" pitchFamily="18" charset="0"/>
                <a:ea typeface="Cambria" panose="02040503050406030204" pitchFamily="18" charset="0"/>
              </a:rPr>
              <a:t>}</a:t>
            </a:r>
          </a:p>
          <a:p>
            <a:pPr marL="0" indent="0">
              <a:lnSpc>
                <a:spcPct val="150000"/>
              </a:lnSpc>
              <a:buNone/>
            </a:pPr>
            <a:r>
              <a:rPr lang="en-US" sz="1600" b="1" dirty="0">
                <a:latin typeface="Cambria" panose="02040503050406030204" pitchFamily="18" charset="0"/>
                <a:ea typeface="Cambria" panose="02040503050406030204" pitchFamily="18" charset="0"/>
              </a:rPr>
              <a:t>5) </a:t>
            </a:r>
            <a:r>
              <a:rPr lang="en-IN" sz="1600" b="1" dirty="0">
                <a:latin typeface="Cambria" panose="02040503050406030204" pitchFamily="18" charset="0"/>
                <a:ea typeface="Cambria" panose="02040503050406030204" pitchFamily="18" charset="0"/>
              </a:rPr>
              <a:t>Grouping</a:t>
            </a:r>
            <a:r>
              <a:rPr lang="en-IN"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 Selector:</a:t>
            </a:r>
            <a:r>
              <a:rPr lang="en-US" sz="1600" dirty="0">
                <a:latin typeface="Cambria" panose="02040503050406030204" pitchFamily="18" charset="0"/>
                <a:ea typeface="Cambria" panose="02040503050406030204" pitchFamily="18" charset="0"/>
              </a:rPr>
              <a:t>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This lets you </a:t>
            </a:r>
            <a:r>
              <a:rPr lang="en-US" sz="1600" b="1" dirty="0">
                <a:latin typeface="Cambria" panose="02040503050406030204" pitchFamily="18" charset="0"/>
                <a:ea typeface="Cambria" panose="02040503050406030204" pitchFamily="18" charset="0"/>
              </a:rPr>
              <a:t>apply the same styles to multiple selectors at once.</a:t>
            </a:r>
          </a:p>
          <a:p>
            <a:pPr marL="0" indent="0">
              <a:lnSpc>
                <a:spcPct val="150000"/>
              </a:lnSpc>
              <a:buNone/>
            </a:pPr>
            <a:r>
              <a:rPr lang="en-US" sz="1600" dirty="0">
                <a:latin typeface="Cambria" panose="02040503050406030204" pitchFamily="18" charset="0"/>
                <a:ea typeface="Cambria" panose="02040503050406030204" pitchFamily="18" charset="0"/>
              </a:rPr>
              <a:t>	h1, h2, p {   </a:t>
            </a:r>
          </a:p>
          <a:p>
            <a:pPr marL="0" indent="0">
              <a:lnSpc>
                <a:spcPct val="150000"/>
              </a:lnSpc>
              <a:buNone/>
            </a:pPr>
            <a:r>
              <a:rPr lang="en-US" sz="1600" dirty="0">
                <a:latin typeface="Cambria" panose="02040503050406030204" pitchFamily="18" charset="0"/>
                <a:ea typeface="Cambria" panose="02040503050406030204" pitchFamily="18" charset="0"/>
              </a:rPr>
              <a:t>		 text-align: center;   /* Centers text for &lt;h1&gt;, &lt;h2&gt;, and &lt;p&gt; */</a:t>
            </a:r>
          </a:p>
          <a:p>
            <a:pPr marL="0" indent="0">
              <a:lnSpc>
                <a:spcPct val="150000"/>
              </a:lnSpc>
              <a:buNone/>
            </a:pPr>
            <a:r>
              <a:rPr lang="en-US" sz="16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714648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2A92-F115-CC1A-7F8C-047EA75D469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8EB7340-B8C8-6A14-6DCD-926676C438A6}"/>
              </a:ext>
            </a:extLst>
          </p:cNvPr>
          <p:cNvSpPr>
            <a:spLocks noGrp="1"/>
          </p:cNvSpPr>
          <p:nvPr>
            <p:ph type="title"/>
          </p:nvPr>
        </p:nvSpPr>
        <p:spPr>
          <a:xfrm>
            <a:off x="581192" y="590396"/>
            <a:ext cx="11029616" cy="1188720"/>
          </a:xfrm>
        </p:spPr>
        <p:txBody>
          <a:bodyPr>
            <a:normAutofit/>
          </a:bodyPr>
          <a:lstStyle/>
          <a:p>
            <a:r>
              <a:rPr lang="en-IN" b="1" dirty="0"/>
              <a:t>CSS SELECTORS</a:t>
            </a:r>
            <a:endParaRPr lang="en-IN" dirty="0"/>
          </a:p>
        </p:txBody>
      </p:sp>
      <p:sp>
        <p:nvSpPr>
          <p:cNvPr id="8" name="Content Placeholder 7">
            <a:extLst>
              <a:ext uri="{FF2B5EF4-FFF2-40B4-BE49-F238E27FC236}">
                <a16:creationId xmlns:a16="http://schemas.microsoft.com/office/drawing/2014/main" id="{662ED884-6E70-FA67-B5D2-E995B695A91E}"/>
              </a:ext>
            </a:extLst>
          </p:cNvPr>
          <p:cNvSpPr>
            <a:spLocks noGrp="1"/>
          </p:cNvSpPr>
          <p:nvPr>
            <p:ph idx="1"/>
          </p:nvPr>
        </p:nvSpPr>
        <p:spPr>
          <a:xfrm>
            <a:off x="581191" y="2198624"/>
            <a:ext cx="11029615" cy="4567936"/>
          </a:xfrm>
        </p:spPr>
        <p:txBody>
          <a:bodyPr>
            <a:noAutofit/>
          </a:bodyPr>
          <a:lstStyle/>
          <a:p>
            <a:pPr marL="0" indent="0">
              <a:lnSpc>
                <a:spcPct val="150000"/>
              </a:lnSpc>
              <a:buNone/>
            </a:pPr>
            <a:r>
              <a:rPr lang="en-US" sz="1600" b="1" dirty="0">
                <a:latin typeface="Cambria" panose="02040503050406030204" pitchFamily="18" charset="0"/>
                <a:ea typeface="Cambria" panose="02040503050406030204" pitchFamily="18" charset="0"/>
              </a:rPr>
              <a:t>6) </a:t>
            </a:r>
            <a:r>
              <a:rPr lang="en-IN" sz="1600" b="1" dirty="0">
                <a:latin typeface="Cambria" panose="02040503050406030204" pitchFamily="18" charset="0"/>
                <a:ea typeface="Cambria" panose="02040503050406030204" pitchFamily="18" charset="0"/>
              </a:rPr>
              <a:t>Descendant </a:t>
            </a:r>
            <a:r>
              <a:rPr lang="en-US" sz="1600" b="1" dirty="0">
                <a:latin typeface="Cambria" panose="02040503050406030204" pitchFamily="18" charset="0"/>
                <a:ea typeface="Cambria" panose="02040503050406030204" pitchFamily="18" charset="0"/>
              </a:rPr>
              <a:t> Selector:</a:t>
            </a:r>
            <a:r>
              <a:rPr lang="en-US" sz="1600" dirty="0">
                <a:latin typeface="Cambria" panose="02040503050406030204" pitchFamily="18" charset="0"/>
                <a:ea typeface="Cambria" panose="02040503050406030204" pitchFamily="18" charset="0"/>
              </a:rPr>
              <a:t>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This selects elements that are </a:t>
            </a:r>
            <a:r>
              <a:rPr lang="en-US" sz="1600" b="1" dirty="0">
                <a:latin typeface="Cambria" panose="02040503050406030204" pitchFamily="18" charset="0"/>
                <a:ea typeface="Cambria" panose="02040503050406030204" pitchFamily="18" charset="0"/>
              </a:rPr>
              <a:t>inside another element</a:t>
            </a:r>
            <a:r>
              <a:rPr lang="en-US" sz="1600" dirty="0">
                <a:latin typeface="Cambria" panose="02040503050406030204" pitchFamily="18" charset="0"/>
                <a:ea typeface="Cambria" panose="02040503050406030204" pitchFamily="18" charset="0"/>
              </a:rPr>
              <a:t>.</a:t>
            </a:r>
          </a:p>
          <a:p>
            <a:pPr marL="594000" lvl="2" indent="0">
              <a:lnSpc>
                <a:spcPct val="150000"/>
              </a:lnSpc>
              <a:buNone/>
            </a:pPr>
            <a:r>
              <a:rPr lang="en-US" sz="1600" dirty="0">
                <a:latin typeface="Cambria" panose="02040503050406030204" pitchFamily="18" charset="0"/>
                <a:ea typeface="Cambria" panose="02040503050406030204" pitchFamily="18" charset="0"/>
              </a:rPr>
              <a:t>div p {</a:t>
            </a:r>
          </a:p>
          <a:p>
            <a:pPr marL="594000" lvl="2" indent="0">
              <a:lnSpc>
                <a:spcPct val="150000"/>
              </a:lnSpc>
              <a:buNone/>
            </a:pPr>
            <a:r>
              <a:rPr lang="en-US" sz="1600" dirty="0">
                <a:latin typeface="Cambria" panose="02040503050406030204" pitchFamily="18" charset="0"/>
                <a:ea typeface="Cambria" panose="02040503050406030204" pitchFamily="18" charset="0"/>
              </a:rPr>
              <a:t>    color: green;   /* Styles &lt;p&gt; elements inside &lt;div&gt; */</a:t>
            </a:r>
          </a:p>
          <a:p>
            <a:pPr marL="594000" lvl="2" indent="0">
              <a:lnSpc>
                <a:spcPct val="150000"/>
              </a:lnSpc>
              <a:buNone/>
            </a:pPr>
            <a:r>
              <a:rPr lang="en-US" sz="1600" dirty="0">
                <a:latin typeface="Cambria" panose="02040503050406030204" pitchFamily="18" charset="0"/>
                <a:ea typeface="Cambria" panose="02040503050406030204" pitchFamily="18" charset="0"/>
              </a:rPr>
              <a:t>}</a:t>
            </a:r>
          </a:p>
          <a:p>
            <a:pPr marL="0" indent="0">
              <a:lnSpc>
                <a:spcPct val="150000"/>
              </a:lnSpc>
              <a:buNone/>
            </a:pPr>
            <a:r>
              <a:rPr lang="en-US" sz="1600" b="1" dirty="0">
                <a:latin typeface="Cambria" panose="02040503050406030204" pitchFamily="18" charset="0"/>
                <a:ea typeface="Cambria" panose="02040503050406030204" pitchFamily="18" charset="0"/>
              </a:rPr>
              <a:t>7) </a:t>
            </a:r>
            <a:r>
              <a:rPr lang="en-IN" sz="1600" b="1" dirty="0">
                <a:latin typeface="Cambria" panose="02040503050406030204" pitchFamily="18" charset="0"/>
                <a:ea typeface="Cambria" panose="02040503050406030204" pitchFamily="18" charset="0"/>
              </a:rPr>
              <a:t>Child </a:t>
            </a:r>
            <a:r>
              <a:rPr lang="en-IN"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 Selector (&gt;):</a:t>
            </a:r>
            <a:r>
              <a:rPr lang="en-US" sz="1600" dirty="0">
                <a:latin typeface="Cambria" panose="02040503050406030204" pitchFamily="18" charset="0"/>
                <a:ea typeface="Cambria" panose="02040503050406030204" pitchFamily="18" charset="0"/>
              </a:rPr>
              <a:t>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This selects </a:t>
            </a:r>
            <a:r>
              <a:rPr lang="en-US" sz="1600" b="1" dirty="0">
                <a:latin typeface="Cambria" panose="02040503050406030204" pitchFamily="18" charset="0"/>
                <a:ea typeface="Cambria" panose="02040503050406030204" pitchFamily="18" charset="0"/>
              </a:rPr>
              <a:t>only the direct children</a:t>
            </a:r>
            <a:r>
              <a:rPr lang="en-US" sz="1600" dirty="0">
                <a:latin typeface="Cambria" panose="02040503050406030204" pitchFamily="18" charset="0"/>
                <a:ea typeface="Cambria" panose="02040503050406030204" pitchFamily="18" charset="0"/>
              </a:rPr>
              <a:t> of an element</a:t>
            </a:r>
            <a:r>
              <a:rPr lang="en-US" sz="1600" b="1" dirty="0">
                <a:latin typeface="Cambria" panose="02040503050406030204" pitchFamily="18" charset="0"/>
                <a:ea typeface="Cambria" panose="02040503050406030204" pitchFamily="18" charset="0"/>
              </a:rPr>
              <a:t>.</a:t>
            </a:r>
          </a:p>
          <a:p>
            <a:pPr marL="0" indent="0">
              <a:lnSpc>
                <a:spcPct val="150000"/>
              </a:lnSpc>
              <a:buNone/>
            </a:pPr>
            <a:r>
              <a:rPr lang="en-US" sz="1600" dirty="0">
                <a:latin typeface="Cambria" panose="02040503050406030204" pitchFamily="18" charset="0"/>
                <a:ea typeface="Cambria" panose="02040503050406030204" pitchFamily="18" charset="0"/>
              </a:rPr>
              <a:t>	ul &gt; li {   </a:t>
            </a:r>
          </a:p>
          <a:p>
            <a:pPr marL="0" indent="0">
              <a:lnSpc>
                <a:spcPct val="150000"/>
              </a:lnSpc>
              <a:buNone/>
            </a:pPr>
            <a:r>
              <a:rPr lang="en-US" sz="1600" dirty="0">
                <a:latin typeface="Cambria" panose="02040503050406030204" pitchFamily="18" charset="0"/>
                <a:ea typeface="Cambria" panose="02040503050406030204" pitchFamily="18" charset="0"/>
              </a:rPr>
              <a:t>		 list-style-type: square;   /* Styles only direct children &lt;li&gt; of &lt;ul&gt; */</a:t>
            </a:r>
          </a:p>
          <a:p>
            <a:pPr marL="0" indent="0">
              <a:lnSpc>
                <a:spcPct val="150000"/>
              </a:lnSpc>
              <a:buNone/>
            </a:pPr>
            <a:r>
              <a:rPr lang="en-US" sz="1600"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1782029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F061E-F8DE-9222-34B5-AD377A0157C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11D9CCE-F546-BD55-2382-C6B24196D4A6}"/>
              </a:ext>
            </a:extLst>
          </p:cNvPr>
          <p:cNvSpPr>
            <a:spLocks noGrp="1"/>
          </p:cNvSpPr>
          <p:nvPr>
            <p:ph type="title"/>
          </p:nvPr>
        </p:nvSpPr>
        <p:spPr>
          <a:xfrm>
            <a:off x="581192" y="590396"/>
            <a:ext cx="11029616" cy="1188720"/>
          </a:xfrm>
        </p:spPr>
        <p:txBody>
          <a:bodyPr>
            <a:normAutofit/>
          </a:bodyPr>
          <a:lstStyle/>
          <a:p>
            <a:r>
              <a:rPr lang="en-IN" b="1" dirty="0"/>
              <a:t>CSS SELECTORS</a:t>
            </a:r>
            <a:endParaRPr lang="en-IN" dirty="0"/>
          </a:p>
        </p:txBody>
      </p:sp>
      <p:sp>
        <p:nvSpPr>
          <p:cNvPr id="8" name="Content Placeholder 7">
            <a:extLst>
              <a:ext uri="{FF2B5EF4-FFF2-40B4-BE49-F238E27FC236}">
                <a16:creationId xmlns:a16="http://schemas.microsoft.com/office/drawing/2014/main" id="{7970944F-9B0C-5C7C-04FE-9D17478599BF}"/>
              </a:ext>
            </a:extLst>
          </p:cNvPr>
          <p:cNvSpPr>
            <a:spLocks noGrp="1"/>
          </p:cNvSpPr>
          <p:nvPr>
            <p:ph idx="1"/>
          </p:nvPr>
        </p:nvSpPr>
        <p:spPr>
          <a:xfrm>
            <a:off x="581191" y="2198624"/>
            <a:ext cx="11029615" cy="4567936"/>
          </a:xfrm>
        </p:spPr>
        <p:txBody>
          <a:bodyPr>
            <a:noAutofit/>
          </a:bodyPr>
          <a:lstStyle/>
          <a:p>
            <a:pPr marL="0" indent="0">
              <a:lnSpc>
                <a:spcPct val="150000"/>
              </a:lnSpc>
              <a:buNone/>
            </a:pPr>
            <a:r>
              <a:rPr lang="en-US" sz="1600" b="1" dirty="0">
                <a:latin typeface="Cambria" panose="02040503050406030204" pitchFamily="18" charset="0"/>
                <a:ea typeface="Cambria" panose="02040503050406030204" pitchFamily="18" charset="0"/>
              </a:rPr>
              <a:t>8) </a:t>
            </a:r>
            <a:r>
              <a:rPr lang="en-IN" sz="1600" b="1" dirty="0">
                <a:latin typeface="Cambria" panose="02040503050406030204" pitchFamily="18" charset="0"/>
                <a:ea typeface="Cambria" panose="02040503050406030204" pitchFamily="18" charset="0"/>
              </a:rPr>
              <a:t>Pseudo-element</a:t>
            </a:r>
            <a:r>
              <a:rPr lang="en-IN" sz="1600" dirty="0"/>
              <a:t> </a:t>
            </a:r>
            <a:r>
              <a:rPr lang="en-US" sz="1600" b="1" dirty="0">
                <a:latin typeface="Cambria" panose="02040503050406030204" pitchFamily="18" charset="0"/>
                <a:ea typeface="Cambria" panose="02040503050406030204" pitchFamily="18" charset="0"/>
              </a:rPr>
              <a:t>Selector:</a:t>
            </a:r>
            <a:r>
              <a:rPr lang="en-US" sz="1600" dirty="0">
                <a:latin typeface="Cambria" panose="02040503050406030204" pitchFamily="18" charset="0"/>
                <a:ea typeface="Cambria" panose="02040503050406030204" pitchFamily="18" charset="0"/>
              </a:rPr>
              <a:t>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a:t>
            </a:r>
            <a:r>
              <a:rPr lang="en-US" sz="1600" dirty="0"/>
              <a:t>This targets a specific part of an element, like the first line of a paragraph</a:t>
            </a:r>
            <a:r>
              <a:rPr lang="en-US" sz="1600" dirty="0">
                <a:latin typeface="Cambria" panose="02040503050406030204" pitchFamily="18" charset="0"/>
                <a:ea typeface="Cambria" panose="02040503050406030204" pitchFamily="18" charset="0"/>
              </a:rPr>
              <a:t>.</a:t>
            </a:r>
          </a:p>
          <a:p>
            <a:pPr marL="594000" lvl="2" indent="0">
              <a:lnSpc>
                <a:spcPct val="150000"/>
              </a:lnSpc>
              <a:buNone/>
            </a:pPr>
            <a:r>
              <a:rPr lang="en-US" sz="1600" i="1" dirty="0">
                <a:latin typeface="Cambria" panose="02040503050406030204" pitchFamily="18" charset="0"/>
                <a:ea typeface="Cambria" panose="02040503050406030204" pitchFamily="18" charset="0"/>
              </a:rPr>
              <a:t>p::first-line {    </a:t>
            </a:r>
          </a:p>
          <a:p>
            <a:pPr marL="594000" lvl="2" indent="0">
              <a:lnSpc>
                <a:spcPct val="150000"/>
              </a:lnSpc>
              <a:buNone/>
            </a:pPr>
            <a:r>
              <a:rPr lang="en-US" sz="1600" i="1" dirty="0">
                <a:latin typeface="Cambria" panose="02040503050406030204" pitchFamily="18" charset="0"/>
                <a:ea typeface="Cambria" panose="02040503050406030204" pitchFamily="18" charset="0"/>
              </a:rPr>
              <a:t>	font-weight: bold;   /* Makes the first line of every &lt;p&gt; bold */</a:t>
            </a:r>
          </a:p>
          <a:p>
            <a:pPr marL="594000" lvl="2" indent="0">
              <a:lnSpc>
                <a:spcPct val="150000"/>
              </a:lnSpc>
              <a:buNone/>
            </a:pPr>
            <a:r>
              <a:rPr lang="en-US" sz="1600" i="1" dirty="0">
                <a:latin typeface="Cambria" panose="02040503050406030204" pitchFamily="18" charset="0"/>
                <a:ea typeface="Cambria" panose="02040503050406030204" pitchFamily="18" charset="0"/>
              </a:rPr>
              <a:t>}</a:t>
            </a:r>
          </a:p>
          <a:p>
            <a:pPr marL="594000" lvl="2" indent="0">
              <a:lnSpc>
                <a:spcPct val="150000"/>
              </a:lnSpc>
              <a:buNone/>
            </a:pPr>
            <a:endParaRPr lang="en-US" sz="1600" dirty="0">
              <a:latin typeface="Cambria" panose="02040503050406030204" pitchFamily="18" charset="0"/>
              <a:ea typeface="Cambria" panose="02040503050406030204" pitchFamily="18" charset="0"/>
            </a:endParaRPr>
          </a:p>
          <a:p>
            <a:pPr marL="594000" lvl="2" indent="0">
              <a:lnSpc>
                <a:spcPct val="150000"/>
              </a:lnSpc>
              <a:buNone/>
            </a:pPr>
            <a:r>
              <a:rPr lang="en-US" sz="1600" i="1" dirty="0">
                <a:latin typeface="Cambria" panose="02040503050406030204" pitchFamily="18" charset="0"/>
                <a:ea typeface="Cambria" panose="02040503050406030204" pitchFamily="18" charset="0"/>
              </a:rPr>
              <a:t>p:before {    </a:t>
            </a:r>
          </a:p>
          <a:p>
            <a:pPr marL="594000" lvl="2" indent="0">
              <a:lnSpc>
                <a:spcPct val="150000"/>
              </a:lnSpc>
              <a:buNone/>
            </a:pPr>
            <a:r>
              <a:rPr lang="en-US" sz="1600" i="1" dirty="0">
                <a:latin typeface="Cambria" panose="02040503050406030204" pitchFamily="18" charset="0"/>
                <a:ea typeface="Cambria" panose="02040503050406030204" pitchFamily="18" charset="0"/>
              </a:rPr>
              <a:t>	font-weight: bold;   /* Makes the second &lt;li&gt; in a list bold */</a:t>
            </a:r>
          </a:p>
          <a:p>
            <a:pPr marL="594000" lvl="2" indent="0">
              <a:lnSpc>
                <a:spcPct val="150000"/>
              </a:lnSpc>
              <a:buNone/>
            </a:pPr>
            <a:r>
              <a:rPr lang="en-US" sz="1600" i="1"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831371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1349B-99E3-F1F5-C531-EDABD488D6B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31EE455-1F31-EC02-7639-536F6A8AE883}"/>
              </a:ext>
            </a:extLst>
          </p:cNvPr>
          <p:cNvSpPr>
            <a:spLocks noGrp="1"/>
          </p:cNvSpPr>
          <p:nvPr>
            <p:ph type="title"/>
          </p:nvPr>
        </p:nvSpPr>
        <p:spPr>
          <a:xfrm>
            <a:off x="581192" y="590396"/>
            <a:ext cx="11029616" cy="1188720"/>
          </a:xfrm>
        </p:spPr>
        <p:txBody>
          <a:bodyPr>
            <a:normAutofit/>
          </a:bodyPr>
          <a:lstStyle/>
          <a:p>
            <a:r>
              <a:rPr lang="en-IN" b="1" dirty="0"/>
              <a:t>CSS SELECTORS</a:t>
            </a:r>
            <a:endParaRPr lang="en-IN" dirty="0"/>
          </a:p>
        </p:txBody>
      </p:sp>
      <p:sp>
        <p:nvSpPr>
          <p:cNvPr id="8" name="Content Placeholder 7">
            <a:extLst>
              <a:ext uri="{FF2B5EF4-FFF2-40B4-BE49-F238E27FC236}">
                <a16:creationId xmlns:a16="http://schemas.microsoft.com/office/drawing/2014/main" id="{07C81F52-357B-8A9D-7408-B04241A7FB77}"/>
              </a:ext>
            </a:extLst>
          </p:cNvPr>
          <p:cNvSpPr>
            <a:spLocks noGrp="1"/>
          </p:cNvSpPr>
          <p:nvPr>
            <p:ph idx="1"/>
          </p:nvPr>
        </p:nvSpPr>
        <p:spPr>
          <a:xfrm>
            <a:off x="581191" y="2198624"/>
            <a:ext cx="11029615" cy="4567936"/>
          </a:xfrm>
        </p:spPr>
        <p:txBody>
          <a:bodyPr>
            <a:noAutofit/>
          </a:bodyPr>
          <a:lstStyle/>
          <a:p>
            <a:pPr marL="0" indent="0">
              <a:lnSpc>
                <a:spcPct val="150000"/>
              </a:lnSpc>
              <a:buNone/>
            </a:pPr>
            <a:r>
              <a:rPr lang="en-US" sz="1600" b="1" dirty="0">
                <a:latin typeface="Cambria" panose="02040503050406030204" pitchFamily="18" charset="0"/>
                <a:ea typeface="Cambria" panose="02040503050406030204" pitchFamily="18" charset="0"/>
              </a:rPr>
              <a:t>9) </a:t>
            </a:r>
            <a:r>
              <a:rPr lang="en-IN" sz="1600" b="1" dirty="0">
                <a:latin typeface="Cambria" panose="02040503050406030204" pitchFamily="18" charset="0"/>
                <a:ea typeface="Cambria" panose="02040503050406030204" pitchFamily="18" charset="0"/>
              </a:rPr>
              <a:t>Pseudo-class</a:t>
            </a:r>
            <a:r>
              <a:rPr lang="en-IN" sz="1600" dirty="0"/>
              <a:t> </a:t>
            </a:r>
            <a:r>
              <a:rPr lang="en-US" sz="1600" b="1" dirty="0">
                <a:latin typeface="Cambria" panose="02040503050406030204" pitchFamily="18" charset="0"/>
                <a:ea typeface="Cambria" panose="02040503050406030204" pitchFamily="18" charset="0"/>
              </a:rPr>
              <a:t>Selector:</a:t>
            </a:r>
            <a:r>
              <a:rPr lang="en-US" sz="1600" dirty="0">
                <a:latin typeface="Cambria" panose="02040503050406030204" pitchFamily="18" charset="0"/>
                <a:ea typeface="Cambria" panose="02040503050406030204" pitchFamily="18" charset="0"/>
              </a:rPr>
              <a:t> </a:t>
            </a:r>
            <a:br>
              <a:rPr lang="en-US" sz="1600" dirty="0">
                <a:latin typeface="Cambria" panose="02040503050406030204" pitchFamily="18" charset="0"/>
                <a:ea typeface="Cambria" panose="02040503050406030204" pitchFamily="18" charset="0"/>
              </a:rPr>
            </a:br>
            <a:r>
              <a:rPr lang="en-US" sz="1600" dirty="0">
                <a:latin typeface="Cambria" panose="02040503050406030204" pitchFamily="18" charset="0"/>
                <a:ea typeface="Cambria" panose="02040503050406030204" pitchFamily="18" charset="0"/>
              </a:rPr>
              <a:t> 	</a:t>
            </a:r>
            <a:r>
              <a:rPr lang="en-US" sz="1600" dirty="0"/>
              <a:t>This targets elements based on their state or position, like when you </a:t>
            </a:r>
            <a:r>
              <a:rPr lang="en-US" sz="1600" b="1" dirty="0"/>
              <a:t>hover</a:t>
            </a:r>
            <a:r>
              <a:rPr lang="en-US" sz="1600" dirty="0"/>
              <a:t> over a link</a:t>
            </a:r>
            <a:r>
              <a:rPr lang="en-US" sz="1600" dirty="0">
                <a:latin typeface="Cambria" panose="02040503050406030204" pitchFamily="18" charset="0"/>
                <a:ea typeface="Cambria" panose="02040503050406030204" pitchFamily="18" charset="0"/>
              </a:rPr>
              <a:t>.</a:t>
            </a:r>
          </a:p>
          <a:p>
            <a:pPr marL="594000" lvl="2" indent="0">
              <a:lnSpc>
                <a:spcPct val="150000"/>
              </a:lnSpc>
              <a:buNone/>
            </a:pPr>
            <a:r>
              <a:rPr lang="en-US" sz="1600" i="1" dirty="0">
                <a:latin typeface="Cambria" panose="02040503050406030204" pitchFamily="18" charset="0"/>
                <a:ea typeface="Cambria" panose="02040503050406030204" pitchFamily="18" charset="0"/>
              </a:rPr>
              <a:t>a:hover {    </a:t>
            </a:r>
          </a:p>
          <a:p>
            <a:pPr marL="594000" lvl="2" indent="0">
              <a:lnSpc>
                <a:spcPct val="150000"/>
              </a:lnSpc>
              <a:buNone/>
            </a:pPr>
            <a:r>
              <a:rPr lang="en-US" sz="1600" i="1" dirty="0">
                <a:latin typeface="Cambria" panose="02040503050406030204" pitchFamily="18" charset="0"/>
                <a:ea typeface="Cambria" panose="02040503050406030204" pitchFamily="18" charset="0"/>
              </a:rPr>
              <a:t>	color: red;   /* Changes link color when you hover over it */</a:t>
            </a:r>
          </a:p>
          <a:p>
            <a:pPr marL="594000" lvl="2" indent="0">
              <a:lnSpc>
                <a:spcPct val="150000"/>
              </a:lnSpc>
              <a:buNone/>
            </a:pPr>
            <a:r>
              <a:rPr lang="en-US" sz="1600" i="1" dirty="0">
                <a:latin typeface="Cambria" panose="02040503050406030204" pitchFamily="18" charset="0"/>
                <a:ea typeface="Cambria" panose="02040503050406030204" pitchFamily="18" charset="0"/>
              </a:rPr>
              <a:t>}</a:t>
            </a:r>
          </a:p>
          <a:p>
            <a:pPr marL="594000" lvl="2" indent="0">
              <a:lnSpc>
                <a:spcPct val="150000"/>
              </a:lnSpc>
              <a:buNone/>
            </a:pPr>
            <a:endParaRPr lang="en-US" sz="1600" dirty="0">
              <a:latin typeface="Cambria" panose="02040503050406030204" pitchFamily="18" charset="0"/>
              <a:ea typeface="Cambria" panose="02040503050406030204" pitchFamily="18" charset="0"/>
            </a:endParaRPr>
          </a:p>
          <a:p>
            <a:pPr marL="594000" lvl="2" indent="0">
              <a:lnSpc>
                <a:spcPct val="150000"/>
              </a:lnSpc>
              <a:buNone/>
            </a:pPr>
            <a:r>
              <a:rPr lang="en-US" sz="1600" i="1" dirty="0" err="1">
                <a:latin typeface="Cambria" panose="02040503050406030204" pitchFamily="18" charset="0"/>
                <a:ea typeface="Cambria" panose="02040503050406030204" pitchFamily="18" charset="0"/>
              </a:rPr>
              <a:t>li:nth-child</a:t>
            </a:r>
            <a:r>
              <a:rPr lang="en-US" sz="1600" i="1" dirty="0">
                <a:latin typeface="Cambria" panose="02040503050406030204" pitchFamily="18" charset="0"/>
                <a:ea typeface="Cambria" panose="02040503050406030204" pitchFamily="18" charset="0"/>
              </a:rPr>
              <a:t>(2) {    </a:t>
            </a:r>
          </a:p>
          <a:p>
            <a:pPr marL="594000" lvl="2" indent="0">
              <a:lnSpc>
                <a:spcPct val="150000"/>
              </a:lnSpc>
              <a:buNone/>
            </a:pPr>
            <a:r>
              <a:rPr lang="en-US" sz="1600" i="1" dirty="0">
                <a:latin typeface="Cambria" panose="02040503050406030204" pitchFamily="18" charset="0"/>
                <a:ea typeface="Cambria" panose="02040503050406030204" pitchFamily="18" charset="0"/>
              </a:rPr>
              <a:t>	font-weight: bold;   /* Makes the second &lt;li&gt; in a list bold */</a:t>
            </a:r>
          </a:p>
          <a:p>
            <a:pPr marL="594000" lvl="2" indent="0">
              <a:lnSpc>
                <a:spcPct val="150000"/>
              </a:lnSpc>
              <a:buNone/>
            </a:pPr>
            <a:r>
              <a:rPr lang="en-US" sz="1600" i="1"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3465755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6206C-A0D4-A393-F4D5-02A9FDAC2A5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E868856-7037-63EF-225D-4E478BF331B2}"/>
              </a:ext>
            </a:extLst>
          </p:cNvPr>
          <p:cNvSpPr>
            <a:spLocks noGrp="1"/>
          </p:cNvSpPr>
          <p:nvPr>
            <p:ph type="title"/>
          </p:nvPr>
        </p:nvSpPr>
        <p:spPr/>
        <p:txBody>
          <a:bodyPr>
            <a:normAutofit/>
          </a:bodyPr>
          <a:lstStyle/>
          <a:p>
            <a:r>
              <a:rPr lang="en-US" dirty="0" err="1"/>
              <a:t>Css</a:t>
            </a:r>
            <a:r>
              <a:rPr lang="en-US" dirty="0"/>
              <a:t> flexbox</a:t>
            </a:r>
            <a:endParaRPr lang="en-IN" dirty="0"/>
          </a:p>
        </p:txBody>
      </p:sp>
      <p:sp>
        <p:nvSpPr>
          <p:cNvPr id="8" name="Content Placeholder 7">
            <a:extLst>
              <a:ext uri="{FF2B5EF4-FFF2-40B4-BE49-F238E27FC236}">
                <a16:creationId xmlns:a16="http://schemas.microsoft.com/office/drawing/2014/main" id="{7B9804E7-B5EA-959A-C753-244FC9F7F619}"/>
              </a:ext>
            </a:extLst>
          </p:cNvPr>
          <p:cNvSpPr>
            <a:spLocks noGrp="1"/>
          </p:cNvSpPr>
          <p:nvPr>
            <p:ph idx="1"/>
          </p:nvPr>
        </p:nvSpPr>
        <p:spPr>
          <a:xfrm>
            <a:off x="581192" y="2340864"/>
            <a:ext cx="11029615" cy="3814980"/>
          </a:xfrm>
        </p:spPr>
        <p:txBody>
          <a:bodyPr>
            <a:noAutofit/>
          </a:bodyPr>
          <a:lstStyle/>
          <a:p>
            <a:r>
              <a:rPr lang="en-US" sz="1700" dirty="0">
                <a:solidFill>
                  <a:schemeClr val="tx1"/>
                </a:solidFill>
                <a:latin typeface="Cambria" panose="02040503050406030204" pitchFamily="18" charset="0"/>
                <a:ea typeface="Cambria" panose="02040503050406030204" pitchFamily="18" charset="0"/>
                <a:hlinkClick r:id="rId3">
                  <a:extLst>
                    <a:ext uri="{A12FA001-AC4F-418D-AE19-62706E023703}">
                      <ahyp:hlinkClr xmlns:ahyp="http://schemas.microsoft.com/office/drawing/2018/hyperlinkcolor" val="tx"/>
                    </a:ext>
                  </a:extLst>
                </a:hlinkClick>
              </a:rPr>
              <a:t>CSS Flexbox </a:t>
            </a:r>
            <a:r>
              <a:rPr lang="en-US" sz="1700" dirty="0">
                <a:latin typeface="Cambria" panose="02040503050406030204" pitchFamily="18" charset="0"/>
                <a:ea typeface="Cambria" panose="02040503050406030204" pitchFamily="18" charset="0"/>
              </a:rPr>
              <a:t>(</a:t>
            </a:r>
            <a:r>
              <a:rPr lang="en-US" sz="1700" b="1" dirty="0">
                <a:latin typeface="Cambria" panose="02040503050406030204" pitchFamily="18" charset="0"/>
                <a:ea typeface="Cambria" panose="02040503050406030204" pitchFamily="18" charset="0"/>
              </a:rPr>
              <a:t>Flexible Box Layout</a:t>
            </a:r>
            <a:r>
              <a:rPr lang="en-US" sz="1700" dirty="0">
                <a:latin typeface="Cambria" panose="02040503050406030204" pitchFamily="18" charset="0"/>
                <a:ea typeface="Cambria" panose="02040503050406030204" pitchFamily="18" charset="0"/>
              </a:rPr>
              <a:t>) is a layout tool that </a:t>
            </a:r>
            <a:r>
              <a:rPr lang="en-US" sz="1700" b="1" dirty="0">
                <a:latin typeface="Cambria" panose="02040503050406030204" pitchFamily="18" charset="0"/>
                <a:ea typeface="Cambria" panose="02040503050406030204" pitchFamily="18" charset="0"/>
              </a:rPr>
              <a:t>helps you arrange items on a web page </a:t>
            </a:r>
            <a:r>
              <a:rPr lang="en-US" sz="1700" dirty="0">
                <a:latin typeface="Cambria" panose="02040503050406030204" pitchFamily="18" charset="0"/>
                <a:ea typeface="Cambria" panose="02040503050406030204" pitchFamily="18" charset="0"/>
              </a:rPr>
              <a:t>easily. </a:t>
            </a:r>
          </a:p>
          <a:p>
            <a:r>
              <a:rPr lang="en-US" dirty="0">
                <a:latin typeface="Cambria" panose="02040503050406030204" pitchFamily="18" charset="0"/>
                <a:ea typeface="Cambria" panose="02040503050406030204" pitchFamily="18" charset="0"/>
              </a:rPr>
              <a:t>It </a:t>
            </a:r>
            <a:r>
              <a:rPr lang="en-US" b="1" dirty="0">
                <a:latin typeface="Cambria" panose="02040503050406030204" pitchFamily="18" charset="0"/>
                <a:ea typeface="Cambria" panose="02040503050406030204" pitchFamily="18" charset="0"/>
              </a:rPr>
              <a:t>makes it simple to create responsive design</a:t>
            </a:r>
            <a:r>
              <a:rPr lang="en-US" dirty="0">
                <a:latin typeface="Cambria" panose="02040503050406030204" pitchFamily="18" charset="0"/>
                <a:ea typeface="Cambria" panose="02040503050406030204" pitchFamily="18" charset="0"/>
              </a:rPr>
              <a:t> that look good on different screen sizes.</a:t>
            </a:r>
          </a:p>
          <a:p>
            <a:r>
              <a:rPr lang="en-US" sz="1700" dirty="0">
                <a:latin typeface="Cambria" panose="02040503050406030204" pitchFamily="18" charset="0"/>
                <a:ea typeface="Cambria" panose="02040503050406030204" pitchFamily="18" charset="0"/>
              </a:rPr>
              <a:t>Flexbox is a </a:t>
            </a:r>
            <a:r>
              <a:rPr lang="en-US" sz="1700" b="1" dirty="0">
                <a:latin typeface="Cambria" panose="02040503050406030204" pitchFamily="18" charset="0"/>
                <a:ea typeface="Cambria" panose="02040503050406030204" pitchFamily="18" charset="0"/>
              </a:rPr>
              <a:t>way to la</a:t>
            </a:r>
            <a:r>
              <a:rPr lang="en-US" b="1" dirty="0">
                <a:latin typeface="Cambria" panose="02040503050406030204" pitchFamily="18" charset="0"/>
                <a:ea typeface="Cambria" panose="02040503050406030204" pitchFamily="18" charset="0"/>
              </a:rPr>
              <a:t>yout items in one direction/</a:t>
            </a:r>
            <a:r>
              <a:rPr lang="en-IN" b="1" dirty="0"/>
              <a:t>one-dimensional layout</a:t>
            </a: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(either in a row or a column). </a:t>
            </a:r>
          </a:p>
        </p:txBody>
      </p:sp>
    </p:spTree>
    <p:extLst>
      <p:ext uri="{BB962C8B-B14F-4D97-AF65-F5344CB8AC3E}">
        <p14:creationId xmlns:p14="http://schemas.microsoft.com/office/powerpoint/2010/main" val="2423350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7FAA9-949F-7A7A-DDD1-09C6248DF29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8DE85B4-920A-708B-E44E-2416A09DA008}"/>
              </a:ext>
            </a:extLst>
          </p:cNvPr>
          <p:cNvSpPr>
            <a:spLocks noGrp="1"/>
          </p:cNvSpPr>
          <p:nvPr>
            <p:ph type="title"/>
          </p:nvPr>
        </p:nvSpPr>
        <p:spPr/>
        <p:txBody>
          <a:bodyPr>
            <a:normAutofit/>
          </a:bodyPr>
          <a:lstStyle/>
          <a:p>
            <a:r>
              <a:rPr lang="en-US" dirty="0" err="1"/>
              <a:t>Css</a:t>
            </a:r>
            <a:r>
              <a:rPr lang="en-US" dirty="0"/>
              <a:t> flexbox</a:t>
            </a:r>
            <a:endParaRPr lang="en-IN" dirty="0"/>
          </a:p>
        </p:txBody>
      </p:sp>
      <p:sp>
        <p:nvSpPr>
          <p:cNvPr id="8" name="Content Placeholder 7">
            <a:extLst>
              <a:ext uri="{FF2B5EF4-FFF2-40B4-BE49-F238E27FC236}">
                <a16:creationId xmlns:a16="http://schemas.microsoft.com/office/drawing/2014/main" id="{99EEAB6B-66A1-A4D0-F4DE-E7D0A3E4DE77}"/>
              </a:ext>
            </a:extLst>
          </p:cNvPr>
          <p:cNvSpPr>
            <a:spLocks noGrp="1"/>
          </p:cNvSpPr>
          <p:nvPr>
            <p:ph idx="1"/>
          </p:nvPr>
        </p:nvSpPr>
        <p:spPr>
          <a:xfrm>
            <a:off x="581192" y="2340864"/>
            <a:ext cx="11029615" cy="3814980"/>
          </a:xfrm>
        </p:spPr>
        <p:txBody>
          <a:bodyPr>
            <a:noAutofit/>
          </a:bodyPr>
          <a:lstStyle/>
          <a:p>
            <a:pPr fontAlgn="base"/>
            <a:r>
              <a:rPr lang="en-US" dirty="0">
                <a:latin typeface="Cambria" panose="02040503050406030204" pitchFamily="18" charset="0"/>
                <a:ea typeface="Cambria" panose="02040503050406030204" pitchFamily="18" charset="0"/>
              </a:rPr>
              <a:t>Enables efficient alignment, spacing, and distribution of items along a row or column.</a:t>
            </a:r>
          </a:p>
          <a:p>
            <a:pPr fontAlgn="base"/>
            <a:r>
              <a:rPr lang="en-US" dirty="0">
                <a:latin typeface="Cambria" panose="02040503050406030204" pitchFamily="18" charset="0"/>
                <a:ea typeface="Cambria" panose="02040503050406030204" pitchFamily="18" charset="0"/>
              </a:rPr>
              <a:t>Allows items to grow, shrink, or wrap based on available space.</a:t>
            </a:r>
          </a:p>
        </p:txBody>
      </p:sp>
      <p:pic>
        <p:nvPicPr>
          <p:cNvPr id="3" name="Picture 2">
            <a:extLst>
              <a:ext uri="{FF2B5EF4-FFF2-40B4-BE49-F238E27FC236}">
                <a16:creationId xmlns:a16="http://schemas.microsoft.com/office/drawing/2014/main" id="{742AF312-757F-A8E1-6D13-DA1B00ABCC5C}"/>
              </a:ext>
            </a:extLst>
          </p:cNvPr>
          <p:cNvPicPr>
            <a:picLocks noChangeAspect="1"/>
          </p:cNvPicPr>
          <p:nvPr/>
        </p:nvPicPr>
        <p:blipFill>
          <a:blip r:embed="rId3"/>
          <a:stretch>
            <a:fillRect/>
          </a:stretch>
        </p:blipFill>
        <p:spPr>
          <a:xfrm>
            <a:off x="6396941" y="582098"/>
            <a:ext cx="5131444" cy="2617555"/>
          </a:xfrm>
          <a:prstGeom prst="rect">
            <a:avLst/>
          </a:prstGeom>
        </p:spPr>
      </p:pic>
    </p:spTree>
    <p:extLst>
      <p:ext uri="{BB962C8B-B14F-4D97-AF65-F5344CB8AC3E}">
        <p14:creationId xmlns:p14="http://schemas.microsoft.com/office/powerpoint/2010/main" val="144397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BC446-464F-A5AE-5392-72A6F2A478F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579007C-A412-B115-63D6-BDAF4DE69436}"/>
              </a:ext>
            </a:extLst>
          </p:cNvPr>
          <p:cNvSpPr>
            <a:spLocks noGrp="1"/>
          </p:cNvSpPr>
          <p:nvPr>
            <p:ph type="title"/>
          </p:nvPr>
        </p:nvSpPr>
        <p:spPr/>
        <p:txBody>
          <a:bodyPr>
            <a:normAutofit/>
          </a:bodyPr>
          <a:lstStyle/>
          <a:p>
            <a:r>
              <a:rPr lang="en-US" dirty="0" err="1"/>
              <a:t>Css</a:t>
            </a:r>
            <a:r>
              <a:rPr lang="en-US" dirty="0"/>
              <a:t> flexbox</a:t>
            </a:r>
            <a:endParaRPr lang="en-IN" dirty="0"/>
          </a:p>
        </p:txBody>
      </p:sp>
      <p:sp>
        <p:nvSpPr>
          <p:cNvPr id="8" name="Content Placeholder 7">
            <a:extLst>
              <a:ext uri="{FF2B5EF4-FFF2-40B4-BE49-F238E27FC236}">
                <a16:creationId xmlns:a16="http://schemas.microsoft.com/office/drawing/2014/main" id="{F9E562F0-B68B-80B6-9755-B29F7727DE25}"/>
              </a:ext>
            </a:extLst>
          </p:cNvPr>
          <p:cNvSpPr>
            <a:spLocks noGrp="1"/>
          </p:cNvSpPr>
          <p:nvPr>
            <p:ph idx="1"/>
          </p:nvPr>
        </p:nvSpPr>
        <p:spPr>
          <a:xfrm>
            <a:off x="581192" y="2340864"/>
            <a:ext cx="11029615" cy="3814980"/>
          </a:xfrm>
        </p:spPr>
        <p:txBody>
          <a:bodyPr>
            <a:noAutofit/>
          </a:bodyPr>
          <a:lstStyle/>
          <a:p>
            <a:pPr marL="0" indent="0" fontAlgn="base">
              <a:buNone/>
            </a:pPr>
            <a:r>
              <a:rPr lang="en-US" b="1" dirty="0">
                <a:latin typeface="Cambria" panose="02040503050406030204" pitchFamily="18" charset="0"/>
                <a:ea typeface="Cambria" panose="02040503050406030204" pitchFamily="18" charset="0"/>
              </a:rPr>
              <a:t>Key Properties for the Flex Container:</a:t>
            </a:r>
          </a:p>
          <a:p>
            <a:pPr marL="0" indent="0" fontAlgn="base">
              <a:lnSpc>
                <a:spcPct val="150000"/>
              </a:lnSpc>
              <a:buNone/>
            </a:pPr>
            <a:r>
              <a:rPr lang="en-US" b="1" dirty="0">
                <a:latin typeface="Cambria" panose="02040503050406030204" pitchFamily="18" charset="0"/>
                <a:ea typeface="Cambria" panose="02040503050406030204" pitchFamily="18" charset="0"/>
              </a:rPr>
              <a:t>1)</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display: flex;</a:t>
            </a:r>
            <a:r>
              <a:rPr lang="en-US" dirty="0">
                <a:latin typeface="Cambria" panose="02040503050406030204" pitchFamily="18" charset="0"/>
                <a:ea typeface="Cambria" panose="02040503050406030204" pitchFamily="18" charset="0"/>
              </a:rPr>
              <a:t>: Turns the element into a flex container.</a:t>
            </a:r>
          </a:p>
          <a:p>
            <a:pPr marL="0" indent="0" fontAlgn="base">
              <a:lnSpc>
                <a:spcPct val="150000"/>
              </a:lnSpc>
              <a:buNone/>
            </a:pPr>
            <a:r>
              <a:rPr lang="en-US" b="1" dirty="0">
                <a:latin typeface="Cambria" panose="02040503050406030204" pitchFamily="18" charset="0"/>
                <a:ea typeface="Cambria" panose="02040503050406030204" pitchFamily="18" charset="0"/>
              </a:rPr>
              <a:t>2)</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flex-direction:</a:t>
            </a:r>
            <a:r>
              <a:rPr lang="en-US" dirty="0">
                <a:latin typeface="Cambria" panose="02040503050406030204" pitchFamily="18" charset="0"/>
                <a:ea typeface="Cambria" panose="02040503050406030204" pitchFamily="18" charset="0"/>
              </a:rPr>
              <a:t> Determines how the items are arranged:</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row:</a:t>
            </a:r>
            <a:r>
              <a:rPr lang="en-US" sz="1700" dirty="0">
                <a:latin typeface="Cambria" panose="02040503050406030204" pitchFamily="18" charset="0"/>
                <a:ea typeface="Cambria" panose="02040503050406030204" pitchFamily="18" charset="0"/>
              </a:rPr>
              <a:t> Items are placed in a row (default).</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column:</a:t>
            </a:r>
            <a:r>
              <a:rPr lang="en-US" sz="1700" dirty="0">
                <a:latin typeface="Cambria" panose="02040503050406030204" pitchFamily="18" charset="0"/>
                <a:ea typeface="Cambria" panose="02040503050406030204" pitchFamily="18" charset="0"/>
              </a:rPr>
              <a:t> Items are stacked in a column.</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row-reverse:</a:t>
            </a:r>
            <a:r>
              <a:rPr lang="en-US" sz="1700" dirty="0">
                <a:latin typeface="Cambria" panose="02040503050406030204" pitchFamily="18" charset="0"/>
                <a:ea typeface="Cambria" panose="02040503050406030204" pitchFamily="18" charset="0"/>
              </a:rPr>
              <a:t> Items are placed in a row but in reverse order.</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column-reverse:</a:t>
            </a:r>
            <a:r>
              <a:rPr lang="en-US" sz="1700" dirty="0">
                <a:latin typeface="Cambria" panose="02040503050406030204" pitchFamily="18" charset="0"/>
                <a:ea typeface="Cambria" panose="02040503050406030204" pitchFamily="18" charset="0"/>
              </a:rPr>
              <a:t> Items are stacked in a column but in reverse order.</a:t>
            </a:r>
          </a:p>
        </p:txBody>
      </p:sp>
    </p:spTree>
    <p:extLst>
      <p:ext uri="{BB962C8B-B14F-4D97-AF65-F5344CB8AC3E}">
        <p14:creationId xmlns:p14="http://schemas.microsoft.com/office/powerpoint/2010/main" val="3123258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21A41-F71B-99AF-9821-EF7CAB81084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FB47D36-E616-9EA4-59E4-E6EA6D888300}"/>
              </a:ext>
            </a:extLst>
          </p:cNvPr>
          <p:cNvSpPr>
            <a:spLocks noGrp="1"/>
          </p:cNvSpPr>
          <p:nvPr>
            <p:ph type="title"/>
          </p:nvPr>
        </p:nvSpPr>
        <p:spPr/>
        <p:txBody>
          <a:bodyPr>
            <a:normAutofit/>
          </a:bodyPr>
          <a:lstStyle/>
          <a:p>
            <a:r>
              <a:rPr lang="en-US" dirty="0" err="1"/>
              <a:t>Css</a:t>
            </a:r>
            <a:r>
              <a:rPr lang="en-US" dirty="0"/>
              <a:t> flexbox</a:t>
            </a:r>
            <a:endParaRPr lang="en-IN" dirty="0"/>
          </a:p>
        </p:txBody>
      </p:sp>
      <p:sp>
        <p:nvSpPr>
          <p:cNvPr id="8" name="Content Placeholder 7">
            <a:extLst>
              <a:ext uri="{FF2B5EF4-FFF2-40B4-BE49-F238E27FC236}">
                <a16:creationId xmlns:a16="http://schemas.microsoft.com/office/drawing/2014/main" id="{0AC16275-4F2D-80ED-58A4-E5B6403B8E08}"/>
              </a:ext>
            </a:extLst>
          </p:cNvPr>
          <p:cNvSpPr>
            <a:spLocks noGrp="1"/>
          </p:cNvSpPr>
          <p:nvPr>
            <p:ph idx="1"/>
          </p:nvPr>
        </p:nvSpPr>
        <p:spPr>
          <a:xfrm>
            <a:off x="581192" y="2340864"/>
            <a:ext cx="11029615" cy="3814980"/>
          </a:xfrm>
        </p:spPr>
        <p:txBody>
          <a:bodyPr>
            <a:noAutofit/>
          </a:bodyPr>
          <a:lstStyle/>
          <a:p>
            <a:pPr marL="0" indent="0" fontAlgn="base">
              <a:lnSpc>
                <a:spcPct val="150000"/>
              </a:lnSpc>
              <a:buNone/>
            </a:pPr>
            <a:r>
              <a:rPr lang="en-US" b="1" dirty="0">
                <a:latin typeface="Cambria" panose="02040503050406030204" pitchFamily="18" charset="0"/>
                <a:ea typeface="Cambria" panose="02040503050406030204" pitchFamily="18" charset="0"/>
              </a:rPr>
              <a:t>3)</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justify-content:</a:t>
            </a:r>
            <a:r>
              <a:rPr lang="en-US" dirty="0">
                <a:latin typeface="Cambria" panose="02040503050406030204" pitchFamily="18" charset="0"/>
                <a:ea typeface="Cambria" panose="02040503050406030204" pitchFamily="18" charset="0"/>
              </a:rPr>
              <a:t> Controls how items are spaced along the main axis (the direction of the flex container):</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flex-start:</a:t>
            </a:r>
            <a:r>
              <a:rPr lang="en-US" sz="1700" dirty="0">
                <a:latin typeface="Cambria" panose="02040503050406030204" pitchFamily="18" charset="0"/>
                <a:ea typeface="Cambria" panose="02040503050406030204" pitchFamily="18" charset="0"/>
              </a:rPr>
              <a:t> Items are packed toward the start.</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flex-end:</a:t>
            </a:r>
            <a:r>
              <a:rPr lang="en-US" sz="1700" dirty="0">
                <a:latin typeface="Cambria" panose="02040503050406030204" pitchFamily="18" charset="0"/>
                <a:ea typeface="Cambria" panose="02040503050406030204" pitchFamily="18" charset="0"/>
              </a:rPr>
              <a:t> Items are packed toward the end.</a:t>
            </a:r>
          </a:p>
          <a:p>
            <a:pPr marL="724050" lvl="1" indent="-400050" fontAlgn="base">
              <a:buFont typeface="+mj-lt"/>
              <a:buAutoNum type="romanLcPeriod"/>
            </a:pPr>
            <a:r>
              <a:rPr lang="en-IN" sz="1700" b="1" dirty="0" err="1">
                <a:latin typeface="Cambria" panose="02040503050406030204" pitchFamily="18" charset="0"/>
                <a:ea typeface="Cambria" panose="02040503050406030204" pitchFamily="18" charset="0"/>
              </a:rPr>
              <a:t>center</a:t>
            </a:r>
            <a:r>
              <a:rPr lang="en-IN" sz="1700" b="1" dirty="0">
                <a:latin typeface="Cambria" panose="02040503050406030204" pitchFamily="18" charset="0"/>
                <a:ea typeface="Cambria" panose="02040503050406030204" pitchFamily="18" charset="0"/>
              </a:rPr>
              <a:t>:</a:t>
            </a:r>
            <a:r>
              <a:rPr lang="en-IN" sz="1700" dirty="0">
                <a:latin typeface="Cambria" panose="02040503050406030204" pitchFamily="18" charset="0"/>
                <a:ea typeface="Cambria" panose="02040503050406030204" pitchFamily="18" charset="0"/>
              </a:rPr>
              <a:t> Items are </a:t>
            </a:r>
            <a:r>
              <a:rPr lang="en-IN" sz="1700" dirty="0" err="1">
                <a:latin typeface="Cambria" panose="02040503050406030204" pitchFamily="18" charset="0"/>
                <a:ea typeface="Cambria" panose="02040503050406030204" pitchFamily="18" charset="0"/>
              </a:rPr>
              <a:t>centered</a:t>
            </a:r>
            <a:r>
              <a:rPr lang="en-US" sz="1700" dirty="0">
                <a:latin typeface="Cambria" panose="02040503050406030204" pitchFamily="18" charset="0"/>
                <a:ea typeface="Cambria" panose="02040503050406030204" pitchFamily="18" charset="0"/>
              </a:rPr>
              <a:t>.</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space-between:</a:t>
            </a:r>
            <a:r>
              <a:rPr lang="en-US" sz="1700" dirty="0">
                <a:latin typeface="Cambria" panose="02040503050406030204" pitchFamily="18" charset="0"/>
                <a:ea typeface="Cambria" panose="02040503050406030204" pitchFamily="18" charset="0"/>
              </a:rPr>
              <a:t> Items have equal space between them.</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space-around:</a:t>
            </a:r>
            <a:r>
              <a:rPr lang="en-US" sz="1700" dirty="0">
                <a:latin typeface="Cambria" panose="02040503050406030204" pitchFamily="18" charset="0"/>
                <a:ea typeface="Cambria" panose="02040503050406030204" pitchFamily="18" charset="0"/>
              </a:rPr>
              <a:t> Items have equal space around them.</a:t>
            </a:r>
          </a:p>
        </p:txBody>
      </p:sp>
    </p:spTree>
    <p:extLst>
      <p:ext uri="{BB962C8B-B14F-4D97-AF65-F5344CB8AC3E}">
        <p14:creationId xmlns:p14="http://schemas.microsoft.com/office/powerpoint/2010/main" val="35984583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D618-69A7-3EEA-A05A-64076CF95D8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029386A-102A-B038-75F2-1D5FDF8530B3}"/>
              </a:ext>
            </a:extLst>
          </p:cNvPr>
          <p:cNvSpPr>
            <a:spLocks noGrp="1"/>
          </p:cNvSpPr>
          <p:nvPr>
            <p:ph type="title"/>
          </p:nvPr>
        </p:nvSpPr>
        <p:spPr/>
        <p:txBody>
          <a:bodyPr>
            <a:normAutofit/>
          </a:bodyPr>
          <a:lstStyle/>
          <a:p>
            <a:r>
              <a:rPr lang="en-US" dirty="0" err="1"/>
              <a:t>Css</a:t>
            </a:r>
            <a:r>
              <a:rPr lang="en-US" dirty="0"/>
              <a:t> flexbox</a:t>
            </a:r>
            <a:endParaRPr lang="en-IN" dirty="0"/>
          </a:p>
        </p:txBody>
      </p:sp>
      <p:sp>
        <p:nvSpPr>
          <p:cNvPr id="8" name="Content Placeholder 7">
            <a:extLst>
              <a:ext uri="{FF2B5EF4-FFF2-40B4-BE49-F238E27FC236}">
                <a16:creationId xmlns:a16="http://schemas.microsoft.com/office/drawing/2014/main" id="{79849B0A-7D8E-E771-E56E-3DA0A7A12822}"/>
              </a:ext>
            </a:extLst>
          </p:cNvPr>
          <p:cNvSpPr>
            <a:spLocks noGrp="1"/>
          </p:cNvSpPr>
          <p:nvPr>
            <p:ph idx="1"/>
          </p:nvPr>
        </p:nvSpPr>
        <p:spPr>
          <a:xfrm>
            <a:off x="581192" y="2340864"/>
            <a:ext cx="11029615" cy="3814980"/>
          </a:xfrm>
        </p:spPr>
        <p:txBody>
          <a:bodyPr>
            <a:noAutofit/>
          </a:bodyPr>
          <a:lstStyle/>
          <a:p>
            <a:pPr marL="0" indent="0" fontAlgn="base">
              <a:lnSpc>
                <a:spcPct val="150000"/>
              </a:lnSpc>
              <a:buNone/>
            </a:pPr>
            <a:r>
              <a:rPr lang="en-US" b="1" dirty="0">
                <a:latin typeface="Cambria" panose="02040503050406030204" pitchFamily="18" charset="0"/>
                <a:ea typeface="Cambria" panose="02040503050406030204" pitchFamily="18" charset="0"/>
              </a:rPr>
              <a:t>4)</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align-items:</a:t>
            </a:r>
            <a:r>
              <a:rPr lang="en-US" dirty="0">
                <a:latin typeface="Cambria" panose="02040503050406030204" pitchFamily="18" charset="0"/>
                <a:ea typeface="Cambria" panose="02040503050406030204" pitchFamily="18" charset="0"/>
              </a:rPr>
              <a:t> Aligns items along the cross axis (the opposite direction of the main axis):</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stretch:</a:t>
            </a:r>
            <a:r>
              <a:rPr lang="en-US" sz="1700" dirty="0">
                <a:latin typeface="Cambria" panose="02040503050406030204" pitchFamily="18" charset="0"/>
                <a:ea typeface="Cambria" panose="02040503050406030204" pitchFamily="18" charset="0"/>
              </a:rPr>
              <a:t> Items stretch to fill the container (default).</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flex-start:</a:t>
            </a:r>
            <a:r>
              <a:rPr lang="en-US" sz="1700" dirty="0">
                <a:latin typeface="Cambria" panose="02040503050406030204" pitchFamily="18" charset="0"/>
                <a:ea typeface="Cambria" panose="02040503050406030204" pitchFamily="18" charset="0"/>
              </a:rPr>
              <a:t> Items align at the start.</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flex-end:</a:t>
            </a:r>
            <a:r>
              <a:rPr lang="en-US" sz="1700" dirty="0">
                <a:latin typeface="Cambria" panose="02040503050406030204" pitchFamily="18" charset="0"/>
                <a:ea typeface="Cambria" panose="02040503050406030204" pitchFamily="18" charset="0"/>
              </a:rPr>
              <a:t> Items align at the end.</a:t>
            </a:r>
          </a:p>
          <a:p>
            <a:pPr marL="724050" lvl="1" indent="-400050" fontAlgn="base">
              <a:buFont typeface="+mj-lt"/>
              <a:buAutoNum type="romanLcPeriod"/>
            </a:pPr>
            <a:r>
              <a:rPr lang="en-US" sz="1700" b="1" dirty="0">
                <a:latin typeface="Cambria" panose="02040503050406030204" pitchFamily="18" charset="0"/>
                <a:ea typeface="Cambria" panose="02040503050406030204" pitchFamily="18" charset="0"/>
              </a:rPr>
              <a:t>center:</a:t>
            </a:r>
            <a:r>
              <a:rPr lang="en-US" sz="1700" dirty="0">
                <a:latin typeface="Cambria" panose="02040503050406030204" pitchFamily="18" charset="0"/>
                <a:ea typeface="Cambria" panose="02040503050406030204" pitchFamily="18" charset="0"/>
              </a:rPr>
              <a:t> Items align in the center.</a:t>
            </a:r>
          </a:p>
        </p:txBody>
      </p:sp>
    </p:spTree>
    <p:extLst>
      <p:ext uri="{BB962C8B-B14F-4D97-AF65-F5344CB8AC3E}">
        <p14:creationId xmlns:p14="http://schemas.microsoft.com/office/powerpoint/2010/main" val="13805572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31FAC-156B-F7B0-81A7-C1AF81AFE57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64B2AE9-F238-883A-733E-00D501E18F22}"/>
              </a:ext>
            </a:extLst>
          </p:cNvPr>
          <p:cNvSpPr>
            <a:spLocks noGrp="1"/>
          </p:cNvSpPr>
          <p:nvPr>
            <p:ph type="title"/>
          </p:nvPr>
        </p:nvSpPr>
        <p:spPr/>
        <p:txBody>
          <a:bodyPr>
            <a:normAutofit/>
          </a:bodyPr>
          <a:lstStyle/>
          <a:p>
            <a:r>
              <a:rPr lang="en-IN" b="1" dirty="0"/>
              <a:t>JAVASCRIPT</a:t>
            </a:r>
            <a:endParaRPr lang="en-IN" dirty="0"/>
          </a:p>
        </p:txBody>
      </p:sp>
      <p:sp>
        <p:nvSpPr>
          <p:cNvPr id="4" name="Content Placeholder 3">
            <a:extLst>
              <a:ext uri="{FF2B5EF4-FFF2-40B4-BE49-F238E27FC236}">
                <a16:creationId xmlns:a16="http://schemas.microsoft.com/office/drawing/2014/main" id="{4EFA2454-B96D-EC0A-01E7-142AF3E26537}"/>
              </a:ext>
            </a:extLst>
          </p:cNvPr>
          <p:cNvSpPr>
            <a:spLocks noGrp="1" noChangeArrowheads="1"/>
          </p:cNvSpPr>
          <p:nvPr>
            <p:ph idx="1"/>
          </p:nvPr>
        </p:nvSpPr>
        <p:spPr bwMode="auto">
          <a:xfrm>
            <a:off x="844590" y="3442217"/>
            <a:ext cx="8940846" cy="1613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JavaScript is a programming language used to create dynamic content for websites.</a:t>
            </a:r>
          </a:p>
          <a:p>
            <a:pPr marL="0" lvl="0" indent="0" algn="just" defTabSz="914400" eaLnBrk="0" fontAlgn="base" hangingPunct="0">
              <a:lnSpc>
                <a:spcPct val="150000"/>
              </a:lnSpc>
              <a:spcBef>
                <a:spcPct val="0"/>
              </a:spcBef>
              <a:spcAft>
                <a:spcPct val="0"/>
              </a:spcAft>
              <a:buClrTx/>
              <a:buSzTx/>
              <a:buFontTx/>
              <a:buChar char="•"/>
            </a:pPr>
            <a:r>
              <a:rPr lang="en-US" dirty="0">
                <a:latin typeface="Cambria" panose="02040503050406030204" pitchFamily="18" charset="0"/>
                <a:ea typeface="Cambria" panose="02040503050406030204" pitchFamily="18" charset="0"/>
              </a:rPr>
              <a:t> JavaScript is a programming language that allows humans to give instructions to computers</a:t>
            </a:r>
            <a:endPar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It is a lightweight, cross-platform, and single-threaded programming language.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JavaScript is an interpreted language that executes code line by line providing more flexibility.</a:t>
            </a:r>
          </a:p>
        </p:txBody>
      </p:sp>
    </p:spTree>
    <p:extLst>
      <p:ext uri="{BB962C8B-B14F-4D97-AF65-F5344CB8AC3E}">
        <p14:creationId xmlns:p14="http://schemas.microsoft.com/office/powerpoint/2010/main" val="366275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B5EC0-07D4-FB4C-821C-EACD42959D0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18C7D11-CCC6-0E15-C8AB-ECC4885081D0}"/>
              </a:ext>
            </a:extLst>
          </p:cNvPr>
          <p:cNvSpPr>
            <a:spLocks noGrp="1"/>
          </p:cNvSpPr>
          <p:nvPr>
            <p:ph type="title"/>
          </p:nvPr>
        </p:nvSpPr>
        <p:spPr/>
        <p:txBody>
          <a:bodyPr>
            <a:normAutofit/>
          </a:bodyPr>
          <a:lstStyle/>
          <a:p>
            <a:pPr fontAlgn="base"/>
            <a:r>
              <a:rPr lang="en-IN" b="1" dirty="0"/>
              <a:t>Key Features of JavaScript</a:t>
            </a:r>
            <a:endParaRPr lang="en-IN" dirty="0"/>
          </a:p>
        </p:txBody>
      </p:sp>
      <p:sp>
        <p:nvSpPr>
          <p:cNvPr id="4" name="Content Placeholder 3">
            <a:extLst>
              <a:ext uri="{FF2B5EF4-FFF2-40B4-BE49-F238E27FC236}">
                <a16:creationId xmlns:a16="http://schemas.microsoft.com/office/drawing/2014/main" id="{A1BBA561-706B-19D3-6F5A-E3F62EF3DACE}"/>
              </a:ext>
            </a:extLst>
          </p:cNvPr>
          <p:cNvSpPr>
            <a:spLocks noGrp="1" noChangeArrowheads="1"/>
          </p:cNvSpPr>
          <p:nvPr>
            <p:ph idx="1"/>
          </p:nvPr>
        </p:nvSpPr>
        <p:spPr bwMode="auto">
          <a:xfrm>
            <a:off x="775504" y="2006721"/>
            <a:ext cx="10835304" cy="3673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2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Client-Side Scripting: </a:t>
            </a:r>
            <a:r>
              <a:rPr lang="en-US" dirty="0">
                <a:latin typeface="Cambria" panose="02040503050406030204" pitchFamily="18" charset="0"/>
                <a:ea typeface="Cambria" panose="02040503050406030204" pitchFamily="18" charset="0"/>
              </a:rPr>
              <a:t>JavaScript runs on the user's</a:t>
            </a:r>
            <a:r>
              <a:rPr lang="en-US" u="sng" dirty="0">
                <a:latin typeface="Cambria" panose="02040503050406030204" pitchFamily="18" charset="0"/>
                <a:ea typeface="Cambria" panose="02040503050406030204" pitchFamily="18" charset="0"/>
                <a:hlinkClick r:id="rId3"/>
              </a:rPr>
              <a:t> browser,</a:t>
            </a:r>
            <a:r>
              <a:rPr lang="en-US" dirty="0">
                <a:latin typeface="Cambria" panose="02040503050406030204" pitchFamily="18" charset="0"/>
                <a:ea typeface="Cambria" panose="02040503050406030204" pitchFamily="18" charset="0"/>
              </a:rPr>
              <a:t> so has a faster response time without needing to communicate with the </a:t>
            </a:r>
            <a:r>
              <a:rPr lang="en-US" u="sng" dirty="0">
                <a:latin typeface="Cambria" panose="02040503050406030204" pitchFamily="18" charset="0"/>
                <a:ea typeface="Cambria" panose="02040503050406030204" pitchFamily="18" charset="0"/>
                <a:hlinkClick r:id="rId4"/>
              </a:rPr>
              <a:t>server</a:t>
            </a:r>
            <a:r>
              <a:rPr lang="en-US" u="sng" dirty="0">
                <a:latin typeface="Cambria" panose="02040503050406030204" pitchFamily="18" charset="0"/>
                <a:ea typeface="Cambria" panose="02040503050406030204" pitchFamily="18" charset="0"/>
              </a:rPr>
              <a:t>.</a:t>
            </a:r>
          </a:p>
          <a:p>
            <a:pPr marL="0" indent="0" algn="just" defTabSz="914400" eaLnBrk="0" fontAlgn="base" hangingPunct="0">
              <a:lnSpc>
                <a:spcPct val="200000"/>
              </a:lnSpc>
              <a:spcBef>
                <a:spcPct val="0"/>
              </a:spcBef>
              <a:spcAft>
                <a:spcPct val="0"/>
              </a:spcAft>
              <a:buClrTx/>
              <a:buSzTx/>
              <a:buFontTx/>
              <a:buChar char="•"/>
            </a:pPr>
            <a:r>
              <a:rPr kumimoji="0" lang="en-US" altLang="en-US" i="0" u="sng"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Versatile: </a:t>
            </a:r>
            <a:r>
              <a:rPr lang="en-US" dirty="0">
                <a:latin typeface="Cambria" panose="02040503050406030204" pitchFamily="18" charset="0"/>
                <a:ea typeface="Cambria" panose="02040503050406030204" pitchFamily="18" charset="0"/>
              </a:rPr>
              <a:t>Can be used for a wide range of tasks, from simple calculations to complex server-side applications.</a:t>
            </a:r>
          </a:p>
          <a:p>
            <a:pPr marL="0" lvl="0" indent="0" algn="just" defTabSz="914400" eaLnBrk="0" fontAlgn="base" hangingPunct="0">
              <a:lnSpc>
                <a:spcPct val="200000"/>
              </a:lnSpc>
              <a:spcBef>
                <a:spcPct val="0"/>
              </a:spcBef>
              <a:spcAft>
                <a:spcPct val="0"/>
              </a:spcAft>
              <a:buClrTx/>
              <a:buSzTx/>
              <a:buFontTx/>
              <a:buChar char="•"/>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Event-Driven: </a:t>
            </a:r>
            <a:r>
              <a:rPr lang="en-US" dirty="0">
                <a:latin typeface="Cambria" panose="02040503050406030204" pitchFamily="18" charset="0"/>
                <a:ea typeface="Cambria" panose="02040503050406030204" pitchFamily="18" charset="0"/>
              </a:rPr>
              <a:t>Responds to user actions (clicks, keystrokes) in real-time.</a:t>
            </a:r>
          </a:p>
          <a:p>
            <a:pPr marL="0" lvl="0" indent="0" algn="just" defTabSz="914400" eaLnBrk="0" fontAlgn="base" hangingPunct="0">
              <a:lnSpc>
                <a:spcPct val="200000"/>
              </a:lnSpc>
              <a:spcBef>
                <a:spcPct val="0"/>
              </a:spcBef>
              <a:spcAft>
                <a:spcPct val="0"/>
              </a:spcAft>
              <a:buClrTx/>
              <a:buSzTx/>
              <a:buFontTx/>
              <a:buChar char="•"/>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Asynchronous: </a:t>
            </a:r>
            <a:r>
              <a:rPr lang="en-US" dirty="0">
                <a:latin typeface="Cambria" panose="02040503050406030204" pitchFamily="18" charset="0"/>
                <a:ea typeface="Cambria" panose="02040503050406030204" pitchFamily="18" charset="0"/>
              </a:rPr>
              <a:t>It can handle tasks like fetching data from</a:t>
            </a:r>
            <a:r>
              <a:rPr lang="en-US" u="sng" dirty="0">
                <a:latin typeface="Cambria" panose="02040503050406030204" pitchFamily="18" charset="0"/>
                <a:ea typeface="Cambria" panose="02040503050406030204" pitchFamily="18" charset="0"/>
                <a:hlinkClick r:id="rId5"/>
              </a:rPr>
              <a:t> servers</a:t>
            </a:r>
            <a:r>
              <a:rPr lang="en-US" dirty="0">
                <a:latin typeface="Cambria" panose="02040503050406030204" pitchFamily="18" charset="0"/>
                <a:ea typeface="Cambria" panose="02040503050406030204" pitchFamily="18" charset="0"/>
              </a:rPr>
              <a:t> without freezing the user interface.</a:t>
            </a:r>
          </a:p>
          <a:p>
            <a:pPr marL="0" lvl="0" indent="0" algn="just" defTabSz="914400" eaLnBrk="0" fontAlgn="base" hangingPunct="0">
              <a:lnSpc>
                <a:spcPct val="200000"/>
              </a:lnSpc>
              <a:spcBef>
                <a:spcPct val="0"/>
              </a:spcBef>
              <a:spcAft>
                <a:spcPct val="0"/>
              </a:spcAft>
              <a:buClrTx/>
              <a:buSzTx/>
              <a:buFontTx/>
              <a:buChar char="•"/>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Rich Ecosystem: </a:t>
            </a:r>
            <a:r>
              <a:rPr lang="en-US" dirty="0">
                <a:latin typeface="Cambria" panose="02040503050406030204" pitchFamily="18" charset="0"/>
                <a:ea typeface="Cambria" panose="02040503050406030204" pitchFamily="18" charset="0"/>
              </a:rPr>
              <a:t>There are numerous libraries and frameworks built on JavaScript, such as</a:t>
            </a:r>
            <a:r>
              <a:rPr lang="en-US" u="sng" dirty="0">
                <a:latin typeface="Cambria" panose="02040503050406030204" pitchFamily="18" charset="0"/>
                <a:ea typeface="Cambria" panose="02040503050406030204" pitchFamily="18" charset="0"/>
                <a:hlinkClick r:id="rId6"/>
              </a:rPr>
              <a:t> React</a:t>
            </a:r>
            <a:r>
              <a:rPr lang="en-US" dirty="0">
                <a:latin typeface="Cambria" panose="02040503050406030204" pitchFamily="18" charset="0"/>
                <a:ea typeface="Cambria" panose="02040503050406030204" pitchFamily="18" charset="0"/>
              </a:rPr>
              <a:t>, </a:t>
            </a:r>
            <a:r>
              <a:rPr lang="en-US" u="sng" dirty="0">
                <a:latin typeface="Cambria" panose="02040503050406030204" pitchFamily="18" charset="0"/>
                <a:ea typeface="Cambria" panose="02040503050406030204" pitchFamily="18" charset="0"/>
                <a:hlinkClick r:id="rId7"/>
              </a:rPr>
              <a:t>Angular</a:t>
            </a:r>
            <a:r>
              <a:rPr lang="en-US" dirty="0">
                <a:latin typeface="Cambria" panose="02040503050406030204" pitchFamily="18" charset="0"/>
                <a:ea typeface="Cambria" panose="02040503050406030204" pitchFamily="18" charset="0"/>
              </a:rPr>
              <a:t>, and Vue.js, which make development faster and more efficient.</a:t>
            </a:r>
            <a:endPar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08049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3B2B6-9094-F023-10A2-B58873025BF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E2B1C19-1F8B-56CB-279C-2C3DB14F25E9}"/>
              </a:ext>
            </a:extLst>
          </p:cNvPr>
          <p:cNvSpPr>
            <a:spLocks noGrp="1"/>
          </p:cNvSpPr>
          <p:nvPr>
            <p:ph type="title"/>
          </p:nvPr>
        </p:nvSpPr>
        <p:spPr/>
        <p:txBody>
          <a:bodyPr>
            <a:normAutofit/>
          </a:bodyPr>
          <a:lstStyle/>
          <a:p>
            <a:r>
              <a:rPr lang="en-IN" b="1" dirty="0"/>
              <a:t>JAVASCRIPT VARIABLES</a:t>
            </a:r>
            <a:endParaRPr lang="en-IN" dirty="0"/>
          </a:p>
        </p:txBody>
      </p:sp>
      <p:sp>
        <p:nvSpPr>
          <p:cNvPr id="4" name="Content Placeholder 3">
            <a:extLst>
              <a:ext uri="{FF2B5EF4-FFF2-40B4-BE49-F238E27FC236}">
                <a16:creationId xmlns:a16="http://schemas.microsoft.com/office/drawing/2014/main" id="{92CB13E5-E3BB-BA5E-E621-261EFE6FFB41}"/>
              </a:ext>
            </a:extLst>
          </p:cNvPr>
          <p:cNvSpPr>
            <a:spLocks noGrp="1" noChangeArrowheads="1"/>
          </p:cNvSpPr>
          <p:nvPr>
            <p:ph idx="1"/>
          </p:nvPr>
        </p:nvSpPr>
        <p:spPr bwMode="auto">
          <a:xfrm>
            <a:off x="581192" y="3280734"/>
            <a:ext cx="8875324" cy="200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50000"/>
              </a:lnSpc>
              <a:spcBef>
                <a:spcPct val="0"/>
              </a:spcBef>
              <a:spcAft>
                <a:spcPct val="0"/>
              </a:spcAft>
              <a:buClrTx/>
              <a:buSzTx/>
              <a:buFontTx/>
              <a:buChar char="•"/>
            </a:pPr>
            <a:r>
              <a:rPr kumimoji="0" lang="en-US" altLang="en-US"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 JavaScript variable is simply a </a:t>
            </a:r>
            <a:r>
              <a:rPr lang="en-US" b="1" dirty="0">
                <a:latin typeface="Cambria" panose="02040503050406030204" pitchFamily="18" charset="0"/>
                <a:ea typeface="Cambria" panose="02040503050406030204" pitchFamily="18" charset="0"/>
              </a:rPr>
              <a:t>name of storage location</a:t>
            </a:r>
          </a:p>
          <a:p>
            <a:pPr marL="0" lvl="0" indent="0" algn="just" defTabSz="914400" eaLnBrk="0" fontAlgn="base" hangingPunct="0">
              <a:lnSpc>
                <a:spcPct val="15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The </a:t>
            </a:r>
            <a:r>
              <a:rPr lang="en-US" b="1" dirty="0">
                <a:latin typeface="Cambria" panose="02040503050406030204" pitchFamily="18" charset="0"/>
                <a:ea typeface="Cambria" panose="02040503050406030204" pitchFamily="18" charset="0"/>
              </a:rPr>
              <a:t>actual value of a variable</a:t>
            </a:r>
            <a:r>
              <a:rPr lang="en-US" dirty="0">
                <a:latin typeface="Cambria" panose="02040503050406030204" pitchFamily="18" charset="0"/>
                <a:ea typeface="Cambria" panose="02040503050406030204" pitchFamily="18" charset="0"/>
              </a:rPr>
              <a:t> can be </a:t>
            </a:r>
            <a:r>
              <a:rPr lang="en-US" b="1" dirty="0">
                <a:latin typeface="Cambria" panose="02040503050406030204" pitchFamily="18" charset="0"/>
                <a:ea typeface="Cambria" panose="02040503050406030204" pitchFamily="18" charset="0"/>
              </a:rPr>
              <a:t>changed at any time</a:t>
            </a:r>
          </a:p>
          <a:p>
            <a:pPr marL="0" lvl="0" indent="0" algn="just" defTabSz="914400" eaLnBrk="0" fontAlgn="base" hangingPunct="0">
              <a:lnSpc>
                <a:spcPct val="150000"/>
              </a:lnSpc>
              <a:spcBef>
                <a:spcPct val="0"/>
              </a:spcBef>
              <a:spcAft>
                <a:spcPct val="0"/>
              </a:spcAft>
              <a:buClrTx/>
              <a:buSzTx/>
              <a:buFontTx/>
              <a:buChar char="•"/>
            </a:pPr>
            <a:r>
              <a:rPr lang="en-US" dirty="0">
                <a:latin typeface="Cambria" panose="02040503050406030204" pitchFamily="18" charset="0"/>
                <a:ea typeface="Cambria" panose="02040503050406030204" pitchFamily="18" charset="0"/>
              </a:rPr>
              <a:t> Variables are containers that </a:t>
            </a:r>
            <a:r>
              <a:rPr lang="en-US" b="1" dirty="0">
                <a:latin typeface="Cambria" panose="02040503050406030204" pitchFamily="18" charset="0"/>
                <a:ea typeface="Cambria" panose="02040503050406030204" pitchFamily="18" charset="0"/>
              </a:rPr>
              <a:t>store data</a:t>
            </a:r>
            <a:r>
              <a:rPr lang="en-US" dirty="0">
                <a:latin typeface="Cambria" panose="02040503050406030204" pitchFamily="18" charset="0"/>
                <a:ea typeface="Cambria" panose="02040503050406030204" pitchFamily="18" charset="0"/>
              </a:rPr>
              <a:t>. The value inside a variable can </a:t>
            </a:r>
            <a:r>
              <a:rPr lang="en-US" b="1" dirty="0">
                <a:latin typeface="Cambria" panose="02040503050406030204" pitchFamily="18" charset="0"/>
                <a:ea typeface="Cambria" panose="02040503050406030204" pitchFamily="18" charset="0"/>
              </a:rPr>
              <a:t>change (vary)</a:t>
            </a:r>
            <a:endParaRPr lang="en-IN" sz="1700" dirty="0">
              <a:latin typeface="Cambria" panose="02040503050406030204" pitchFamily="18" charset="0"/>
              <a:ea typeface="Cambria" panose="02040503050406030204" pitchFamily="18" charset="0"/>
            </a:endParaRPr>
          </a:p>
          <a:p>
            <a:pPr marL="0" indent="0" algn="just" defTabSz="914400" eaLnBrk="0" fontAlgn="base" hangingPunct="0">
              <a:lnSpc>
                <a:spcPct val="150000"/>
              </a:lnSpc>
              <a:spcBef>
                <a:spcPct val="0"/>
              </a:spcBef>
              <a:spcAft>
                <a:spcPct val="0"/>
              </a:spcAft>
              <a:buClrTx/>
              <a:buSzTx/>
              <a:buFontTx/>
              <a:buChar char="•"/>
            </a:pPr>
            <a:r>
              <a:rPr lang="en-US" dirty="0">
                <a:latin typeface="Cambria" panose="02040503050406030204" pitchFamily="18" charset="0"/>
                <a:ea typeface="Cambria" panose="02040503050406030204" pitchFamily="18" charset="0"/>
              </a:rPr>
              <a:t> Variable names are </a:t>
            </a:r>
            <a:r>
              <a:rPr lang="en-US" b="1" dirty="0">
                <a:latin typeface="Cambria" panose="02040503050406030204" pitchFamily="18" charset="0"/>
                <a:ea typeface="Cambria" panose="02040503050406030204" pitchFamily="18" charset="0"/>
              </a:rPr>
              <a:t>case-sensitive</a:t>
            </a:r>
            <a:r>
              <a:rPr lang="en-US"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fullName</a:t>
            </a:r>
            <a:r>
              <a:rPr lang="en-US" dirty="0">
                <a:latin typeface="Cambria" panose="02040503050406030204" pitchFamily="18" charset="0"/>
                <a:ea typeface="Cambria" panose="02040503050406030204" pitchFamily="18" charset="0"/>
              </a:rPr>
              <a:t> is different from </a:t>
            </a:r>
            <a:r>
              <a:rPr lang="en-US" b="1" dirty="0" err="1">
                <a:latin typeface="Cambria" panose="02040503050406030204" pitchFamily="18" charset="0"/>
                <a:ea typeface="Cambria" panose="02040503050406030204" pitchFamily="18" charset="0"/>
              </a:rPr>
              <a:t>Fullname</a:t>
            </a:r>
            <a:endParaRPr lang="en-US" b="1" dirty="0">
              <a:latin typeface="Cambria" panose="02040503050406030204" pitchFamily="18" charset="0"/>
              <a:ea typeface="Cambria" panose="02040503050406030204" pitchFamily="18" charset="0"/>
            </a:endParaRPr>
          </a:p>
          <a:p>
            <a:pPr marL="0" indent="0" algn="just" defTabSz="914400" eaLnBrk="0" fontAlgn="base" hangingPunct="0">
              <a:lnSpc>
                <a:spcPct val="150000"/>
              </a:lnSpc>
              <a:spcBef>
                <a:spcPct val="0"/>
              </a:spcBef>
              <a:spcAft>
                <a:spcPct val="0"/>
              </a:spcAft>
              <a:buClrTx/>
              <a:buSzTx/>
              <a:buFontTx/>
              <a:buChar char="•"/>
            </a:pP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Example: _</a:t>
            </a:r>
            <a:r>
              <a:rPr lang="en-US" b="1" dirty="0" err="1">
                <a:latin typeface="Cambria" panose="02040503050406030204" pitchFamily="18" charset="0"/>
                <a:ea typeface="Cambria" panose="02040503050406030204" pitchFamily="18" charset="0"/>
              </a:rPr>
              <a:t>fullName</a:t>
            </a:r>
            <a:r>
              <a:rPr lang="en-US" b="1" dirty="0">
                <a:latin typeface="Cambria" panose="02040503050406030204" pitchFamily="18" charset="0"/>
                <a:ea typeface="Cambria" panose="02040503050406030204" pitchFamily="18" charset="0"/>
              </a:rPr>
              <a:t>, fullName123</a:t>
            </a:r>
            <a:r>
              <a:rPr lang="en-US" dirty="0">
                <a:latin typeface="Cambria" panose="02040503050406030204" pitchFamily="18" charset="0"/>
                <a:ea typeface="Cambria" panose="02040503050406030204" pitchFamily="18" charset="0"/>
              </a:rPr>
              <a:t> or </a:t>
            </a:r>
            <a:r>
              <a:rPr lang="en-US" b="1" dirty="0">
                <a:latin typeface="Cambria" panose="02040503050406030204" pitchFamily="18" charset="0"/>
                <a:ea typeface="Cambria" panose="02040503050406030204" pitchFamily="18" charset="0"/>
              </a:rPr>
              <a:t>$</a:t>
            </a:r>
            <a:r>
              <a:rPr lang="en-US" b="1" dirty="0" err="1">
                <a:latin typeface="Cambria" panose="02040503050406030204" pitchFamily="18" charset="0"/>
                <a:ea typeface="Cambria" panose="02040503050406030204" pitchFamily="18" charset="0"/>
              </a:rPr>
              <a:t>fullName</a:t>
            </a:r>
            <a:r>
              <a:rPr lang="en-US" dirty="0">
                <a:latin typeface="Cambria" panose="02040503050406030204" pitchFamily="18" charset="0"/>
                <a:ea typeface="Cambria" panose="02040503050406030204" pitchFamily="18" charset="0"/>
              </a:rPr>
              <a:t> are valid, but </a:t>
            </a:r>
            <a:r>
              <a:rPr lang="en-US" b="1" dirty="0">
                <a:latin typeface="Cambria" panose="02040503050406030204" pitchFamily="18" charset="0"/>
                <a:ea typeface="Cambria" panose="02040503050406030204" pitchFamily="18" charset="0"/>
              </a:rPr>
              <a:t>123fullName</a:t>
            </a:r>
            <a:r>
              <a:rPr lang="en-US" dirty="0">
                <a:latin typeface="Cambria" panose="02040503050406030204" pitchFamily="18" charset="0"/>
                <a:ea typeface="Cambria" panose="02040503050406030204" pitchFamily="18" charset="0"/>
              </a:rPr>
              <a:t> is not</a:t>
            </a:r>
            <a:endParaRPr lang="en-IN"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537016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EA5ED-6F19-E16B-2EAB-27195689B35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B5BB237-5BB7-B44F-805F-B0CFA3DC83A5}"/>
              </a:ext>
            </a:extLst>
          </p:cNvPr>
          <p:cNvSpPr>
            <a:spLocks noGrp="1"/>
          </p:cNvSpPr>
          <p:nvPr>
            <p:ph type="title"/>
          </p:nvPr>
        </p:nvSpPr>
        <p:spPr/>
        <p:txBody>
          <a:bodyPr>
            <a:normAutofit/>
          </a:bodyPr>
          <a:lstStyle/>
          <a:p>
            <a:r>
              <a:rPr lang="en-IN" b="1" dirty="0"/>
              <a:t>JAVASCRIPT VARIABLES</a:t>
            </a:r>
            <a:endParaRPr lang="en-IN" dirty="0"/>
          </a:p>
        </p:txBody>
      </p:sp>
      <p:sp>
        <p:nvSpPr>
          <p:cNvPr id="4" name="Content Placeholder 3">
            <a:extLst>
              <a:ext uri="{FF2B5EF4-FFF2-40B4-BE49-F238E27FC236}">
                <a16:creationId xmlns:a16="http://schemas.microsoft.com/office/drawing/2014/main" id="{5933AD0A-89C4-C718-1E42-CA13F2B35157}"/>
              </a:ext>
            </a:extLst>
          </p:cNvPr>
          <p:cNvSpPr>
            <a:spLocks noGrp="1" noChangeArrowheads="1"/>
          </p:cNvSpPr>
          <p:nvPr>
            <p:ph idx="1"/>
          </p:nvPr>
        </p:nvSpPr>
        <p:spPr bwMode="auto">
          <a:xfrm>
            <a:off x="581192" y="2692113"/>
            <a:ext cx="8875324" cy="3183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50000"/>
              </a:lnSpc>
              <a:spcBef>
                <a:spcPct val="0"/>
              </a:spcBef>
              <a:spcAft>
                <a:spcPct val="0"/>
              </a:spcAft>
              <a:buClrTx/>
              <a:buSzTx/>
              <a:buFontTx/>
              <a:buChar char="•"/>
            </a:pPr>
            <a:r>
              <a:rPr lang="en-US" b="1" dirty="0">
                <a:solidFill>
                  <a:schemeClr val="tx1"/>
                </a:solidFill>
                <a:latin typeface="Cambria" panose="02040503050406030204" pitchFamily="18" charset="0"/>
                <a:ea typeface="Cambria" panose="02040503050406030204" pitchFamily="18" charset="0"/>
              </a:rPr>
              <a:t> var: </a:t>
            </a:r>
            <a:r>
              <a:rPr lang="en-US" dirty="0">
                <a:latin typeface="Cambria" panose="02040503050406030204" pitchFamily="18" charset="0"/>
                <a:ea typeface="Cambria" panose="02040503050406030204" pitchFamily="18" charset="0"/>
              </a:rPr>
              <a:t>Variable can be re-declared &amp; updated. A global scope variable.</a:t>
            </a:r>
          </a:p>
          <a:p>
            <a:pPr marL="0" indent="0" algn="just" defTabSz="914400" eaLnBrk="0" fontAlgn="base" hangingPunct="0">
              <a:lnSpc>
                <a:spcPct val="150000"/>
              </a:lnSpc>
              <a:spcBef>
                <a:spcPct val="0"/>
              </a:spcBef>
              <a:spcAft>
                <a:spcPct val="0"/>
              </a:spcAft>
              <a:buClrTx/>
              <a:buSzTx/>
              <a:buFontTx/>
              <a:buChar char="•"/>
            </a:pPr>
            <a:r>
              <a:rPr lang="en-US" b="1" dirty="0">
                <a:solidFill>
                  <a:schemeClr val="tx1"/>
                </a:solidFill>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let</a:t>
            </a:r>
            <a:r>
              <a:rPr lang="en-US" dirty="0">
                <a:latin typeface="Cambria" panose="02040503050406030204" pitchFamily="18" charset="0"/>
                <a:ea typeface="Cambria" panose="02040503050406030204" pitchFamily="18" charset="0"/>
              </a:rPr>
              <a:t> : Variable cannot be re-declared but can be updated. A block ({}) scope variable.</a:t>
            </a:r>
          </a:p>
          <a:p>
            <a:pPr marL="0" indent="0" algn="just" defTabSz="914400" eaLnBrk="0" fontAlgn="base" hangingPunct="0">
              <a:lnSpc>
                <a:spcPct val="150000"/>
              </a:lnSpc>
              <a:spcBef>
                <a:spcPct val="0"/>
              </a:spcBef>
              <a:spcAft>
                <a:spcPct val="0"/>
              </a:spcAft>
              <a:buClrTx/>
              <a:buSzTx/>
              <a:buFontTx/>
              <a:buChar char="•"/>
            </a:pPr>
            <a:r>
              <a:rPr lang="en-US" b="1" dirty="0">
                <a:solidFill>
                  <a:schemeClr val="tx1"/>
                </a:solidFill>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const</a:t>
            </a:r>
            <a:r>
              <a:rPr lang="en-US" dirty="0">
                <a:latin typeface="Cambria" panose="02040503050406030204" pitchFamily="18" charset="0"/>
                <a:ea typeface="Cambria" panose="02040503050406030204" pitchFamily="18" charset="0"/>
              </a:rPr>
              <a:t> : Variable cannot be re-declared or updated. A block scope variable.</a:t>
            </a:r>
          </a:p>
          <a:p>
            <a:pPr marL="0" lvl="0" indent="0" algn="just" defTabSz="914400" eaLnBrk="0" fontAlgn="base" hangingPunct="0">
              <a:lnSpc>
                <a:spcPct val="150000"/>
              </a:lnSpc>
              <a:spcBef>
                <a:spcPct val="0"/>
              </a:spcBef>
              <a:spcAft>
                <a:spcPct val="0"/>
              </a:spcAft>
              <a:buClrTx/>
              <a:buSzTx/>
              <a:buFontTx/>
              <a:buChar char="•"/>
            </a:pPr>
            <a:r>
              <a:rPr lang="en-US" dirty="0">
                <a:latin typeface="Cambria" panose="02040503050406030204" pitchFamily="18" charset="0"/>
                <a:ea typeface="Cambria" panose="02040503050406030204" pitchFamily="18" charset="0"/>
              </a:rPr>
              <a:t> JavaScript Variables can be </a:t>
            </a:r>
            <a:r>
              <a:rPr lang="en-US" b="1" dirty="0">
                <a:latin typeface="Cambria" panose="02040503050406030204" pitchFamily="18" charset="0"/>
                <a:ea typeface="Cambria" panose="02040503050406030204" pitchFamily="18" charset="0"/>
              </a:rPr>
              <a:t>declared </a:t>
            </a:r>
            <a:r>
              <a:rPr lang="en-US" dirty="0">
                <a:latin typeface="Cambria" panose="02040503050406030204" pitchFamily="18" charset="0"/>
                <a:ea typeface="Cambria" panose="02040503050406030204" pitchFamily="18" charset="0"/>
              </a:rPr>
              <a:t>:</a:t>
            </a:r>
          </a:p>
          <a:p>
            <a:pPr marL="324000" lvl="1" indent="0" algn="just" defTabSz="914400" eaLnBrk="0" fontAlgn="base" hangingPunct="0">
              <a:lnSpc>
                <a:spcPct val="150000"/>
              </a:lnSpc>
              <a:spcBef>
                <a:spcPct val="0"/>
              </a:spcBef>
              <a:spcAft>
                <a:spcPct val="0"/>
              </a:spcAft>
              <a:buClrTx/>
              <a:buSzTx/>
              <a:buFontTx/>
              <a:buChar char="•"/>
            </a:pPr>
            <a:r>
              <a:rPr kumimoji="0" lang="en-US" altLang="en-US" sz="17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IN" sz="1700" dirty="0">
                <a:latin typeface="Cambria" panose="02040503050406030204" pitchFamily="18" charset="0"/>
                <a:ea typeface="Cambria" panose="02040503050406030204" pitchFamily="18" charset="0"/>
              </a:rPr>
              <a:t>Automatically (e.g., </a:t>
            </a:r>
            <a:r>
              <a:rPr lang="en-IN" sz="1700" dirty="0" err="1">
                <a:latin typeface="Cambria" panose="02040503050406030204" pitchFamily="18" charset="0"/>
                <a:ea typeface="Cambria" panose="02040503050406030204" pitchFamily="18" charset="0"/>
              </a:rPr>
              <a:t>fullName</a:t>
            </a:r>
            <a:r>
              <a:rPr lang="en-IN" sz="1700" dirty="0">
                <a:latin typeface="Cambria" panose="02040503050406030204" pitchFamily="18" charset="0"/>
                <a:ea typeface="Cambria" panose="02040503050406030204" pitchFamily="18" charset="0"/>
              </a:rPr>
              <a:t> = “John”;)</a:t>
            </a:r>
          </a:p>
          <a:p>
            <a:pPr marL="324000" lvl="1" indent="0" algn="just" defTabSz="914400" eaLnBrk="0" fontAlgn="base" hangingPunct="0">
              <a:lnSpc>
                <a:spcPct val="150000"/>
              </a:lnSpc>
              <a:spcBef>
                <a:spcPct val="0"/>
              </a:spcBef>
              <a:spcAft>
                <a:spcPct val="0"/>
              </a:spcAft>
              <a:buClrTx/>
              <a:buSzTx/>
              <a:buFontTx/>
              <a:buChar char="•"/>
            </a:pPr>
            <a:r>
              <a:rPr kumimoji="0" lang="en-IN" altLang="en-US" sz="170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IN" sz="1700" dirty="0">
                <a:latin typeface="Cambria" panose="02040503050406030204" pitchFamily="18" charset="0"/>
                <a:ea typeface="Cambria" panose="02040503050406030204" pitchFamily="18" charset="0"/>
              </a:rPr>
              <a:t>Using </a:t>
            </a:r>
            <a:r>
              <a:rPr lang="en-IN" sz="1700" b="1" dirty="0">
                <a:latin typeface="Cambria" panose="02040503050406030204" pitchFamily="18" charset="0"/>
                <a:ea typeface="Cambria" panose="02040503050406030204" pitchFamily="18" charset="0"/>
              </a:rPr>
              <a:t>var </a:t>
            </a:r>
            <a:r>
              <a:rPr lang="en-IN" sz="1700" dirty="0">
                <a:latin typeface="Cambria" panose="02040503050406030204" pitchFamily="18" charset="0"/>
                <a:ea typeface="Cambria" panose="02040503050406030204" pitchFamily="18" charset="0"/>
              </a:rPr>
              <a:t>(e.g., var </a:t>
            </a:r>
            <a:r>
              <a:rPr lang="en-IN" sz="1700" dirty="0" err="1">
                <a:latin typeface="Cambria" panose="02040503050406030204" pitchFamily="18" charset="0"/>
                <a:ea typeface="Cambria" panose="02040503050406030204" pitchFamily="18" charset="0"/>
              </a:rPr>
              <a:t>fullName</a:t>
            </a:r>
            <a:r>
              <a:rPr lang="en-IN" sz="1700" dirty="0">
                <a:latin typeface="Cambria" panose="02040503050406030204" pitchFamily="18" charset="0"/>
                <a:ea typeface="Cambria" panose="02040503050406030204" pitchFamily="18" charset="0"/>
              </a:rPr>
              <a:t> = “John”;)</a:t>
            </a:r>
            <a:endParaRPr lang="en-IN" sz="1700" b="1" dirty="0">
              <a:latin typeface="Cambria" panose="02040503050406030204" pitchFamily="18" charset="0"/>
              <a:ea typeface="Cambria" panose="02040503050406030204" pitchFamily="18" charset="0"/>
            </a:endParaRPr>
          </a:p>
          <a:p>
            <a:pPr marL="324000" lvl="1" indent="0" algn="just" defTabSz="914400" eaLnBrk="0" fontAlgn="base" hangingPunct="0">
              <a:lnSpc>
                <a:spcPct val="150000"/>
              </a:lnSpc>
              <a:spcBef>
                <a:spcPct val="0"/>
              </a:spcBef>
              <a:spcAft>
                <a:spcPct val="0"/>
              </a:spcAft>
              <a:buClrTx/>
              <a:buSzTx/>
              <a:buFontTx/>
              <a:buChar char="•"/>
            </a:pPr>
            <a:r>
              <a:rPr kumimoji="0" lang="en-IN"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IN" sz="1700" dirty="0">
                <a:latin typeface="Cambria" panose="02040503050406030204" pitchFamily="18" charset="0"/>
                <a:ea typeface="Cambria" panose="02040503050406030204" pitchFamily="18" charset="0"/>
              </a:rPr>
              <a:t>Using </a:t>
            </a:r>
            <a:r>
              <a:rPr lang="en-IN" sz="1700" b="1" dirty="0">
                <a:latin typeface="Cambria" panose="02040503050406030204" pitchFamily="18" charset="0"/>
                <a:ea typeface="Cambria" panose="02040503050406030204" pitchFamily="18" charset="0"/>
              </a:rPr>
              <a:t>let </a:t>
            </a:r>
            <a:r>
              <a:rPr lang="en-IN" sz="1700" dirty="0">
                <a:latin typeface="Cambria" panose="02040503050406030204" pitchFamily="18" charset="0"/>
                <a:ea typeface="Cambria" panose="02040503050406030204" pitchFamily="18" charset="0"/>
              </a:rPr>
              <a:t>(e.g., let </a:t>
            </a:r>
            <a:r>
              <a:rPr lang="en-IN" sz="1700" dirty="0" err="1">
                <a:latin typeface="Cambria" panose="02040503050406030204" pitchFamily="18" charset="0"/>
                <a:ea typeface="Cambria" panose="02040503050406030204" pitchFamily="18" charset="0"/>
              </a:rPr>
              <a:t>fullName</a:t>
            </a:r>
            <a:r>
              <a:rPr lang="en-IN" sz="1700" dirty="0">
                <a:latin typeface="Cambria" panose="02040503050406030204" pitchFamily="18" charset="0"/>
                <a:ea typeface="Cambria" panose="02040503050406030204" pitchFamily="18" charset="0"/>
              </a:rPr>
              <a:t> = “John”;)  - </a:t>
            </a:r>
            <a:endParaRPr lang="en-IN" sz="1700" b="1" dirty="0">
              <a:latin typeface="Cambria" panose="02040503050406030204" pitchFamily="18" charset="0"/>
              <a:ea typeface="Cambria" panose="02040503050406030204" pitchFamily="18" charset="0"/>
            </a:endParaRPr>
          </a:p>
          <a:p>
            <a:pPr marL="324000" lvl="1" indent="0" algn="just" defTabSz="914400" eaLnBrk="0" fontAlgn="base" hangingPunct="0">
              <a:lnSpc>
                <a:spcPct val="150000"/>
              </a:lnSpc>
              <a:spcBef>
                <a:spcPct val="0"/>
              </a:spcBef>
              <a:spcAft>
                <a:spcPct val="0"/>
              </a:spcAft>
              <a:buClrTx/>
              <a:buSzTx/>
              <a:buFontTx/>
              <a:buChar char="•"/>
            </a:pPr>
            <a:r>
              <a:rPr kumimoji="0" lang="en-IN" altLang="en-US" sz="1700" b="1"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r>
              <a:rPr lang="en-IN" sz="1700" dirty="0">
                <a:latin typeface="Cambria" panose="02040503050406030204" pitchFamily="18" charset="0"/>
                <a:ea typeface="Cambria" panose="02040503050406030204" pitchFamily="18" charset="0"/>
              </a:rPr>
              <a:t>Using </a:t>
            </a:r>
            <a:r>
              <a:rPr lang="en-IN" sz="1700" b="1" dirty="0" err="1">
                <a:latin typeface="Cambria" panose="02040503050406030204" pitchFamily="18" charset="0"/>
                <a:ea typeface="Cambria" panose="02040503050406030204" pitchFamily="18" charset="0"/>
              </a:rPr>
              <a:t>const</a:t>
            </a:r>
            <a:r>
              <a:rPr lang="en-IN" sz="1700" b="1" dirty="0">
                <a:latin typeface="Cambria" panose="02040503050406030204" pitchFamily="18" charset="0"/>
                <a:ea typeface="Cambria" panose="02040503050406030204" pitchFamily="18" charset="0"/>
              </a:rPr>
              <a:t> </a:t>
            </a:r>
            <a:r>
              <a:rPr lang="en-IN" sz="1700" dirty="0">
                <a:latin typeface="Cambria" panose="02040503050406030204" pitchFamily="18" charset="0"/>
                <a:ea typeface="Cambria" panose="02040503050406030204" pitchFamily="18" charset="0"/>
              </a:rPr>
              <a:t>(e.g., </a:t>
            </a:r>
            <a:r>
              <a:rPr lang="en-IN" sz="1700" dirty="0" err="1">
                <a:latin typeface="Cambria" panose="02040503050406030204" pitchFamily="18" charset="0"/>
                <a:ea typeface="Cambria" panose="02040503050406030204" pitchFamily="18" charset="0"/>
              </a:rPr>
              <a:t>const</a:t>
            </a:r>
            <a:r>
              <a:rPr lang="en-IN" sz="1700" b="1" dirty="0">
                <a:latin typeface="Cambria" panose="02040503050406030204" pitchFamily="18" charset="0"/>
                <a:ea typeface="Cambria" panose="02040503050406030204" pitchFamily="18" charset="0"/>
              </a:rPr>
              <a:t> </a:t>
            </a:r>
            <a:r>
              <a:rPr lang="en-IN" sz="1700" dirty="0" err="1">
                <a:latin typeface="Cambria" panose="02040503050406030204" pitchFamily="18" charset="0"/>
                <a:ea typeface="Cambria" panose="02040503050406030204" pitchFamily="18" charset="0"/>
              </a:rPr>
              <a:t>fullName</a:t>
            </a:r>
            <a:r>
              <a:rPr lang="en-IN" sz="1700" dirty="0">
                <a:latin typeface="Cambria" panose="02040503050406030204" pitchFamily="18" charset="0"/>
                <a:ea typeface="Cambria" panose="02040503050406030204" pitchFamily="18" charset="0"/>
              </a:rPr>
              <a:t> = “John”;)</a:t>
            </a:r>
          </a:p>
        </p:txBody>
      </p:sp>
    </p:spTree>
    <p:extLst>
      <p:ext uri="{BB962C8B-B14F-4D97-AF65-F5344CB8AC3E}">
        <p14:creationId xmlns:p14="http://schemas.microsoft.com/office/powerpoint/2010/main" val="2250045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39516-D06C-B42A-4A12-36E4ED66939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D89526F-DE10-5326-60E2-F1949FC02940}"/>
              </a:ext>
            </a:extLst>
          </p:cNvPr>
          <p:cNvSpPr>
            <a:spLocks noGrp="1"/>
          </p:cNvSpPr>
          <p:nvPr>
            <p:ph type="title"/>
          </p:nvPr>
        </p:nvSpPr>
        <p:spPr/>
        <p:txBody>
          <a:bodyPr>
            <a:normAutofit/>
          </a:bodyPr>
          <a:lstStyle/>
          <a:p>
            <a:r>
              <a:rPr lang="en-IN" b="1" dirty="0"/>
              <a:t>JAVASCRIPT VARIABLES</a:t>
            </a:r>
            <a:endParaRPr lang="en-IN" dirty="0"/>
          </a:p>
        </p:txBody>
      </p:sp>
      <p:sp>
        <p:nvSpPr>
          <p:cNvPr id="4" name="Content Placeholder 3">
            <a:extLst>
              <a:ext uri="{FF2B5EF4-FFF2-40B4-BE49-F238E27FC236}">
                <a16:creationId xmlns:a16="http://schemas.microsoft.com/office/drawing/2014/main" id="{044EA7F0-DF07-7573-C1C4-B33A4C8D91B1}"/>
              </a:ext>
            </a:extLst>
          </p:cNvPr>
          <p:cNvSpPr>
            <a:spLocks noGrp="1" noChangeArrowheads="1"/>
          </p:cNvSpPr>
          <p:nvPr>
            <p:ph idx="1"/>
          </p:nvPr>
        </p:nvSpPr>
        <p:spPr bwMode="auto">
          <a:xfrm>
            <a:off x="581193" y="3084529"/>
            <a:ext cx="3678292" cy="2398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defTabSz="914400" eaLnBrk="0" fontAlgn="base" hangingPunct="0">
              <a:lnSpc>
                <a:spcPct val="150000"/>
              </a:lnSpc>
              <a:spcBef>
                <a:spcPct val="0"/>
              </a:spcBef>
              <a:spcAft>
                <a:spcPct val="0"/>
              </a:spcAft>
              <a:buClrTx/>
              <a:buSzTx/>
              <a:buFontTx/>
              <a:buChar char="•"/>
            </a:pPr>
            <a:r>
              <a:rPr lang="en-US" b="1" dirty="0">
                <a:latin typeface="Cambria" panose="02040503050406030204" pitchFamily="18" charset="0"/>
                <a:ea typeface="Cambria" panose="02040503050406030204" pitchFamily="18" charset="0"/>
              </a:rPr>
              <a:t> script.js:</a:t>
            </a:r>
          </a:p>
          <a:p>
            <a:pPr marL="0" lvl="0" indent="0" algn="just" defTabSz="914400" eaLnBrk="0" fontAlgn="base" hangingPunct="0">
              <a:lnSpc>
                <a:spcPct val="150000"/>
              </a:lnSpc>
              <a:spcBef>
                <a:spcPct val="0"/>
              </a:spcBef>
              <a:spcAft>
                <a:spcPct val="0"/>
              </a:spcAft>
              <a:buClrTx/>
              <a:buSzTx/>
              <a:buNone/>
            </a:pPr>
            <a:r>
              <a:rPr lang="en-US" dirty="0">
                <a:latin typeface="Cambria" panose="02040503050406030204" pitchFamily="18" charset="0"/>
                <a:ea typeface="Cambria" panose="02040503050406030204" pitchFamily="18" charset="0"/>
              </a:rPr>
              <a:t>let age = 20;</a:t>
            </a:r>
          </a:p>
          <a:p>
            <a:pPr marL="0" lvl="0" indent="0" algn="just" defTabSz="914400" eaLnBrk="0" fontAlgn="base" hangingPunct="0">
              <a:lnSpc>
                <a:spcPct val="150000"/>
              </a:lnSpc>
              <a:spcBef>
                <a:spcPct val="0"/>
              </a:spcBef>
              <a:spcAft>
                <a:spcPct val="0"/>
              </a:spcAft>
              <a:buClrTx/>
              <a:buSzTx/>
              <a:buNone/>
            </a:pPr>
            <a:r>
              <a:rPr lang="en-IN" dirty="0">
                <a:latin typeface="Cambria" panose="02040503050406030204" pitchFamily="18" charset="0"/>
                <a:ea typeface="Cambria" panose="02040503050406030204" pitchFamily="18" charset="0"/>
              </a:rPr>
              <a:t>console.log(</a:t>
            </a:r>
            <a:r>
              <a:rPr lang="en-US" dirty="0">
                <a:latin typeface="Cambria" panose="02040503050406030204" pitchFamily="18" charset="0"/>
                <a:ea typeface="Cambria" panose="02040503050406030204" pitchFamily="18" charset="0"/>
              </a:rPr>
              <a:t>age</a:t>
            </a:r>
            <a:r>
              <a:rPr lang="en-IN" dirty="0">
                <a:latin typeface="Cambria" panose="02040503050406030204" pitchFamily="18" charset="0"/>
                <a:ea typeface="Cambria" panose="02040503050406030204" pitchFamily="18" charset="0"/>
              </a:rPr>
              <a:t>);</a:t>
            </a:r>
          </a:p>
          <a:p>
            <a:pPr marL="0" lvl="0" indent="0" algn="just" defTabSz="914400" eaLnBrk="0" fontAlgn="base" hangingPunct="0">
              <a:lnSpc>
                <a:spcPct val="150000"/>
              </a:lnSpc>
              <a:spcBef>
                <a:spcPct val="0"/>
              </a:spcBef>
              <a:spcAft>
                <a:spcPct val="0"/>
              </a:spcAft>
              <a:buClrTx/>
              <a:buSzTx/>
              <a:buNone/>
            </a:pPr>
            <a:endParaRPr lang="en-IN" dirty="0">
              <a:latin typeface="Cambria" panose="02040503050406030204" pitchFamily="18" charset="0"/>
              <a:ea typeface="Cambria" panose="02040503050406030204" pitchFamily="18" charset="0"/>
            </a:endParaRPr>
          </a:p>
          <a:p>
            <a:pPr marL="0" lvl="0" indent="0" algn="just" defTabSz="914400" eaLnBrk="0" fontAlgn="base" hangingPunct="0">
              <a:lnSpc>
                <a:spcPct val="150000"/>
              </a:lnSpc>
              <a:spcBef>
                <a:spcPct val="0"/>
              </a:spcBef>
              <a:spcAft>
                <a:spcPct val="0"/>
              </a:spcAft>
              <a:buClrTx/>
              <a:buSzTx/>
              <a:buNone/>
            </a:pPr>
            <a:r>
              <a:rPr lang="en-IN" dirty="0" err="1">
                <a:latin typeface="Cambria" panose="02040503050406030204" pitchFamily="18" charset="0"/>
                <a:ea typeface="Cambria" panose="02040503050406030204" pitchFamily="18" charset="0"/>
              </a:rPr>
              <a:t>const</a:t>
            </a:r>
            <a:r>
              <a:rPr lang="en-IN" dirty="0">
                <a:latin typeface="Cambria" panose="02040503050406030204" pitchFamily="18" charset="0"/>
                <a:ea typeface="Cambria" panose="02040503050406030204" pitchFamily="18" charset="0"/>
              </a:rPr>
              <a:t> </a:t>
            </a:r>
            <a:r>
              <a:rPr lang="en-IN" dirty="0" err="1">
                <a:latin typeface="Cambria" panose="02040503050406030204" pitchFamily="18" charset="0"/>
                <a:ea typeface="Cambria" panose="02040503050406030204" pitchFamily="18" charset="0"/>
              </a:rPr>
              <a:t>fullName</a:t>
            </a:r>
            <a:r>
              <a:rPr lang="en-IN" dirty="0">
                <a:latin typeface="Cambria" panose="02040503050406030204" pitchFamily="18" charset="0"/>
                <a:ea typeface="Cambria" panose="02040503050406030204" pitchFamily="18" charset="0"/>
              </a:rPr>
              <a:t> = “John Wick”;</a:t>
            </a:r>
          </a:p>
          <a:p>
            <a:pPr marL="0" lvl="0" indent="0" algn="just" defTabSz="914400" eaLnBrk="0" fontAlgn="base" hangingPunct="0">
              <a:lnSpc>
                <a:spcPct val="150000"/>
              </a:lnSpc>
              <a:spcBef>
                <a:spcPct val="0"/>
              </a:spcBef>
              <a:spcAft>
                <a:spcPct val="0"/>
              </a:spcAft>
              <a:buClrTx/>
              <a:buSzTx/>
              <a:buNone/>
            </a:pPr>
            <a:r>
              <a:rPr lang="en-IN" dirty="0">
                <a:latin typeface="Cambria" panose="02040503050406030204" pitchFamily="18" charset="0"/>
                <a:ea typeface="Cambria" panose="02040503050406030204" pitchFamily="18" charset="0"/>
              </a:rPr>
              <a:t>console.log(</a:t>
            </a:r>
            <a:r>
              <a:rPr lang="en-IN" dirty="0" err="1">
                <a:latin typeface="Cambria" panose="02040503050406030204" pitchFamily="18" charset="0"/>
                <a:ea typeface="Cambria" panose="02040503050406030204" pitchFamily="18" charset="0"/>
              </a:rPr>
              <a:t>fullName</a:t>
            </a:r>
            <a:r>
              <a:rPr lang="en-IN" dirty="0">
                <a:latin typeface="Cambria" panose="02040503050406030204" pitchFamily="18" charset="0"/>
                <a:ea typeface="Cambria" panose="02040503050406030204" pitchFamily="18" charset="0"/>
              </a:rPr>
              <a:t>);</a:t>
            </a:r>
          </a:p>
        </p:txBody>
      </p:sp>
      <p:sp>
        <p:nvSpPr>
          <p:cNvPr id="2" name="Content Placeholder 3">
            <a:extLst>
              <a:ext uri="{FF2B5EF4-FFF2-40B4-BE49-F238E27FC236}">
                <a16:creationId xmlns:a16="http://schemas.microsoft.com/office/drawing/2014/main" id="{69A816A8-F2AE-FE7F-4E80-91BFFC08B716}"/>
              </a:ext>
            </a:extLst>
          </p:cNvPr>
          <p:cNvSpPr txBox="1">
            <a:spLocks noChangeArrowheads="1"/>
          </p:cNvSpPr>
          <p:nvPr/>
        </p:nvSpPr>
        <p:spPr bwMode="auto">
          <a:xfrm>
            <a:off x="5664407" y="3084529"/>
            <a:ext cx="4220373" cy="200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just" defTabSz="914400" eaLnBrk="0" fontAlgn="base" hangingPunct="0">
              <a:lnSpc>
                <a:spcPct val="150000"/>
              </a:lnSpc>
              <a:spcBef>
                <a:spcPct val="0"/>
              </a:spcBef>
              <a:spcAft>
                <a:spcPct val="0"/>
              </a:spcAft>
              <a:buClrTx/>
              <a:buSzTx/>
              <a:buFontTx/>
              <a:buChar char="•"/>
            </a:pPr>
            <a:r>
              <a:rPr lang="en-US" b="1" dirty="0">
                <a:latin typeface="Cambria" panose="02040503050406030204" pitchFamily="18" charset="0"/>
                <a:ea typeface="Cambria" panose="02040503050406030204" pitchFamily="18" charset="0"/>
              </a:rPr>
              <a:t> index.html:</a:t>
            </a:r>
          </a:p>
          <a:p>
            <a:pPr marL="0" indent="0" algn="just" defTabSz="914400" eaLnBrk="0" fontAlgn="base" hangingPunct="0">
              <a:lnSpc>
                <a:spcPct val="150000"/>
              </a:lnSpc>
              <a:spcBef>
                <a:spcPct val="0"/>
              </a:spcBef>
              <a:spcAft>
                <a:spcPct val="0"/>
              </a:spcAft>
              <a:buClrTx/>
              <a:buSzTx/>
              <a:buFont typeface="Wingdings 2" panose="05020102010507070707" pitchFamily="18" charset="2"/>
              <a:buNone/>
            </a:pPr>
            <a:r>
              <a:rPr lang="en-US" dirty="0">
                <a:latin typeface="Cambria" panose="02040503050406030204" pitchFamily="18" charset="0"/>
                <a:ea typeface="Cambria" panose="02040503050406030204" pitchFamily="18" charset="0"/>
              </a:rPr>
              <a:t>&lt;html&gt;</a:t>
            </a:r>
          </a:p>
          <a:p>
            <a:pPr marL="0" indent="0" algn="just" defTabSz="914400" eaLnBrk="0" fontAlgn="base" hangingPunct="0">
              <a:lnSpc>
                <a:spcPct val="150000"/>
              </a:lnSpc>
              <a:spcBef>
                <a:spcPct val="0"/>
              </a:spcBef>
              <a:spcAft>
                <a:spcPct val="0"/>
              </a:spcAft>
              <a:buClrTx/>
              <a:buSzTx/>
              <a:buFont typeface="Wingdings 2" panose="05020102010507070707" pitchFamily="18" charset="2"/>
              <a:buNone/>
            </a:pPr>
            <a:r>
              <a:rPr lang="en-US" dirty="0">
                <a:latin typeface="Cambria" panose="02040503050406030204" pitchFamily="18" charset="0"/>
                <a:ea typeface="Cambria" panose="02040503050406030204" pitchFamily="18" charset="0"/>
              </a:rPr>
              <a:t>	&lt;body&gt;&lt;/body&gt;</a:t>
            </a:r>
          </a:p>
          <a:p>
            <a:pPr marL="0" indent="0" algn="just" defTabSz="914400" eaLnBrk="0" fontAlgn="base" hangingPunct="0">
              <a:lnSpc>
                <a:spcPct val="150000"/>
              </a:lnSpc>
              <a:spcBef>
                <a:spcPct val="0"/>
              </a:spcBef>
              <a:spcAft>
                <a:spcPct val="0"/>
              </a:spcAft>
              <a:buClrTx/>
              <a:buSzTx/>
              <a:buNone/>
            </a:pPr>
            <a:r>
              <a:rPr lang="en-IN" dirty="0">
                <a:latin typeface="Cambria" panose="02040503050406030204" pitchFamily="18" charset="0"/>
                <a:ea typeface="Cambria" panose="02040503050406030204" pitchFamily="18" charset="0"/>
              </a:rPr>
              <a:t>	&lt;script </a:t>
            </a:r>
            <a:r>
              <a:rPr lang="en-IN" dirty="0" err="1">
                <a:latin typeface="Cambria" panose="02040503050406030204" pitchFamily="18" charset="0"/>
                <a:ea typeface="Cambria" panose="02040503050406030204" pitchFamily="18" charset="0"/>
              </a:rPr>
              <a:t>src</a:t>
            </a:r>
            <a:r>
              <a:rPr lang="en-IN" dirty="0">
                <a:latin typeface="Cambria" panose="02040503050406030204" pitchFamily="18" charset="0"/>
                <a:ea typeface="Cambria" panose="02040503050406030204" pitchFamily="18" charset="0"/>
              </a:rPr>
              <a:t>="script.js"&gt;&lt;/script&gt;</a:t>
            </a:r>
            <a:br>
              <a:rPr lang="en-IN"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&lt;/html&gt;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423225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5A009-568D-CCDD-D776-6B80EAFC057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883D1C0-B021-119B-B8FC-BC9984D0BD15}"/>
              </a:ext>
            </a:extLst>
          </p:cNvPr>
          <p:cNvSpPr>
            <a:spLocks noGrp="1"/>
          </p:cNvSpPr>
          <p:nvPr>
            <p:ph type="title"/>
          </p:nvPr>
        </p:nvSpPr>
        <p:spPr/>
        <p:txBody>
          <a:bodyPr>
            <a:normAutofit/>
          </a:bodyPr>
          <a:lstStyle/>
          <a:p>
            <a:r>
              <a:rPr lang="en-IN" b="1" dirty="0"/>
              <a:t>JAVASCRIPT DATATYPES</a:t>
            </a:r>
            <a:endParaRPr lang="en-IN" dirty="0"/>
          </a:p>
        </p:txBody>
      </p:sp>
      <p:sp>
        <p:nvSpPr>
          <p:cNvPr id="4" name="Content Placeholder 3">
            <a:extLst>
              <a:ext uri="{FF2B5EF4-FFF2-40B4-BE49-F238E27FC236}">
                <a16:creationId xmlns:a16="http://schemas.microsoft.com/office/drawing/2014/main" id="{5BA88BBF-4AC6-9D3B-4C8C-CCA83BC6DB5F}"/>
              </a:ext>
            </a:extLst>
          </p:cNvPr>
          <p:cNvSpPr>
            <a:spLocks noGrp="1" noChangeArrowheads="1"/>
          </p:cNvSpPr>
          <p:nvPr>
            <p:ph idx="1"/>
          </p:nvPr>
        </p:nvSpPr>
        <p:spPr bwMode="auto">
          <a:xfrm>
            <a:off x="581192" y="3092626"/>
            <a:ext cx="4414157" cy="165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b="1" dirty="0">
                <a:latin typeface="Cambria" panose="02040503050406030204" pitchFamily="18" charset="0"/>
                <a:ea typeface="Cambria" panose="02040503050406030204" pitchFamily="18" charset="0"/>
              </a:rPr>
              <a:t>Two types of data types in JavaScript:</a:t>
            </a:r>
          </a:p>
          <a:p>
            <a:pPr lvl="1"/>
            <a:r>
              <a:rPr lang="en-US" sz="1800" dirty="0">
                <a:latin typeface="Cambria" panose="02040503050406030204" pitchFamily="18" charset="0"/>
                <a:ea typeface="Cambria" panose="02040503050406030204" pitchFamily="18" charset="0"/>
              </a:rPr>
              <a:t>Primitive data type</a:t>
            </a:r>
          </a:p>
          <a:p>
            <a:pPr lvl="1"/>
            <a:r>
              <a:rPr lang="en-US" sz="1800" dirty="0">
                <a:latin typeface="Cambria" panose="02040503050406030204" pitchFamily="18" charset="0"/>
                <a:ea typeface="Cambria" panose="02040503050406030204" pitchFamily="18" charset="0"/>
              </a:rPr>
              <a:t>Non-primitive (reference) data type</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891854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C12A3-E5E6-8715-85B6-D6F1A75375E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76ECCDC-7A99-651D-B0D8-B0764CE05589}"/>
              </a:ext>
            </a:extLst>
          </p:cNvPr>
          <p:cNvSpPr>
            <a:spLocks noGrp="1"/>
          </p:cNvSpPr>
          <p:nvPr>
            <p:ph type="title"/>
          </p:nvPr>
        </p:nvSpPr>
        <p:spPr/>
        <p:txBody>
          <a:bodyPr>
            <a:normAutofit/>
          </a:bodyPr>
          <a:lstStyle/>
          <a:p>
            <a:r>
              <a:rPr lang="en-IN" b="1" dirty="0"/>
              <a:t>JAVASCRIPT DATATYPES</a:t>
            </a:r>
            <a:endParaRPr lang="en-IN" dirty="0"/>
          </a:p>
        </p:txBody>
      </p:sp>
      <p:sp>
        <p:nvSpPr>
          <p:cNvPr id="4" name="Content Placeholder 3">
            <a:extLst>
              <a:ext uri="{FF2B5EF4-FFF2-40B4-BE49-F238E27FC236}">
                <a16:creationId xmlns:a16="http://schemas.microsoft.com/office/drawing/2014/main" id="{15302664-9DAF-FE6A-E460-4B010B05C365}"/>
              </a:ext>
            </a:extLst>
          </p:cNvPr>
          <p:cNvSpPr>
            <a:spLocks noGrp="1" noChangeArrowheads="1"/>
          </p:cNvSpPr>
          <p:nvPr>
            <p:ph idx="1"/>
          </p:nvPr>
        </p:nvSpPr>
        <p:spPr bwMode="auto">
          <a:xfrm>
            <a:off x="696939" y="2618585"/>
            <a:ext cx="6237990" cy="810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dirty="0">
                <a:latin typeface="Cambria" panose="02040503050406030204" pitchFamily="18" charset="0"/>
                <a:ea typeface="Cambria" panose="02040503050406030204" pitchFamily="18" charset="0"/>
              </a:rPr>
              <a:t>There are five types of </a:t>
            </a:r>
            <a:r>
              <a:rPr lang="en-US" sz="1800" b="1" dirty="0">
                <a:latin typeface="Cambria" panose="02040503050406030204" pitchFamily="18" charset="0"/>
                <a:ea typeface="Cambria" panose="02040503050406030204" pitchFamily="18" charset="0"/>
              </a:rPr>
              <a:t>primitive data types</a:t>
            </a:r>
            <a:r>
              <a:rPr lang="en-US" sz="1800" dirty="0">
                <a:latin typeface="Cambria" panose="02040503050406030204" pitchFamily="18" charset="0"/>
                <a:ea typeface="Cambria" panose="02040503050406030204" pitchFamily="18" charset="0"/>
              </a:rPr>
              <a:t> in JavaScript. </a:t>
            </a:r>
          </a:p>
          <a:p>
            <a:pPr marL="0" indent="0">
              <a:buNone/>
            </a:pPr>
            <a:endParaRPr kumimoji="0" lang="en-US" altLang="en-US" sz="18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198DDBA3-6D31-0ECC-1AC0-1E95FB15FEC6}"/>
              </a:ext>
            </a:extLst>
          </p:cNvPr>
          <p:cNvGraphicFramePr>
            <a:graphicFrameLocks noGrp="1"/>
          </p:cNvGraphicFramePr>
          <p:nvPr>
            <p:extLst>
              <p:ext uri="{D42A27DB-BD31-4B8C-83A1-F6EECF244321}">
                <p14:modId xmlns:p14="http://schemas.microsoft.com/office/powerpoint/2010/main" val="2194294459"/>
              </p:ext>
            </p:extLst>
          </p:nvPr>
        </p:nvGraphicFramePr>
        <p:xfrm>
          <a:off x="952327" y="3437792"/>
          <a:ext cx="9000565" cy="3312160"/>
        </p:xfrm>
        <a:graphic>
          <a:graphicData uri="http://schemas.openxmlformats.org/drawingml/2006/table">
            <a:tbl>
              <a:tblPr firstRow="1" bandRow="1">
                <a:tableStyleId>{5940675A-B579-460E-94D1-54222C63F5DA}</a:tableStyleId>
              </a:tblPr>
              <a:tblGrid>
                <a:gridCol w="2713620">
                  <a:extLst>
                    <a:ext uri="{9D8B030D-6E8A-4147-A177-3AD203B41FA5}">
                      <a16:colId xmlns:a16="http://schemas.microsoft.com/office/drawing/2014/main" val="2178148797"/>
                    </a:ext>
                  </a:extLst>
                </a:gridCol>
                <a:gridCol w="6286945">
                  <a:extLst>
                    <a:ext uri="{9D8B030D-6E8A-4147-A177-3AD203B41FA5}">
                      <a16:colId xmlns:a16="http://schemas.microsoft.com/office/drawing/2014/main" val="2396510484"/>
                    </a:ext>
                  </a:extLst>
                </a:gridCol>
              </a:tblGrid>
              <a:tr h="370840">
                <a:tc>
                  <a:txBody>
                    <a:bodyPr/>
                    <a:lstStyle/>
                    <a:p>
                      <a:pPr algn="ctr"/>
                      <a:r>
                        <a:rPr lang="en-IN" b="1" dirty="0">
                          <a:latin typeface="Cambria" panose="02040503050406030204" pitchFamily="18" charset="0"/>
                          <a:ea typeface="Cambria" panose="02040503050406030204" pitchFamily="18" charset="0"/>
                        </a:rPr>
                        <a:t>Data Type</a:t>
                      </a:r>
                    </a:p>
                  </a:txBody>
                  <a:tcPr/>
                </a:tc>
                <a:tc>
                  <a:txBody>
                    <a:bodyPr/>
                    <a:lstStyle/>
                    <a:p>
                      <a:pPr algn="ctr"/>
                      <a:r>
                        <a:rPr lang="en-IN" b="1" dirty="0">
                          <a:latin typeface="Cambria" panose="02040503050406030204" pitchFamily="18" charset="0"/>
                          <a:ea typeface="Cambria" panose="02040503050406030204" pitchFamily="18" charset="0"/>
                        </a:rPr>
                        <a:t>Description</a:t>
                      </a:r>
                    </a:p>
                  </a:txBody>
                  <a:tcPr/>
                </a:tc>
                <a:extLst>
                  <a:ext uri="{0D108BD9-81ED-4DB2-BD59-A6C34878D82A}">
                    <a16:rowId xmlns:a16="http://schemas.microsoft.com/office/drawing/2014/main" val="376092744"/>
                  </a:ext>
                </a:extLst>
              </a:tr>
              <a:tr h="370840">
                <a:tc>
                  <a:txBody>
                    <a:bodyPr/>
                    <a:lstStyle/>
                    <a:p>
                      <a:pPr algn="ctr"/>
                      <a:r>
                        <a:rPr lang="en-US" b="0" dirty="0">
                          <a:latin typeface="Cambria" panose="02040503050406030204" pitchFamily="18" charset="0"/>
                          <a:ea typeface="Cambria" panose="02040503050406030204" pitchFamily="18" charset="0"/>
                        </a:rPr>
                        <a:t>String</a:t>
                      </a:r>
                      <a:endParaRPr lang="en-IN" b="0" dirty="0">
                        <a:latin typeface="Cambria" panose="02040503050406030204" pitchFamily="18" charset="0"/>
                        <a:ea typeface="Cambria" panose="02040503050406030204" pitchFamily="18" charset="0"/>
                      </a:endParaRPr>
                    </a:p>
                  </a:txBody>
                  <a:tcPr/>
                </a:tc>
                <a:tc>
                  <a:txBody>
                    <a:bodyPr/>
                    <a:lstStyle/>
                    <a:p>
                      <a:pPr algn="l"/>
                      <a:r>
                        <a:rPr lang="en-US" dirty="0">
                          <a:latin typeface="Cambria" panose="02040503050406030204" pitchFamily="18" charset="0"/>
                          <a:ea typeface="Cambria" panose="02040503050406030204" pitchFamily="18" charset="0"/>
                        </a:rPr>
                        <a:t>represents sequence of characters e.g. "hello"</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100737744"/>
                  </a:ext>
                </a:extLst>
              </a:tr>
              <a:tr h="370840">
                <a:tc>
                  <a:txBody>
                    <a:bodyPr/>
                    <a:lstStyle/>
                    <a:p>
                      <a:pPr algn="ctr"/>
                      <a:r>
                        <a:rPr lang="en-IN" b="0" dirty="0">
                          <a:latin typeface="Cambria" panose="02040503050406030204" pitchFamily="18" charset="0"/>
                          <a:ea typeface="Cambria" panose="02040503050406030204" pitchFamily="18" charset="0"/>
                        </a:rPr>
                        <a:t>Number </a:t>
                      </a:r>
                    </a:p>
                  </a:txBody>
                  <a:tcPr/>
                </a:tc>
                <a:tc>
                  <a:txBody>
                    <a:bodyPr/>
                    <a:lstStyle/>
                    <a:p>
                      <a:pPr algn="l"/>
                      <a:r>
                        <a:rPr lang="en-US" dirty="0">
                          <a:latin typeface="Cambria" panose="02040503050406030204" pitchFamily="18" charset="0"/>
                          <a:ea typeface="Cambria" panose="02040503050406030204" pitchFamily="18" charset="0"/>
                        </a:rPr>
                        <a:t>represents numeric values e.g. 100</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85943964"/>
                  </a:ext>
                </a:extLst>
              </a:tr>
              <a:tr h="370840">
                <a:tc>
                  <a:txBody>
                    <a:bodyPr/>
                    <a:lstStyle/>
                    <a:p>
                      <a:pPr algn="ctr"/>
                      <a:r>
                        <a:rPr lang="en-IN" b="0" dirty="0">
                          <a:latin typeface="Cambria" panose="02040503050406030204" pitchFamily="18" charset="0"/>
                          <a:ea typeface="Cambria" panose="02040503050406030204" pitchFamily="18" charset="0"/>
                        </a:rPr>
                        <a:t>Boolean </a:t>
                      </a:r>
                    </a:p>
                  </a:txBody>
                  <a:tcPr/>
                </a:tc>
                <a:tc>
                  <a:txBody>
                    <a:bodyPr/>
                    <a:lstStyle/>
                    <a:p>
                      <a:pPr algn="l"/>
                      <a:r>
                        <a:rPr lang="en-US" dirty="0">
                          <a:latin typeface="Cambria" panose="02040503050406030204" pitchFamily="18" charset="0"/>
                          <a:ea typeface="Cambria" panose="02040503050406030204" pitchFamily="18" charset="0"/>
                        </a:rPr>
                        <a:t>represents </a:t>
                      </a:r>
                      <a:r>
                        <a:rPr lang="en-US" dirty="0" err="1">
                          <a:latin typeface="Cambria" panose="02040503050406030204" pitchFamily="18" charset="0"/>
                          <a:ea typeface="Cambria" panose="02040503050406030204" pitchFamily="18" charset="0"/>
                        </a:rPr>
                        <a:t>boolean</a:t>
                      </a:r>
                      <a:r>
                        <a:rPr lang="en-US" dirty="0">
                          <a:latin typeface="Cambria" panose="02040503050406030204" pitchFamily="18" charset="0"/>
                          <a:ea typeface="Cambria" panose="02040503050406030204" pitchFamily="18" charset="0"/>
                        </a:rPr>
                        <a:t> value either false or true</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592745741"/>
                  </a:ext>
                </a:extLst>
              </a:tr>
              <a:tr h="370840">
                <a:tc>
                  <a:txBody>
                    <a:bodyPr/>
                    <a:lstStyle/>
                    <a:p>
                      <a:pPr algn="ctr"/>
                      <a:r>
                        <a:rPr lang="en-IN" b="0" dirty="0">
                          <a:latin typeface="Cambria" panose="02040503050406030204" pitchFamily="18" charset="0"/>
                          <a:ea typeface="Cambria" panose="02040503050406030204" pitchFamily="18" charset="0"/>
                        </a:rPr>
                        <a:t>Undefined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Cambria" panose="02040503050406030204" pitchFamily="18" charset="0"/>
                          <a:ea typeface="Cambria" panose="02040503050406030204" pitchFamily="18" charset="0"/>
                        </a:rPr>
                        <a:t>represents undefined value. </a:t>
                      </a:r>
                      <a:r>
                        <a:rPr lang="en-US" sz="1800" b="0" kern="1200" dirty="0">
                          <a:solidFill>
                            <a:schemeClr val="tx1"/>
                          </a:solidFill>
                          <a:effectLst/>
                          <a:latin typeface="Cambria" panose="02040503050406030204" pitchFamily="18" charset="0"/>
                          <a:ea typeface="Cambria" panose="02040503050406030204" pitchFamily="18" charset="0"/>
                          <a:cs typeface="+mn-cs"/>
                        </a:rPr>
                        <a:t> A variable declared but no value assigned.</a:t>
                      </a:r>
                    </a:p>
                    <a:p>
                      <a:pPr algn="l"/>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553053837"/>
                  </a:ext>
                </a:extLst>
              </a:tr>
              <a:tr h="370840">
                <a:tc>
                  <a:txBody>
                    <a:bodyPr/>
                    <a:lstStyle/>
                    <a:p>
                      <a:pPr algn="ctr"/>
                      <a:r>
                        <a:rPr lang="en-IN" b="0" dirty="0">
                          <a:latin typeface="Cambria" panose="02040503050406030204" pitchFamily="18" charset="0"/>
                          <a:ea typeface="Cambria" panose="02040503050406030204" pitchFamily="18" charset="0"/>
                        </a:rPr>
                        <a:t>Null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ea typeface="Cambria" panose="02040503050406030204" pitchFamily="18" charset="0"/>
                        </a:rPr>
                        <a:t>represents null i.e. no value at all. </a:t>
                      </a:r>
                      <a:r>
                        <a:rPr lang="en-IN" sz="1800" b="0" kern="1200" dirty="0">
                          <a:solidFill>
                            <a:schemeClr val="tx1"/>
                          </a:solidFill>
                          <a:effectLst/>
                          <a:latin typeface="Cambria" panose="02040503050406030204" pitchFamily="18" charset="0"/>
                          <a:ea typeface="Cambria" panose="02040503050406030204" pitchFamily="18" charset="0"/>
                          <a:cs typeface="+mn-cs"/>
                        </a:rPr>
                        <a:t>Empty value intentionally assigned</a:t>
                      </a:r>
                    </a:p>
                    <a:p>
                      <a:pPr algn="l"/>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795395167"/>
                  </a:ext>
                </a:extLst>
              </a:tr>
            </a:tbl>
          </a:graphicData>
        </a:graphic>
      </p:graphicFrame>
    </p:spTree>
    <p:extLst>
      <p:ext uri="{BB962C8B-B14F-4D97-AF65-F5344CB8AC3E}">
        <p14:creationId xmlns:p14="http://schemas.microsoft.com/office/powerpoint/2010/main" val="9512244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9854F-8D3B-D618-272E-4E33F513C33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9BF95EF-7CFC-EE26-CB4A-874A017B50A6}"/>
              </a:ext>
            </a:extLst>
          </p:cNvPr>
          <p:cNvSpPr>
            <a:spLocks noGrp="1"/>
          </p:cNvSpPr>
          <p:nvPr>
            <p:ph type="title"/>
          </p:nvPr>
        </p:nvSpPr>
        <p:spPr/>
        <p:txBody>
          <a:bodyPr>
            <a:normAutofit/>
          </a:bodyPr>
          <a:lstStyle/>
          <a:p>
            <a:r>
              <a:rPr lang="en-IN" b="1" dirty="0"/>
              <a:t>JAVASCRIPT DATATYPES</a:t>
            </a:r>
            <a:endParaRPr lang="en-IN" dirty="0"/>
          </a:p>
        </p:txBody>
      </p:sp>
      <p:sp>
        <p:nvSpPr>
          <p:cNvPr id="4" name="Content Placeholder 3">
            <a:extLst>
              <a:ext uri="{FF2B5EF4-FFF2-40B4-BE49-F238E27FC236}">
                <a16:creationId xmlns:a16="http://schemas.microsoft.com/office/drawing/2014/main" id="{5CE9A116-2A04-70D4-BC9C-87E43DA337A2}"/>
              </a:ext>
            </a:extLst>
          </p:cNvPr>
          <p:cNvSpPr>
            <a:spLocks noGrp="1" noChangeArrowheads="1"/>
          </p:cNvSpPr>
          <p:nvPr>
            <p:ph idx="1"/>
          </p:nvPr>
        </p:nvSpPr>
        <p:spPr bwMode="auto">
          <a:xfrm>
            <a:off x="696939" y="2837107"/>
            <a:ext cx="4808239" cy="373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1800" dirty="0">
                <a:latin typeface="Cambria" panose="02040503050406030204" pitchFamily="18" charset="0"/>
                <a:ea typeface="Cambria" panose="02040503050406030204" pitchFamily="18" charset="0"/>
              </a:rPr>
              <a:t>The non-primitive data types are as follows:</a:t>
            </a:r>
            <a:endParaRPr kumimoji="0" lang="en-US" altLang="en-US" sz="18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9229FF51-602B-E4D6-3C23-9B60CD47E0D8}"/>
              </a:ext>
            </a:extLst>
          </p:cNvPr>
          <p:cNvGraphicFramePr>
            <a:graphicFrameLocks noGrp="1"/>
          </p:cNvGraphicFramePr>
          <p:nvPr>
            <p:extLst>
              <p:ext uri="{D42A27DB-BD31-4B8C-83A1-F6EECF244321}">
                <p14:modId xmlns:p14="http://schemas.microsoft.com/office/powerpoint/2010/main" val="3662015893"/>
              </p:ext>
            </p:extLst>
          </p:nvPr>
        </p:nvGraphicFramePr>
        <p:xfrm>
          <a:off x="978703" y="3429000"/>
          <a:ext cx="9264891" cy="1483360"/>
        </p:xfrm>
        <a:graphic>
          <a:graphicData uri="http://schemas.openxmlformats.org/drawingml/2006/table">
            <a:tbl>
              <a:tblPr firstRow="1" bandRow="1">
                <a:tableStyleId>{5940675A-B579-460E-94D1-54222C63F5DA}</a:tableStyleId>
              </a:tblPr>
              <a:tblGrid>
                <a:gridCol w="2895278">
                  <a:extLst>
                    <a:ext uri="{9D8B030D-6E8A-4147-A177-3AD203B41FA5}">
                      <a16:colId xmlns:a16="http://schemas.microsoft.com/office/drawing/2014/main" val="2178148797"/>
                    </a:ext>
                  </a:extLst>
                </a:gridCol>
                <a:gridCol w="6369613">
                  <a:extLst>
                    <a:ext uri="{9D8B030D-6E8A-4147-A177-3AD203B41FA5}">
                      <a16:colId xmlns:a16="http://schemas.microsoft.com/office/drawing/2014/main" val="2396510484"/>
                    </a:ext>
                  </a:extLst>
                </a:gridCol>
              </a:tblGrid>
              <a:tr h="370840">
                <a:tc>
                  <a:txBody>
                    <a:bodyPr/>
                    <a:lstStyle/>
                    <a:p>
                      <a:pPr algn="ctr"/>
                      <a:r>
                        <a:rPr lang="en-IN" b="1" dirty="0">
                          <a:latin typeface="Cambria" panose="02040503050406030204" pitchFamily="18" charset="0"/>
                          <a:ea typeface="Cambria" panose="02040503050406030204" pitchFamily="18" charset="0"/>
                        </a:rPr>
                        <a:t>Data Type</a:t>
                      </a:r>
                    </a:p>
                  </a:txBody>
                  <a:tcPr/>
                </a:tc>
                <a:tc>
                  <a:txBody>
                    <a:bodyPr/>
                    <a:lstStyle/>
                    <a:p>
                      <a:pPr algn="ctr"/>
                      <a:r>
                        <a:rPr lang="en-IN" b="1" dirty="0">
                          <a:latin typeface="Cambria" panose="02040503050406030204" pitchFamily="18" charset="0"/>
                          <a:ea typeface="Cambria" panose="02040503050406030204" pitchFamily="18" charset="0"/>
                        </a:rPr>
                        <a:t>Description</a:t>
                      </a:r>
                    </a:p>
                  </a:txBody>
                  <a:tcPr/>
                </a:tc>
                <a:extLst>
                  <a:ext uri="{0D108BD9-81ED-4DB2-BD59-A6C34878D82A}">
                    <a16:rowId xmlns:a16="http://schemas.microsoft.com/office/drawing/2014/main" val="376092744"/>
                  </a:ext>
                </a:extLst>
              </a:tr>
              <a:tr h="370840">
                <a:tc>
                  <a:txBody>
                    <a:bodyPr/>
                    <a:lstStyle/>
                    <a:p>
                      <a:pPr algn="ctr"/>
                      <a:r>
                        <a:rPr lang="en-IN" b="0" dirty="0">
                          <a:latin typeface="Cambria" panose="02040503050406030204" pitchFamily="18" charset="0"/>
                          <a:ea typeface="Cambria" panose="02040503050406030204" pitchFamily="18" charset="0"/>
                        </a:rPr>
                        <a:t>Object </a:t>
                      </a:r>
                    </a:p>
                  </a:txBody>
                  <a:tcPr/>
                </a:tc>
                <a:tc>
                  <a:txBody>
                    <a:bodyPr/>
                    <a:lstStyle/>
                    <a:p>
                      <a:pPr algn="l"/>
                      <a:r>
                        <a:rPr lang="en-US" dirty="0">
                          <a:latin typeface="Cambria" panose="02040503050406030204" pitchFamily="18" charset="0"/>
                          <a:ea typeface="Cambria" panose="02040503050406030204" pitchFamily="18" charset="0"/>
                        </a:rPr>
                        <a:t>represents instance through which we can access members. {}</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100737744"/>
                  </a:ext>
                </a:extLst>
              </a:tr>
              <a:tr h="370840">
                <a:tc>
                  <a:txBody>
                    <a:bodyPr/>
                    <a:lstStyle/>
                    <a:p>
                      <a:pPr algn="ctr"/>
                      <a:r>
                        <a:rPr lang="en-IN" b="0" dirty="0">
                          <a:latin typeface="Cambria" panose="02040503050406030204" pitchFamily="18" charset="0"/>
                          <a:ea typeface="Cambria" panose="02040503050406030204" pitchFamily="18" charset="0"/>
                        </a:rPr>
                        <a:t>Array  </a:t>
                      </a:r>
                    </a:p>
                  </a:txBody>
                  <a:tcPr/>
                </a:tc>
                <a:tc>
                  <a:txBody>
                    <a:bodyPr/>
                    <a:lstStyle/>
                    <a:p>
                      <a:pPr algn="l"/>
                      <a:r>
                        <a:rPr lang="en-US" dirty="0">
                          <a:latin typeface="Cambria" panose="02040503050406030204" pitchFamily="18" charset="0"/>
                          <a:ea typeface="Cambria" panose="02040503050406030204" pitchFamily="18" charset="0"/>
                        </a:rPr>
                        <a:t>represents group of similar values. []</a:t>
                      </a:r>
                      <a:endParaRPr lang="en-IN"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85943964"/>
                  </a:ext>
                </a:extLst>
              </a:tr>
              <a:tr h="370840">
                <a:tc>
                  <a:txBody>
                    <a:bodyPr/>
                    <a:lstStyle/>
                    <a:p>
                      <a:pPr algn="ctr"/>
                      <a:r>
                        <a:rPr lang="en-IN" b="0" dirty="0" err="1">
                          <a:latin typeface="Cambria" panose="02040503050406030204" pitchFamily="18" charset="0"/>
                          <a:ea typeface="Cambria" panose="02040503050406030204" pitchFamily="18" charset="0"/>
                        </a:rPr>
                        <a:t>RegExp</a:t>
                      </a:r>
                      <a:r>
                        <a:rPr lang="en-IN" b="0" dirty="0">
                          <a:latin typeface="Cambria" panose="02040503050406030204" pitchFamily="18" charset="0"/>
                          <a:ea typeface="Cambria" panose="02040503050406030204" pitchFamily="18" charset="0"/>
                        </a:rPr>
                        <a:t>  </a:t>
                      </a:r>
                    </a:p>
                  </a:txBody>
                  <a:tcPr/>
                </a:tc>
                <a:tc>
                  <a:txBody>
                    <a:bodyPr/>
                    <a:lstStyle/>
                    <a:p>
                      <a:pPr algn="l"/>
                      <a:r>
                        <a:rPr lang="en-IN" dirty="0">
                          <a:latin typeface="Cambria" panose="02040503050406030204" pitchFamily="18" charset="0"/>
                          <a:ea typeface="Cambria" panose="02040503050406030204" pitchFamily="18" charset="0"/>
                        </a:rPr>
                        <a:t>represents regular expression</a:t>
                      </a:r>
                    </a:p>
                  </a:txBody>
                  <a:tcPr/>
                </a:tc>
                <a:extLst>
                  <a:ext uri="{0D108BD9-81ED-4DB2-BD59-A6C34878D82A}">
                    <a16:rowId xmlns:a16="http://schemas.microsoft.com/office/drawing/2014/main" val="3592745741"/>
                  </a:ext>
                </a:extLst>
              </a:tr>
            </a:tbl>
          </a:graphicData>
        </a:graphic>
      </p:graphicFrame>
    </p:spTree>
    <p:extLst>
      <p:ext uri="{BB962C8B-B14F-4D97-AF65-F5344CB8AC3E}">
        <p14:creationId xmlns:p14="http://schemas.microsoft.com/office/powerpoint/2010/main" val="33486995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0E1FB-FE7D-23FD-19A3-8AA10A413F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E02F497-B3CF-C0ED-9789-86C0B1A57CAF}"/>
              </a:ext>
            </a:extLst>
          </p:cNvPr>
          <p:cNvSpPr>
            <a:spLocks noGrp="1"/>
          </p:cNvSpPr>
          <p:nvPr>
            <p:ph type="title"/>
          </p:nvPr>
        </p:nvSpPr>
        <p:spPr/>
        <p:txBody>
          <a:bodyPr>
            <a:normAutofit/>
          </a:bodyPr>
          <a:lstStyle/>
          <a:p>
            <a:r>
              <a:rPr lang="en-IN" b="1" dirty="0"/>
              <a:t>JAVASCRIPT FUNCTIONS</a:t>
            </a:r>
          </a:p>
        </p:txBody>
      </p:sp>
      <p:sp>
        <p:nvSpPr>
          <p:cNvPr id="4" name="Content Placeholder 3">
            <a:extLst>
              <a:ext uri="{FF2B5EF4-FFF2-40B4-BE49-F238E27FC236}">
                <a16:creationId xmlns:a16="http://schemas.microsoft.com/office/drawing/2014/main" id="{9EC39F0F-0A86-B05F-FA14-009CEE373A5D}"/>
              </a:ext>
            </a:extLst>
          </p:cNvPr>
          <p:cNvSpPr>
            <a:spLocks noGrp="1" noChangeArrowheads="1"/>
          </p:cNvSpPr>
          <p:nvPr>
            <p:ph idx="1"/>
          </p:nvPr>
        </p:nvSpPr>
        <p:spPr bwMode="auto">
          <a:xfrm>
            <a:off x="581192" y="2482568"/>
            <a:ext cx="11479233" cy="3559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dirty="0">
                <a:latin typeface="Cambria" panose="02040503050406030204" pitchFamily="18" charset="0"/>
                <a:ea typeface="Cambria" panose="02040503050406030204" pitchFamily="18" charset="0"/>
              </a:rPr>
              <a:t>Functions are </a:t>
            </a:r>
            <a:r>
              <a:rPr lang="en-US" b="1" dirty="0">
                <a:latin typeface="Cambria" panose="02040503050406030204" pitchFamily="18" charset="0"/>
                <a:ea typeface="Cambria" panose="02040503050406030204" pitchFamily="18" charset="0"/>
              </a:rPr>
              <a:t>reusable blocks of code designed to perform a specific task</a:t>
            </a:r>
          </a:p>
          <a:p>
            <a:r>
              <a:rPr lang="en-US" dirty="0">
                <a:latin typeface="Cambria" panose="02040503050406030204" pitchFamily="18" charset="0"/>
                <a:ea typeface="Cambria" panose="02040503050406030204" pitchFamily="18" charset="0"/>
              </a:rPr>
              <a:t>They help </a:t>
            </a:r>
            <a:r>
              <a:rPr lang="en-US" b="1" dirty="0">
                <a:latin typeface="Cambria" panose="02040503050406030204" pitchFamily="18" charset="0"/>
                <a:ea typeface="Cambria" panose="02040503050406030204" pitchFamily="18" charset="0"/>
              </a:rPr>
              <a:t>organize your code and make it easier to read and maintain</a:t>
            </a:r>
          </a:p>
          <a:p>
            <a:r>
              <a:rPr lang="en-IN" b="1" dirty="0">
                <a:latin typeface="Cambria" panose="02040503050406030204" pitchFamily="18" charset="0"/>
                <a:ea typeface="Cambria" panose="02040503050406030204" pitchFamily="18" charset="0"/>
              </a:rPr>
              <a:t>Declaring a Function:</a:t>
            </a:r>
          </a:p>
          <a:p>
            <a:pPr lvl="1"/>
            <a:r>
              <a:rPr lang="en-US" sz="1700" dirty="0">
                <a:latin typeface="Cambria" panose="02040503050406030204" pitchFamily="18" charset="0"/>
                <a:ea typeface="Cambria" panose="02040503050406030204" pitchFamily="18" charset="0"/>
              </a:rPr>
              <a:t>You can define a function using the function keyword followed by its name, parameters (inputs), and the code block</a:t>
            </a:r>
          </a:p>
          <a:p>
            <a:pPr marL="594000" lvl="2" indent="0">
              <a:buNone/>
            </a:pPr>
            <a:endParaRPr lang="en-US" altLang="en-US" sz="1700" dirty="0">
              <a:solidFill>
                <a:schemeClr val="tx1"/>
              </a:solidFill>
              <a:latin typeface="Cambria" panose="02040503050406030204" pitchFamily="18" charset="0"/>
              <a:ea typeface="Cambria" panose="02040503050406030204" pitchFamily="18" charset="0"/>
            </a:endParaRPr>
          </a:p>
          <a:p>
            <a:pPr marL="594000" lvl="2" indent="0">
              <a:buNone/>
            </a:pPr>
            <a:r>
              <a:rPr lang="en-US" altLang="en-US" sz="1700" dirty="0">
                <a:solidFill>
                  <a:schemeClr val="tx1"/>
                </a:solidFill>
                <a:latin typeface="Cambria" panose="02040503050406030204" pitchFamily="18" charset="0"/>
                <a:ea typeface="Cambria" panose="02040503050406030204" pitchFamily="18" charset="0"/>
              </a:rPr>
              <a:t>function greet(name) {</a:t>
            </a:r>
          </a:p>
          <a:p>
            <a:pPr marL="594000" lvl="2" indent="0">
              <a:buNone/>
            </a:pPr>
            <a:r>
              <a:rPr lang="en-US" altLang="en-US" sz="1700" dirty="0">
                <a:solidFill>
                  <a:schemeClr val="tx1"/>
                </a:solidFill>
                <a:latin typeface="Cambria" panose="02040503050406030204" pitchFamily="18" charset="0"/>
                <a:ea typeface="Cambria" panose="02040503050406030204" pitchFamily="18" charset="0"/>
              </a:rPr>
              <a:t>    return "Hello, " + name + "!"; // Returns a greeting message</a:t>
            </a:r>
          </a:p>
          <a:p>
            <a:pPr marL="594000" lvl="2" indent="0">
              <a:buNone/>
            </a:pPr>
            <a:r>
              <a:rPr lang="en-US" altLang="en-US" sz="1700" dirty="0">
                <a:solidFill>
                  <a:schemeClr val="tx1"/>
                </a:solidFill>
                <a:latin typeface="Cambria" panose="02040503050406030204" pitchFamily="18" charset="0"/>
                <a:ea typeface="Cambria" panose="02040503050406030204" pitchFamily="18" charset="0"/>
              </a:rPr>
              <a:t>}</a:t>
            </a:r>
          </a:p>
          <a:p>
            <a:pPr marL="594000" lvl="2" indent="0">
              <a:buNone/>
            </a:pPr>
            <a:r>
              <a:rPr lang="en-US" altLang="en-US" sz="1700" dirty="0">
                <a:solidFill>
                  <a:schemeClr val="tx1"/>
                </a:solidFill>
                <a:latin typeface="Cambria" panose="02040503050406030204" pitchFamily="18" charset="0"/>
                <a:ea typeface="Cambria" panose="02040503050406030204" pitchFamily="18" charset="0"/>
              </a:rPr>
              <a:t>console.log(greet("Alice")); // Output: Hello, Alice!</a:t>
            </a:r>
            <a:endParaRPr kumimoji="0" lang="en-US" altLang="en-US" sz="17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196294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DE766-C672-FC8D-D8A1-975E37321B2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D4563B0-450F-8354-43F4-AA197137465E}"/>
              </a:ext>
            </a:extLst>
          </p:cNvPr>
          <p:cNvSpPr>
            <a:spLocks noGrp="1"/>
          </p:cNvSpPr>
          <p:nvPr>
            <p:ph type="title"/>
          </p:nvPr>
        </p:nvSpPr>
        <p:spPr/>
        <p:txBody>
          <a:bodyPr>
            <a:normAutofit/>
          </a:bodyPr>
          <a:lstStyle/>
          <a:p>
            <a:r>
              <a:rPr lang="en-IN" b="1" dirty="0"/>
              <a:t>JAVASCRIPT EVENTS</a:t>
            </a:r>
          </a:p>
        </p:txBody>
      </p:sp>
      <p:sp>
        <p:nvSpPr>
          <p:cNvPr id="4" name="Content Placeholder 3">
            <a:extLst>
              <a:ext uri="{FF2B5EF4-FFF2-40B4-BE49-F238E27FC236}">
                <a16:creationId xmlns:a16="http://schemas.microsoft.com/office/drawing/2014/main" id="{56379FC8-68F8-8E57-3769-A232C6978A4D}"/>
              </a:ext>
            </a:extLst>
          </p:cNvPr>
          <p:cNvSpPr>
            <a:spLocks noGrp="1" noChangeArrowheads="1"/>
          </p:cNvSpPr>
          <p:nvPr>
            <p:ph idx="1"/>
          </p:nvPr>
        </p:nvSpPr>
        <p:spPr bwMode="auto">
          <a:xfrm>
            <a:off x="581192" y="3185070"/>
            <a:ext cx="9974919"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mbria" panose="02040503050406030204" pitchFamily="18" charset="0"/>
                <a:ea typeface="Cambria" panose="02040503050406030204" pitchFamily="18" charset="0"/>
              </a:rPr>
              <a:t>Events are </a:t>
            </a:r>
            <a:r>
              <a:rPr lang="en-US" b="1" dirty="0">
                <a:latin typeface="Cambria" panose="02040503050406030204" pitchFamily="18" charset="0"/>
                <a:ea typeface="Cambria" panose="02040503050406030204" pitchFamily="18" charset="0"/>
              </a:rPr>
              <a:t>actions that occur in the browser</a:t>
            </a:r>
            <a:r>
              <a:rPr lang="en-US" dirty="0">
                <a:latin typeface="Cambria" panose="02040503050406030204" pitchFamily="18" charset="0"/>
                <a:ea typeface="Cambria" panose="02040503050406030204" pitchFamily="18" charset="0"/>
              </a:rPr>
              <a:t>, such as </a:t>
            </a:r>
            <a:r>
              <a:rPr lang="en-US" b="1" dirty="0">
                <a:latin typeface="Cambria" panose="02040503050406030204" pitchFamily="18" charset="0"/>
                <a:ea typeface="Cambria" panose="02040503050406030204" pitchFamily="18" charset="0"/>
              </a:rPr>
              <a:t>clicking a button, pressing a key, or moving the mouse</a:t>
            </a:r>
          </a:p>
          <a:p>
            <a:pPr algn="just"/>
            <a:r>
              <a:rPr lang="en-US" dirty="0">
                <a:latin typeface="Cambria" panose="02040503050406030204" pitchFamily="18" charset="0"/>
                <a:ea typeface="Cambria" panose="02040503050406030204" pitchFamily="18" charset="0"/>
              </a:rPr>
              <a:t>You can </a:t>
            </a:r>
            <a:r>
              <a:rPr lang="en-US" b="1" dirty="0">
                <a:latin typeface="Cambria" panose="02040503050406030204" pitchFamily="18" charset="0"/>
                <a:ea typeface="Cambria" panose="02040503050406030204" pitchFamily="18" charset="0"/>
              </a:rPr>
              <a:t>make your web pages interactive by responding to these events</a:t>
            </a:r>
          </a:p>
          <a:p>
            <a:pPr algn="just"/>
            <a:r>
              <a:rPr lang="en-IN" b="1" dirty="0">
                <a:latin typeface="Cambria" panose="02040503050406030204" pitchFamily="18" charset="0"/>
                <a:ea typeface="Cambria" panose="02040503050406030204" pitchFamily="18" charset="0"/>
              </a:rPr>
              <a:t>Adding an Event Listener</a:t>
            </a:r>
          </a:p>
          <a:p>
            <a:pPr lvl="1" algn="just"/>
            <a:r>
              <a:rPr lang="en-US" sz="1700" dirty="0">
                <a:latin typeface="Cambria" panose="02040503050406030204" pitchFamily="18" charset="0"/>
                <a:ea typeface="Cambria" panose="02040503050406030204" pitchFamily="18" charset="0"/>
              </a:rPr>
              <a:t>An event listener is a </a:t>
            </a:r>
            <a:r>
              <a:rPr lang="en-US" sz="1700" b="1" dirty="0">
                <a:latin typeface="Cambria" panose="02040503050406030204" pitchFamily="18" charset="0"/>
                <a:ea typeface="Cambria" panose="02040503050406030204" pitchFamily="18" charset="0"/>
              </a:rPr>
              <a:t>function that waits for an event to occur and then executes some code in response</a:t>
            </a:r>
          </a:p>
        </p:txBody>
      </p:sp>
    </p:spTree>
    <p:extLst>
      <p:ext uri="{BB962C8B-B14F-4D97-AF65-F5344CB8AC3E}">
        <p14:creationId xmlns:p14="http://schemas.microsoft.com/office/powerpoint/2010/main" val="1480703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92AE4-FB3C-42ED-3B94-498402DD4F1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05472CD-B0E7-31B5-8E2C-8A425ACF5A9D}"/>
              </a:ext>
            </a:extLst>
          </p:cNvPr>
          <p:cNvSpPr>
            <a:spLocks noGrp="1"/>
          </p:cNvSpPr>
          <p:nvPr>
            <p:ph type="title"/>
          </p:nvPr>
        </p:nvSpPr>
        <p:spPr/>
        <p:txBody>
          <a:bodyPr>
            <a:normAutofit/>
          </a:bodyPr>
          <a:lstStyle/>
          <a:p>
            <a:r>
              <a:rPr lang="en-IN" b="1" dirty="0"/>
              <a:t>JAVASCRIPT EVENTS</a:t>
            </a:r>
          </a:p>
        </p:txBody>
      </p:sp>
      <p:sp>
        <p:nvSpPr>
          <p:cNvPr id="4" name="Content Placeholder 3">
            <a:extLst>
              <a:ext uri="{FF2B5EF4-FFF2-40B4-BE49-F238E27FC236}">
                <a16:creationId xmlns:a16="http://schemas.microsoft.com/office/drawing/2014/main" id="{51E2CC31-B5B1-3911-DA6B-9E00467C75C5}"/>
              </a:ext>
            </a:extLst>
          </p:cNvPr>
          <p:cNvSpPr>
            <a:spLocks noGrp="1" noChangeArrowheads="1"/>
          </p:cNvSpPr>
          <p:nvPr>
            <p:ph idx="1"/>
          </p:nvPr>
        </p:nvSpPr>
        <p:spPr bwMode="auto">
          <a:xfrm>
            <a:off x="581192" y="2623794"/>
            <a:ext cx="9974919" cy="327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latin typeface="Cambria" panose="02040503050406030204" pitchFamily="18" charset="0"/>
                <a:ea typeface="Cambria" panose="02040503050406030204" pitchFamily="18" charset="0"/>
              </a:rPr>
              <a:t>&lt;button id="</a:t>
            </a:r>
            <a:r>
              <a:rPr lang="en-US" dirty="0" err="1">
                <a:latin typeface="Cambria" panose="02040503050406030204" pitchFamily="18" charset="0"/>
                <a:ea typeface="Cambria" panose="02040503050406030204" pitchFamily="18" charset="0"/>
              </a:rPr>
              <a:t>myButton</a:t>
            </a:r>
            <a:r>
              <a:rPr lang="en-US" dirty="0">
                <a:latin typeface="Cambria" panose="02040503050406030204" pitchFamily="18" charset="0"/>
                <a:ea typeface="Cambria" panose="02040503050406030204" pitchFamily="18" charset="0"/>
              </a:rPr>
              <a:t>"&gt;Click Me!&lt;/button&gt;</a:t>
            </a:r>
          </a:p>
          <a:p>
            <a:pPr marL="0" indent="0" algn="just">
              <a:buNone/>
            </a:pPr>
            <a:endParaRPr lang="en-US" dirty="0">
              <a:latin typeface="Cambria" panose="02040503050406030204" pitchFamily="18" charset="0"/>
              <a:ea typeface="Cambria" panose="02040503050406030204" pitchFamily="18" charset="0"/>
            </a:endParaRPr>
          </a:p>
          <a:p>
            <a:pPr marL="0" indent="0" algn="just">
              <a:buNone/>
            </a:pPr>
            <a:r>
              <a:rPr lang="en-US" dirty="0">
                <a:latin typeface="Cambria" panose="02040503050406030204" pitchFamily="18" charset="0"/>
                <a:ea typeface="Cambria" panose="02040503050406030204" pitchFamily="18" charset="0"/>
              </a:rPr>
              <a:t>&lt;script&gt;</a:t>
            </a:r>
          </a:p>
          <a:p>
            <a:pPr marL="0" indent="0" algn="just">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document.getElementById</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myButton</a:t>
            </a:r>
            <a:r>
              <a:rPr lang="en-US" dirty="0">
                <a:latin typeface="Cambria" panose="02040503050406030204" pitchFamily="18" charset="0"/>
                <a:ea typeface="Cambria" panose="02040503050406030204" pitchFamily="18" charset="0"/>
              </a:rPr>
              <a:t>").</a:t>
            </a:r>
            <a:r>
              <a:rPr lang="en-US" dirty="0" err="1">
                <a:latin typeface="Cambria" panose="02040503050406030204" pitchFamily="18" charset="0"/>
                <a:ea typeface="Cambria" panose="02040503050406030204" pitchFamily="18" charset="0"/>
              </a:rPr>
              <a:t>addEventListener</a:t>
            </a:r>
            <a:r>
              <a:rPr lang="en-US" dirty="0">
                <a:latin typeface="Cambria" panose="02040503050406030204" pitchFamily="18" charset="0"/>
                <a:ea typeface="Cambria" panose="02040503050406030204" pitchFamily="18" charset="0"/>
              </a:rPr>
              <a:t>("click",</a:t>
            </a:r>
          </a:p>
          <a:p>
            <a:pPr marL="0" indent="0" algn="just">
              <a:buNone/>
            </a:pPr>
            <a:r>
              <a:rPr lang="en-US" dirty="0">
                <a:latin typeface="Cambria" panose="02040503050406030204" pitchFamily="18" charset="0"/>
                <a:ea typeface="Cambria" panose="02040503050406030204" pitchFamily="18" charset="0"/>
              </a:rPr>
              <a:t>        function() {</a:t>
            </a:r>
          </a:p>
          <a:p>
            <a:pPr marL="0" indent="0" algn="just">
              <a:buNone/>
            </a:pPr>
            <a:r>
              <a:rPr lang="en-US" dirty="0">
                <a:latin typeface="Cambria" panose="02040503050406030204" pitchFamily="18" charset="0"/>
                <a:ea typeface="Cambria" panose="02040503050406030204" pitchFamily="18" charset="0"/>
              </a:rPr>
              <a:t>            alert("Button was clicked!");  // Show an alert when the button is clicked</a:t>
            </a:r>
          </a:p>
          <a:p>
            <a:pPr marL="0" indent="0" algn="just">
              <a:buNone/>
            </a:pPr>
            <a:r>
              <a:rPr lang="en-US" dirty="0">
                <a:latin typeface="Cambria" panose="02040503050406030204" pitchFamily="18" charset="0"/>
                <a:ea typeface="Cambria" panose="02040503050406030204" pitchFamily="18" charset="0"/>
              </a:rPr>
              <a:t>        });</a:t>
            </a:r>
          </a:p>
          <a:p>
            <a:pPr marL="0" indent="0" algn="just">
              <a:buNone/>
            </a:pPr>
            <a:r>
              <a:rPr lang="en-US" dirty="0">
                <a:latin typeface="Cambria" panose="02040503050406030204" pitchFamily="18" charset="0"/>
                <a:ea typeface="Cambria" panose="02040503050406030204" pitchFamily="18" charset="0"/>
              </a:rPr>
              <a:t>&lt;/script&gt;</a:t>
            </a:r>
            <a:endParaRPr lang="en-US" sz="1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25591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1597E-B8B1-485A-DC91-891D9738DA1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4A43C61-32F3-11BF-448D-1DD2A0F7F969}"/>
              </a:ext>
            </a:extLst>
          </p:cNvPr>
          <p:cNvSpPr>
            <a:spLocks noGrp="1"/>
          </p:cNvSpPr>
          <p:nvPr>
            <p:ph type="title"/>
          </p:nvPr>
        </p:nvSpPr>
        <p:spPr/>
        <p:txBody>
          <a:bodyPr>
            <a:normAutofit/>
          </a:bodyPr>
          <a:lstStyle/>
          <a:p>
            <a:r>
              <a:rPr lang="en-IN" b="1" dirty="0"/>
              <a:t>AJAX (ASYNCHRONOUS JAVASCRIPT AND XML)</a:t>
            </a:r>
          </a:p>
        </p:txBody>
      </p:sp>
      <p:sp>
        <p:nvSpPr>
          <p:cNvPr id="4" name="Content Placeholder 3">
            <a:extLst>
              <a:ext uri="{FF2B5EF4-FFF2-40B4-BE49-F238E27FC236}">
                <a16:creationId xmlns:a16="http://schemas.microsoft.com/office/drawing/2014/main" id="{26E5A766-002B-5F56-A08A-9F65063EC23B}"/>
              </a:ext>
            </a:extLst>
          </p:cNvPr>
          <p:cNvSpPr>
            <a:spLocks noGrp="1" noChangeArrowheads="1"/>
          </p:cNvSpPr>
          <p:nvPr>
            <p:ph idx="1"/>
          </p:nvPr>
        </p:nvSpPr>
        <p:spPr bwMode="auto">
          <a:xfrm>
            <a:off x="581192" y="2402550"/>
            <a:ext cx="9974919" cy="3719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mbria" panose="02040503050406030204" pitchFamily="18" charset="0"/>
                <a:ea typeface="Cambria" panose="02040503050406030204" pitchFamily="18" charset="0"/>
              </a:rPr>
              <a:t>AJAX stands for Asynchronous JavaScript and XML.</a:t>
            </a:r>
          </a:p>
          <a:p>
            <a:pPr algn="just"/>
            <a:r>
              <a:rPr lang="en-US" dirty="0">
                <a:latin typeface="Cambria" panose="02040503050406030204" pitchFamily="18" charset="0"/>
                <a:ea typeface="Cambria" panose="02040503050406030204" pitchFamily="18" charset="0"/>
              </a:rPr>
              <a:t>AJAX allows web pages to be updated asynchronously by exchanging small amounts of data with the server behind the scenes. This means that it is possible to update parts of a web page, without reloading the whole page.</a:t>
            </a:r>
          </a:p>
          <a:p>
            <a:pPr algn="just"/>
            <a:r>
              <a:rPr lang="en-US" dirty="0">
                <a:latin typeface="Cambria" panose="02040503050406030204" pitchFamily="18" charset="0"/>
                <a:ea typeface="Cambria" panose="02040503050406030204" pitchFamily="18" charset="0"/>
              </a:rPr>
              <a:t>This makes web applications faster and more interactive.</a:t>
            </a:r>
          </a:p>
          <a:p>
            <a:pPr algn="just"/>
            <a:r>
              <a:rPr lang="en-US" dirty="0">
                <a:latin typeface="Cambria" panose="02040503050406030204" pitchFamily="18" charset="0"/>
                <a:ea typeface="Cambria" panose="02040503050406030204" pitchFamily="18" charset="0"/>
              </a:rPr>
              <a:t>No page reload/refresh</a:t>
            </a:r>
          </a:p>
          <a:p>
            <a:pPr algn="just"/>
            <a:r>
              <a:rPr lang="en-US" dirty="0">
                <a:latin typeface="Cambria" panose="02040503050406030204" pitchFamily="18" charset="0"/>
                <a:ea typeface="Cambria" panose="02040503050406030204" pitchFamily="18" charset="0"/>
              </a:rPr>
              <a:t>There are too many web applications running on the web that are using AJAX technology like Gmail, Facebook, Twitter, Google Map, YouTube, etc.</a:t>
            </a:r>
          </a:p>
          <a:p>
            <a:pPr algn="just"/>
            <a:r>
              <a:rPr lang="en-IN" b="1" dirty="0">
                <a:latin typeface="Cambria" panose="02040503050406030204" pitchFamily="18" charset="0"/>
                <a:ea typeface="Cambria" panose="02040503050406030204" pitchFamily="18" charset="0"/>
              </a:rPr>
              <a:t>Making AJAX Requests</a:t>
            </a:r>
          </a:p>
          <a:p>
            <a:pPr lvl="1" algn="just"/>
            <a:r>
              <a:rPr lang="en-US" sz="1700" dirty="0">
                <a:latin typeface="Cambria" panose="02040503050406030204" pitchFamily="18" charset="0"/>
                <a:ea typeface="Cambria" panose="02040503050406030204" pitchFamily="18" charset="0"/>
              </a:rPr>
              <a:t>You can make two types of requests using AJAX: </a:t>
            </a:r>
            <a:r>
              <a:rPr lang="en-US" sz="1700" b="1" dirty="0">
                <a:latin typeface="Cambria" panose="02040503050406030204" pitchFamily="18" charset="0"/>
                <a:ea typeface="Cambria" panose="02040503050406030204" pitchFamily="18" charset="0"/>
              </a:rPr>
              <a:t>GET</a:t>
            </a:r>
            <a:r>
              <a:rPr lang="en-US" sz="1700" dirty="0">
                <a:latin typeface="Cambria" panose="02040503050406030204" pitchFamily="18" charset="0"/>
                <a:ea typeface="Cambria" panose="02040503050406030204" pitchFamily="18" charset="0"/>
              </a:rPr>
              <a:t> and </a:t>
            </a:r>
            <a:r>
              <a:rPr lang="en-US" sz="1700" b="1" dirty="0">
                <a:latin typeface="Cambria" panose="02040503050406030204" pitchFamily="18" charset="0"/>
                <a:ea typeface="Cambria" panose="02040503050406030204" pitchFamily="18" charset="0"/>
              </a:rPr>
              <a:t>POST</a:t>
            </a:r>
          </a:p>
        </p:txBody>
      </p:sp>
    </p:spTree>
    <p:extLst>
      <p:ext uri="{BB962C8B-B14F-4D97-AF65-F5344CB8AC3E}">
        <p14:creationId xmlns:p14="http://schemas.microsoft.com/office/powerpoint/2010/main" val="4266969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5EFF6-4497-097D-7E3F-7B215C3D54B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5A6AF83-A28E-3370-0989-F8E31117F590}"/>
              </a:ext>
            </a:extLst>
          </p:cNvPr>
          <p:cNvSpPr>
            <a:spLocks noGrp="1"/>
          </p:cNvSpPr>
          <p:nvPr>
            <p:ph type="title"/>
          </p:nvPr>
        </p:nvSpPr>
        <p:spPr/>
        <p:txBody>
          <a:bodyPr>
            <a:normAutofit/>
          </a:bodyPr>
          <a:lstStyle/>
          <a:p>
            <a:r>
              <a:rPr lang="en-IN" b="1" dirty="0"/>
              <a:t>HOW AJAX Works?</a:t>
            </a:r>
          </a:p>
        </p:txBody>
      </p:sp>
      <p:sp>
        <p:nvSpPr>
          <p:cNvPr id="4" name="Content Placeholder 3">
            <a:extLst>
              <a:ext uri="{FF2B5EF4-FFF2-40B4-BE49-F238E27FC236}">
                <a16:creationId xmlns:a16="http://schemas.microsoft.com/office/drawing/2014/main" id="{E2DB0A86-52C8-7E4C-CC57-E5B67F85C70C}"/>
              </a:ext>
            </a:extLst>
          </p:cNvPr>
          <p:cNvSpPr>
            <a:spLocks noGrp="1" noChangeArrowheads="1"/>
          </p:cNvSpPr>
          <p:nvPr>
            <p:ph idx="1"/>
          </p:nvPr>
        </p:nvSpPr>
        <p:spPr bwMode="auto">
          <a:xfrm>
            <a:off x="581192" y="3522280"/>
            <a:ext cx="9974919" cy="1480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mbria" panose="02040503050406030204" pitchFamily="18" charset="0"/>
                <a:ea typeface="Cambria" panose="02040503050406030204" pitchFamily="18" charset="0"/>
              </a:rPr>
              <a:t>AJAX uses </a:t>
            </a:r>
            <a:r>
              <a:rPr lang="en-IN" dirty="0" err="1">
                <a:latin typeface="Cambria" panose="02040503050406030204" pitchFamily="18" charset="0"/>
                <a:ea typeface="Cambria" panose="02040503050406030204" pitchFamily="18" charset="0"/>
              </a:rPr>
              <a:t>XMLHttpRequest</a:t>
            </a:r>
            <a:r>
              <a:rPr lang="en-US" dirty="0">
                <a:latin typeface="Cambria" panose="02040503050406030204" pitchFamily="18" charset="0"/>
                <a:ea typeface="Cambria" panose="02040503050406030204" pitchFamily="18" charset="0"/>
              </a:rPr>
              <a:t> object (also called </a:t>
            </a:r>
            <a:r>
              <a:rPr lang="en-US" dirty="0" err="1">
                <a:latin typeface="Cambria" panose="02040503050406030204" pitchFamily="18" charset="0"/>
                <a:ea typeface="Cambria" panose="02040503050406030204" pitchFamily="18" charset="0"/>
              </a:rPr>
              <a:t>xhr</a:t>
            </a:r>
            <a:r>
              <a:rPr lang="en-US" dirty="0">
                <a:latin typeface="Cambria" panose="02040503050406030204" pitchFamily="18" charset="0"/>
                <a:ea typeface="Cambria" panose="02040503050406030204" pitchFamily="18" charset="0"/>
              </a:rPr>
              <a:t> object) to achieve this</a:t>
            </a:r>
          </a:p>
          <a:p>
            <a:pPr algn="just"/>
            <a:r>
              <a:rPr lang="en-US" dirty="0">
                <a:latin typeface="Cambria" panose="02040503050406030204" pitchFamily="18" charset="0"/>
                <a:ea typeface="Cambria" panose="02040503050406030204" pitchFamily="18" charset="0"/>
              </a:rPr>
              <a:t>Modern websites use JSON instead of XML for data transfer</a:t>
            </a:r>
          </a:p>
          <a:p>
            <a:pPr algn="just"/>
            <a:r>
              <a:rPr lang="en-US" dirty="0">
                <a:latin typeface="Cambria" panose="02040503050406030204" pitchFamily="18" charset="0"/>
                <a:ea typeface="Cambria" panose="02040503050406030204" pitchFamily="18" charset="0"/>
              </a:rPr>
              <a:t>Data can be transferred in different formats (such as JSON, XML, or text) using protocols like HTTP or HTTPS.</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64553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D3152-1CC0-CDE6-577D-4E44899908D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8623A53-F420-89E2-A01D-4A6D05271015}"/>
              </a:ext>
            </a:extLst>
          </p:cNvPr>
          <p:cNvSpPr>
            <a:spLocks noGrp="1"/>
          </p:cNvSpPr>
          <p:nvPr>
            <p:ph type="title"/>
          </p:nvPr>
        </p:nvSpPr>
        <p:spPr/>
        <p:txBody>
          <a:bodyPr>
            <a:normAutofit/>
          </a:bodyPr>
          <a:lstStyle/>
          <a:p>
            <a:r>
              <a:rPr lang="en-IN" b="1" dirty="0"/>
              <a:t>AJAX - GET REQUEST</a:t>
            </a:r>
          </a:p>
        </p:txBody>
      </p:sp>
      <p:sp>
        <p:nvSpPr>
          <p:cNvPr id="4" name="Content Placeholder 3">
            <a:extLst>
              <a:ext uri="{FF2B5EF4-FFF2-40B4-BE49-F238E27FC236}">
                <a16:creationId xmlns:a16="http://schemas.microsoft.com/office/drawing/2014/main" id="{45916ED0-A7BA-F1E1-E982-011C90680287}"/>
              </a:ext>
            </a:extLst>
          </p:cNvPr>
          <p:cNvSpPr>
            <a:spLocks noGrp="1" noChangeArrowheads="1"/>
          </p:cNvSpPr>
          <p:nvPr>
            <p:ph idx="1"/>
          </p:nvPr>
        </p:nvSpPr>
        <p:spPr bwMode="auto">
          <a:xfrm>
            <a:off x="581192" y="2278395"/>
            <a:ext cx="9974919" cy="4315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mbria" panose="02040503050406030204" pitchFamily="18" charset="0"/>
                <a:ea typeface="Cambria" panose="02040503050406030204" pitchFamily="18" charset="0"/>
              </a:rPr>
              <a:t>A GET request retrieves data from a server</a:t>
            </a:r>
          </a:p>
          <a:p>
            <a:pPr marL="0" indent="0" algn="just">
              <a:buNone/>
            </a:pPr>
            <a:endParaRPr lang="en-US" dirty="0">
              <a:latin typeface="Cambria" panose="02040503050406030204" pitchFamily="18" charset="0"/>
              <a:ea typeface="Cambria" panose="02040503050406030204" pitchFamily="18" charset="0"/>
            </a:endParaRPr>
          </a:p>
          <a:p>
            <a:pPr marL="594000" lvl="2" indent="0" algn="just">
              <a:buNone/>
            </a:pPr>
            <a:r>
              <a:rPr lang="en-US" sz="1700" b="1" dirty="0">
                <a:latin typeface="Cambria" panose="02040503050406030204" pitchFamily="18" charset="0"/>
                <a:ea typeface="Cambria" panose="02040503050406030204" pitchFamily="18" charset="0"/>
              </a:rPr>
              <a:t>let </a:t>
            </a:r>
            <a:r>
              <a:rPr lang="en-US" sz="1700" b="1" dirty="0" err="1">
                <a:latin typeface="Cambria" panose="02040503050406030204" pitchFamily="18" charset="0"/>
                <a:ea typeface="Cambria" panose="02040503050406030204" pitchFamily="18" charset="0"/>
              </a:rPr>
              <a:t>xhr</a:t>
            </a:r>
            <a:r>
              <a:rPr lang="en-US" sz="1700" b="1" dirty="0">
                <a:latin typeface="Cambria" panose="02040503050406030204" pitchFamily="18" charset="0"/>
                <a:ea typeface="Cambria" panose="02040503050406030204" pitchFamily="18" charset="0"/>
              </a:rPr>
              <a:t> = new </a:t>
            </a:r>
            <a:r>
              <a:rPr lang="en-US" sz="1700" b="1" dirty="0" err="1">
                <a:latin typeface="Cambria" panose="02040503050406030204" pitchFamily="18" charset="0"/>
                <a:ea typeface="Cambria" panose="02040503050406030204" pitchFamily="18" charset="0"/>
              </a:rPr>
              <a:t>XMLHttpRequest</a:t>
            </a:r>
            <a:r>
              <a:rPr lang="en-US" sz="1700" b="1"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 Create a new </a:t>
            </a:r>
            <a:r>
              <a:rPr lang="en-US" sz="1700" dirty="0" err="1">
                <a:latin typeface="Cambria" panose="02040503050406030204" pitchFamily="18" charset="0"/>
                <a:ea typeface="Cambria" panose="02040503050406030204" pitchFamily="18" charset="0"/>
              </a:rPr>
              <a:t>XMLHttpRequest</a:t>
            </a:r>
            <a:r>
              <a:rPr lang="en-US" sz="1700" dirty="0">
                <a:latin typeface="Cambria" panose="02040503050406030204" pitchFamily="18" charset="0"/>
                <a:ea typeface="Cambria" panose="02040503050406030204" pitchFamily="18" charset="0"/>
              </a:rPr>
              <a:t> object</a:t>
            </a:r>
          </a:p>
          <a:p>
            <a:pPr marL="594000" lvl="2" indent="0" algn="just">
              <a:buNone/>
            </a:pPr>
            <a:r>
              <a:rPr lang="en-US" sz="1700" b="1" dirty="0" err="1">
                <a:latin typeface="Cambria" panose="02040503050406030204" pitchFamily="18" charset="0"/>
                <a:ea typeface="Cambria" panose="02040503050406030204" pitchFamily="18" charset="0"/>
              </a:rPr>
              <a:t>xhr.open</a:t>
            </a:r>
            <a:r>
              <a:rPr lang="en-US" sz="1700" b="1" dirty="0">
                <a:latin typeface="Cambria" panose="02040503050406030204" pitchFamily="18" charset="0"/>
                <a:ea typeface="Cambria" panose="02040503050406030204" pitchFamily="18" charset="0"/>
              </a:rPr>
              <a:t>("GET", "https://jsonplaceholder.typicode.com/posts/1", true);</a:t>
            </a:r>
            <a:r>
              <a:rPr lang="en-US" sz="1700" dirty="0">
                <a:latin typeface="Cambria" panose="02040503050406030204" pitchFamily="18" charset="0"/>
                <a:ea typeface="Cambria" panose="02040503050406030204" pitchFamily="18" charset="0"/>
              </a:rPr>
              <a:t>// Specify the request type and URL</a:t>
            </a:r>
          </a:p>
          <a:p>
            <a:pPr marL="594000" lvl="2" indent="0" algn="just">
              <a:buNone/>
            </a:pPr>
            <a:r>
              <a:rPr lang="en-US" sz="1700" b="1" dirty="0" err="1">
                <a:latin typeface="Cambria" panose="02040503050406030204" pitchFamily="18" charset="0"/>
                <a:ea typeface="Cambria" panose="02040503050406030204" pitchFamily="18" charset="0"/>
              </a:rPr>
              <a:t>xhr.onload</a:t>
            </a:r>
            <a:r>
              <a:rPr lang="en-US" sz="1700" b="1" dirty="0">
                <a:latin typeface="Cambria" panose="02040503050406030204" pitchFamily="18" charset="0"/>
                <a:ea typeface="Cambria" panose="02040503050406030204" pitchFamily="18" charset="0"/>
              </a:rPr>
              <a:t> = function() {</a:t>
            </a:r>
          </a:p>
          <a:p>
            <a:pPr marL="594000" lvl="2" indent="0" algn="just">
              <a:buNone/>
            </a:pPr>
            <a:r>
              <a:rPr lang="en-US" sz="1700" b="1" dirty="0">
                <a:latin typeface="Cambria" panose="02040503050406030204" pitchFamily="18" charset="0"/>
                <a:ea typeface="Cambria" panose="02040503050406030204" pitchFamily="18" charset="0"/>
              </a:rPr>
              <a:t>    if (</a:t>
            </a:r>
            <a:r>
              <a:rPr lang="en-US" sz="1700" b="1" dirty="0" err="1">
                <a:latin typeface="Cambria" panose="02040503050406030204" pitchFamily="18" charset="0"/>
                <a:ea typeface="Cambria" panose="02040503050406030204" pitchFamily="18" charset="0"/>
              </a:rPr>
              <a:t>xhr.status</a:t>
            </a:r>
            <a:r>
              <a:rPr lang="en-US" sz="1700" b="1" dirty="0">
                <a:latin typeface="Cambria" panose="02040503050406030204" pitchFamily="18" charset="0"/>
                <a:ea typeface="Cambria" panose="02040503050406030204" pitchFamily="18" charset="0"/>
              </a:rPr>
              <a:t> === 200) { </a:t>
            </a:r>
            <a:r>
              <a:rPr lang="en-US" sz="1700" dirty="0">
                <a:latin typeface="Cambria" panose="02040503050406030204" pitchFamily="18" charset="0"/>
                <a:ea typeface="Cambria" panose="02040503050406030204" pitchFamily="18" charset="0"/>
              </a:rPr>
              <a:t>// Check if the request was successful (status code 200)</a:t>
            </a:r>
          </a:p>
          <a:p>
            <a:pPr marL="594000" lvl="2" indent="0" algn="just">
              <a:buNone/>
            </a:pPr>
            <a:r>
              <a:rPr lang="en-US" sz="1700" b="1" dirty="0">
                <a:latin typeface="Cambria" panose="02040503050406030204" pitchFamily="18" charset="0"/>
                <a:ea typeface="Cambria" panose="02040503050406030204" pitchFamily="18" charset="0"/>
              </a:rPr>
              <a:t>        console.log(</a:t>
            </a:r>
            <a:r>
              <a:rPr lang="en-US" sz="1700" b="1" dirty="0" err="1">
                <a:latin typeface="Cambria" panose="02040503050406030204" pitchFamily="18" charset="0"/>
                <a:ea typeface="Cambria" panose="02040503050406030204" pitchFamily="18" charset="0"/>
              </a:rPr>
              <a:t>xhr.responseText</a:t>
            </a:r>
            <a:r>
              <a:rPr lang="en-US" sz="1700" b="1"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 Handle the response data (e.g., display it)</a:t>
            </a:r>
          </a:p>
          <a:p>
            <a:pPr marL="594000" lvl="2" indent="0" algn="just">
              <a:buNone/>
            </a:pPr>
            <a:r>
              <a:rPr lang="en-US" sz="1700" b="1" dirty="0">
                <a:latin typeface="Cambria" panose="02040503050406030204" pitchFamily="18" charset="0"/>
                <a:ea typeface="Cambria" panose="02040503050406030204" pitchFamily="18" charset="0"/>
              </a:rPr>
              <a:t>    }</a:t>
            </a:r>
          </a:p>
          <a:p>
            <a:pPr marL="594000" lvl="2" indent="0" algn="just">
              <a:buNone/>
            </a:pPr>
            <a:r>
              <a:rPr lang="en-US" sz="1700" b="1" dirty="0">
                <a:latin typeface="Cambria" panose="02040503050406030204" pitchFamily="18" charset="0"/>
                <a:ea typeface="Cambria" panose="02040503050406030204" pitchFamily="18" charset="0"/>
              </a:rPr>
              <a:t>};</a:t>
            </a:r>
          </a:p>
          <a:p>
            <a:pPr marL="594000" lvl="2" indent="0" algn="just">
              <a:buNone/>
            </a:pPr>
            <a:r>
              <a:rPr lang="en-US" sz="1700" b="1" dirty="0" err="1">
                <a:latin typeface="Cambria" panose="02040503050406030204" pitchFamily="18" charset="0"/>
                <a:ea typeface="Cambria" panose="02040503050406030204" pitchFamily="18" charset="0"/>
              </a:rPr>
              <a:t>xhr.send</a:t>
            </a:r>
            <a:r>
              <a:rPr lang="en-US" sz="1700" b="1"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 Send the request to the server</a:t>
            </a:r>
          </a:p>
        </p:txBody>
      </p:sp>
    </p:spTree>
    <p:extLst>
      <p:ext uri="{BB962C8B-B14F-4D97-AF65-F5344CB8AC3E}">
        <p14:creationId xmlns:p14="http://schemas.microsoft.com/office/powerpoint/2010/main" val="15220883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794E6-1F52-011A-9829-04BC3F2E6D5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086047C-EAB6-2FE7-0838-5BB4B387AB51}"/>
              </a:ext>
            </a:extLst>
          </p:cNvPr>
          <p:cNvSpPr>
            <a:spLocks noGrp="1"/>
          </p:cNvSpPr>
          <p:nvPr>
            <p:ph type="title"/>
          </p:nvPr>
        </p:nvSpPr>
        <p:spPr>
          <a:xfrm>
            <a:off x="500169" y="169721"/>
            <a:ext cx="11029616" cy="1188720"/>
          </a:xfrm>
        </p:spPr>
        <p:txBody>
          <a:bodyPr>
            <a:normAutofit/>
          </a:bodyPr>
          <a:lstStyle/>
          <a:p>
            <a:r>
              <a:rPr lang="en-IN" b="1" dirty="0"/>
              <a:t>AJAX - POST REQUEST</a:t>
            </a:r>
          </a:p>
        </p:txBody>
      </p:sp>
      <p:sp>
        <p:nvSpPr>
          <p:cNvPr id="4" name="Content Placeholder 3">
            <a:extLst>
              <a:ext uri="{FF2B5EF4-FFF2-40B4-BE49-F238E27FC236}">
                <a16:creationId xmlns:a16="http://schemas.microsoft.com/office/drawing/2014/main" id="{5D127B40-814E-AFE4-772F-2A0C25731F65}"/>
              </a:ext>
            </a:extLst>
          </p:cNvPr>
          <p:cNvSpPr>
            <a:spLocks noGrp="1" noChangeArrowheads="1"/>
          </p:cNvSpPr>
          <p:nvPr>
            <p:ph idx="1"/>
          </p:nvPr>
        </p:nvSpPr>
        <p:spPr bwMode="auto">
          <a:xfrm>
            <a:off x="581192" y="1617660"/>
            <a:ext cx="9974919" cy="5070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latin typeface="Cambria" panose="02040503050406030204" pitchFamily="18" charset="0"/>
                <a:ea typeface="Cambria" panose="02040503050406030204" pitchFamily="18" charset="0"/>
              </a:rPr>
              <a:t>A POST request sends data to a server</a:t>
            </a:r>
          </a:p>
          <a:p>
            <a:pPr marL="594000" lvl="2" indent="0">
              <a:buNone/>
            </a:pPr>
            <a:r>
              <a:rPr lang="en-IN" sz="1700" b="1" dirty="0">
                <a:latin typeface="Cambria" panose="02040503050406030204" pitchFamily="18" charset="0"/>
                <a:ea typeface="Cambria" panose="02040503050406030204" pitchFamily="18" charset="0"/>
              </a:rPr>
              <a:t>let </a:t>
            </a:r>
            <a:r>
              <a:rPr lang="en-IN" sz="1700" b="1" dirty="0" err="1">
                <a:latin typeface="Cambria" panose="02040503050406030204" pitchFamily="18" charset="0"/>
                <a:ea typeface="Cambria" panose="02040503050406030204" pitchFamily="18" charset="0"/>
              </a:rPr>
              <a:t>xhr</a:t>
            </a:r>
            <a:r>
              <a:rPr lang="en-IN" sz="1700" b="1" dirty="0">
                <a:latin typeface="Cambria" panose="02040503050406030204" pitchFamily="18" charset="0"/>
                <a:ea typeface="Cambria" panose="02040503050406030204" pitchFamily="18" charset="0"/>
              </a:rPr>
              <a:t> = new </a:t>
            </a:r>
            <a:r>
              <a:rPr lang="en-IN" sz="1700" b="1" dirty="0" err="1">
                <a:latin typeface="Cambria" panose="02040503050406030204" pitchFamily="18" charset="0"/>
                <a:ea typeface="Cambria" panose="02040503050406030204" pitchFamily="18" charset="0"/>
              </a:rPr>
              <a:t>XMLHttpRequest</a:t>
            </a:r>
            <a:r>
              <a:rPr lang="en-IN" sz="1700" b="1"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 Create a new </a:t>
            </a:r>
            <a:r>
              <a:rPr lang="en-US" sz="1700" dirty="0" err="1">
                <a:latin typeface="Cambria" panose="02040503050406030204" pitchFamily="18" charset="0"/>
                <a:ea typeface="Cambria" panose="02040503050406030204" pitchFamily="18" charset="0"/>
              </a:rPr>
              <a:t>XMLHttpRequest</a:t>
            </a:r>
            <a:r>
              <a:rPr lang="en-US" sz="1700" dirty="0">
                <a:latin typeface="Cambria" panose="02040503050406030204" pitchFamily="18" charset="0"/>
                <a:ea typeface="Cambria" panose="02040503050406030204" pitchFamily="18" charset="0"/>
              </a:rPr>
              <a:t> object</a:t>
            </a:r>
            <a:endParaRPr lang="en-IN" sz="1700" b="1" dirty="0">
              <a:latin typeface="Cambria" panose="02040503050406030204" pitchFamily="18" charset="0"/>
              <a:ea typeface="Cambria" panose="02040503050406030204" pitchFamily="18" charset="0"/>
            </a:endParaRPr>
          </a:p>
          <a:p>
            <a:pPr marL="594000" lvl="2" indent="0">
              <a:buNone/>
            </a:pPr>
            <a:r>
              <a:rPr lang="en-IN" sz="1700" b="1" dirty="0" err="1">
                <a:latin typeface="Cambria" panose="02040503050406030204" pitchFamily="18" charset="0"/>
                <a:ea typeface="Cambria" panose="02040503050406030204" pitchFamily="18" charset="0"/>
              </a:rPr>
              <a:t>xhr.open</a:t>
            </a:r>
            <a:r>
              <a:rPr lang="en-IN" sz="1700" b="1" dirty="0">
                <a:latin typeface="Cambria" panose="02040503050406030204" pitchFamily="18" charset="0"/>
                <a:ea typeface="Cambria" panose="02040503050406030204" pitchFamily="18" charset="0"/>
              </a:rPr>
              <a:t>("POST", "https://jsonplaceholder.typicode.com/posts", true);</a:t>
            </a:r>
          </a:p>
          <a:p>
            <a:pPr marL="594000" lvl="2" indent="0">
              <a:buNone/>
            </a:pPr>
            <a:r>
              <a:rPr lang="en-IN" sz="1700" b="1" dirty="0" err="1">
                <a:latin typeface="Cambria" panose="02040503050406030204" pitchFamily="18" charset="0"/>
                <a:ea typeface="Cambria" panose="02040503050406030204" pitchFamily="18" charset="0"/>
              </a:rPr>
              <a:t>xhr.setRequestHeader</a:t>
            </a:r>
            <a:r>
              <a:rPr lang="en-IN" sz="1700" b="1" dirty="0">
                <a:latin typeface="Cambria" panose="02040503050406030204" pitchFamily="18" charset="0"/>
                <a:ea typeface="Cambria" panose="02040503050406030204" pitchFamily="18" charset="0"/>
              </a:rPr>
              <a:t>("Content-Type", "application/</a:t>
            </a:r>
            <a:r>
              <a:rPr lang="en-IN" sz="1700" b="1" dirty="0" err="1">
                <a:latin typeface="Cambria" panose="02040503050406030204" pitchFamily="18" charset="0"/>
                <a:ea typeface="Cambria" panose="02040503050406030204" pitchFamily="18" charset="0"/>
              </a:rPr>
              <a:t>json</a:t>
            </a:r>
            <a:r>
              <a:rPr lang="en-IN" sz="1700" b="1" dirty="0">
                <a:latin typeface="Cambria" panose="02040503050406030204" pitchFamily="18" charset="0"/>
                <a:ea typeface="Cambria" panose="02040503050406030204" pitchFamily="18" charset="0"/>
              </a:rPr>
              <a:t>; charset=UTF-8"); </a:t>
            </a:r>
          </a:p>
          <a:p>
            <a:pPr marL="594000" lvl="2" indent="0">
              <a:buNone/>
            </a:pPr>
            <a:r>
              <a:rPr lang="en-IN" sz="1700" b="1" dirty="0" err="1">
                <a:latin typeface="Cambria" panose="02040503050406030204" pitchFamily="18" charset="0"/>
                <a:ea typeface="Cambria" panose="02040503050406030204" pitchFamily="18" charset="0"/>
              </a:rPr>
              <a:t>xhr.onload</a:t>
            </a:r>
            <a:r>
              <a:rPr lang="en-IN" sz="1700" b="1" dirty="0">
                <a:latin typeface="Cambria" panose="02040503050406030204" pitchFamily="18" charset="0"/>
                <a:ea typeface="Cambria" panose="02040503050406030204" pitchFamily="18" charset="0"/>
              </a:rPr>
              <a:t> = function() {</a:t>
            </a:r>
          </a:p>
          <a:p>
            <a:pPr marL="594000" lvl="2" indent="0">
              <a:buNone/>
            </a:pPr>
            <a:r>
              <a:rPr lang="en-IN" sz="1700" b="1" dirty="0">
                <a:latin typeface="Cambria" panose="02040503050406030204" pitchFamily="18" charset="0"/>
                <a:ea typeface="Cambria" panose="02040503050406030204" pitchFamily="18" charset="0"/>
              </a:rPr>
              <a:t>    if (</a:t>
            </a:r>
            <a:r>
              <a:rPr lang="en-IN" sz="1700" b="1" dirty="0" err="1">
                <a:latin typeface="Cambria" panose="02040503050406030204" pitchFamily="18" charset="0"/>
                <a:ea typeface="Cambria" panose="02040503050406030204" pitchFamily="18" charset="0"/>
              </a:rPr>
              <a:t>xhr.status</a:t>
            </a:r>
            <a:r>
              <a:rPr lang="en-IN" sz="1700" b="1" dirty="0">
                <a:latin typeface="Cambria" panose="02040503050406030204" pitchFamily="18" charset="0"/>
                <a:ea typeface="Cambria" panose="02040503050406030204" pitchFamily="18" charset="0"/>
              </a:rPr>
              <a:t> === 201) {  </a:t>
            </a:r>
            <a:r>
              <a:rPr lang="en-IN" sz="1700" dirty="0">
                <a:latin typeface="Cambria" panose="02040503050406030204" pitchFamily="18" charset="0"/>
                <a:ea typeface="Cambria" panose="02040503050406030204" pitchFamily="18" charset="0"/>
              </a:rPr>
              <a:t>// POST usually returns 201 (Created)</a:t>
            </a:r>
          </a:p>
          <a:p>
            <a:pPr marL="594000" lvl="2" indent="0">
              <a:buNone/>
            </a:pPr>
            <a:r>
              <a:rPr lang="en-IN" sz="1700" b="1" dirty="0">
                <a:latin typeface="Cambria" panose="02040503050406030204" pitchFamily="18" charset="0"/>
                <a:ea typeface="Cambria" panose="02040503050406030204" pitchFamily="18" charset="0"/>
              </a:rPr>
              <a:t>        console.log(</a:t>
            </a:r>
            <a:r>
              <a:rPr lang="en-IN" sz="1700" b="1" dirty="0" err="1">
                <a:latin typeface="Cambria" panose="02040503050406030204" pitchFamily="18" charset="0"/>
                <a:ea typeface="Cambria" panose="02040503050406030204" pitchFamily="18" charset="0"/>
              </a:rPr>
              <a:t>xhr.responseText</a:t>
            </a:r>
            <a:r>
              <a:rPr lang="en-IN" sz="1700" b="1" dirty="0">
                <a:latin typeface="Cambria" panose="02040503050406030204" pitchFamily="18" charset="0"/>
                <a:ea typeface="Cambria" panose="02040503050406030204" pitchFamily="18" charset="0"/>
              </a:rPr>
              <a:t>);</a:t>
            </a:r>
          </a:p>
          <a:p>
            <a:pPr marL="594000" lvl="2" indent="0">
              <a:buNone/>
            </a:pPr>
            <a:r>
              <a:rPr lang="en-IN" sz="1700" b="1" dirty="0">
                <a:latin typeface="Cambria" panose="02040503050406030204" pitchFamily="18" charset="0"/>
                <a:ea typeface="Cambria" panose="02040503050406030204" pitchFamily="18" charset="0"/>
              </a:rPr>
              <a:t>    }};</a:t>
            </a:r>
          </a:p>
          <a:p>
            <a:pPr marL="594000" lvl="2" indent="0">
              <a:buNone/>
            </a:pPr>
            <a:r>
              <a:rPr lang="en-IN" sz="1700" b="1" dirty="0" err="1">
                <a:latin typeface="Cambria" panose="02040503050406030204" pitchFamily="18" charset="0"/>
                <a:ea typeface="Cambria" panose="02040503050406030204" pitchFamily="18" charset="0"/>
              </a:rPr>
              <a:t>xhr.send</a:t>
            </a:r>
            <a:r>
              <a:rPr lang="en-IN" sz="1700" b="1" dirty="0">
                <a:latin typeface="Cambria" panose="02040503050406030204" pitchFamily="18" charset="0"/>
                <a:ea typeface="Cambria" panose="02040503050406030204" pitchFamily="18" charset="0"/>
              </a:rPr>
              <a:t>(</a:t>
            </a:r>
            <a:r>
              <a:rPr lang="en-IN" sz="1700" b="1" dirty="0" err="1">
                <a:latin typeface="Cambria" panose="02040503050406030204" pitchFamily="18" charset="0"/>
                <a:ea typeface="Cambria" panose="02040503050406030204" pitchFamily="18" charset="0"/>
              </a:rPr>
              <a:t>JSON.stringify</a:t>
            </a:r>
            <a:r>
              <a:rPr lang="en-IN" sz="1700" b="1" dirty="0">
                <a:latin typeface="Cambria" panose="02040503050406030204" pitchFamily="18" charset="0"/>
                <a:ea typeface="Cambria" panose="02040503050406030204" pitchFamily="18" charset="0"/>
              </a:rPr>
              <a:t>({</a:t>
            </a:r>
          </a:p>
          <a:p>
            <a:pPr marL="594000" lvl="2" indent="0">
              <a:buNone/>
            </a:pPr>
            <a:r>
              <a:rPr lang="en-IN" sz="1700" b="1" dirty="0">
                <a:latin typeface="Cambria" panose="02040503050406030204" pitchFamily="18" charset="0"/>
                <a:ea typeface="Cambria" panose="02040503050406030204" pitchFamily="18" charset="0"/>
              </a:rPr>
              <a:t>    title: "Hello",</a:t>
            </a:r>
          </a:p>
          <a:p>
            <a:pPr marL="594000" lvl="2" indent="0">
              <a:buNone/>
            </a:pPr>
            <a:r>
              <a:rPr lang="en-IN" sz="1700" b="1" dirty="0">
                <a:latin typeface="Cambria" panose="02040503050406030204" pitchFamily="18" charset="0"/>
                <a:ea typeface="Cambria" panose="02040503050406030204" pitchFamily="18" charset="0"/>
              </a:rPr>
              <a:t>    body: "This is a test",</a:t>
            </a:r>
          </a:p>
          <a:p>
            <a:pPr marL="594000" lvl="2" indent="0">
              <a:buNone/>
            </a:pPr>
            <a:r>
              <a:rPr lang="en-IN" sz="1700" b="1" dirty="0">
                <a:latin typeface="Cambria" panose="02040503050406030204" pitchFamily="18" charset="0"/>
                <a:ea typeface="Cambria" panose="02040503050406030204" pitchFamily="18" charset="0"/>
              </a:rPr>
              <a:t>    </a:t>
            </a:r>
            <a:r>
              <a:rPr lang="en-IN" sz="1700" b="1" dirty="0" err="1">
                <a:latin typeface="Cambria" panose="02040503050406030204" pitchFamily="18" charset="0"/>
                <a:ea typeface="Cambria" panose="02040503050406030204" pitchFamily="18" charset="0"/>
              </a:rPr>
              <a:t>userId</a:t>
            </a:r>
            <a:r>
              <a:rPr lang="en-IN" sz="1700" b="1" dirty="0">
                <a:latin typeface="Cambria" panose="02040503050406030204" pitchFamily="18" charset="0"/>
                <a:ea typeface="Cambria" panose="02040503050406030204" pitchFamily="18" charset="0"/>
              </a:rPr>
              <a:t>: 1</a:t>
            </a:r>
          </a:p>
          <a:p>
            <a:pPr marL="594000" lvl="2" indent="0">
              <a:buNone/>
            </a:pPr>
            <a:r>
              <a:rPr lang="en-IN" sz="1700" b="1" dirty="0">
                <a:latin typeface="Cambria" panose="02040503050406030204" pitchFamily="18" charset="0"/>
                <a:ea typeface="Cambria" panose="02040503050406030204" pitchFamily="18" charset="0"/>
              </a:rPr>
              <a:t>})); </a:t>
            </a:r>
            <a:r>
              <a:rPr lang="en-US" sz="1700" dirty="0">
                <a:latin typeface="Cambria" panose="02040503050406030204" pitchFamily="18" charset="0"/>
                <a:ea typeface="Cambria" panose="02040503050406030204" pitchFamily="18" charset="0"/>
              </a:rPr>
              <a:t>// Send JSON data to the server as string</a:t>
            </a:r>
            <a:endParaRPr lang="en-IN" sz="17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04185045"/>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{CD50CED3-32C4-4B76-9098-9788B66AF8C9}TF201209c3-d067-44f9-a26f-c8f216c4431347f6cf9d_win32-4021059b889a</Template>
  <TotalTime>909</TotalTime>
  <Words>3402</Words>
  <Application>Microsoft Office PowerPoint</Application>
  <PresentationFormat>Widescreen</PresentationFormat>
  <Paragraphs>351</Paragraphs>
  <Slides>48</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Calibri</vt:lpstr>
      <vt:lpstr>Cambria</vt:lpstr>
      <vt:lpstr>Franklin Gothic Book</vt:lpstr>
      <vt:lpstr>Franklin Gothic Demi</vt:lpstr>
      <vt:lpstr>Wingdings 2</vt:lpstr>
      <vt:lpstr>DividendVTI</vt:lpstr>
      <vt:lpstr>UNIT-1 : Introduction to Web</vt:lpstr>
      <vt:lpstr>What is web</vt:lpstr>
      <vt:lpstr>What is web</vt:lpstr>
      <vt:lpstr>SERVER – CLIENT COMMUNICATION PROTOCOL (HTTP)</vt:lpstr>
      <vt:lpstr>Server</vt:lpstr>
      <vt:lpstr>client</vt:lpstr>
      <vt:lpstr>PowerPoint Presentation</vt:lpstr>
      <vt:lpstr>PowerPoint Presentation</vt:lpstr>
      <vt:lpstr>PowerPoint Presentation</vt:lpstr>
      <vt:lpstr>PowerPoint Presentation</vt:lpstr>
      <vt:lpstr>Basic Characteristics of HTTP</vt:lpstr>
      <vt:lpstr>Structure of HTML Documents</vt:lpstr>
      <vt:lpstr>PowerPoint Presentation</vt:lpstr>
      <vt:lpstr>Basic Markup tags</vt:lpstr>
      <vt:lpstr>Basic Markup tags</vt:lpstr>
      <vt:lpstr>Basic Markup tags</vt:lpstr>
      <vt:lpstr>Basic Markup tags</vt:lpstr>
      <vt:lpstr>Basic Markup tags</vt:lpstr>
      <vt:lpstr>WORKING WITH TEXT AND IMAGES USING CSS</vt:lpstr>
      <vt:lpstr>WORKING WITH TEXT AND IMAGES USING CSS</vt:lpstr>
      <vt:lpstr>WORKING WITH TEXT AND IMAGES USING CSS</vt:lpstr>
      <vt:lpstr>WORKING WITH TEXT AND IMAGES USING CSS</vt:lpstr>
      <vt:lpstr>CSS SELECTORS</vt:lpstr>
      <vt:lpstr>CSS SELECTORS</vt:lpstr>
      <vt:lpstr>CSS SELECTORS</vt:lpstr>
      <vt:lpstr>CSS SELECTORS</vt:lpstr>
      <vt:lpstr>CSS SELECTORS</vt:lpstr>
      <vt:lpstr>CSS SELECTORS</vt:lpstr>
      <vt:lpstr>Css flexbox</vt:lpstr>
      <vt:lpstr>Css flexbox</vt:lpstr>
      <vt:lpstr>Css flexbox</vt:lpstr>
      <vt:lpstr>Css flexbox</vt:lpstr>
      <vt:lpstr>Css flexbox</vt:lpstr>
      <vt:lpstr>JAVASCRIPT</vt:lpstr>
      <vt:lpstr>Key Features of JavaScript</vt:lpstr>
      <vt:lpstr>JAVASCRIPT VARIABLES</vt:lpstr>
      <vt:lpstr>JAVASCRIPT VARIABLES</vt:lpstr>
      <vt:lpstr>JAVASCRIPT VARIABLES</vt:lpstr>
      <vt:lpstr>JAVASCRIPT DATATYPES</vt:lpstr>
      <vt:lpstr>JAVASCRIPT DATATYPES</vt:lpstr>
      <vt:lpstr>JAVASCRIPT DATATYPES</vt:lpstr>
      <vt:lpstr>JAVASCRIPT FUNCTIONS</vt:lpstr>
      <vt:lpstr>JAVASCRIPT EVENTS</vt:lpstr>
      <vt:lpstr>JAVASCRIPT EVENTS</vt:lpstr>
      <vt:lpstr>AJAX (ASYNCHRONOUS JAVASCRIPT AND XML)</vt:lpstr>
      <vt:lpstr>HOW AJAX Works?</vt:lpstr>
      <vt:lpstr>AJAX - GET REQUEST</vt:lpstr>
      <vt:lpstr>AJAX - POST REQUEST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Mitul Rathod</dc:creator>
  <cp:lastModifiedBy>Mitul Rathod</cp:lastModifiedBy>
  <cp:revision>57</cp:revision>
  <dcterms:created xsi:type="dcterms:W3CDTF">2026-02-13T05:00:45Z</dcterms:created>
  <dcterms:modified xsi:type="dcterms:W3CDTF">2026-02-23T08:59:57Z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