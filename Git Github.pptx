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4" r:id="rId25"/>
    <p:sldId id="283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tul Rathod" initials="MR" lastIdx="1" clrIdx="0">
    <p:extLst>
      <p:ext uri="{19B8F6BF-5375-455C-9EA6-DF929625EA0E}">
        <p15:presenceInfo xmlns:p15="http://schemas.microsoft.com/office/powerpoint/2012/main" userId="2ab16afb49fad08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60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3-13T23:19:12.189" idx="1">
    <p:pos x="4074" y="1874"/>
    <p:text>origin - the remote repo name (default is origin)</p:text>
    <p:extLst>
      <p:ext uri="{C676402C-5697-4E1C-873F-D02D1690AC5C}">
        <p15:threadingInfo xmlns:p15="http://schemas.microsoft.com/office/powerpoint/2012/main" timeZoneBias="-33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790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origin</a:t>
            </a:r>
            <a:r>
              <a:rPr lang="en-US" dirty="0"/>
              <a:t> - the remote repo name (default is origin)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C986F-25D6-A826-BF5E-DF117AFBF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C36E02-5D02-0504-BA26-632717729E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0BA071-26E8-6AD6-2527-90E07B3C5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BDF79-40E9-8847-A35A-6919EEBB90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8180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FF9B8-BAD1-0812-913D-FC9AD168D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1FD892-C369-17A3-95D1-C6AA8A56A5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5E8C96-C5D9-1561-8F13-D324A8829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A924D-6026-FED3-BF55-75B1B54BFD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570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hyperlink" Target="https://perso.liris.cnrs.fr/pierre-antoine.champin/en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openxmlformats.org/officeDocument/2006/relationships/hyperlink" Target="https://jpadfield.github.io/simple-site/index.html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7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image" Target="../media/image22.png"/><Relationship Id="rId4" Type="http://schemas.openxmlformats.org/officeDocument/2006/relationships/image" Target="../media/image11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4.png"/><Relationship Id="rId10" Type="http://schemas.openxmlformats.org/officeDocument/2006/relationships/image" Target="../media/image10.png"/><Relationship Id="rId4" Type="http://schemas.openxmlformats.org/officeDocument/2006/relationships/image" Target="../media/image27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2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0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5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15.png"/><Relationship Id="rId4" Type="http://schemas.openxmlformats.org/officeDocument/2006/relationships/image" Target="../media/image18.png"/><Relationship Id="rId9" Type="http://schemas.microsoft.com/office/2007/relationships/hdphoto" Target="../media/hdphoto2.wdp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5.png"/><Relationship Id="rId7" Type="http://schemas.openxmlformats.org/officeDocument/2006/relationships/image" Target="../media/image15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microsoft.com/office/2007/relationships/hdphoto" Target="../media/hdphoto3.wdp"/><Relationship Id="rId11" Type="http://schemas.openxmlformats.org/officeDocument/2006/relationships/image" Target="../media/image21.png"/><Relationship Id="rId5" Type="http://schemas.openxmlformats.org/officeDocument/2006/relationships/image" Target="../media/image36.png"/><Relationship Id="rId10" Type="http://schemas.openxmlformats.org/officeDocument/2006/relationships/image" Target="../media/image18.png"/><Relationship Id="rId4" Type="http://schemas.openxmlformats.org/officeDocument/2006/relationships/image" Target="../media/image22.png"/><Relationship Id="rId9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3.png"/><Relationship Id="rId4" Type="http://schemas.openxmlformats.org/officeDocument/2006/relationships/image" Target="../media/image24.png"/><Relationship Id="rId9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26.png"/><Relationship Id="rId5" Type="http://schemas.openxmlformats.org/officeDocument/2006/relationships/image" Target="../media/image11.png"/><Relationship Id="rId10" Type="http://schemas.openxmlformats.org/officeDocument/2006/relationships/image" Target="../media/image14.png"/><Relationship Id="rId4" Type="http://schemas.openxmlformats.org/officeDocument/2006/relationships/image" Target="../media/image24.png"/><Relationship Id="rId9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github.com/en/get-started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4.png"/><Relationship Id="rId10" Type="http://schemas.openxmlformats.org/officeDocument/2006/relationships/hyperlink" Target="https://youtu.be/uwyP5SNlQAU?si=06FBTxdN24gObHc5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git-scm.com/install/window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7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91440" cy="4997196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1A3A5C">
              <a:alpha val="70000"/>
            </a:srgbClr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244602"/>
            <a:ext cx="1828800" cy="1828800"/>
          </a:xfrm>
          <a:prstGeom prst="ellipse">
            <a:avLst/>
          </a:prstGeom>
          <a:solidFill>
            <a:srgbClr val="0D2035">
              <a:alpha val="80000"/>
            </a:srgbClr>
          </a:solidFill>
          <a:ln w="12700">
            <a:solidFill>
              <a:srgbClr val="0D203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0"/>
            <a:ext cx="1005840" cy="1005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137160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365760" y="26974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Branches, Merging &amp; Collaboration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926080" y="3429000"/>
            <a:ext cx="3291840" cy="54864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3611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4297680"/>
            <a:ext cx="347472" cy="347472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4297680"/>
            <a:ext cx="347472" cy="347472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4297680"/>
            <a:ext cx="347472" cy="347472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4297680"/>
            <a:ext cx="347472" cy="347472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0" y="4297680"/>
            <a:ext cx="347472" cy="34747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BE2B86A-D413-7E24-4651-C5BBA87655D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8239094" y="-410687"/>
            <a:ext cx="1133506" cy="35300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D4651EC-61DC-8BD7-A3D4-66FECFB92E3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7548858" y="295381"/>
            <a:ext cx="1727243" cy="17272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0292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28016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9144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Learn Today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74320" y="960120"/>
            <a:ext cx="4206240" cy="694944"/>
          </a:xfrm>
          <a:prstGeom prst="rect">
            <a:avLst/>
          </a:prstGeom>
          <a:solidFill>
            <a:srgbClr val="DCE6F1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088136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9536" y="960120"/>
            <a:ext cx="3520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Version Control — What &amp; Why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960120"/>
            <a:ext cx="4206240" cy="694944"/>
          </a:xfrm>
          <a:prstGeom prst="rect">
            <a:avLst/>
          </a:prstGeom>
          <a:solidFill>
            <a:srgbClr val="FFF3E0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108813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94376" y="960120"/>
            <a:ext cx="3520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Git &amp; GitHub — Intro &amp; Differences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274320" y="1764792"/>
            <a:ext cx="4206240" cy="694944"/>
          </a:xfrm>
          <a:prstGeom prst="rect">
            <a:avLst/>
          </a:prstGeom>
          <a:solidFill>
            <a:srgbClr val="DCE6F1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1892808"/>
            <a:ext cx="384048" cy="3840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59536" y="1764792"/>
            <a:ext cx="3520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Installation &amp; Setup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4709160" y="1764792"/>
            <a:ext cx="4206240" cy="694944"/>
          </a:xfrm>
          <a:prstGeom prst="rect">
            <a:avLst/>
          </a:prstGeom>
          <a:solidFill>
            <a:srgbClr val="FFF3E0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888" y="1892808"/>
            <a:ext cx="384048" cy="38404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94376" y="1764792"/>
            <a:ext cx="3520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Key Concepts &amp; Commands</a:t>
            </a:r>
            <a:endParaRPr lang="en-US" sz="1450" dirty="0"/>
          </a:p>
        </p:txBody>
      </p:sp>
      <p:sp>
        <p:nvSpPr>
          <p:cNvPr id="18" name="Shape 11"/>
          <p:cNvSpPr/>
          <p:nvPr/>
        </p:nvSpPr>
        <p:spPr>
          <a:xfrm>
            <a:off x="274320" y="2569464"/>
            <a:ext cx="4206240" cy="694944"/>
          </a:xfrm>
          <a:prstGeom prst="rect">
            <a:avLst/>
          </a:prstGeom>
          <a:solidFill>
            <a:srgbClr val="DCE6F1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" y="2697480"/>
            <a:ext cx="384048" cy="38404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9536" y="2569464"/>
            <a:ext cx="3520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Git Workflow — Step by Step</a:t>
            </a:r>
            <a:endParaRPr lang="en-US" sz="1450" dirty="0"/>
          </a:p>
        </p:txBody>
      </p:sp>
      <p:sp>
        <p:nvSpPr>
          <p:cNvPr id="21" name="Shape 13"/>
          <p:cNvSpPr/>
          <p:nvPr/>
        </p:nvSpPr>
        <p:spPr>
          <a:xfrm>
            <a:off x="4709160" y="2569464"/>
            <a:ext cx="4206240" cy="694944"/>
          </a:xfrm>
          <a:prstGeom prst="rect">
            <a:avLst/>
          </a:prstGeom>
          <a:solidFill>
            <a:srgbClr val="FFF3E0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8888" y="2697480"/>
            <a:ext cx="384048" cy="38404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294376" y="2569464"/>
            <a:ext cx="3520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Branching — Creating &amp; Switching</a:t>
            </a:r>
            <a:endParaRPr lang="en-US" sz="1450" dirty="0"/>
          </a:p>
        </p:txBody>
      </p:sp>
      <p:sp>
        <p:nvSpPr>
          <p:cNvPr id="24" name="Shape 15"/>
          <p:cNvSpPr/>
          <p:nvPr/>
        </p:nvSpPr>
        <p:spPr>
          <a:xfrm>
            <a:off x="274320" y="3374136"/>
            <a:ext cx="4206240" cy="694944"/>
          </a:xfrm>
          <a:prstGeom prst="rect">
            <a:avLst/>
          </a:prstGeom>
          <a:solidFill>
            <a:srgbClr val="DCE6F1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4048" y="3502152"/>
            <a:ext cx="384048" cy="38404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859536" y="3374136"/>
            <a:ext cx="3520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Merging Branches</a:t>
            </a:r>
            <a:endParaRPr lang="en-US" sz="1450" dirty="0"/>
          </a:p>
        </p:txBody>
      </p:sp>
      <p:sp>
        <p:nvSpPr>
          <p:cNvPr id="27" name="Shape 17"/>
          <p:cNvSpPr/>
          <p:nvPr/>
        </p:nvSpPr>
        <p:spPr>
          <a:xfrm>
            <a:off x="4709160" y="3374136"/>
            <a:ext cx="4206240" cy="694944"/>
          </a:xfrm>
          <a:prstGeom prst="rect">
            <a:avLst/>
          </a:prstGeom>
          <a:solidFill>
            <a:srgbClr val="FFF3E0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18888" y="3502152"/>
            <a:ext cx="384048" cy="38404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294376" y="3374136"/>
            <a:ext cx="3520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Conflicts — What &amp; How to Fix</a:t>
            </a:r>
            <a:endParaRPr lang="en-US" sz="1450" dirty="0"/>
          </a:p>
        </p:txBody>
      </p:sp>
      <p:sp>
        <p:nvSpPr>
          <p:cNvPr id="30" name="Shape 19"/>
          <p:cNvSpPr/>
          <p:nvPr/>
        </p:nvSpPr>
        <p:spPr>
          <a:xfrm>
            <a:off x="274320" y="4178808"/>
            <a:ext cx="4206240" cy="694944"/>
          </a:xfrm>
          <a:prstGeom prst="rect">
            <a:avLst/>
          </a:prstGeom>
          <a:solidFill>
            <a:srgbClr val="DCE6F1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4048" y="4306824"/>
            <a:ext cx="384048" cy="384048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859536" y="4178808"/>
            <a:ext cx="3520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Collaboration &amp; Pull Requests</a:t>
            </a:r>
            <a:endParaRPr lang="en-US" sz="1450" dirty="0"/>
          </a:p>
        </p:txBody>
      </p:sp>
      <p:sp>
        <p:nvSpPr>
          <p:cNvPr id="33" name="Shape 21"/>
          <p:cNvSpPr/>
          <p:nvPr/>
        </p:nvSpPr>
        <p:spPr>
          <a:xfrm>
            <a:off x="4709160" y="4178808"/>
            <a:ext cx="4206240" cy="694944"/>
          </a:xfrm>
          <a:prstGeom prst="rect">
            <a:avLst/>
          </a:prstGeom>
          <a:solidFill>
            <a:srgbClr val="FFF3E0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18888" y="4306824"/>
            <a:ext cx="384048" cy="384048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5294376" y="4178808"/>
            <a:ext cx="3520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Alternatives &amp; Summary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0292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28016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9144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Version Control?</a:t>
            </a:r>
            <a:endParaRPr lang="en-US" sz="2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960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9601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tracks every change made to your files over time — like a TIME MACHINE for code.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320040" y="1600200"/>
            <a:ext cx="8503920" cy="1005840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20040" y="1600200"/>
            <a:ext cx="82296" cy="1005840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1719072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1664208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Analogy:  </a:t>
            </a: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saving a game in a video game. Every time you press SAVE, it remembers that exact point. You can always go back to it if you mess up. Version control does this for your code!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274320" y="2724912"/>
            <a:ext cx="2788920" cy="2011680"/>
          </a:xfrm>
          <a:prstGeom prst="rect">
            <a:avLst/>
          </a:prstGeom>
          <a:solidFill>
            <a:srgbClr val="DCE6F1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1325880" y="2816352"/>
            <a:ext cx="548640" cy="548640"/>
          </a:xfrm>
          <a:prstGeom prst="ellipse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1435608" y="2926080"/>
            <a:ext cx="329184" cy="3291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74320" y="3438144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Change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365760" y="3895344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who changed what and when — full history forever.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3200400" y="2724912"/>
            <a:ext cx="2788920" cy="2011680"/>
          </a:xfrm>
          <a:prstGeom prst="rect">
            <a:avLst/>
          </a:prstGeom>
          <a:solidFill>
            <a:srgbClr val="D5F5E3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251960" y="2816352"/>
            <a:ext cx="548640" cy="54864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1688" y="2926080"/>
            <a:ext cx="329184" cy="32918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200400" y="3438144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Mistakes Easily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3291840" y="3895344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back to any previous version if something breaks.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6126480" y="2724912"/>
            <a:ext cx="2788920" cy="2011680"/>
          </a:xfrm>
          <a:prstGeom prst="rect">
            <a:avLst/>
          </a:prstGeom>
          <a:solidFill>
            <a:srgbClr val="FFF3E0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7178040" y="2816352"/>
            <a:ext cx="548640" cy="548640"/>
          </a:xfrm>
          <a:prstGeom prst="ellipse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7287768" y="2926080"/>
            <a:ext cx="329184" cy="32918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126480" y="3438144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6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6217920" y="3895344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people work together without overwriting each other.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0292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28016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9144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WITHOUT Version Control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663440" y="914400"/>
            <a:ext cx="4160520" cy="3721608"/>
          </a:xfrm>
          <a:prstGeom prst="rect">
            <a:avLst/>
          </a:prstGeom>
          <a:solidFill>
            <a:srgbClr val="FADBD8"/>
          </a:solidFill>
          <a:ln w="12700">
            <a:solidFill>
              <a:srgbClr val="FFA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96012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57800" y="9601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Naming Problem </a:t>
            </a: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😱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800600" y="144475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project.zip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800600" y="177393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project_v2.zip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800600" y="210312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project_final.zip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800600" y="243230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project_FINAL_v2.zip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800600" y="276148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project_OK.zip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800600" y="309067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project_USE_THIS.zip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800600" y="341985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project_REAL_FINAL.zip ←  ??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274320" y="914400"/>
            <a:ext cx="4251960" cy="841248"/>
          </a:xfrm>
          <a:prstGeom prst="rect">
            <a:avLst/>
          </a:prstGeom>
          <a:solidFill>
            <a:srgbClr val="FADBD8"/>
          </a:solidFill>
          <a:ln w="12700">
            <a:solidFill>
              <a:srgbClr val="FFA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74320" y="914400"/>
            <a:ext cx="73152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1088136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0120" y="9509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Overwriting Files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960120" y="131673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people edit the same file — one person's work is gone!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274320" y="1874520"/>
            <a:ext cx="4251960" cy="841248"/>
          </a:xfrm>
          <a:prstGeom prst="rect">
            <a:avLst/>
          </a:prstGeom>
          <a:solidFill>
            <a:srgbClr val="FADBD8"/>
          </a:solidFill>
          <a:ln w="12700">
            <a:solidFill>
              <a:srgbClr val="FFA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274320" y="1874520"/>
            <a:ext cx="73152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2048256"/>
            <a:ext cx="402336" cy="40233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60120" y="191109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Undo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960120" y="227685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over your file by mistake — previous version is lost forever.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274320" y="2834640"/>
            <a:ext cx="4251960" cy="841248"/>
          </a:xfrm>
          <a:prstGeom prst="rect">
            <a:avLst/>
          </a:prstGeom>
          <a:solidFill>
            <a:srgbClr val="FADBD8"/>
          </a:solidFill>
          <a:ln w="12700">
            <a:solidFill>
              <a:srgbClr val="FFA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274320" y="2834640"/>
            <a:ext cx="73152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" y="3008376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60120" y="28712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Confusion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960120" y="323697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knows which file is the latest.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274320" y="3794760"/>
            <a:ext cx="4251960" cy="841248"/>
          </a:xfrm>
          <a:prstGeom prst="rect">
            <a:avLst/>
          </a:prstGeom>
          <a:solidFill>
            <a:srgbClr val="FADBD8"/>
          </a:solidFill>
          <a:ln w="12700">
            <a:solidFill>
              <a:srgbClr val="FFA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274320" y="3794760"/>
            <a:ext cx="73152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968496"/>
            <a:ext cx="402336" cy="40233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60120" y="383133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960120" y="419709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backups on USB drives. People forget. Drives fail.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0292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28016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9144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Git?</a:t>
            </a:r>
            <a:endParaRPr lang="en-US" sz="2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9912" y="859536"/>
            <a:ext cx="859536" cy="85953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960120"/>
            <a:ext cx="6949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a FREE, open-source version control system that runs on your computer and tracks every change you make to your files.</a:t>
            </a:r>
            <a:endParaRPr lang="en-US" sz="1650" dirty="0"/>
          </a:p>
        </p:txBody>
      </p:sp>
      <p:sp>
        <p:nvSpPr>
          <p:cNvPr id="8" name="Shape 4"/>
          <p:cNvSpPr/>
          <p:nvPr/>
        </p:nvSpPr>
        <p:spPr>
          <a:xfrm>
            <a:off x="320040" y="1691640"/>
            <a:ext cx="8503920" cy="566928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02920" y="1728216"/>
            <a:ext cx="8321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👨‍💻  Created by Linus Torvalds in 2005 — the same person who built the Linux operating system!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274320" y="2377440"/>
            <a:ext cx="2743200" cy="1078992"/>
          </a:xfrm>
          <a:prstGeom prst="rect">
            <a:avLst/>
          </a:prstGeom>
          <a:solidFill>
            <a:srgbClr val="DCE6F1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84048" y="2642616"/>
            <a:ext cx="475488" cy="47548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6" y="273771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9264" y="2432304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Open Source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969264" y="288036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free forever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3200400" y="2377440"/>
            <a:ext cx="2743200" cy="1078992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3310128" y="2642616"/>
            <a:ext cx="475488" cy="475488"/>
          </a:xfrm>
          <a:prstGeom prst="ellipse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>
            <a:biLevel thresh="25000"/>
          </a:blip>
          <a:stretch>
            <a:fillRect/>
          </a:stretch>
        </p:blipFill>
        <p:spPr>
          <a:xfrm>
            <a:off x="3405226" y="273771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895344" y="2432304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300" b="1" dirty="0">
                <a:solidFill>
                  <a:srgbClr val="173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</a:t>
            </a:r>
            <a:endParaRPr lang="en-US" sz="1300" b="1" dirty="0">
              <a:solidFill>
                <a:srgbClr val="17375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3895344" y="288036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on huge projects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126480" y="2377440"/>
            <a:ext cx="2743200" cy="1078992"/>
          </a:xfrm>
          <a:prstGeom prst="rect">
            <a:avLst/>
          </a:prstGeom>
          <a:solidFill>
            <a:srgbClr val="DCE6F1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236208" y="2642616"/>
            <a:ext cx="475488" cy="47548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6331306" y="2737714"/>
            <a:ext cx="285293" cy="28529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821424" y="2432304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6821424" y="288036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Mac, Linux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274320" y="3611880"/>
            <a:ext cx="2743200" cy="1078992"/>
          </a:xfrm>
          <a:prstGeom prst="rect">
            <a:avLst/>
          </a:prstGeom>
          <a:solidFill>
            <a:srgbClr val="DCE6F1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384048" y="3877056"/>
            <a:ext cx="475488" cy="47548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146" y="3972154"/>
            <a:ext cx="285293" cy="28529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69264" y="3666744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969264" y="411480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needed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3200400" y="3611880"/>
            <a:ext cx="2743200" cy="1078992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3310128" y="3877056"/>
            <a:ext cx="475488" cy="475488"/>
          </a:xfrm>
          <a:prstGeom prst="ellipse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>
            <a:biLevel thresh="25000"/>
          </a:blip>
          <a:stretch>
            <a:fillRect/>
          </a:stretch>
        </p:blipFill>
        <p:spPr>
          <a:xfrm>
            <a:off x="3405226" y="3972154"/>
            <a:ext cx="285293" cy="285293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3895344" y="3666744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3895344" y="411480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logged</a:t>
            </a:r>
            <a:endParaRPr lang="en-US" sz="1150" dirty="0"/>
          </a:p>
        </p:txBody>
      </p:sp>
      <p:sp>
        <p:nvSpPr>
          <p:cNvPr id="35" name="Shape 26"/>
          <p:cNvSpPr/>
          <p:nvPr/>
        </p:nvSpPr>
        <p:spPr>
          <a:xfrm>
            <a:off x="6126480" y="3611880"/>
            <a:ext cx="2743200" cy="1078992"/>
          </a:xfrm>
          <a:prstGeom prst="rect">
            <a:avLst/>
          </a:prstGeom>
          <a:solidFill>
            <a:srgbClr val="DCE6F1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6236208" y="3877056"/>
            <a:ext cx="475488" cy="47548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>
            <a:lum bright="70000" contrast="-70000"/>
          </a:blip>
          <a:stretch>
            <a:fillRect/>
          </a:stretch>
        </p:blipFill>
        <p:spPr>
          <a:xfrm>
            <a:off x="6331306" y="3972154"/>
            <a:ext cx="285293" cy="285293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821424" y="3666744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Friendly</a:t>
            </a:r>
            <a:endParaRPr lang="en-US" sz="1300" dirty="0"/>
          </a:p>
        </p:txBody>
      </p:sp>
      <p:sp>
        <p:nvSpPr>
          <p:cNvPr id="39" name="Text 29"/>
          <p:cNvSpPr/>
          <p:nvPr/>
        </p:nvSpPr>
        <p:spPr>
          <a:xfrm>
            <a:off x="6821424" y="411480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collaboration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0292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28016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9144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GitHub?</a:t>
            </a:r>
            <a:endParaRPr lang="en-US" sz="2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914400"/>
            <a:ext cx="1508760" cy="1508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96012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 a WEBSITE where you store your Git projects online — like "Google Drive for code", accessible from anywhere!</a:t>
            </a:r>
            <a:endParaRPr lang="en-US" sz="1650" dirty="0"/>
          </a:p>
        </p:txBody>
      </p:sp>
      <p:sp>
        <p:nvSpPr>
          <p:cNvPr id="8" name="Shape 4"/>
          <p:cNvSpPr/>
          <p:nvPr/>
        </p:nvSpPr>
        <p:spPr>
          <a:xfrm>
            <a:off x="320040" y="1691640"/>
            <a:ext cx="8503920" cy="566928"/>
          </a:xfrm>
          <a:prstGeom prst="rect">
            <a:avLst/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1728216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Over 100+ million developers and 420+ million repositories — it's the world's largest code platform!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274320" y="2377440"/>
            <a:ext cx="4206240" cy="804672"/>
          </a:xfrm>
          <a:prstGeom prst="rect">
            <a:avLst/>
          </a:prstGeom>
          <a:solidFill>
            <a:srgbClr val="DCE6F1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2551176"/>
            <a:ext cx="402336" cy="40233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680" y="241401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Backup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868680" y="2798064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safe even if your laptop breaks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709160" y="2377440"/>
            <a:ext cx="4206240" cy="804672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551176"/>
            <a:ext cx="402336" cy="40233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03520" y="241401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5303520" y="2798064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anyone, anywhere in the world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274320" y="3291840"/>
            <a:ext cx="4206240" cy="804672"/>
          </a:xfrm>
          <a:prstGeom prst="rect">
            <a:avLst/>
          </a:prstGeom>
          <a:solidFill>
            <a:srgbClr val="DCE6F1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3465576"/>
            <a:ext cx="402336" cy="40233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68680" y="332841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868680" y="3712464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projects to employers — your public resume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4709160" y="3291840"/>
            <a:ext cx="4206240" cy="804672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3465576"/>
            <a:ext cx="402336" cy="40233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303520" y="332841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5303520" y="3712464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to millions of real-world projects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274320" y="4206240"/>
            <a:ext cx="4206240" cy="804672"/>
          </a:xfrm>
          <a:prstGeom prst="rect">
            <a:avLst/>
          </a:prstGeom>
          <a:solidFill>
            <a:srgbClr val="DCE6F1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" y="4379976"/>
            <a:ext cx="402336" cy="40233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68680" y="424281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</a:t>
            </a:r>
            <a:endParaRPr lang="en-US" sz="1400" dirty="0"/>
          </a:p>
        </p:txBody>
      </p:sp>
      <p:sp>
        <p:nvSpPr>
          <p:cNvPr id="29" name="Text 20"/>
          <p:cNvSpPr/>
          <p:nvPr/>
        </p:nvSpPr>
        <p:spPr>
          <a:xfrm>
            <a:off x="868680" y="4626864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each other's code before merging</a:t>
            </a:r>
            <a:endParaRPr lang="en-US" sz="1250" dirty="0"/>
          </a:p>
        </p:txBody>
      </p:sp>
      <p:sp>
        <p:nvSpPr>
          <p:cNvPr id="30" name="Shape 21"/>
          <p:cNvSpPr/>
          <p:nvPr/>
        </p:nvSpPr>
        <p:spPr>
          <a:xfrm>
            <a:off x="4709160" y="4206240"/>
            <a:ext cx="4206240" cy="804672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0600" y="4379976"/>
            <a:ext cx="402336" cy="402336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303520" y="424281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History</a:t>
            </a:r>
            <a:endParaRPr lang="en-US" sz="1400" dirty="0"/>
          </a:p>
        </p:txBody>
      </p:sp>
      <p:sp>
        <p:nvSpPr>
          <p:cNvPr id="33" name="Text 23"/>
          <p:cNvSpPr/>
          <p:nvPr/>
        </p:nvSpPr>
        <p:spPr>
          <a:xfrm>
            <a:off x="5303520" y="4626864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 change ever made to a project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0292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28016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9144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vs GitHub — Key Differences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74320" y="1078356"/>
            <a:ext cx="4023360" cy="3117792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78356"/>
            <a:ext cx="4023360" cy="475488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133220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1078356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411480" y="1645284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Software tool (runs on your computer)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11480" y="213906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Tracks changes LOCALLY (offline)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11480" y="263283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Created by Linus Torvalds, 2005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11480" y="312661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Does not need the internet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11480" y="362038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Free and open-source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846320" y="1078356"/>
            <a:ext cx="4023360" cy="3117792"/>
          </a:xfrm>
          <a:prstGeom prst="rect">
            <a:avLst/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46320" y="1078356"/>
            <a:ext cx="4023360" cy="475488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2624" y="1133220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413248" y="1078356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4992624" y="1645284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Website / platform (runs in the cloud)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992624" y="213906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Stores code REMOTELY (online)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992624" y="263283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Founded 2008, owned by Microsoft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992624" y="312661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Requires internet connection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992624" y="362038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Free (with paid plans)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992624" y="395020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4187952" y="2632836"/>
            <a:ext cx="768096" cy="768096"/>
          </a:xfrm>
          <a:prstGeom prst="ellipse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4187952" y="2632836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320040" y="4557502"/>
            <a:ext cx="8503920" cy="246888"/>
          </a:xfrm>
          <a:prstGeom prst="rect">
            <a:avLst/>
          </a:prstGeom>
          <a:solidFill>
            <a:srgbClr val="FFF3E0"/>
          </a:solidFill>
          <a:ln w="15240">
            <a:solidFill>
              <a:srgbClr val="E46C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20040" y="4557502"/>
            <a:ext cx="73152" cy="246888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84632" y="4557502"/>
            <a:ext cx="8247888" cy="2468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B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Simple to Remember: Git = Microsoft Word (the tool). GitHub = OneDrive (the storage). You need both!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0292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28016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9144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&amp; Configuring Git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74320" y="914400"/>
            <a:ext cx="8595360" cy="713232"/>
          </a:xfrm>
          <a:prstGeom prst="rect">
            <a:avLst/>
          </a:prstGeom>
          <a:solidFill>
            <a:srgbClr val="DCE6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914400"/>
            <a:ext cx="530352" cy="713232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914400"/>
            <a:ext cx="530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069848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89888" y="95097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Git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493008" y="950976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https://git-scm.com/downloads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389888" y="131673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Download for Windows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74320" y="1737360"/>
            <a:ext cx="8595360" cy="713232"/>
          </a:xfrm>
          <a:prstGeom prst="rect">
            <a:avLst/>
          </a:prstGeom>
          <a:solidFill>
            <a:srgbClr val="FFF3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74320" y="1737360"/>
            <a:ext cx="530352" cy="713232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74320" y="1737360"/>
            <a:ext cx="530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1892808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89888" y="177393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6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493008" y="1773936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.exe → Click Next → Install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389888" y="213969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all default settings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274320" y="2560320"/>
            <a:ext cx="8595360" cy="713232"/>
          </a:xfrm>
          <a:prstGeom prst="rect">
            <a:avLst/>
          </a:prstGeom>
          <a:solidFill>
            <a:srgbClr val="DCE6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74320" y="2560320"/>
            <a:ext cx="530352" cy="713232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274320" y="2560320"/>
            <a:ext cx="530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715768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89888" y="259689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3493008" y="2596896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--version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389888" y="296265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show: git version 2.x.x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274320" y="3383280"/>
            <a:ext cx="8595360" cy="713232"/>
          </a:xfrm>
          <a:prstGeom prst="rect">
            <a:avLst/>
          </a:prstGeom>
          <a:solidFill>
            <a:srgbClr val="FFF3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274320" y="3383280"/>
            <a:ext cx="530352" cy="713232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274320" y="3383280"/>
            <a:ext cx="530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538728"/>
            <a:ext cx="384048" cy="38404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389888" y="341985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6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Name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3493008" y="3419856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config --global user.name “tom"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1389888" y="37856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with every commit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274320" y="4206240"/>
            <a:ext cx="8595360" cy="713232"/>
          </a:xfrm>
          <a:prstGeom prst="rect">
            <a:avLst/>
          </a:prstGeom>
          <a:solidFill>
            <a:srgbClr val="DCE6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274320" y="4206240"/>
            <a:ext cx="530352" cy="713232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274320" y="4206240"/>
            <a:ext cx="530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361688"/>
            <a:ext cx="384048" cy="38404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389888" y="424281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Email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3493008" y="4242816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config --global </a:t>
            </a:r>
            <a:r>
              <a:rPr lang="en-US" sz="1300" dirty="0" err="1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user.email</a:t>
            </a:r>
            <a:r>
              <a:rPr lang="en-US" sz="13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“tom@gmail.com"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1389888" y="46085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GitHub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0292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28016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9144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Key Git Concepts You Must Know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74320" y="932688"/>
            <a:ext cx="4206240" cy="1170432"/>
          </a:xfrm>
          <a:prstGeom prst="rect">
            <a:avLst/>
          </a:prstGeom>
          <a:solidFill>
            <a:srgbClr val="DCE6F1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932688"/>
            <a:ext cx="82296" cy="1170432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1243584"/>
            <a:ext cx="475488" cy="47548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506578" y="1338682"/>
            <a:ext cx="285293" cy="2852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24128" y="98755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(Repo)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24128" y="1408176"/>
            <a:ext cx="3364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folder tracked by Git — contains your files + hidden .git folder storing ALL history.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736592" y="932688"/>
            <a:ext cx="4206240" cy="1170432"/>
          </a:xfrm>
          <a:prstGeom prst="rect">
            <a:avLst/>
          </a:prstGeom>
          <a:solidFill>
            <a:srgbClr val="D5F5E3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36592" y="932688"/>
            <a:ext cx="82296" cy="11704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873752" y="1243584"/>
            <a:ext cx="475488" cy="47548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>
            <a:biLevel thresh="25000"/>
          </a:blip>
          <a:stretch>
            <a:fillRect/>
          </a:stretch>
        </p:blipFill>
        <p:spPr>
          <a:xfrm>
            <a:off x="4968850" y="1338682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0" y="98755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5486400" y="1408176"/>
            <a:ext cx="3364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'snapshot' of your project at one moment. Like a save-game point. Has a unique ID.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274320" y="2258568"/>
            <a:ext cx="4206240" cy="1170432"/>
          </a:xfrm>
          <a:prstGeom prst="rect">
            <a:avLst/>
          </a:prstGeom>
          <a:solidFill>
            <a:srgbClr val="E8DAE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274320" y="2258568"/>
            <a:ext cx="82296" cy="117043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11480" y="2569464"/>
            <a:ext cx="475488" cy="475488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>
            <a:biLevel thresh="25000"/>
          </a:blip>
          <a:stretch>
            <a:fillRect/>
          </a:stretch>
        </p:blipFill>
        <p:spPr>
          <a:xfrm>
            <a:off x="506578" y="2664562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24128" y="231343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024128" y="2734056"/>
            <a:ext cx="3364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copy of your project for experimenting — without breaking the main code.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736592" y="2258568"/>
            <a:ext cx="4206240" cy="1170432"/>
          </a:xfrm>
          <a:prstGeom prst="rect">
            <a:avLst/>
          </a:prstGeom>
          <a:solidFill>
            <a:srgbClr val="DCE6F1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36592" y="2258568"/>
            <a:ext cx="82296" cy="1170432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873752" y="2569464"/>
            <a:ext cx="475488" cy="47548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4968850" y="2664562"/>
            <a:ext cx="285293" cy="28529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86400" y="231343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5486400" y="2734056"/>
            <a:ext cx="3364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 complete copy of a repository (with ALL history) from GitHub to your computer.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280626" y="3590754"/>
            <a:ext cx="4206240" cy="1170432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274320" y="3584448"/>
            <a:ext cx="82296" cy="1170432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11480" y="3895344"/>
            <a:ext cx="475488" cy="475488"/>
          </a:xfrm>
          <a:prstGeom prst="ellipse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>
            <a:biLevel thresh="25000"/>
          </a:blip>
          <a:stretch>
            <a:fillRect/>
          </a:stretch>
        </p:blipFill>
        <p:spPr>
          <a:xfrm>
            <a:off x="506578" y="3990442"/>
            <a:ext cx="285293" cy="28529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024128" y="363931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6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1024128" y="4059936"/>
            <a:ext cx="3364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committed changes from your local computer up to GitHub.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4736592" y="3584448"/>
            <a:ext cx="4206240" cy="1170432"/>
          </a:xfrm>
          <a:prstGeom prst="rect">
            <a:avLst/>
          </a:prstGeom>
          <a:solidFill>
            <a:srgbClr val="D5F5E3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736592" y="3584448"/>
            <a:ext cx="82296" cy="11704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4873752" y="3895344"/>
            <a:ext cx="475488" cy="47548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>
            <a:biLevel thresh="25000"/>
          </a:blip>
          <a:stretch>
            <a:fillRect/>
          </a:stretch>
        </p:blipFill>
        <p:spPr>
          <a:xfrm>
            <a:off x="4968850" y="3990442"/>
            <a:ext cx="285293" cy="285293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486400" y="363931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</a:t>
            </a:r>
            <a:endParaRPr lang="en-US" sz="1500" dirty="0"/>
          </a:p>
        </p:txBody>
      </p:sp>
      <p:sp>
        <p:nvSpPr>
          <p:cNvPr id="41" name="Text 32"/>
          <p:cNvSpPr/>
          <p:nvPr/>
        </p:nvSpPr>
        <p:spPr>
          <a:xfrm>
            <a:off x="5486400" y="4059936"/>
            <a:ext cx="3364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latest changes from GitHub to keep your local copy up to date.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0292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28016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9144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Git Workflow — Step by Step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182880" y="960120"/>
            <a:ext cx="2057400" cy="2743200"/>
          </a:xfrm>
          <a:prstGeom prst="rect">
            <a:avLst/>
          </a:prstGeom>
          <a:solidFill>
            <a:srgbClr val="DCE6F1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96112" y="1078992"/>
            <a:ext cx="566928" cy="56692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1009498" y="1192378"/>
            <a:ext cx="340157" cy="34015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" y="173736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82880" y="2450592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your files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82880" y="376732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(edit files)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2267712" y="2240280"/>
            <a:ext cx="137160" cy="9144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231136" y="210312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46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2423160" y="960120"/>
            <a:ext cx="2057400" cy="2743200"/>
          </a:xfrm>
          <a:prstGeom prst="rect">
            <a:avLst/>
          </a:prstGeom>
          <a:solidFill>
            <a:srgbClr val="FFF3E0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136392" y="1078992"/>
            <a:ext cx="566928" cy="566928"/>
          </a:xfrm>
          <a:prstGeom prst="ellipse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>
            <a:biLevel thresh="25000"/>
          </a:blip>
          <a:stretch>
            <a:fillRect/>
          </a:stretch>
        </p:blipFill>
        <p:spPr>
          <a:xfrm>
            <a:off x="3249778" y="1192378"/>
            <a:ext cx="340157" cy="34015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423160" y="173736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46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E46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2423160" y="2450592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ready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save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2423160" y="376732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507992" y="2240280"/>
            <a:ext cx="137160" cy="9144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471416" y="210312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46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4663440" y="960120"/>
            <a:ext cx="2057400" cy="2743200"/>
          </a:xfrm>
          <a:prstGeom prst="rect">
            <a:avLst/>
          </a:prstGeom>
          <a:solidFill>
            <a:srgbClr val="E8DAE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376672" y="1078992"/>
            <a:ext cx="566928" cy="566928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>
            <a:biLevel thresh="25000"/>
          </a:blip>
          <a:stretch>
            <a:fillRect/>
          </a:stretch>
        </p:blipFill>
        <p:spPr>
          <a:xfrm>
            <a:off x="5490058" y="1192378"/>
            <a:ext cx="340157" cy="34015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663440" y="173736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4663440" y="2450592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663440" y="376732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"msg"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6748272" y="2240280"/>
            <a:ext cx="137160" cy="9144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711696" y="210312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46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30" name="Shape 24"/>
          <p:cNvSpPr/>
          <p:nvPr/>
        </p:nvSpPr>
        <p:spPr>
          <a:xfrm>
            <a:off x="6903720" y="960120"/>
            <a:ext cx="2057400" cy="2743200"/>
          </a:xfrm>
          <a:prstGeom prst="rect">
            <a:avLst/>
          </a:prstGeom>
          <a:solidFill>
            <a:srgbClr val="D5F5E3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7616952" y="1078992"/>
            <a:ext cx="566928" cy="56692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30338" y="1192378"/>
            <a:ext cx="340157" cy="340157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903720" y="173736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6903720" y="2450592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online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safe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6903720" y="376732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320040" y="4206240"/>
            <a:ext cx="8503920" cy="566928"/>
          </a:xfrm>
          <a:prstGeom prst="rect">
            <a:avLst/>
          </a:prstGeom>
          <a:solidFill>
            <a:srgbClr val="DCE6F1"/>
          </a:solidFill>
          <a:ln w="15240">
            <a:solidFill>
              <a:srgbClr val="1737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320040" y="4206240"/>
            <a:ext cx="73152" cy="566928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484632" y="4206240"/>
            <a:ext cx="8247888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3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Daily Habit: git status → git add . → git commit -m "what you did" → git push origin main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0292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28016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9144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Git Commands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74320" y="932688"/>
            <a:ext cx="4206240" cy="841248"/>
          </a:xfrm>
          <a:prstGeom prst="rect">
            <a:avLst/>
          </a:prstGeom>
          <a:solidFill>
            <a:srgbClr val="DCE6F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932688"/>
            <a:ext cx="82296" cy="841248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8912" y="9784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8912" y="138988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new Git repository in the current folder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36592" y="932688"/>
            <a:ext cx="4206240" cy="841248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36592" y="932688"/>
            <a:ext cx="82296" cy="841248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01184" y="9784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&lt;url&gt;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01184" y="138988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 project from GitHub to your computer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74320" y="1892808"/>
            <a:ext cx="4206240" cy="841248"/>
          </a:xfrm>
          <a:prstGeom prst="rect">
            <a:avLst/>
          </a:prstGeom>
          <a:solidFill>
            <a:srgbClr val="DCE6F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4320" y="1892808"/>
            <a:ext cx="82296" cy="841248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8912" y="19385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38912" y="235000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which files are changed, staged, or untracked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736592" y="1892808"/>
            <a:ext cx="4206240" cy="841248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36592" y="1892808"/>
            <a:ext cx="82296" cy="841248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01184" y="19385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901184" y="235000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ALL changed files (ready to commit)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74320" y="2852928"/>
            <a:ext cx="4206240" cy="841248"/>
          </a:xfrm>
          <a:prstGeom prst="rect">
            <a:avLst/>
          </a:prstGeom>
          <a:solidFill>
            <a:srgbClr val="DCE6F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74320" y="2852928"/>
            <a:ext cx="82296" cy="841248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28986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"msg"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38912" y="331012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permanent snapshot with your description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736592" y="2852928"/>
            <a:ext cx="4206240" cy="841248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736592" y="2852928"/>
            <a:ext cx="82296" cy="841248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01184" y="28986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main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901184" y="331012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commits to GitHub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274320" y="3813048"/>
            <a:ext cx="4206240" cy="841248"/>
          </a:xfrm>
          <a:prstGeom prst="rect">
            <a:avLst/>
          </a:prstGeom>
          <a:solidFill>
            <a:srgbClr val="DCE6F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74320" y="3813048"/>
            <a:ext cx="82296" cy="841248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38912" y="38587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 origin main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438912" y="427024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latest changes from GitHub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736592" y="3813048"/>
            <a:ext cx="4206240" cy="841248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736592" y="3813048"/>
            <a:ext cx="82296" cy="841248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01184" y="38587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4901184" y="427024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 compact list of all past commits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320040" y="4764972"/>
            <a:ext cx="8503920" cy="256032"/>
          </a:xfrm>
          <a:prstGeom prst="rect">
            <a:avLst/>
          </a:prstGeom>
          <a:solidFill>
            <a:srgbClr val="FFF3E0"/>
          </a:solidFill>
          <a:ln w="15240">
            <a:solidFill>
              <a:srgbClr val="E46C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320040" y="4764972"/>
            <a:ext cx="73152" cy="256032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84632" y="4764972"/>
            <a:ext cx="8247888" cy="25603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B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Always run 'git status' before and after every command when learning. It shows you exactly what Git is doing!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0292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28016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9144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Branch?</a:t>
            </a:r>
            <a:endParaRPr lang="en-US" sz="2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960120"/>
            <a:ext cx="1005840" cy="10058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960120"/>
            <a:ext cx="7223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is a separate, independent copy of your project where you can work on new features or fix bugs — WITHOUT touching the main working code.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365760" y="2103120"/>
            <a:ext cx="8229600" cy="914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190195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1005840" y="1938528"/>
            <a:ext cx="530352" cy="530352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96112" y="2523744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84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 Init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560320" y="1938528"/>
            <a:ext cx="530352" cy="530352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2450592" y="2523744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84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 Home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114800" y="1938528"/>
            <a:ext cx="530352" cy="530352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112274" y="2523744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84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C3 About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406640" y="1938528"/>
            <a:ext cx="530352" cy="530352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372586" y="2523744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84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C5 Merge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160520" y="2128344"/>
            <a:ext cx="73152" cy="11430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206240" y="3207336"/>
            <a:ext cx="3291840" cy="914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34072" y="2128344"/>
            <a:ext cx="73152" cy="116128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251960" y="29191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3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feature/login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029200" y="3115896"/>
            <a:ext cx="530352" cy="530352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4937760" y="3719400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3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C4a Login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309360" y="3115896"/>
            <a:ext cx="530352" cy="530352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6217920" y="3713094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3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C4b Style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20040" y="4331736"/>
            <a:ext cx="8503920" cy="621792"/>
          </a:xfrm>
          <a:prstGeom prst="rect">
            <a:avLst/>
          </a:prstGeom>
          <a:solidFill>
            <a:srgbClr val="E8DAEF"/>
          </a:solidFill>
          <a:ln w="15240">
            <a:solidFill>
              <a:srgbClr val="6C3483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320040" y="4331736"/>
            <a:ext cx="73152" cy="62179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84632" y="4331736"/>
            <a:ext cx="8247888" cy="62179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Analogy: Branches are like separate notebooks. Main notebook = working project. New notebook = try new ideas. Finished? Copy the good stuff back!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0292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28016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9144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Commands — Create, Switch &amp; List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961697"/>
            <a:ext cx="2286000" cy="320040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961697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 Commands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" y="1389888"/>
            <a:ext cx="5120640" cy="3392424"/>
          </a:xfrm>
          <a:prstGeom prst="rect">
            <a:avLst/>
          </a:prstGeom>
          <a:solidFill>
            <a:srgbClr val="1E1E2E"/>
          </a:solidFill>
          <a:ln w="12700">
            <a:solidFill>
              <a:srgbClr val="3C3C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" y="1609344"/>
            <a:ext cx="475488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See all branches (current branch has *)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branch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a new branch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branch feature/login-page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Switch to that branch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checkout feature/login-page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Shortcut: Create AND switch in one command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checkout -b feature/login-page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577840" y="960120"/>
            <a:ext cx="3246120" cy="1170432"/>
          </a:xfrm>
          <a:prstGeom prst="rect">
            <a:avLst/>
          </a:prstGeom>
          <a:solidFill>
            <a:srgbClr val="DCE6F1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77840" y="960120"/>
            <a:ext cx="82296" cy="1170432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87568" y="1271016"/>
            <a:ext cx="475488" cy="47548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2666" y="136611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91072" y="100584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Branch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291072" y="1417320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branch with  *  in 'git branch' is where you are right now.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577840" y="2286000"/>
            <a:ext cx="3246120" cy="1170432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577840" y="2286000"/>
            <a:ext cx="82296" cy="1170432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687568" y="2596896"/>
            <a:ext cx="475488" cy="475488"/>
          </a:xfrm>
          <a:prstGeom prst="ellipse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2666" y="2691994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91072" y="23317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6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Tips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91072" y="2743200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clear names: feature/login, </a:t>
            </a:r>
            <a:b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fix-navbar-bug, </a:t>
            </a:r>
            <a:r>
              <a:rPr lang="en-US" sz="11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hotfix_crash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577840" y="3611880"/>
            <a:ext cx="3246120" cy="1170432"/>
          </a:xfrm>
          <a:prstGeom prst="rect">
            <a:avLst/>
          </a:prstGeom>
          <a:solidFill>
            <a:srgbClr val="D5F5E3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577840" y="3611880"/>
            <a:ext cx="82296" cy="11704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687568" y="3922776"/>
            <a:ext cx="475488" cy="47548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2666" y="4017874"/>
            <a:ext cx="285293" cy="28529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291072" y="365760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291072" y="4069080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work directly on main. Always create a new branch first!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0292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28016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9144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Branches — Combining Your Work</a:t>
            </a:r>
            <a:endParaRPr lang="en-US" sz="2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5729" y="960120"/>
            <a:ext cx="1005840" cy="10058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960120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combines the work from one branch into another. When your feature is done, you merge it back into main.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320040" y="1993392"/>
            <a:ext cx="8503920" cy="914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023360" y="1993392"/>
            <a:ext cx="73152" cy="10058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069080" y="2944368"/>
            <a:ext cx="3154680" cy="914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159752" y="1993392"/>
            <a:ext cx="73152" cy="103327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14400" y="1828800"/>
            <a:ext cx="530352" cy="530352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22960" y="2414016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84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148840" y="1828800"/>
            <a:ext cx="530352" cy="530352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2057400" y="2414016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84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023360" y="1828800"/>
            <a:ext cx="530352" cy="530352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3931920" y="2382486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84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C3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7159752" y="1828800"/>
            <a:ext cx="530352" cy="530352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7169208" y="2414016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84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C5 Merge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754880" y="2852928"/>
            <a:ext cx="530352" cy="530352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4663440" y="345643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3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C4a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943600" y="2852928"/>
            <a:ext cx="530352" cy="530352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5852160" y="345643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3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C4b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133088" y="266595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3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feature/login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320040" y="168249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7195385" y="1619436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MERGED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320040" y="3227832"/>
            <a:ext cx="2286000" cy="320040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11480" y="32278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to Merge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320040" y="3547872"/>
            <a:ext cx="8503920" cy="1504188"/>
          </a:xfrm>
          <a:prstGeom prst="rect">
            <a:avLst/>
          </a:prstGeom>
          <a:solidFill>
            <a:srgbClr val="1E1E2E"/>
          </a:solidFill>
          <a:ln w="12700">
            <a:solidFill>
              <a:srgbClr val="3C3C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502920" y="3657600"/>
            <a:ext cx="813816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1: Switch back to main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checkout main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2: Merge your feature branch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merge feature/login-page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3: Push to GitHub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origin main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0292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28016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9144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Merge Conflict?</a:t>
            </a:r>
            <a:endParaRPr lang="en-US" sz="2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960120"/>
            <a:ext cx="1097280" cy="10972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960120"/>
            <a:ext cx="7132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merge conflict happens when TWO branches change the SAME line of the SAME file — and Git doesn't know which version to keep. Git asks YOU to decide!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274320" y="1874520"/>
            <a:ext cx="4069080" cy="2331720"/>
          </a:xfrm>
          <a:prstGeom prst="rect">
            <a:avLst/>
          </a:prstGeom>
          <a:solidFill>
            <a:srgbClr val="DCE6F1"/>
          </a:solidFill>
          <a:ln w="12700">
            <a:solidFill>
              <a:srgbClr val="B8CC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74320" y="1874520"/>
            <a:ext cx="4069080" cy="384048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384048" y="1920240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31520" y="188366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Jenny edits line 5: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411480" y="2377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color: "blue";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411480" y="2788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(She is working on her branch)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11480" y="3154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tries to merge both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11480" y="3493008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CONFLICT! Same line, different values!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800600" y="1874520"/>
            <a:ext cx="4069080" cy="23317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800600" y="1874520"/>
            <a:ext cx="4069080" cy="384048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4919472" y="192024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66944" y="188366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edits SAME line 5: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937760" y="2377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87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color: "red";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937760" y="2788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 is working on his branch)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937760" y="3154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tries to merge both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937760" y="3493008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CONFLICT! Same line, different values!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320040" y="4334256"/>
            <a:ext cx="8503920" cy="713232"/>
          </a:xfrm>
          <a:prstGeom prst="rect">
            <a:avLst/>
          </a:prstGeom>
          <a:solidFill>
            <a:srgbClr val="FADBD8"/>
          </a:solidFill>
          <a:ln w="1524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0040" y="4334256"/>
            <a:ext cx="73152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84632" y="4334256"/>
            <a:ext cx="8247888" cy="71323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😤  Don't panic! Conflicts are NORMAL and happen to ALL developers. Git just needs YOU to look at both versions and decide which one (or a mix) to keep.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0292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28016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9144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Resolve a Merge Conflict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365760" y="897060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Git finds a conflict, it MARKS the file with special symbols. Here is what it looks like: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20040" y="1252728"/>
            <a:ext cx="2286000" cy="320040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25272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conflict_file.css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" y="1572768"/>
            <a:ext cx="5029200" cy="1572768"/>
          </a:xfrm>
          <a:prstGeom prst="rect">
            <a:avLst/>
          </a:prstGeom>
          <a:solidFill>
            <a:srgbClr val="1E1E2E"/>
          </a:solidFill>
          <a:ln w="12700">
            <a:solidFill>
              <a:srgbClr val="3C3C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2920" y="1682496"/>
            <a:ext cx="466344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HEAD  (your current branch — main)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color: "blue";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       (separator)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color: "red";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 feature/login  (incoming branch)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532120" y="157276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to Fix the Conflict: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532120" y="2029968"/>
            <a:ext cx="3291840" cy="411480"/>
          </a:xfrm>
          <a:prstGeom prst="rect">
            <a:avLst/>
          </a:prstGeom>
          <a:solidFill>
            <a:srgbClr val="DCE6F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559552" y="2057400"/>
            <a:ext cx="347472" cy="347472"/>
          </a:xfrm>
          <a:prstGeom prst="ellipse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59552" y="2057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89320" y="206654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conflicted file in your editor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532120" y="2505456"/>
            <a:ext cx="3291840" cy="411480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559552" y="2532888"/>
            <a:ext cx="347472" cy="347472"/>
          </a:xfrm>
          <a:prstGeom prst="ellipse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59552" y="25328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989320" y="25420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&lt;&lt;&lt;, ===, &gt;&gt;&gt; markers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532120" y="2980944"/>
            <a:ext cx="3291840" cy="411480"/>
          </a:xfrm>
          <a:prstGeom prst="rect">
            <a:avLst/>
          </a:prstGeom>
          <a:solidFill>
            <a:srgbClr val="DCE6F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559552" y="3008376"/>
            <a:ext cx="347472" cy="347472"/>
          </a:xfrm>
          <a:prstGeom prst="ellipse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59552" y="30083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98932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markers + choose which version to keep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532120" y="3456432"/>
            <a:ext cx="3291840" cy="411480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559552" y="3483864"/>
            <a:ext cx="347472" cy="347472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559552" y="34838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989320" y="34930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file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532120" y="3931920"/>
            <a:ext cx="3291840" cy="411480"/>
          </a:xfrm>
          <a:prstGeom prst="rect">
            <a:avLst/>
          </a:prstGeom>
          <a:solidFill>
            <a:srgbClr val="DCE6F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559552" y="3959352"/>
            <a:ext cx="347472" cy="347472"/>
          </a:xfrm>
          <a:prstGeom prst="ellipse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59552" y="39593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989320" y="396849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the resolved file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532120" y="4407408"/>
            <a:ext cx="3291840" cy="411480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559552" y="4434840"/>
            <a:ext cx="347472" cy="347472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559552" y="4434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989320" y="444398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to complete the merge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320040" y="2898648"/>
            <a:ext cx="2286000" cy="320040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11480" y="28986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 &amp; Commit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320040" y="3218688"/>
            <a:ext cx="5029200" cy="1024128"/>
          </a:xfrm>
          <a:prstGeom prst="rect">
            <a:avLst/>
          </a:prstGeom>
          <a:solidFill>
            <a:srgbClr val="1E1E2E"/>
          </a:solidFill>
          <a:ln w="12700">
            <a:solidFill>
              <a:srgbClr val="3C3C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502920" y="3328416"/>
            <a:ext cx="46634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After editing the file manually: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style.css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"Resolved color conflict"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origin main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320040" y="4334256"/>
            <a:ext cx="8503920" cy="713232"/>
          </a:xfrm>
          <a:prstGeom prst="rect">
            <a:avLst/>
          </a:prstGeom>
          <a:solidFill>
            <a:srgbClr val="D5F5E3"/>
          </a:solidFill>
          <a:ln w="1524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320040" y="4334256"/>
            <a:ext cx="73152" cy="7132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84632" y="4334256"/>
            <a:ext cx="8247888" cy="71323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5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VS Code and many editors highlight conflicts in colour and give you buttons like 'Accept Current Change', 'Accept Incoming Change', or 'Accept Both'.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804672"/>
            <a:ext cx="9144000" cy="50292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28016"/>
            <a:ext cx="512064" cy="51206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960120"/>
            <a:ext cx="1005840" cy="10058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96012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Pull Request (PR) is a formal request on GitHub to merge your branch into main. It lets teammates review your code BEFORE it becomes part of the project.</a:t>
            </a:r>
            <a:endParaRPr lang="en-US" sz="1550" dirty="0"/>
          </a:p>
        </p:txBody>
      </p:sp>
      <p:sp>
        <p:nvSpPr>
          <p:cNvPr id="8" name="Shape 4"/>
          <p:cNvSpPr/>
          <p:nvPr/>
        </p:nvSpPr>
        <p:spPr>
          <a:xfrm>
            <a:off x="274320" y="1828800"/>
            <a:ext cx="1600200" cy="2331720"/>
          </a:xfrm>
          <a:prstGeom prst="rect">
            <a:avLst/>
          </a:prstGeom>
          <a:solidFill>
            <a:srgbClr val="DCE6F1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74320" y="1828800"/>
            <a:ext cx="1600200" cy="347472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74320" y="18288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95528" y="2286000"/>
            <a:ext cx="530352" cy="530352"/>
          </a:xfrm>
          <a:prstGeom prst="ellipse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>
            <a:biLevel thresh="25000"/>
          </a:blip>
          <a:stretch>
            <a:fillRect/>
          </a:stretch>
        </p:blipFill>
        <p:spPr>
          <a:xfrm>
            <a:off x="901598" y="2392070"/>
            <a:ext cx="318211" cy="31821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74320" y="2907792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branch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make changes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1892808" y="283464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46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2011680" y="1828800"/>
            <a:ext cx="1600200" cy="2331720"/>
          </a:xfrm>
          <a:prstGeom prst="rect">
            <a:avLst/>
          </a:prstGeom>
          <a:solidFill>
            <a:srgbClr val="FFF3E0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2011680" y="1828800"/>
            <a:ext cx="1600200" cy="347472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2011680" y="18288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2532888" y="2286000"/>
            <a:ext cx="530352" cy="530352"/>
          </a:xfrm>
          <a:prstGeom prst="ellipse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>
            <a:biLevel thresh="25000"/>
          </a:blip>
          <a:stretch>
            <a:fillRect/>
          </a:stretch>
        </p:blipFill>
        <p:spPr>
          <a:xfrm>
            <a:off x="2638958" y="2392070"/>
            <a:ext cx="318211" cy="31821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2907792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branch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GitHub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3630168" y="283464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46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3749040" y="1828800"/>
            <a:ext cx="1600200" cy="2331720"/>
          </a:xfrm>
          <a:prstGeom prst="rect">
            <a:avLst/>
          </a:prstGeom>
          <a:solidFill>
            <a:srgbClr val="E8DAE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3749040" y="1828800"/>
            <a:ext cx="1600200" cy="34747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3749040" y="18288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4270248" y="2286000"/>
            <a:ext cx="530352" cy="530352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4376318" y="2392070"/>
            <a:ext cx="318211" cy="31821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749040" y="2907792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Pull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on GitHub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5367528" y="283464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46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5486400" y="1828800"/>
            <a:ext cx="1600200" cy="2331720"/>
          </a:xfrm>
          <a:prstGeom prst="rect">
            <a:avLst/>
          </a:prstGeom>
          <a:solidFill>
            <a:srgbClr val="FFF3E0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5486400" y="1828800"/>
            <a:ext cx="1600200" cy="347472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5486400" y="18288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Shape 25"/>
          <p:cNvSpPr/>
          <p:nvPr/>
        </p:nvSpPr>
        <p:spPr>
          <a:xfrm>
            <a:off x="6007608" y="2286000"/>
            <a:ext cx="530352" cy="530352"/>
          </a:xfrm>
          <a:prstGeom prst="ellipse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6113678" y="2392070"/>
            <a:ext cx="318211" cy="318211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486400" y="2907792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Teammates review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leave comments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7104888" y="283464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46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Shape 28"/>
          <p:cNvSpPr/>
          <p:nvPr/>
        </p:nvSpPr>
        <p:spPr>
          <a:xfrm>
            <a:off x="7223760" y="1828800"/>
            <a:ext cx="1600200" cy="2331720"/>
          </a:xfrm>
          <a:prstGeom prst="rect">
            <a:avLst/>
          </a:prstGeom>
          <a:solidFill>
            <a:srgbClr val="D5F5E3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7223760" y="1828800"/>
            <a:ext cx="1600200" cy="3474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7223760" y="18288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Shape 31"/>
          <p:cNvSpPr/>
          <p:nvPr/>
        </p:nvSpPr>
        <p:spPr>
          <a:xfrm>
            <a:off x="7744968" y="2286000"/>
            <a:ext cx="530352" cy="530352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8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51038" y="2392070"/>
            <a:ext cx="318211" cy="318211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223760" y="2907792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PR into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when approved ✅</a:t>
            </a:r>
            <a:endParaRPr lang="en-US" sz="1150" dirty="0"/>
          </a:p>
        </p:txBody>
      </p:sp>
      <p:sp>
        <p:nvSpPr>
          <p:cNvPr id="45" name="Text 2">
            <a:extLst>
              <a:ext uri="{FF2B5EF4-FFF2-40B4-BE49-F238E27FC236}">
                <a16:creationId xmlns:a16="http://schemas.microsoft.com/office/drawing/2014/main" id="{4FF9E72C-FAE9-E1FB-055D-51D32DAE9581}"/>
              </a:ext>
            </a:extLst>
          </p:cNvPr>
          <p:cNvSpPr/>
          <p:nvPr/>
        </p:nvSpPr>
        <p:spPr>
          <a:xfrm>
            <a:off x="822960" y="9144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(PR)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0292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28016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9144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 — Full Workflow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2029968" cy="1828800"/>
          </a:xfrm>
          <a:prstGeom prst="rect">
            <a:avLst/>
          </a:prstGeom>
          <a:solidFill>
            <a:srgbClr val="DCE6F1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56032" y="932688"/>
            <a:ext cx="2029968" cy="347472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6032" y="93268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Jenny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9264" y="1371600"/>
            <a:ext cx="493776" cy="49377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1068019" y="1476661"/>
            <a:ext cx="296266" cy="29626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6032" y="1956816"/>
            <a:ext cx="20299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Jenny creates repo on GitHub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pushes initial code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304288" y="1755648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46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2450592" y="932688"/>
            <a:ext cx="2029968" cy="1828800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450592" y="932688"/>
            <a:ext cx="2029968" cy="347472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450592" y="93268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Tom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163824" y="1371600"/>
            <a:ext cx="493776" cy="493776"/>
          </a:xfrm>
          <a:prstGeom prst="ellipse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62579" y="1470355"/>
            <a:ext cx="296266" cy="29626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450592" y="1956816"/>
            <a:ext cx="20299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clones the repository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&lt;url&gt;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498848" y="1755648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46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4645152" y="932688"/>
            <a:ext cx="2029968" cy="1828800"/>
          </a:xfrm>
          <a:prstGeom prst="rect">
            <a:avLst/>
          </a:prstGeom>
          <a:solidFill>
            <a:srgbClr val="E8DAE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45152" y="932688"/>
            <a:ext cx="2029968" cy="34747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645152" y="93268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Tom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5358384" y="1371600"/>
            <a:ext cx="493776" cy="493776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7">
            <a:biLevel thresh="25000"/>
          </a:blip>
          <a:stretch>
            <a:fillRect/>
          </a:stretch>
        </p:blipFill>
        <p:spPr>
          <a:xfrm>
            <a:off x="5457139" y="1470355"/>
            <a:ext cx="296266" cy="29626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645152" y="1956816"/>
            <a:ext cx="20299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creates a branch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checkout -b feature/login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693408" y="1755648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46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6839712" y="932688"/>
            <a:ext cx="2029968" cy="1828800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839712" y="932688"/>
            <a:ext cx="2029968" cy="347472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839712" y="93268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Tom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7552944" y="1371600"/>
            <a:ext cx="493776" cy="493776"/>
          </a:xfrm>
          <a:prstGeom prst="ellipse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8">
            <a:biLevel thresh="25000"/>
          </a:blip>
          <a:stretch>
            <a:fillRect/>
          </a:stretch>
        </p:blipFill>
        <p:spPr>
          <a:xfrm>
            <a:off x="7651699" y="1470355"/>
            <a:ext cx="296266" cy="29626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839712" y="1956816"/>
            <a:ext cx="20299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codes, commits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. &amp;&amp; git commit -m '...'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256032" y="2962656"/>
            <a:ext cx="2029968" cy="1828800"/>
          </a:xfrm>
          <a:prstGeom prst="rect">
            <a:avLst/>
          </a:prstGeom>
          <a:solidFill>
            <a:srgbClr val="DCE6F1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256032" y="2962656"/>
            <a:ext cx="2029968" cy="347472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256032" y="2962656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Tom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969264" y="3401568"/>
            <a:ext cx="493776" cy="493776"/>
          </a:xfrm>
          <a:prstGeom prst="ellipse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9">
            <a:biLevel thresh="25000"/>
          </a:blip>
          <a:stretch>
            <a:fillRect/>
          </a:stretch>
        </p:blipFill>
        <p:spPr>
          <a:xfrm>
            <a:off x="1068019" y="3500323"/>
            <a:ext cx="296266" cy="29626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256032" y="3986784"/>
            <a:ext cx="20299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pushes branch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origin feature/login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2304288" y="3785616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46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Shape 32"/>
          <p:cNvSpPr/>
          <p:nvPr/>
        </p:nvSpPr>
        <p:spPr>
          <a:xfrm>
            <a:off x="2450592" y="2962656"/>
            <a:ext cx="2029968" cy="1828800"/>
          </a:xfrm>
          <a:prstGeom prst="rect">
            <a:avLst/>
          </a:prstGeom>
          <a:solidFill>
            <a:srgbClr val="E8DAE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2450592" y="2962656"/>
            <a:ext cx="2029968" cy="34747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2450592" y="2962656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Tom</a:t>
            </a:r>
            <a:endParaRPr lang="en-US" sz="1300" dirty="0"/>
          </a:p>
        </p:txBody>
      </p:sp>
      <p:sp>
        <p:nvSpPr>
          <p:cNvPr id="43" name="Shape 35"/>
          <p:cNvSpPr/>
          <p:nvPr/>
        </p:nvSpPr>
        <p:spPr>
          <a:xfrm>
            <a:off x="3163824" y="3401568"/>
            <a:ext cx="493776" cy="493776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10">
            <a:biLevel thresh="25000"/>
          </a:blip>
          <a:stretch>
            <a:fillRect/>
          </a:stretch>
        </p:blipFill>
        <p:spPr>
          <a:xfrm>
            <a:off x="3262579" y="3500323"/>
            <a:ext cx="296266" cy="296266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2450592" y="3986784"/>
            <a:ext cx="20299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opens Pull Request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GitHub for review</a:t>
            </a:r>
            <a:endParaRPr lang="en-US" sz="1100" dirty="0"/>
          </a:p>
        </p:txBody>
      </p:sp>
      <p:sp>
        <p:nvSpPr>
          <p:cNvPr id="46" name="Text 37"/>
          <p:cNvSpPr/>
          <p:nvPr/>
        </p:nvSpPr>
        <p:spPr>
          <a:xfrm>
            <a:off x="4498848" y="3785616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46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7" name="Shape 38"/>
          <p:cNvSpPr/>
          <p:nvPr/>
        </p:nvSpPr>
        <p:spPr>
          <a:xfrm>
            <a:off x="4645152" y="2962656"/>
            <a:ext cx="2029968" cy="1828800"/>
          </a:xfrm>
          <a:prstGeom prst="rect">
            <a:avLst/>
          </a:prstGeom>
          <a:solidFill>
            <a:srgbClr val="D5F5E3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4645152" y="2962656"/>
            <a:ext cx="2029968" cy="3474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4645152" y="2962656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Jenny</a:t>
            </a:r>
            <a:endParaRPr lang="en-US" sz="1300" dirty="0"/>
          </a:p>
        </p:txBody>
      </p:sp>
      <p:sp>
        <p:nvSpPr>
          <p:cNvPr id="50" name="Shape 41"/>
          <p:cNvSpPr/>
          <p:nvPr/>
        </p:nvSpPr>
        <p:spPr>
          <a:xfrm>
            <a:off x="5358384" y="3401568"/>
            <a:ext cx="493776" cy="493776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57139" y="3500323"/>
            <a:ext cx="296266" cy="296266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4645152" y="3986784"/>
            <a:ext cx="20299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Jenny reviews &amp; approves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on GitHub</a:t>
            </a:r>
            <a:endParaRPr lang="en-US" sz="1100" dirty="0"/>
          </a:p>
        </p:txBody>
      </p:sp>
      <p:sp>
        <p:nvSpPr>
          <p:cNvPr id="53" name="Text 43"/>
          <p:cNvSpPr/>
          <p:nvPr/>
        </p:nvSpPr>
        <p:spPr>
          <a:xfrm>
            <a:off x="6693408" y="3785616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46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4" name="Shape 44"/>
          <p:cNvSpPr/>
          <p:nvPr/>
        </p:nvSpPr>
        <p:spPr>
          <a:xfrm>
            <a:off x="6839712" y="2962656"/>
            <a:ext cx="2029968" cy="1828800"/>
          </a:xfrm>
          <a:prstGeom prst="rect">
            <a:avLst/>
          </a:prstGeom>
          <a:solidFill>
            <a:srgbClr val="D5F5E3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5" name="Shape 45"/>
          <p:cNvSpPr/>
          <p:nvPr/>
        </p:nvSpPr>
        <p:spPr>
          <a:xfrm>
            <a:off x="6839712" y="2962656"/>
            <a:ext cx="2029968" cy="3474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6" name="Text 46"/>
          <p:cNvSpPr/>
          <p:nvPr/>
        </p:nvSpPr>
        <p:spPr>
          <a:xfrm>
            <a:off x="6839712" y="2962656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Both</a:t>
            </a:r>
            <a:endParaRPr lang="en-US" sz="1300" dirty="0"/>
          </a:p>
        </p:txBody>
      </p:sp>
      <p:sp>
        <p:nvSpPr>
          <p:cNvPr id="57" name="Shape 47"/>
          <p:cNvSpPr/>
          <p:nvPr/>
        </p:nvSpPr>
        <p:spPr>
          <a:xfrm>
            <a:off x="7552944" y="3401568"/>
            <a:ext cx="493776" cy="493776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58" name="Image 8" descr="preencoded.png"/>
          <p:cNvPicPr>
            <a:picLocks noChangeAspect="1"/>
          </p:cNvPicPr>
          <p:nvPr/>
        </p:nvPicPr>
        <p:blipFill>
          <a:blip r:embed="rId12">
            <a:biLevel thresh="25000"/>
          </a:blip>
          <a:stretch>
            <a:fillRect/>
          </a:stretch>
        </p:blipFill>
        <p:spPr>
          <a:xfrm>
            <a:off x="7651699" y="3500323"/>
            <a:ext cx="296266" cy="296266"/>
          </a:xfrm>
          <a:prstGeom prst="rect">
            <a:avLst/>
          </a:prstGeom>
        </p:spPr>
      </p:pic>
      <p:sp>
        <p:nvSpPr>
          <p:cNvPr id="59" name="Text 48"/>
          <p:cNvSpPr/>
          <p:nvPr/>
        </p:nvSpPr>
        <p:spPr>
          <a:xfrm>
            <a:off x="6839712" y="3986784"/>
            <a:ext cx="20299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Merged! Both pull latest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pull origin main  🎉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0292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28016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9144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Interface — What You Will See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74320" y="932688"/>
            <a:ext cx="4206240" cy="1170432"/>
          </a:xfrm>
          <a:prstGeom prst="rect">
            <a:avLst/>
          </a:prstGeom>
          <a:solidFill>
            <a:srgbClr val="DCE6F1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932688"/>
            <a:ext cx="82296" cy="1170432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02336" y="1243584"/>
            <a:ext cx="475488" cy="47548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497434" y="1338682"/>
            <a:ext cx="285293" cy="2852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987552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05840" y="1408176"/>
            <a:ext cx="3364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page — shows all files &amp; folders in your project.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736592" y="932688"/>
            <a:ext cx="4206240" cy="1170432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36592" y="932688"/>
            <a:ext cx="82296" cy="1170432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864608" y="1243584"/>
            <a:ext cx="475488" cy="475488"/>
          </a:xfrm>
          <a:prstGeom prst="ellipse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4959706" y="1338682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68112" y="987552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6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5468112" y="1408176"/>
            <a:ext cx="3364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project's homepage description — shown below all files.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274320" y="2258568"/>
            <a:ext cx="4206240" cy="1170432"/>
          </a:xfrm>
          <a:prstGeom prst="rect">
            <a:avLst/>
          </a:prstGeom>
          <a:solidFill>
            <a:srgbClr val="DCE6F1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274320" y="2258568"/>
            <a:ext cx="82296" cy="1170432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02336" y="2569464"/>
            <a:ext cx="475488" cy="47548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>
            <a:biLevel thresh="25000"/>
          </a:blip>
          <a:stretch>
            <a:fillRect/>
          </a:stretch>
        </p:blipFill>
        <p:spPr>
          <a:xfrm>
            <a:off x="497434" y="2664562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5840" y="2313432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History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005840" y="2734056"/>
            <a:ext cx="3364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'X commits' to see every change ever made.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736592" y="2258568"/>
            <a:ext cx="4206240" cy="1170432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36592" y="2258568"/>
            <a:ext cx="82296" cy="1170432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864608" y="2569464"/>
            <a:ext cx="475488" cy="475488"/>
          </a:xfrm>
          <a:prstGeom prst="ellipse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>
            <a:biLevel thresh="25000"/>
          </a:blip>
          <a:stretch>
            <a:fillRect/>
          </a:stretch>
        </p:blipFill>
        <p:spPr>
          <a:xfrm>
            <a:off x="4959706" y="2664562"/>
            <a:ext cx="285293" cy="28529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68112" y="2313432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6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5468112" y="2734056"/>
            <a:ext cx="3364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to switch between different branches.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274320" y="3584448"/>
            <a:ext cx="4206240" cy="1170432"/>
          </a:xfrm>
          <a:prstGeom prst="rect">
            <a:avLst/>
          </a:prstGeom>
          <a:solidFill>
            <a:srgbClr val="DCE6F1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274320" y="3584448"/>
            <a:ext cx="82296" cy="1170432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02336" y="3895344"/>
            <a:ext cx="475488" cy="475488"/>
          </a:xfrm>
          <a:prstGeom prst="ellipse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>
            <a:biLevel thresh="25000"/>
          </a:blip>
          <a:stretch>
            <a:fillRect/>
          </a:stretch>
        </p:blipFill>
        <p:spPr>
          <a:xfrm>
            <a:off x="497434" y="3990442"/>
            <a:ext cx="285293" cy="28529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005840" y="3639312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1005840" y="4059936"/>
            <a:ext cx="3364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Propose, review, and merge code changes — the PR tab.</a:t>
            </a:r>
            <a:endParaRPr lang="en-US" sz="1250" dirty="0"/>
          </a:p>
        </p:txBody>
      </p:sp>
      <p:sp>
        <p:nvSpPr>
          <p:cNvPr id="36" name="Shape 28"/>
          <p:cNvSpPr/>
          <p:nvPr/>
        </p:nvSpPr>
        <p:spPr>
          <a:xfrm>
            <a:off x="4736592" y="3584448"/>
            <a:ext cx="4206240" cy="1170432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736592" y="3584448"/>
            <a:ext cx="82296" cy="1170432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4864608" y="3895344"/>
            <a:ext cx="475488" cy="475488"/>
          </a:xfrm>
          <a:prstGeom prst="ellipse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>
            <a:lum bright="70000" contrast="-70000"/>
          </a:blip>
          <a:stretch>
            <a:fillRect/>
          </a:stretch>
        </p:blipFill>
        <p:spPr>
          <a:xfrm>
            <a:off x="4959706" y="3990442"/>
            <a:ext cx="285293" cy="285293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468112" y="3639312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6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Collaborators</a:t>
            </a:r>
            <a:endParaRPr lang="en-US" sz="1500" dirty="0"/>
          </a:p>
        </p:txBody>
      </p:sp>
      <p:sp>
        <p:nvSpPr>
          <p:cNvPr id="41" name="Text 32"/>
          <p:cNvSpPr/>
          <p:nvPr/>
        </p:nvSpPr>
        <p:spPr>
          <a:xfrm>
            <a:off x="5468112" y="4059936"/>
            <a:ext cx="3364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Add people to your repository by username.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0292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28016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9144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Beginner Mistakes to Avoid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74320" y="932688"/>
            <a:ext cx="4206240" cy="1170432"/>
          </a:xfrm>
          <a:prstGeom prst="rect">
            <a:avLst/>
          </a:prstGeom>
          <a:solidFill>
            <a:srgbClr val="FADBD8"/>
          </a:solidFill>
          <a:ln w="12700">
            <a:solidFill>
              <a:srgbClr val="FFA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932688"/>
            <a:ext cx="82296" cy="1170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02336" y="1243584"/>
            <a:ext cx="475488" cy="47548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497434" y="1338682"/>
            <a:ext cx="285293" cy="2852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987552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Forgetting git add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005840" y="1408176"/>
            <a:ext cx="3364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commit unstaged files — always git add first!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736592" y="932688"/>
            <a:ext cx="4206240" cy="1170432"/>
          </a:xfrm>
          <a:prstGeom prst="rect">
            <a:avLst/>
          </a:prstGeom>
          <a:solidFill>
            <a:srgbClr val="FADBD8"/>
          </a:solidFill>
          <a:ln w="12700">
            <a:solidFill>
              <a:srgbClr val="FFA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36592" y="932688"/>
            <a:ext cx="82296" cy="1170432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864608" y="1243584"/>
            <a:ext cx="475488" cy="475488"/>
          </a:xfrm>
          <a:prstGeom prst="ellipse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4959706" y="1338682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68112" y="987552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E46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r>
              <a:rPr lang="en-IN" sz="1400" b="1" dirty="0">
                <a:solidFill>
                  <a:srgbClr val="E46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</a:t>
            </a:r>
            <a:r>
              <a:rPr lang="en-IN" sz="1400" dirty="0"/>
              <a:t> </a:t>
            </a:r>
            <a:r>
              <a:rPr lang="en-US" sz="1400" b="1" dirty="0">
                <a:solidFill>
                  <a:srgbClr val="E46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commit messages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468112" y="1408176"/>
            <a:ext cx="3364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'fix' tells nobody anything. Write: 'Fixed login bug on line 42'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274320" y="2258568"/>
            <a:ext cx="4206240" cy="1170432"/>
          </a:xfrm>
          <a:prstGeom prst="rect">
            <a:avLst/>
          </a:prstGeom>
          <a:solidFill>
            <a:srgbClr val="FADBD8"/>
          </a:solidFill>
          <a:ln w="12700">
            <a:solidFill>
              <a:srgbClr val="FFA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274320" y="2258568"/>
            <a:ext cx="82296" cy="1170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02336" y="2569464"/>
            <a:ext cx="475488" cy="47548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497434" y="2664562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5840" y="2313432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Working on main directly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005840" y="2734056"/>
            <a:ext cx="3364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create a feature branch. Keep main clean and safe.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736592" y="2258568"/>
            <a:ext cx="4206240" cy="1170432"/>
          </a:xfrm>
          <a:prstGeom prst="rect">
            <a:avLst/>
          </a:prstGeom>
          <a:solidFill>
            <a:srgbClr val="FADBD8"/>
          </a:solidFill>
          <a:ln w="12700">
            <a:solidFill>
              <a:srgbClr val="FFA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36592" y="2258568"/>
            <a:ext cx="82296" cy="1170432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864608" y="2569464"/>
            <a:ext cx="475488" cy="475488"/>
          </a:xfrm>
          <a:prstGeom prst="ellipse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4959706" y="2664562"/>
            <a:ext cx="285293" cy="28529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68112" y="2313432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6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Not pulling before push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5468112" y="2734056"/>
            <a:ext cx="3364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git pull first or you may create conflicts.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274320" y="3590754"/>
            <a:ext cx="4206240" cy="1170432"/>
          </a:xfrm>
          <a:prstGeom prst="rect">
            <a:avLst/>
          </a:prstGeom>
          <a:solidFill>
            <a:srgbClr val="FADBD8"/>
          </a:solidFill>
          <a:ln w="12700">
            <a:solidFill>
              <a:srgbClr val="FFA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274320" y="3584448"/>
            <a:ext cx="82296" cy="1170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02336" y="3895344"/>
            <a:ext cx="475488" cy="47548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497434" y="3990442"/>
            <a:ext cx="285293" cy="28529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005840" y="3639312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Ignoring git status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1005840" y="4059936"/>
            <a:ext cx="3364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git status constantly — it tells you everything happening.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4736592" y="3584448"/>
            <a:ext cx="4206240" cy="1170432"/>
          </a:xfrm>
          <a:prstGeom prst="rect">
            <a:avLst/>
          </a:prstGeom>
          <a:solidFill>
            <a:srgbClr val="FADBD8"/>
          </a:solidFill>
          <a:ln w="12700">
            <a:solidFill>
              <a:srgbClr val="FFA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736592" y="3584448"/>
            <a:ext cx="82296" cy="1170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4864608" y="3895344"/>
            <a:ext cx="475488" cy="47548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4959706" y="3990442"/>
            <a:ext cx="285293" cy="285293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468112" y="3639312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Deleting the .git folder</a:t>
            </a:r>
            <a:endParaRPr lang="en-US" sz="1400" dirty="0"/>
          </a:p>
        </p:txBody>
      </p:sp>
      <p:sp>
        <p:nvSpPr>
          <p:cNvPr id="41" name="Text 32"/>
          <p:cNvSpPr/>
          <p:nvPr/>
        </p:nvSpPr>
        <p:spPr>
          <a:xfrm>
            <a:off x="5468112" y="4059936"/>
            <a:ext cx="3364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ERASES all your history forever. Never delete it!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0292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28016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9144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vs. Without Git &amp; GitHub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74320" y="960120"/>
            <a:ext cx="4206240" cy="402336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96012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Git &amp; GitHub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74320" y="1362456"/>
            <a:ext cx="4206240" cy="3474720"/>
          </a:xfrm>
          <a:prstGeom prst="rect">
            <a:avLst/>
          </a:prstGeom>
          <a:solidFill>
            <a:srgbClr val="D5F5E3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84048" y="1435608"/>
            <a:ext cx="400507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history of every single change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any mistake instantly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developers, zero conflicts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feature branches for experiments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backup — survive laptop crashes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for professional code review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portfolio for job applications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 — 90%+ of companies use it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960120"/>
            <a:ext cx="4206240" cy="402336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0" y="96012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Git &amp; GitHub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663440" y="1368762"/>
            <a:ext cx="4206240" cy="3474720"/>
          </a:xfrm>
          <a:prstGeom prst="rect">
            <a:avLst/>
          </a:prstGeom>
          <a:solidFill>
            <a:srgbClr val="FADBD8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73168" y="1435608"/>
            <a:ext cx="400507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Overwrite teammates' work accidentally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recover deleted/overwritten code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Endless email zip exchanges — a complete mess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Scared to try new things (might break it)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USB/Drive backups that get forgotten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review — bugs go to production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proof of your coding work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keeping up with industry trends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0292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28016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9144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to Git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the industry standard — but here are other version control systems:</a:t>
            </a:r>
            <a:endParaRPr lang="en-US" sz="14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11351"/>
              </p:ext>
            </p:extLst>
          </p:nvPr>
        </p:nvGraphicFramePr>
        <p:xfrm>
          <a:off x="274320" y="1389888"/>
          <a:ext cx="8595360" cy="21945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Tool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Key Feature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</a:rPr>
                        <a:t>Apache SVN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</a:rPr>
                        <a:t>Centralized VCS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</a:rPr>
                        <a:t>Centralized — history on one server. Still used in some legacy companies.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</a:rPr>
                        <a:t>Mercurial (Hg)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</a:rPr>
                        <a:t>Distributed VCS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</a:rPr>
                        <a:t>Similar to Git but simpler. Was used by Facebook. Less popular now.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</a:rPr>
                        <a:t>Perforce (Helix)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</a:rPr>
                        <a:t>Centralized VCS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</a:rPr>
                        <a:t>Used in large game studios. Handles huge files (game assets) very well.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0292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28016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9144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to GitHub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 the most popular platform — but these alternatives also host Git repositories:</a:t>
            </a:r>
            <a:endParaRPr lang="en-US" sz="14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4810622"/>
              </p:ext>
            </p:extLst>
          </p:nvPr>
        </p:nvGraphicFramePr>
        <p:xfrm>
          <a:off x="274320" y="1389888"/>
          <a:ext cx="8595360" cy="24688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Platform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Owned By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Key Feature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</a:rPr>
                        <a:t>GitLab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</a:rPr>
                        <a:t>GitLab Inc.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</a:rPr>
                        <a:t>Self-hosted + built-in CI/CD pipelines. Very popular in enterprises.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</a:rPr>
                        <a:t>Bitbucket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</a:rPr>
                        <a:t>Atlassian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</a:rPr>
                        <a:t>Integrates with Jira &amp; Trello. Great for teams using Atlassian tools.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</a:rPr>
                        <a:t>Azure DevOps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</a:rPr>
                        <a:t>Microsoft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</a:rPr>
                        <a:t>Git hosting + project management. Used in large corporate environments.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</a:rPr>
                        <a:t>AWS CodeCommit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</a:rPr>
                        <a:t>Amazon (AWS)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</a:rPr>
                        <a:t>Git hosting for teams already using the AWS cloud services ecosystem.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F21A8-C011-16E3-157A-93DEFA1DA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17D6BE0-3019-9DC6-833E-591E4BBF40F2}"/>
              </a:ext>
            </a:extLst>
          </p:cNvPr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BA41380-7DE8-CF43-929C-678CD297763E}"/>
              </a:ext>
            </a:extLst>
          </p:cNvPr>
          <p:cNvSpPr/>
          <p:nvPr/>
        </p:nvSpPr>
        <p:spPr>
          <a:xfrm>
            <a:off x="0" y="804672"/>
            <a:ext cx="9144000" cy="50292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EB680FD5-FF48-3B59-DDD6-483CE8B04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28016"/>
            <a:ext cx="512064" cy="512064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D6EFB8CF-8E45-9C35-B35B-51CF1393673C}"/>
              </a:ext>
            </a:extLst>
          </p:cNvPr>
          <p:cNvSpPr/>
          <p:nvPr/>
        </p:nvSpPr>
        <p:spPr>
          <a:xfrm>
            <a:off x="822960" y="9144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Your First Git Project</a:t>
            </a:r>
            <a:endParaRPr lang="en-US" sz="26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15738413-0A06-D3FC-0F56-9C0C0D312C2D}"/>
              </a:ext>
            </a:extLst>
          </p:cNvPr>
          <p:cNvSpPr/>
          <p:nvPr/>
        </p:nvSpPr>
        <p:spPr>
          <a:xfrm>
            <a:off x="256032" y="914400"/>
            <a:ext cx="4315968" cy="914400"/>
          </a:xfrm>
          <a:prstGeom prst="rect">
            <a:avLst/>
          </a:prstGeom>
          <a:solidFill>
            <a:srgbClr val="DCE6F1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0BFB03BF-C154-71DC-ED82-B92F051D543F}"/>
              </a:ext>
            </a:extLst>
          </p:cNvPr>
          <p:cNvSpPr/>
          <p:nvPr/>
        </p:nvSpPr>
        <p:spPr>
          <a:xfrm>
            <a:off x="256032" y="914400"/>
            <a:ext cx="475488" cy="914400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1B1E0F8-144B-33AC-43BA-DBF35FB752D6}"/>
              </a:ext>
            </a:extLst>
          </p:cNvPr>
          <p:cNvSpPr/>
          <p:nvPr/>
        </p:nvSpPr>
        <p:spPr>
          <a:xfrm>
            <a:off x="256032" y="914400"/>
            <a:ext cx="4754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10AA6CBB-07A4-442C-D706-B6AD65ACAD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1161288"/>
            <a:ext cx="384048" cy="384048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23A0F278-024F-1E61-010E-346984C4622F}"/>
              </a:ext>
            </a:extLst>
          </p:cNvPr>
          <p:cNvSpPr/>
          <p:nvPr/>
        </p:nvSpPr>
        <p:spPr>
          <a:xfrm>
            <a:off x="1280160" y="96926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folder</a:t>
            </a:r>
            <a:endParaRPr lang="en-US" sz="13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AF57685D-D859-32FB-192F-68A705F2C253}"/>
              </a:ext>
            </a:extLst>
          </p:cNvPr>
          <p:cNvSpPr/>
          <p:nvPr/>
        </p:nvSpPr>
        <p:spPr>
          <a:xfrm>
            <a:off x="1280160" y="1335024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my-project  &amp;&amp;  cd my-project</a:t>
            </a:r>
            <a:endParaRPr lang="en-US" sz="11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29317B22-B3B9-4D21-CB0D-9559B6629993}"/>
              </a:ext>
            </a:extLst>
          </p:cNvPr>
          <p:cNvSpPr/>
          <p:nvPr/>
        </p:nvSpPr>
        <p:spPr>
          <a:xfrm>
            <a:off x="256032" y="1938528"/>
            <a:ext cx="4315968" cy="914400"/>
          </a:xfrm>
          <a:prstGeom prst="rect">
            <a:avLst/>
          </a:prstGeom>
          <a:solidFill>
            <a:srgbClr val="DCE6F1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CF2DB5FA-28FA-951D-4729-764ACF85FA1D}"/>
              </a:ext>
            </a:extLst>
          </p:cNvPr>
          <p:cNvSpPr/>
          <p:nvPr/>
        </p:nvSpPr>
        <p:spPr>
          <a:xfrm>
            <a:off x="256032" y="1938528"/>
            <a:ext cx="475488" cy="914400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C5A76964-BF35-3A6E-93A2-ACB7E2A91611}"/>
              </a:ext>
            </a:extLst>
          </p:cNvPr>
          <p:cNvSpPr/>
          <p:nvPr/>
        </p:nvSpPr>
        <p:spPr>
          <a:xfrm>
            <a:off x="256032" y="1938528"/>
            <a:ext cx="4754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4DA623A1-753F-381E-6B52-220E1C4A27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185416"/>
            <a:ext cx="384048" cy="384048"/>
          </a:xfrm>
          <a:prstGeom prst="rect">
            <a:avLst/>
          </a:prstGeom>
        </p:spPr>
      </p:pic>
      <p:sp>
        <p:nvSpPr>
          <p:cNvPr id="16" name="Text 11">
            <a:extLst>
              <a:ext uri="{FF2B5EF4-FFF2-40B4-BE49-F238E27FC236}">
                <a16:creationId xmlns:a16="http://schemas.microsoft.com/office/drawing/2014/main" id="{9678C4D9-8B9D-4E1F-6352-B04736B06CBB}"/>
              </a:ext>
            </a:extLst>
          </p:cNvPr>
          <p:cNvSpPr/>
          <p:nvPr/>
        </p:nvSpPr>
        <p:spPr>
          <a:xfrm>
            <a:off x="1280160" y="19933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Git</a:t>
            </a:r>
            <a:endParaRPr lang="en-US" sz="13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6B33E114-78EB-5DCE-C762-B7A2BD725BC4}"/>
              </a:ext>
            </a:extLst>
          </p:cNvPr>
          <p:cNvSpPr/>
          <p:nvPr/>
        </p:nvSpPr>
        <p:spPr>
          <a:xfrm>
            <a:off x="1280160" y="2359152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10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8F39F460-4C00-8BBA-1418-1187A54ED4CE}"/>
              </a:ext>
            </a:extLst>
          </p:cNvPr>
          <p:cNvSpPr/>
          <p:nvPr/>
        </p:nvSpPr>
        <p:spPr>
          <a:xfrm>
            <a:off x="256032" y="2962656"/>
            <a:ext cx="4315968" cy="914400"/>
          </a:xfrm>
          <a:prstGeom prst="rect">
            <a:avLst/>
          </a:prstGeom>
          <a:solidFill>
            <a:srgbClr val="DCE6F1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8CE61CEE-0AD9-7D28-1069-B5D85D8D3432}"/>
              </a:ext>
            </a:extLst>
          </p:cNvPr>
          <p:cNvSpPr/>
          <p:nvPr/>
        </p:nvSpPr>
        <p:spPr>
          <a:xfrm>
            <a:off x="256032" y="2962656"/>
            <a:ext cx="475488" cy="914400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DF1AFD73-99BE-F02C-A25F-19C80D214401}"/>
              </a:ext>
            </a:extLst>
          </p:cNvPr>
          <p:cNvSpPr/>
          <p:nvPr/>
        </p:nvSpPr>
        <p:spPr>
          <a:xfrm>
            <a:off x="256032" y="2962656"/>
            <a:ext cx="4754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pic>
        <p:nvPicPr>
          <p:cNvPr id="21" name="Image 3" descr="preencoded.png">
            <a:extLst>
              <a:ext uri="{FF2B5EF4-FFF2-40B4-BE49-F238E27FC236}">
                <a16:creationId xmlns:a16="http://schemas.microsoft.com/office/drawing/2014/main" id="{CCF16DEB-5B99-E2B3-52D4-FD3431D004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3209544"/>
            <a:ext cx="384048" cy="384048"/>
          </a:xfrm>
          <a:prstGeom prst="rect">
            <a:avLst/>
          </a:prstGeom>
        </p:spPr>
      </p:pic>
      <p:sp>
        <p:nvSpPr>
          <p:cNvPr id="22" name="Text 16">
            <a:extLst>
              <a:ext uri="{FF2B5EF4-FFF2-40B4-BE49-F238E27FC236}">
                <a16:creationId xmlns:a16="http://schemas.microsoft.com/office/drawing/2014/main" id="{C1FDC358-56F6-4DE7-5C78-81E5F63DA9D4}"/>
              </a:ext>
            </a:extLst>
          </p:cNvPr>
          <p:cNvSpPr/>
          <p:nvPr/>
        </p:nvSpPr>
        <p:spPr>
          <a:xfrm>
            <a:off x="1280160" y="3017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file</a:t>
            </a:r>
            <a:endParaRPr lang="en-US" sz="1300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0F232672-DA70-28A8-E74C-F1CEDAF58EF3}"/>
              </a:ext>
            </a:extLst>
          </p:cNvPr>
          <p:cNvSpPr/>
          <p:nvPr/>
        </p:nvSpPr>
        <p:spPr>
          <a:xfrm>
            <a:off x="1280160" y="3383280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"Hello World" &gt; index.html</a:t>
            </a:r>
            <a:endParaRPr lang="en-US" sz="1100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5CB91987-52D3-E3E0-DF04-4F42BB7DE595}"/>
              </a:ext>
            </a:extLst>
          </p:cNvPr>
          <p:cNvSpPr/>
          <p:nvPr/>
        </p:nvSpPr>
        <p:spPr>
          <a:xfrm>
            <a:off x="256032" y="3986784"/>
            <a:ext cx="4315968" cy="914400"/>
          </a:xfrm>
          <a:prstGeom prst="rect">
            <a:avLst/>
          </a:prstGeom>
          <a:solidFill>
            <a:srgbClr val="DCE6F1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65BC087C-1051-06DB-8C14-4D22CD9FBC6E}"/>
              </a:ext>
            </a:extLst>
          </p:cNvPr>
          <p:cNvSpPr/>
          <p:nvPr/>
        </p:nvSpPr>
        <p:spPr>
          <a:xfrm>
            <a:off x="256032" y="3986784"/>
            <a:ext cx="475488" cy="914400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B6DC8466-ABBE-95EA-56B2-43FDAFC27ADC}"/>
              </a:ext>
            </a:extLst>
          </p:cNvPr>
          <p:cNvSpPr/>
          <p:nvPr/>
        </p:nvSpPr>
        <p:spPr>
          <a:xfrm>
            <a:off x="256032" y="3986784"/>
            <a:ext cx="4754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pic>
        <p:nvPicPr>
          <p:cNvPr id="27" name="Image 4" descr="preencoded.png">
            <a:extLst>
              <a:ext uri="{FF2B5EF4-FFF2-40B4-BE49-F238E27FC236}">
                <a16:creationId xmlns:a16="http://schemas.microsoft.com/office/drawing/2014/main" id="{CBD6783B-B1F7-D1BA-9E35-50194E2569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4233672"/>
            <a:ext cx="384048" cy="384048"/>
          </a:xfrm>
          <a:prstGeom prst="rect">
            <a:avLst/>
          </a:prstGeom>
        </p:spPr>
      </p:pic>
      <p:sp>
        <p:nvSpPr>
          <p:cNvPr id="28" name="Text 21">
            <a:extLst>
              <a:ext uri="{FF2B5EF4-FFF2-40B4-BE49-F238E27FC236}">
                <a16:creationId xmlns:a16="http://schemas.microsoft.com/office/drawing/2014/main" id="{89EA1CE2-3DF2-02CD-A6B3-8B00EC5065DB}"/>
              </a:ext>
            </a:extLst>
          </p:cNvPr>
          <p:cNvSpPr/>
          <p:nvPr/>
        </p:nvSpPr>
        <p:spPr>
          <a:xfrm>
            <a:off x="1280160" y="40416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status</a:t>
            </a:r>
            <a:endParaRPr lang="en-US" sz="1300" dirty="0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06A7D442-3F54-098A-C71A-D5F658470A6A}"/>
              </a:ext>
            </a:extLst>
          </p:cNvPr>
          <p:cNvSpPr/>
          <p:nvPr/>
        </p:nvSpPr>
        <p:spPr>
          <a:xfrm>
            <a:off x="1280160" y="4407408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100" dirty="0"/>
          </a:p>
        </p:txBody>
      </p:sp>
      <p:sp>
        <p:nvSpPr>
          <p:cNvPr id="30" name="Shape 23">
            <a:extLst>
              <a:ext uri="{FF2B5EF4-FFF2-40B4-BE49-F238E27FC236}">
                <a16:creationId xmlns:a16="http://schemas.microsoft.com/office/drawing/2014/main" id="{63260824-AB88-5647-C718-BCA0B11C5895}"/>
              </a:ext>
            </a:extLst>
          </p:cNvPr>
          <p:cNvSpPr/>
          <p:nvPr/>
        </p:nvSpPr>
        <p:spPr>
          <a:xfrm>
            <a:off x="4828032" y="914400"/>
            <a:ext cx="4315968" cy="914400"/>
          </a:xfrm>
          <a:prstGeom prst="rect">
            <a:avLst/>
          </a:prstGeom>
          <a:solidFill>
            <a:srgbClr val="FFF3E0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4">
            <a:extLst>
              <a:ext uri="{FF2B5EF4-FFF2-40B4-BE49-F238E27FC236}">
                <a16:creationId xmlns:a16="http://schemas.microsoft.com/office/drawing/2014/main" id="{5973E438-AE0E-A3F9-BE90-05ABE6B0067C}"/>
              </a:ext>
            </a:extLst>
          </p:cNvPr>
          <p:cNvSpPr/>
          <p:nvPr/>
        </p:nvSpPr>
        <p:spPr>
          <a:xfrm>
            <a:off x="4828032" y="914400"/>
            <a:ext cx="475488" cy="91440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3A82F924-8FCD-C699-5E5E-E903968DF01E}"/>
              </a:ext>
            </a:extLst>
          </p:cNvPr>
          <p:cNvSpPr/>
          <p:nvPr/>
        </p:nvSpPr>
        <p:spPr>
          <a:xfrm>
            <a:off x="4828032" y="914400"/>
            <a:ext cx="4754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pic>
        <p:nvPicPr>
          <p:cNvPr id="33" name="Image 5" descr="preencoded.png">
            <a:extLst>
              <a:ext uri="{FF2B5EF4-FFF2-40B4-BE49-F238E27FC236}">
                <a16:creationId xmlns:a16="http://schemas.microsoft.com/office/drawing/2014/main" id="{177E3C46-0DE7-DD87-42A3-EC0F6635E2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6672" y="1161288"/>
            <a:ext cx="384048" cy="384048"/>
          </a:xfrm>
          <a:prstGeom prst="rect">
            <a:avLst/>
          </a:prstGeom>
        </p:spPr>
      </p:pic>
      <p:sp>
        <p:nvSpPr>
          <p:cNvPr id="34" name="Text 26">
            <a:extLst>
              <a:ext uri="{FF2B5EF4-FFF2-40B4-BE49-F238E27FC236}">
                <a16:creationId xmlns:a16="http://schemas.microsoft.com/office/drawing/2014/main" id="{1DE50BE5-727A-F9F1-82F9-5591DD619648}"/>
              </a:ext>
            </a:extLst>
          </p:cNvPr>
          <p:cNvSpPr/>
          <p:nvPr/>
        </p:nvSpPr>
        <p:spPr>
          <a:xfrm>
            <a:off x="5852160" y="96926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6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the file</a:t>
            </a:r>
            <a:endParaRPr lang="en-US" sz="1300" dirty="0"/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428D9FC1-CC8D-EA24-EF1B-A738280C36A9}"/>
              </a:ext>
            </a:extLst>
          </p:cNvPr>
          <p:cNvSpPr/>
          <p:nvPr/>
        </p:nvSpPr>
        <p:spPr>
          <a:xfrm>
            <a:off x="5852160" y="1335024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100" dirty="0"/>
          </a:p>
        </p:txBody>
      </p:sp>
      <p:sp>
        <p:nvSpPr>
          <p:cNvPr id="36" name="Shape 28">
            <a:extLst>
              <a:ext uri="{FF2B5EF4-FFF2-40B4-BE49-F238E27FC236}">
                <a16:creationId xmlns:a16="http://schemas.microsoft.com/office/drawing/2014/main" id="{101262AF-7374-C9E8-7EAD-08B45DF2DF00}"/>
              </a:ext>
            </a:extLst>
          </p:cNvPr>
          <p:cNvSpPr/>
          <p:nvPr/>
        </p:nvSpPr>
        <p:spPr>
          <a:xfrm>
            <a:off x="4828032" y="1938528"/>
            <a:ext cx="4315968" cy="914400"/>
          </a:xfrm>
          <a:prstGeom prst="rect">
            <a:avLst/>
          </a:prstGeom>
          <a:solidFill>
            <a:srgbClr val="FFF3E0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7" name="Shape 29">
            <a:extLst>
              <a:ext uri="{FF2B5EF4-FFF2-40B4-BE49-F238E27FC236}">
                <a16:creationId xmlns:a16="http://schemas.microsoft.com/office/drawing/2014/main" id="{58B0DF47-253E-D0F5-6EB6-6F0C8AA1BBF2}"/>
              </a:ext>
            </a:extLst>
          </p:cNvPr>
          <p:cNvSpPr/>
          <p:nvPr/>
        </p:nvSpPr>
        <p:spPr>
          <a:xfrm>
            <a:off x="4828032" y="1938528"/>
            <a:ext cx="475488" cy="91440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sp>
        <p:nvSpPr>
          <p:cNvPr id="38" name="Text 30">
            <a:extLst>
              <a:ext uri="{FF2B5EF4-FFF2-40B4-BE49-F238E27FC236}">
                <a16:creationId xmlns:a16="http://schemas.microsoft.com/office/drawing/2014/main" id="{2AFE46B2-290B-A9AF-2A22-68F6E3DF1900}"/>
              </a:ext>
            </a:extLst>
          </p:cNvPr>
          <p:cNvSpPr/>
          <p:nvPr/>
        </p:nvSpPr>
        <p:spPr>
          <a:xfrm>
            <a:off x="4828032" y="1938528"/>
            <a:ext cx="4754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pic>
        <p:nvPicPr>
          <p:cNvPr id="39" name="Image 6" descr="preencoded.png">
            <a:extLst>
              <a:ext uri="{FF2B5EF4-FFF2-40B4-BE49-F238E27FC236}">
                <a16:creationId xmlns:a16="http://schemas.microsoft.com/office/drawing/2014/main" id="{D52EFDAF-8DE9-95E7-9A34-8555061BA12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76672" y="2185416"/>
            <a:ext cx="384048" cy="384048"/>
          </a:xfrm>
          <a:prstGeom prst="rect">
            <a:avLst/>
          </a:prstGeom>
        </p:spPr>
      </p:pic>
      <p:sp>
        <p:nvSpPr>
          <p:cNvPr id="40" name="Text 31">
            <a:extLst>
              <a:ext uri="{FF2B5EF4-FFF2-40B4-BE49-F238E27FC236}">
                <a16:creationId xmlns:a16="http://schemas.microsoft.com/office/drawing/2014/main" id="{62E0B501-4381-C0A8-52C6-18E2537E30DD}"/>
              </a:ext>
            </a:extLst>
          </p:cNvPr>
          <p:cNvSpPr/>
          <p:nvPr/>
        </p:nvSpPr>
        <p:spPr>
          <a:xfrm>
            <a:off x="5852160" y="19933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6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commit</a:t>
            </a:r>
            <a:endParaRPr lang="en-US" sz="1300" dirty="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477154B2-AA58-1C7C-E48C-4E56E5B7894A}"/>
              </a:ext>
            </a:extLst>
          </p:cNvPr>
          <p:cNvSpPr/>
          <p:nvPr/>
        </p:nvSpPr>
        <p:spPr>
          <a:xfrm>
            <a:off x="5852160" y="2359152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"Initial commit"</a:t>
            </a:r>
            <a:endParaRPr lang="en-US" sz="1100" dirty="0"/>
          </a:p>
        </p:txBody>
      </p:sp>
      <p:sp>
        <p:nvSpPr>
          <p:cNvPr id="42" name="Shape 33">
            <a:extLst>
              <a:ext uri="{FF2B5EF4-FFF2-40B4-BE49-F238E27FC236}">
                <a16:creationId xmlns:a16="http://schemas.microsoft.com/office/drawing/2014/main" id="{794FED90-2917-4670-9ECD-8CDF1D64A36F}"/>
              </a:ext>
            </a:extLst>
          </p:cNvPr>
          <p:cNvSpPr/>
          <p:nvPr/>
        </p:nvSpPr>
        <p:spPr>
          <a:xfrm>
            <a:off x="4828032" y="2962656"/>
            <a:ext cx="4315968" cy="914400"/>
          </a:xfrm>
          <a:prstGeom prst="rect">
            <a:avLst/>
          </a:prstGeom>
          <a:solidFill>
            <a:srgbClr val="FFF3E0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3" name="Shape 34">
            <a:extLst>
              <a:ext uri="{FF2B5EF4-FFF2-40B4-BE49-F238E27FC236}">
                <a16:creationId xmlns:a16="http://schemas.microsoft.com/office/drawing/2014/main" id="{9F492222-2A02-2850-9C47-756834D8788C}"/>
              </a:ext>
            </a:extLst>
          </p:cNvPr>
          <p:cNvSpPr/>
          <p:nvPr/>
        </p:nvSpPr>
        <p:spPr>
          <a:xfrm>
            <a:off x="4828032" y="2962656"/>
            <a:ext cx="475488" cy="91440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sp>
        <p:nvSpPr>
          <p:cNvPr id="44" name="Text 35">
            <a:extLst>
              <a:ext uri="{FF2B5EF4-FFF2-40B4-BE49-F238E27FC236}">
                <a16:creationId xmlns:a16="http://schemas.microsoft.com/office/drawing/2014/main" id="{91523859-2020-D6F1-707E-2E685155C3E6}"/>
              </a:ext>
            </a:extLst>
          </p:cNvPr>
          <p:cNvSpPr/>
          <p:nvPr/>
        </p:nvSpPr>
        <p:spPr>
          <a:xfrm>
            <a:off x="4828032" y="2962656"/>
            <a:ext cx="4754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pic>
        <p:nvPicPr>
          <p:cNvPr id="45" name="Image 7" descr="preencoded.png">
            <a:extLst>
              <a:ext uri="{FF2B5EF4-FFF2-40B4-BE49-F238E27FC236}">
                <a16:creationId xmlns:a16="http://schemas.microsoft.com/office/drawing/2014/main" id="{775D1964-2A95-B7A0-2ECE-53E058C35B7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76672" y="3209544"/>
            <a:ext cx="384048" cy="384048"/>
          </a:xfrm>
          <a:prstGeom prst="rect">
            <a:avLst/>
          </a:prstGeom>
        </p:spPr>
      </p:pic>
      <p:sp>
        <p:nvSpPr>
          <p:cNvPr id="46" name="Text 36">
            <a:extLst>
              <a:ext uri="{FF2B5EF4-FFF2-40B4-BE49-F238E27FC236}">
                <a16:creationId xmlns:a16="http://schemas.microsoft.com/office/drawing/2014/main" id="{2E139FC0-6BC7-17D6-1199-14ACFC308F6E}"/>
              </a:ext>
            </a:extLst>
          </p:cNvPr>
          <p:cNvSpPr/>
          <p:nvPr/>
        </p:nvSpPr>
        <p:spPr>
          <a:xfrm>
            <a:off x="5852160" y="3017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6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GitHub</a:t>
            </a:r>
            <a:endParaRPr lang="en-US" sz="1300" dirty="0"/>
          </a:p>
        </p:txBody>
      </p:sp>
      <p:sp>
        <p:nvSpPr>
          <p:cNvPr id="47" name="Text 37">
            <a:extLst>
              <a:ext uri="{FF2B5EF4-FFF2-40B4-BE49-F238E27FC236}">
                <a16:creationId xmlns:a16="http://schemas.microsoft.com/office/drawing/2014/main" id="{C649C420-8B57-797F-672B-E518A73E30A7}"/>
              </a:ext>
            </a:extLst>
          </p:cNvPr>
          <p:cNvSpPr/>
          <p:nvPr/>
        </p:nvSpPr>
        <p:spPr>
          <a:xfrm>
            <a:off x="5852160" y="3383280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&lt;your-github-url&gt;</a:t>
            </a:r>
            <a:endParaRPr lang="en-US" sz="1100" dirty="0"/>
          </a:p>
        </p:txBody>
      </p:sp>
      <p:sp>
        <p:nvSpPr>
          <p:cNvPr id="48" name="Shape 38">
            <a:extLst>
              <a:ext uri="{FF2B5EF4-FFF2-40B4-BE49-F238E27FC236}">
                <a16:creationId xmlns:a16="http://schemas.microsoft.com/office/drawing/2014/main" id="{3785F93C-1747-FAEC-7A80-7EAD4638B8A9}"/>
              </a:ext>
            </a:extLst>
          </p:cNvPr>
          <p:cNvSpPr/>
          <p:nvPr/>
        </p:nvSpPr>
        <p:spPr>
          <a:xfrm>
            <a:off x="4828032" y="3986784"/>
            <a:ext cx="4315968" cy="914400"/>
          </a:xfrm>
          <a:prstGeom prst="rect">
            <a:avLst/>
          </a:prstGeom>
          <a:solidFill>
            <a:srgbClr val="FFF3E0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9" name="Shape 39">
            <a:extLst>
              <a:ext uri="{FF2B5EF4-FFF2-40B4-BE49-F238E27FC236}">
                <a16:creationId xmlns:a16="http://schemas.microsoft.com/office/drawing/2014/main" id="{2A1B6691-0A26-9E49-7058-1296F4D38442}"/>
              </a:ext>
            </a:extLst>
          </p:cNvPr>
          <p:cNvSpPr/>
          <p:nvPr/>
        </p:nvSpPr>
        <p:spPr>
          <a:xfrm>
            <a:off x="4828032" y="3986784"/>
            <a:ext cx="475488" cy="91440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sp>
        <p:nvSpPr>
          <p:cNvPr id="50" name="Text 40">
            <a:extLst>
              <a:ext uri="{FF2B5EF4-FFF2-40B4-BE49-F238E27FC236}">
                <a16:creationId xmlns:a16="http://schemas.microsoft.com/office/drawing/2014/main" id="{AF9CB835-2329-3451-569C-B138D980B93B}"/>
              </a:ext>
            </a:extLst>
          </p:cNvPr>
          <p:cNvSpPr/>
          <p:nvPr/>
        </p:nvSpPr>
        <p:spPr>
          <a:xfrm>
            <a:off x="4828032" y="3986784"/>
            <a:ext cx="4754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pic>
        <p:nvPicPr>
          <p:cNvPr id="51" name="Image 8" descr="preencoded.png">
            <a:extLst>
              <a:ext uri="{FF2B5EF4-FFF2-40B4-BE49-F238E27FC236}">
                <a16:creationId xmlns:a16="http://schemas.microsoft.com/office/drawing/2014/main" id="{BF09D449-84F6-BCC9-7DB5-CA6417C9D62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76672" y="4233672"/>
            <a:ext cx="384048" cy="384048"/>
          </a:xfrm>
          <a:prstGeom prst="rect">
            <a:avLst/>
          </a:prstGeom>
        </p:spPr>
      </p:pic>
      <p:sp>
        <p:nvSpPr>
          <p:cNvPr id="52" name="Text 41">
            <a:extLst>
              <a:ext uri="{FF2B5EF4-FFF2-40B4-BE49-F238E27FC236}">
                <a16:creationId xmlns:a16="http://schemas.microsoft.com/office/drawing/2014/main" id="{066FB29C-4D01-D351-9D03-803BDF6F89CD}"/>
              </a:ext>
            </a:extLst>
          </p:cNvPr>
          <p:cNvSpPr/>
          <p:nvPr/>
        </p:nvSpPr>
        <p:spPr>
          <a:xfrm>
            <a:off x="5852160" y="40416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6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GitHub!</a:t>
            </a:r>
            <a:endParaRPr lang="en-US" sz="1300" dirty="0"/>
          </a:p>
        </p:txBody>
      </p:sp>
      <p:sp>
        <p:nvSpPr>
          <p:cNvPr id="53" name="Text 42">
            <a:extLst>
              <a:ext uri="{FF2B5EF4-FFF2-40B4-BE49-F238E27FC236}">
                <a16:creationId xmlns:a16="http://schemas.microsoft.com/office/drawing/2014/main" id="{08B8552B-9221-B571-BDC8-49F67650AD10}"/>
              </a:ext>
            </a:extLst>
          </p:cNvPr>
          <p:cNvSpPr/>
          <p:nvPr/>
        </p:nvSpPr>
        <p:spPr>
          <a:xfrm>
            <a:off x="5852160" y="4407408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main  🎉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968279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75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4DB9A4-585D-EB3B-3788-1E6C54144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CD636D4-66F6-7642-5284-B4C7687FD7EA}"/>
              </a:ext>
            </a:extLst>
          </p:cNvPr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9DC8150-989A-BA7C-E1BE-86AE85AE66CF}"/>
              </a:ext>
            </a:extLst>
          </p:cNvPr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3E15B64-7478-9738-03E1-3BDB8055843D}"/>
              </a:ext>
            </a:extLst>
          </p:cNvPr>
          <p:cNvSpPr/>
          <p:nvPr/>
        </p:nvSpPr>
        <p:spPr>
          <a:xfrm>
            <a:off x="-731520" y="3200400"/>
            <a:ext cx="3657600" cy="3657600"/>
          </a:xfrm>
          <a:prstGeom prst="ellipse">
            <a:avLst/>
          </a:prstGeom>
          <a:solidFill>
            <a:srgbClr val="1A3A5C">
              <a:alpha val="60000"/>
            </a:srgbClr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A6E596E-DFC9-C3DF-2DE6-3BE72EECE240}"/>
              </a:ext>
            </a:extLst>
          </p:cNvPr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0D2035">
              <a:alpha val="70000"/>
            </a:srgbClr>
          </a:solidFill>
          <a:ln w="12700">
            <a:solidFill>
              <a:srgbClr val="0D2035"/>
            </a:solidFill>
            <a:prstDash val="solid"/>
          </a:ln>
        </p:spPr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9981A5D9-4066-24A9-CD90-31541FEE0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640080"/>
            <a:ext cx="475488" cy="475488"/>
          </a:xfrm>
          <a:prstGeom prst="rect">
            <a:avLst/>
          </a:prstGeom>
        </p:spPr>
      </p:pic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704CE920-76B2-8DB1-41B1-CD5D494DC6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640080"/>
            <a:ext cx="475488" cy="475488"/>
          </a:xfrm>
          <a:prstGeom prst="rect">
            <a:avLst/>
          </a:prstGeom>
        </p:spPr>
      </p:pic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1524C3E0-40B9-A0F4-9E55-33F5E19BA3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640080"/>
            <a:ext cx="475488" cy="475488"/>
          </a:xfrm>
          <a:prstGeom prst="rect">
            <a:avLst/>
          </a:prstGeom>
        </p:spPr>
      </p:pic>
      <p:pic>
        <p:nvPicPr>
          <p:cNvPr id="9" name="Image 3" descr="preencoded.png">
            <a:extLst>
              <a:ext uri="{FF2B5EF4-FFF2-40B4-BE49-F238E27FC236}">
                <a16:creationId xmlns:a16="http://schemas.microsoft.com/office/drawing/2014/main" id="{A9DBB204-81D3-1487-4F62-941DF97FDF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640080"/>
            <a:ext cx="475488" cy="475488"/>
          </a:xfrm>
          <a:prstGeom prst="rect">
            <a:avLst/>
          </a:prstGeom>
        </p:spPr>
      </p:pic>
      <p:pic>
        <p:nvPicPr>
          <p:cNvPr id="10" name="Image 4" descr="preencoded.png">
            <a:extLst>
              <a:ext uri="{FF2B5EF4-FFF2-40B4-BE49-F238E27FC236}">
                <a16:creationId xmlns:a16="http://schemas.microsoft.com/office/drawing/2014/main" id="{811682AF-4C7D-68FA-3CA3-59661E050C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640080"/>
            <a:ext cx="475488" cy="475488"/>
          </a:xfrm>
          <a:prstGeom prst="rect">
            <a:avLst/>
          </a:prstGeom>
        </p:spPr>
      </p:pic>
      <p:sp>
        <p:nvSpPr>
          <p:cNvPr id="11" name="Text 4">
            <a:extLst>
              <a:ext uri="{FF2B5EF4-FFF2-40B4-BE49-F238E27FC236}">
                <a16:creationId xmlns:a16="http://schemas.microsoft.com/office/drawing/2014/main" id="{DEBA8B0F-8CB9-B17A-36E4-7AF9379ED5C2}"/>
              </a:ext>
            </a:extLst>
          </p:cNvPr>
          <p:cNvSpPr/>
          <p:nvPr/>
        </p:nvSpPr>
        <p:spPr>
          <a:xfrm>
            <a:off x="457200" y="12344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Ready!</a:t>
            </a:r>
            <a:endParaRPr lang="en-US" sz="52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E26C500B-48F4-F539-1E5C-DF1A421F899A}"/>
              </a:ext>
            </a:extLst>
          </p:cNvPr>
          <p:cNvSpPr/>
          <p:nvPr/>
        </p:nvSpPr>
        <p:spPr>
          <a:xfrm>
            <a:off x="457200" y="2377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know Git &amp; GitHub — from basics to branches, merging, conflicts and collaboration!</a:t>
            </a:r>
            <a:endParaRPr lang="en-US" sz="180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639266E4-8EC8-FF61-A2E7-F11BB94BE7D5}"/>
              </a:ext>
            </a:extLst>
          </p:cNvPr>
          <p:cNvSpPr/>
          <p:nvPr/>
        </p:nvSpPr>
        <p:spPr>
          <a:xfrm>
            <a:off x="3017520" y="3063240"/>
            <a:ext cx="3108960" cy="64008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AA79F35C-9515-C906-6F11-6571568FE959}"/>
              </a:ext>
            </a:extLst>
          </p:cNvPr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r>
              <a:rPr lang="en-US" sz="160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Git  →  Create GitHub Account  →  Push Your First Project!</a:t>
            </a:r>
            <a:endParaRPr lang="en-US" sz="160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E0E3262E-15CC-A50D-CE79-B2DFE5291A0F}"/>
              </a:ext>
            </a:extLst>
          </p:cNvPr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Visit: </a:t>
            </a:r>
            <a:r>
              <a:rPr lang="en-US" sz="140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docs.github.com</a:t>
            </a:r>
            <a:r>
              <a:rPr lang="en-US" sz="140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</a:t>
            </a:r>
            <a:r>
              <a:rPr lang="en-US" sz="140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Install git</a:t>
            </a:r>
            <a:r>
              <a:rPr lang="en-US" sz="140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</a:t>
            </a:r>
            <a:r>
              <a:rPr lang="en-US" sz="140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YT Video</a:t>
            </a:r>
            <a:endParaRPr lang="en-US" sz="1400" dirty="0">
              <a:solidFill>
                <a:srgbClr val="B8CCE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61209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2364</Words>
  <Application>Microsoft Office PowerPoint</Application>
  <PresentationFormat>On-screen Show (16:9)</PresentationFormat>
  <Paragraphs>432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&amp; GitHub – Complete Beginner Lecture</dc:title>
  <dc:subject>PptxGenJS Presentation</dc:subject>
  <dc:creator>PptxGenJS</dc:creator>
  <cp:lastModifiedBy>Mitul Rathod</cp:lastModifiedBy>
  <cp:revision>8</cp:revision>
  <dcterms:created xsi:type="dcterms:W3CDTF">2026-03-13T09:03:09Z</dcterms:created>
  <dcterms:modified xsi:type="dcterms:W3CDTF">2026-03-13T19:49:36Z</dcterms:modified>
</cp:coreProperties>
</file>